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7.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25.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57.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2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4.xml" ContentType="application/vnd.openxmlformats-officedocument.presentationml.notesSlide+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21.xml" ContentType="application/vnd.openxmlformats-officedocument.presentationml.notesSlide+xml"/>
  <Override PartName="/ppt/notesSlides/notesSlide15.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40.xml" ContentType="application/vnd.openxmlformats-officedocument.presentationml.notesSlide+xml"/>
  <Override PartName="/ppt/notesSlides/notesSlide39.xml" ContentType="application/vnd.openxmlformats-officedocument.presentationml.notesSlide+xml"/>
  <Override PartName="/ppt/notesSlides/notesSlide31.xml" ContentType="application/vnd.openxmlformats-officedocument.presentationml.notesSlide+xml"/>
  <Override PartName="/ppt/notesSlides/notesSlide35.xml" ContentType="application/vnd.openxmlformats-officedocument.presentationml.notesSlide+xml"/>
  <Override PartName="/ppt/notesSlides/notesSlide24.xml" ContentType="application/vnd.openxmlformats-officedocument.presentationml.notesSlide+xml"/>
  <Override PartName="/ppt/notesSlides/notesSlide30.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5.xml" ContentType="application/vnd.openxmlformats-officedocument.presentationml.notesSlide+xml"/>
  <Override PartName="/ppt/notesSlides/notesSlide29.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1"/>
  </p:notesMasterIdLst>
  <p:sldIdLst>
    <p:sldId id="257" r:id="rId2"/>
    <p:sldId id="328" r:id="rId3"/>
    <p:sldId id="329" r:id="rId4"/>
    <p:sldId id="258" r:id="rId5"/>
    <p:sldId id="260" r:id="rId6"/>
    <p:sldId id="259" r:id="rId7"/>
    <p:sldId id="331" r:id="rId8"/>
    <p:sldId id="332" r:id="rId9"/>
    <p:sldId id="333" r:id="rId10"/>
    <p:sldId id="261" r:id="rId11"/>
    <p:sldId id="265" r:id="rId12"/>
    <p:sldId id="264" r:id="rId13"/>
    <p:sldId id="263" r:id="rId14"/>
    <p:sldId id="262" r:id="rId15"/>
    <p:sldId id="268" r:id="rId16"/>
    <p:sldId id="267" r:id="rId17"/>
    <p:sldId id="266" r:id="rId18"/>
    <p:sldId id="269" r:id="rId19"/>
    <p:sldId id="273" r:id="rId20"/>
    <p:sldId id="272" r:id="rId21"/>
    <p:sldId id="271" r:id="rId22"/>
    <p:sldId id="335" r:id="rId23"/>
    <p:sldId id="274" r:id="rId24"/>
    <p:sldId id="277" r:id="rId25"/>
    <p:sldId id="285" r:id="rId26"/>
    <p:sldId id="286" r:id="rId27"/>
    <p:sldId id="287" r:id="rId28"/>
    <p:sldId id="276" r:id="rId29"/>
    <p:sldId id="275" r:id="rId30"/>
    <p:sldId id="278" r:id="rId31"/>
    <p:sldId id="337" r:id="rId32"/>
    <p:sldId id="279" r:id="rId33"/>
    <p:sldId id="280" r:id="rId34"/>
    <p:sldId id="281" r:id="rId35"/>
    <p:sldId id="336" r:id="rId36"/>
    <p:sldId id="282" r:id="rId37"/>
    <p:sldId id="283" r:id="rId38"/>
    <p:sldId id="342" r:id="rId39"/>
    <p:sldId id="338" r:id="rId40"/>
    <p:sldId id="339" r:id="rId41"/>
    <p:sldId id="297" r:id="rId42"/>
    <p:sldId id="298" r:id="rId43"/>
    <p:sldId id="341" r:id="rId44"/>
    <p:sldId id="284" r:id="rId45"/>
    <p:sldId id="288" r:id="rId46"/>
    <p:sldId id="289" r:id="rId47"/>
    <p:sldId id="291" r:id="rId48"/>
    <p:sldId id="293" r:id="rId49"/>
    <p:sldId id="292" r:id="rId50"/>
    <p:sldId id="294" r:id="rId51"/>
    <p:sldId id="290" r:id="rId52"/>
    <p:sldId id="295" r:id="rId53"/>
    <p:sldId id="296" r:id="rId54"/>
    <p:sldId id="344" r:id="rId55"/>
    <p:sldId id="345" r:id="rId56"/>
    <p:sldId id="346" r:id="rId57"/>
    <p:sldId id="300" r:id="rId58"/>
    <p:sldId id="303" r:id="rId59"/>
    <p:sldId id="309" r:id="rId60"/>
    <p:sldId id="310" r:id="rId61"/>
    <p:sldId id="305" r:id="rId62"/>
    <p:sldId id="301" r:id="rId63"/>
    <p:sldId id="306" r:id="rId64"/>
    <p:sldId id="307" r:id="rId65"/>
    <p:sldId id="304" r:id="rId66"/>
    <p:sldId id="308" r:id="rId67"/>
    <p:sldId id="323" r:id="rId68"/>
    <p:sldId id="348" r:id="rId69"/>
    <p:sldId id="334"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792" autoAdjust="0"/>
  </p:normalViewPr>
  <p:slideViewPr>
    <p:cSldViewPr snapToGrid="0">
      <p:cViewPr varScale="1">
        <p:scale>
          <a:sx n="66" d="100"/>
          <a:sy n="66" d="100"/>
        </p:scale>
        <p:origin x="900" y="72"/>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customXml" Target="../customXml/item2.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78"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ustomXml" Target="../customXml/item1.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750880-A2BF-47B7-8CAA-8D15DD1233DA}" type="datetimeFigureOut">
              <a:rPr lang="en-US" smtClean="0"/>
              <a:t>10/1/2022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2CEB8A-5BB4-46B1-9792-2D374E2BA62D}" type="slidenum">
              <a:rPr lang="en-US" smtClean="0"/>
              <a:t>‹#›</a:t>
            </a:fld>
            <a:endParaRPr lang="en-US"/>
          </a:p>
        </p:txBody>
      </p:sp>
    </p:spTree>
    <p:extLst>
      <p:ext uri="{BB962C8B-B14F-4D97-AF65-F5344CB8AC3E}">
        <p14:creationId xmlns:p14="http://schemas.microsoft.com/office/powerpoint/2010/main" val="3024530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oracletutorial.com/oracle-basics/oracle-date/"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www.oracletutorial.com/oracle-basics/oracle-timestamp/"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1</a:t>
            </a:fld>
            <a:endParaRPr lang="en-US"/>
          </a:p>
        </p:txBody>
      </p:sp>
    </p:spTree>
    <p:extLst>
      <p:ext uri="{BB962C8B-B14F-4D97-AF65-F5344CB8AC3E}">
        <p14:creationId xmlns:p14="http://schemas.microsoft.com/office/powerpoint/2010/main" val="1348894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dirty="0"/>
              <a:t>1</a:t>
            </a:r>
            <a:r>
              <a:rPr lang="en-IN" sz="1200" baseline="30000" dirty="0"/>
              <a:t>st</a:t>
            </a:r>
            <a:r>
              <a:rPr lang="en-IN" sz="1200" dirty="0"/>
              <a:t> Commercial SQL-Relational Software, Inc. and currently</a:t>
            </a:r>
            <a:r>
              <a:rPr lang="en-IN" sz="1200" baseline="0" dirty="0"/>
              <a:t> known as </a:t>
            </a:r>
            <a:r>
              <a:rPr lang="en-IN" sz="1200" dirty="0"/>
              <a:t> Oracle </a:t>
            </a:r>
          </a:p>
          <a:p>
            <a:endParaRPr lang="en-IN" sz="1200" dirty="0"/>
          </a:p>
          <a:p>
            <a:r>
              <a:rPr lang="en-US" b="1" dirty="0"/>
              <a:t>Rule 0: Foundation Rule</a:t>
            </a:r>
            <a:br>
              <a:rPr lang="en-US" b="1" dirty="0"/>
            </a:br>
            <a:r>
              <a:rPr lang="en-US" dirty="0"/>
              <a:t>This rule defines that for a system to qualify as an RDBMS, it must be able to manage the database entirely through the relational model capabilities. </a:t>
            </a:r>
          </a:p>
          <a:p>
            <a:r>
              <a:rPr lang="en-US" b="1" dirty="0"/>
              <a:t>Rule 1: Information Rule</a:t>
            </a:r>
            <a:br>
              <a:rPr lang="en-US" b="1" dirty="0"/>
            </a:br>
            <a:r>
              <a:rPr lang="en-US" dirty="0"/>
              <a:t>This rule defines that the data stored in the relational model is in the </a:t>
            </a:r>
            <a:r>
              <a:rPr lang="en-US" u="sng" dirty="0"/>
              <a:t>form of rows and columns of tables</a:t>
            </a:r>
            <a:r>
              <a:rPr lang="en-US" dirty="0"/>
              <a:t>. </a:t>
            </a:r>
          </a:p>
          <a:p>
            <a:r>
              <a:rPr lang="en-US" b="1" dirty="0"/>
              <a:t>Rule 2: Guaranteed Access Rule</a:t>
            </a:r>
            <a:br>
              <a:rPr lang="en-US" b="1" dirty="0"/>
            </a:br>
            <a:r>
              <a:rPr lang="en-US" dirty="0"/>
              <a:t>This rule defines that every data should be logically accessible through the combination of a </a:t>
            </a:r>
            <a:r>
              <a:rPr lang="en-US" b="1" dirty="0"/>
              <a:t>table name</a:t>
            </a:r>
            <a:r>
              <a:rPr lang="en-US" dirty="0"/>
              <a:t>, </a:t>
            </a:r>
            <a:r>
              <a:rPr lang="en-US" b="1" dirty="0"/>
              <a:t>primary key,</a:t>
            </a:r>
            <a:r>
              <a:rPr lang="en-US" dirty="0"/>
              <a:t> and </a:t>
            </a:r>
            <a:r>
              <a:rPr lang="en-US" b="1" dirty="0"/>
              <a:t>name of the attribute or column</a:t>
            </a:r>
            <a:r>
              <a:rPr lang="en-US" dirty="0"/>
              <a:t>. </a:t>
            </a:r>
          </a:p>
          <a:p>
            <a:r>
              <a:rPr lang="en-US" b="1" dirty="0"/>
              <a:t>Rule 3: Systematic Treatment of NULL values</a:t>
            </a:r>
            <a:br>
              <a:rPr lang="en-US" b="1" dirty="0"/>
            </a:br>
            <a:r>
              <a:rPr lang="en-US" dirty="0"/>
              <a:t>In a relational database, NULL values represent the missed and inapplicable information in a systematic way. A NULL value is a special value, which is neither zero nor empty string. All the database systems </a:t>
            </a:r>
            <a:r>
              <a:rPr lang="en-US" b="0" u="sng" dirty="0"/>
              <a:t>support the NULL value </a:t>
            </a:r>
            <a:r>
              <a:rPr lang="en-US" dirty="0"/>
              <a:t>concept.</a:t>
            </a:r>
          </a:p>
          <a:p>
            <a:r>
              <a:rPr lang="en-US" b="1" dirty="0"/>
              <a:t>Rule 4: Dynamic On-Line catalog based on the relational model</a:t>
            </a:r>
            <a:br>
              <a:rPr lang="en-US" b="1" dirty="0"/>
            </a:br>
            <a:r>
              <a:rPr lang="en-US" dirty="0"/>
              <a:t>This rule defines that the structure of the database must support online </a:t>
            </a:r>
            <a:r>
              <a:rPr lang="en-US" b="0" u="sng" dirty="0"/>
              <a:t>relational catalog </a:t>
            </a:r>
            <a:r>
              <a:rPr lang="en-US" dirty="0"/>
              <a:t>that is accessible to authorized users using its regular query language.</a:t>
            </a:r>
          </a:p>
          <a:p>
            <a:r>
              <a:rPr lang="en-US" b="1" dirty="0"/>
              <a:t>Rule 5: Comprehensive Data sub-language Rule</a:t>
            </a:r>
            <a:br>
              <a:rPr lang="en-US" b="1" dirty="0"/>
            </a:br>
            <a:r>
              <a:rPr lang="en-US" dirty="0"/>
              <a:t>This rule states that the database system should be accessible by language </a:t>
            </a:r>
            <a:r>
              <a:rPr lang="en-US" u="sng" dirty="0"/>
              <a:t>support for data definition</a:t>
            </a:r>
            <a:r>
              <a:rPr lang="en-US" dirty="0"/>
              <a:t>, </a:t>
            </a:r>
            <a:r>
              <a:rPr lang="en-US" u="sng" dirty="0"/>
              <a:t>data manipulation, and transaction management operation</a:t>
            </a:r>
            <a:r>
              <a:rPr lang="en-US" dirty="0"/>
              <a:t> (begin, commit, rollback, etc.).</a:t>
            </a:r>
          </a:p>
          <a:p>
            <a:r>
              <a:rPr lang="en-US" b="1" dirty="0"/>
              <a:t>Rule 6: View Updating Rule</a:t>
            </a:r>
            <a:br>
              <a:rPr lang="en-US" b="1" dirty="0"/>
            </a:br>
            <a:r>
              <a:rPr lang="en-US" dirty="0"/>
              <a:t>This rule states that all the views which are theoretically updated must be updated by the system (i.e. practical).</a:t>
            </a:r>
          </a:p>
          <a:p>
            <a:r>
              <a:rPr lang="en-US" b="1" dirty="0"/>
              <a:t>Rule 7: High-level Insertion, Updation and Deletion</a:t>
            </a:r>
            <a:br>
              <a:rPr lang="en-US" b="1" dirty="0"/>
            </a:br>
            <a:r>
              <a:rPr lang="en-US" dirty="0"/>
              <a:t>This rule states that the relational database model must </a:t>
            </a:r>
            <a:r>
              <a:rPr lang="en-US" u="sng" dirty="0"/>
              <a:t>support insert, delete, and update </a:t>
            </a:r>
            <a:r>
              <a:rPr lang="en-US" dirty="0"/>
              <a:t>operation on multiple rows. </a:t>
            </a:r>
          </a:p>
          <a:p>
            <a:r>
              <a:rPr lang="en-US" b="1" dirty="0"/>
              <a:t>Rule 8: Physical Data Independence</a:t>
            </a:r>
            <a:br>
              <a:rPr lang="en-US" b="1" dirty="0"/>
            </a:br>
            <a:r>
              <a:rPr lang="en-US" dirty="0"/>
              <a:t>This rule states that the application program should remain </a:t>
            </a:r>
            <a:r>
              <a:rPr lang="en-US" u="sng" dirty="0"/>
              <a:t>unchanged whenever any change occur either in access methods or storage representation. </a:t>
            </a:r>
          </a:p>
          <a:p>
            <a:r>
              <a:rPr lang="en-US" b="1" dirty="0"/>
              <a:t>Rule 9: Logical Data Independence</a:t>
            </a:r>
            <a:br>
              <a:rPr lang="en-US" b="1" dirty="0"/>
            </a:br>
            <a:r>
              <a:rPr lang="en-US" dirty="0"/>
              <a:t>This rule states that any changes in the conceptual or </a:t>
            </a:r>
            <a:r>
              <a:rPr lang="en-US" u="sng" dirty="0"/>
              <a:t>logical schema of a table should not enforce modification at application programs or External schema.</a:t>
            </a:r>
            <a:br>
              <a:rPr lang="en-US" b="1" dirty="0"/>
            </a:br>
            <a:br>
              <a:rPr lang="en-US" b="1" dirty="0"/>
            </a:br>
            <a:r>
              <a:rPr lang="en-US" b="1" dirty="0"/>
              <a:t>Rule 10: Integrity Independence</a:t>
            </a:r>
            <a:br>
              <a:rPr lang="en-US" dirty="0"/>
            </a:br>
            <a:r>
              <a:rPr lang="en-US" dirty="0"/>
              <a:t>This rule states that a relational database system should </a:t>
            </a:r>
            <a:r>
              <a:rPr lang="en-US" u="sng" dirty="0"/>
              <a:t>support different constraints on data </a:t>
            </a:r>
            <a:r>
              <a:rPr lang="en-US" dirty="0"/>
              <a:t>for data integrity. All the database system should </a:t>
            </a:r>
            <a:r>
              <a:rPr lang="en-US" u="sng" dirty="0"/>
              <a:t>support primary key constraint and foreign </a:t>
            </a:r>
            <a:r>
              <a:rPr lang="en-US" dirty="0"/>
              <a:t>key constraint.</a:t>
            </a:r>
          </a:p>
          <a:p>
            <a:r>
              <a:rPr lang="en-US" b="1" dirty="0"/>
              <a:t>Rule 11: Distributed Independence</a:t>
            </a:r>
            <a:br>
              <a:rPr lang="en-US" b="1" dirty="0"/>
            </a:br>
            <a:r>
              <a:rPr lang="en-US" dirty="0"/>
              <a:t>This rule implies that the user </a:t>
            </a:r>
            <a:r>
              <a:rPr lang="en-US" u="sng" dirty="0"/>
              <a:t>need not to be aware of whether a database is distributed over multiple locations or not</a:t>
            </a:r>
            <a:r>
              <a:rPr lang="en-US" dirty="0"/>
              <a:t>. The user can access the data without any ambiguity from the different server.</a:t>
            </a:r>
          </a:p>
          <a:p>
            <a:r>
              <a:rPr lang="en-US" b="1" dirty="0"/>
              <a:t>Rule 12: Non-Subversion Rule</a:t>
            </a:r>
            <a:br>
              <a:rPr lang="en-US" b="1" dirty="0"/>
            </a:br>
            <a:r>
              <a:rPr lang="en-US" dirty="0"/>
              <a:t>If the system provides a </a:t>
            </a:r>
            <a:r>
              <a:rPr lang="en-US" u="sng" dirty="0"/>
              <a:t>low-level interface, that interface cannot be used to subvert or not be able to bypass integrity rule to change </a:t>
            </a:r>
            <a:r>
              <a:rPr lang="en-US" dirty="0"/>
              <a:t>data. This can be achieved by some encryption techniques. </a:t>
            </a:r>
          </a:p>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2</a:t>
            </a:fld>
            <a:endParaRPr lang="en-US"/>
          </a:p>
        </p:txBody>
      </p:sp>
    </p:spTree>
    <p:extLst>
      <p:ext uri="{BB962C8B-B14F-4D97-AF65-F5344CB8AC3E}">
        <p14:creationId xmlns:p14="http://schemas.microsoft.com/office/powerpoint/2010/main" val="193490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table r(a int);</a:t>
            </a:r>
          </a:p>
          <a:p>
            <a:r>
              <a:rPr lang="en-US" dirty="0"/>
              <a:t>create table r(a float(2)); </a:t>
            </a:r>
          </a:p>
          <a:p>
            <a:r>
              <a:rPr lang="en-US" dirty="0"/>
              <a:t>create table r(a smallint); </a:t>
            </a:r>
          </a:p>
          <a:p>
            <a:r>
              <a:rPr lang="en-US" dirty="0"/>
              <a:t>create table r(a numeric(3,1));</a:t>
            </a:r>
          </a:p>
          <a:p>
            <a:r>
              <a:rPr lang="en-US" dirty="0"/>
              <a:t>create table r(a real);</a:t>
            </a:r>
          </a:p>
          <a:p>
            <a:r>
              <a:rPr lang="en-US" dirty="0"/>
              <a:t>create table r(a float(1));</a:t>
            </a:r>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5</a:t>
            </a:fld>
            <a:endParaRPr lang="en-US"/>
          </a:p>
        </p:txBody>
      </p:sp>
    </p:spTree>
    <p:extLst>
      <p:ext uri="{BB962C8B-B14F-4D97-AF65-F5344CB8AC3E}">
        <p14:creationId xmlns:p14="http://schemas.microsoft.com/office/powerpoint/2010/main" val="5202982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https://www.oracletutorial.com/oracle-basics/oracle-interval/</a:t>
            </a:r>
          </a:p>
          <a:p>
            <a:r>
              <a:rPr lang="en-US" dirty="0"/>
              <a:t>Oracle provides you with two date time data types: </a:t>
            </a:r>
            <a:r>
              <a:rPr lang="en-US" dirty="0">
                <a:hlinkClick r:id="rId3"/>
              </a:rPr>
              <a:t>DATE</a:t>
            </a:r>
            <a:r>
              <a:rPr lang="en-US" dirty="0"/>
              <a:t> and </a:t>
            </a:r>
            <a:r>
              <a:rPr lang="en-US" dirty="0">
                <a:hlinkClick r:id="rId4"/>
              </a:rPr>
              <a:t>TIMESTAMP</a:t>
            </a:r>
            <a:r>
              <a:rPr lang="en-US" dirty="0"/>
              <a:t> for storing point-in-time data. In addition, It provides the INTERVAL data type that allows you to store periods of time.</a:t>
            </a:r>
          </a:p>
          <a:p>
            <a:r>
              <a:rPr lang="en-US" dirty="0"/>
              <a:t>There are two types of INTERVAL:</a:t>
            </a:r>
          </a:p>
          <a:p>
            <a:r>
              <a:rPr lang="en-US" dirty="0"/>
              <a:t>INTERVAL YEAR TO MONTH – stores intervals using of year and month.</a:t>
            </a:r>
          </a:p>
          <a:p>
            <a:r>
              <a:rPr lang="en-US" dirty="0"/>
              <a:t>INTERVAL DAY TO SECOND – stores intervals using days, hours, minutes, and seconds including fractional seconds.</a:t>
            </a:r>
          </a:p>
          <a:p>
            <a:r>
              <a:rPr lang="en-US" dirty="0"/>
              <a:t>The INTERVAL YEAR TO MONTH data type allows you to store a period of time using the YEAR and MONTH fields. </a:t>
            </a:r>
          </a:p>
          <a:p>
            <a:endParaRPr lang="en-US" dirty="0"/>
          </a:p>
          <a:p>
            <a:r>
              <a:rPr lang="en-US" dirty="0"/>
              <a:t>INSERT INTO candidates ( </a:t>
            </a:r>
            <a:r>
              <a:rPr lang="en-US" dirty="0" err="1"/>
              <a:t>first_name</a:t>
            </a:r>
            <a:r>
              <a:rPr lang="en-US" dirty="0"/>
              <a:t>, </a:t>
            </a:r>
            <a:r>
              <a:rPr lang="en-US" dirty="0" err="1"/>
              <a:t>last_name</a:t>
            </a:r>
            <a:r>
              <a:rPr lang="en-US" dirty="0"/>
              <a:t>, </a:t>
            </a:r>
            <a:r>
              <a:rPr lang="en-US" dirty="0" err="1"/>
              <a:t>job_title</a:t>
            </a:r>
            <a:r>
              <a:rPr lang="en-US" dirty="0"/>
              <a:t>, year_of_experience ) VALUES ( 'Camila', 'Kramer', 'SCM Manager', INTERVAL '10-2' YEAR TO MONTH ); </a:t>
            </a:r>
          </a:p>
          <a:p>
            <a:r>
              <a:rPr lang="en-US" dirty="0"/>
              <a:t>In this statement, we inserted an interval literal of 10 years 2 months into the year_of_experience column.</a:t>
            </a:r>
          </a:p>
          <a:p>
            <a:endParaRPr lang="en-US" dirty="0"/>
          </a:p>
          <a:p>
            <a:r>
              <a:rPr lang="en-US" dirty="0"/>
              <a:t>select * from emp1 where </a:t>
            </a:r>
            <a:r>
              <a:rPr lang="en-US" dirty="0" err="1"/>
              <a:t>year_of_Experience</a:t>
            </a:r>
            <a:r>
              <a:rPr lang="en-US" dirty="0"/>
              <a:t>&gt;='10-5'INSERT INTO EMP1 VALUES (2,'Raj','S.Manager', INTERVAL '9-5' YEAR TO MONTH);select * from emp1 where </a:t>
            </a:r>
            <a:r>
              <a:rPr lang="en-US" dirty="0" err="1"/>
              <a:t>year_of_Experience</a:t>
            </a:r>
            <a:r>
              <a:rPr lang="en-US" dirty="0"/>
              <a:t>&lt;='10-5'Update EMp1 set </a:t>
            </a:r>
            <a:r>
              <a:rPr lang="en-US" dirty="0" err="1"/>
              <a:t>year_of_experience</a:t>
            </a:r>
            <a:r>
              <a:rPr lang="en-US" dirty="0"/>
              <a:t>=</a:t>
            </a:r>
            <a:r>
              <a:rPr lang="en-US" dirty="0" err="1"/>
              <a:t>year_of_experience</a:t>
            </a:r>
            <a:r>
              <a:rPr lang="en-US" dirty="0"/>
              <a:t>+ INTERVAL '2-5' YEAR TO MONTH Select * from EMp1; </a:t>
            </a:r>
          </a:p>
          <a:p>
            <a:endParaRPr lang="en-US" dirty="0"/>
          </a:p>
          <a:p>
            <a:r>
              <a:rPr lang="en-US" b="1" dirty="0"/>
              <a:t>TIMESTAMP: </a:t>
            </a:r>
            <a:r>
              <a:rPr lang="en-US" b="0" dirty="0"/>
              <a:t> </a:t>
            </a:r>
          </a:p>
          <a:p>
            <a:r>
              <a:rPr lang="en-IN" sz="1200" kern="1200" dirty="0">
                <a:solidFill>
                  <a:schemeClr val="tx1"/>
                </a:solidFill>
                <a:effectLst/>
                <a:latin typeface="+mn-lt"/>
                <a:ea typeface="+mn-ea"/>
                <a:cs typeface="+mn-cs"/>
              </a:rPr>
              <a:t>CREATE TABLE logs (    </a:t>
            </a:r>
            <a:r>
              <a:rPr lang="en-IN" sz="1200" kern="1200" dirty="0" err="1">
                <a:solidFill>
                  <a:schemeClr val="tx1"/>
                </a:solidFill>
                <a:effectLst/>
                <a:latin typeface="+mn-lt"/>
                <a:ea typeface="+mn-ea"/>
                <a:cs typeface="+mn-cs"/>
              </a:rPr>
              <a:t>log_id</a:t>
            </a:r>
            <a:r>
              <a:rPr lang="en-IN" sz="1200" kern="1200" dirty="0">
                <a:solidFill>
                  <a:schemeClr val="tx1"/>
                </a:solidFill>
                <a:effectLst/>
                <a:latin typeface="+mn-lt"/>
                <a:ea typeface="+mn-ea"/>
                <a:cs typeface="+mn-cs"/>
              </a:rPr>
              <a:t> NUMBER GENERATED BY DEFAULT AS IDENTITY,    message VARCHAR(50) NOT NULL,    </a:t>
            </a:r>
            <a:r>
              <a:rPr lang="en-IN" sz="1200" kern="1200" dirty="0" err="1">
                <a:solidFill>
                  <a:schemeClr val="tx1"/>
                </a:solidFill>
                <a:effectLst/>
                <a:latin typeface="+mn-lt"/>
                <a:ea typeface="+mn-ea"/>
                <a:cs typeface="+mn-cs"/>
              </a:rPr>
              <a:t>logged_at</a:t>
            </a:r>
            <a:r>
              <a:rPr lang="en-IN" sz="1200" kern="1200" dirty="0">
                <a:solidFill>
                  <a:schemeClr val="tx1"/>
                </a:solidFill>
                <a:effectLst/>
                <a:latin typeface="+mn-lt"/>
                <a:ea typeface="+mn-ea"/>
                <a:cs typeface="+mn-cs"/>
              </a:rPr>
              <a:t> TIMESTAMP (2) NOT NULL,    PRIMARY KEY (</a:t>
            </a:r>
            <a:r>
              <a:rPr lang="en-IN" sz="1200" kern="1200" dirty="0" err="1">
                <a:solidFill>
                  <a:schemeClr val="tx1"/>
                </a:solidFill>
                <a:effectLst/>
                <a:latin typeface="+mn-lt"/>
                <a:ea typeface="+mn-ea"/>
                <a:cs typeface="+mn-cs"/>
              </a:rPr>
              <a:t>log_id</a:t>
            </a:r>
            <a:r>
              <a:rPr lang="en-IN" sz="1200" kern="1200" dirty="0">
                <a:solidFill>
                  <a:schemeClr val="tx1"/>
                </a:solidFill>
                <a:effectLst/>
                <a:latin typeface="+mn-lt"/>
                <a:ea typeface="+mn-ea"/>
                <a:cs typeface="+mn-cs"/>
              </a:rPr>
              <a:t>));   </a:t>
            </a:r>
            <a:r>
              <a:rPr lang="en-IN" sz="1200" kern="1200" dirty="0" err="1">
                <a:solidFill>
                  <a:schemeClr val="tx1"/>
                </a:solidFill>
                <a:effectLst/>
                <a:latin typeface="+mn-lt"/>
                <a:ea typeface="+mn-ea"/>
                <a:cs typeface="+mn-cs"/>
              </a:rPr>
              <a:t>TimeStamp</a:t>
            </a:r>
            <a:r>
              <a:rPr lang="en-IN" sz="1200" kern="1200" dirty="0">
                <a:solidFill>
                  <a:schemeClr val="tx1"/>
                </a:solidFill>
                <a:effectLst/>
                <a:latin typeface="+mn-lt"/>
                <a:ea typeface="+mn-ea"/>
                <a:cs typeface="+mn-cs"/>
              </a:rPr>
              <a:t>(2) means gives precision </a:t>
            </a:r>
            <a:r>
              <a:rPr lang="en-IN" sz="1200" kern="1200" dirty="0" err="1">
                <a:solidFill>
                  <a:schemeClr val="tx1"/>
                </a:solidFill>
                <a:effectLst/>
                <a:latin typeface="+mn-lt"/>
                <a:ea typeface="+mn-ea"/>
                <a:cs typeface="+mn-cs"/>
              </a:rPr>
              <a:t>upto</a:t>
            </a:r>
            <a:r>
              <a:rPr lang="en-IN" sz="1200" kern="1200" dirty="0">
                <a:solidFill>
                  <a:schemeClr val="tx1"/>
                </a:solidFill>
                <a:effectLst/>
                <a:latin typeface="+mn-lt"/>
                <a:ea typeface="+mn-ea"/>
                <a:cs typeface="+mn-cs"/>
              </a:rPr>
              <a:t> milli Seconds</a:t>
            </a:r>
          </a:p>
          <a:p>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INSERT INTO logs (    message,    </a:t>
            </a:r>
            <a:r>
              <a:rPr lang="en-IN" sz="1200" kern="1200" dirty="0" err="1">
                <a:solidFill>
                  <a:schemeClr val="tx1"/>
                </a:solidFill>
                <a:effectLst/>
                <a:latin typeface="+mn-lt"/>
                <a:ea typeface="+mn-ea"/>
                <a:cs typeface="+mn-cs"/>
              </a:rPr>
              <a:t>logged_at</a:t>
            </a:r>
            <a:r>
              <a:rPr lang="en-IN" sz="1200" kern="1200" dirty="0">
                <a:solidFill>
                  <a:schemeClr val="tx1"/>
                </a:solidFill>
                <a:effectLst/>
                <a:latin typeface="+mn-lt"/>
                <a:ea typeface="+mn-ea"/>
                <a:cs typeface="+mn-cs"/>
              </a:rPr>
              <a:t>    )VALUES (    'User root logged in successfully',    LOCALTIMESTAMP(2)    ); </a:t>
            </a:r>
          </a:p>
          <a:p>
            <a:r>
              <a:rPr lang="en-IN" sz="1200" kern="1200" dirty="0">
                <a:solidFill>
                  <a:schemeClr val="tx1"/>
                </a:solidFill>
                <a:effectLst/>
                <a:latin typeface="+mn-lt"/>
                <a:ea typeface="+mn-ea"/>
                <a:cs typeface="+mn-cs"/>
              </a:rPr>
              <a:t>INSERT INTO logs (    message,    </a:t>
            </a:r>
            <a:r>
              <a:rPr lang="en-IN" sz="1200" kern="1200" dirty="0" err="1">
                <a:solidFill>
                  <a:schemeClr val="tx1"/>
                </a:solidFill>
                <a:effectLst/>
                <a:latin typeface="+mn-lt"/>
                <a:ea typeface="+mn-ea"/>
                <a:cs typeface="+mn-cs"/>
              </a:rPr>
              <a:t>logged_at</a:t>
            </a:r>
            <a:r>
              <a:rPr lang="en-IN" sz="1200" kern="1200" dirty="0">
                <a:solidFill>
                  <a:schemeClr val="tx1"/>
                </a:solidFill>
                <a:effectLst/>
                <a:latin typeface="+mn-lt"/>
                <a:ea typeface="+mn-ea"/>
                <a:cs typeface="+mn-cs"/>
              </a:rPr>
              <a:t>    )VALUES (    'Test default Oracle timestamp format',    TO_TIMESTAMP('03-AUG-17 11:20:30.45 AM')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tx1"/>
                </a:solidFill>
                <a:effectLst/>
                <a:latin typeface="+mn-lt"/>
                <a:ea typeface="+mn-ea"/>
                <a:cs typeface="+mn-cs"/>
              </a:rPr>
              <a:t>SELECT  </a:t>
            </a:r>
            <a:r>
              <a:rPr lang="en-IN" sz="1200" kern="1200" dirty="0" err="1">
                <a:solidFill>
                  <a:schemeClr val="tx1"/>
                </a:solidFill>
                <a:effectLst/>
                <a:latin typeface="+mn-lt"/>
                <a:ea typeface="+mn-ea"/>
                <a:cs typeface="+mn-cs"/>
              </a:rPr>
              <a:t>log_id</a:t>
            </a:r>
            <a:r>
              <a:rPr lang="en-IN" sz="1200" kern="1200" dirty="0">
                <a:solidFill>
                  <a:schemeClr val="tx1"/>
                </a:solidFill>
                <a:effectLst/>
                <a:latin typeface="+mn-lt"/>
                <a:ea typeface="+mn-ea"/>
                <a:cs typeface="+mn-cs"/>
              </a:rPr>
              <a:t>, message, </a:t>
            </a:r>
            <a:r>
              <a:rPr lang="en-IN" sz="1200" kern="1200" dirty="0" err="1">
                <a:solidFill>
                  <a:schemeClr val="tx1"/>
                </a:solidFill>
                <a:effectLst/>
                <a:latin typeface="+mn-lt"/>
                <a:ea typeface="+mn-ea"/>
                <a:cs typeface="+mn-cs"/>
              </a:rPr>
              <a:t>logged_at</a:t>
            </a:r>
            <a:r>
              <a:rPr lang="en-IN" sz="1200" kern="1200" dirty="0">
                <a:solidFill>
                  <a:schemeClr val="tx1"/>
                </a:solidFill>
                <a:effectLst/>
                <a:latin typeface="+mn-lt"/>
                <a:ea typeface="+mn-ea"/>
                <a:cs typeface="+mn-cs"/>
              </a:rPr>
              <a:t> FROM  logs;</a:t>
            </a:r>
            <a:r>
              <a:rPr lang="en-IN" dirty="0">
                <a:effectLst/>
              </a:rPr>
              <a:t> </a:t>
            </a:r>
            <a:r>
              <a:rPr lang="en-IN" sz="1200" kern="1200" dirty="0">
                <a:solidFill>
                  <a:schemeClr val="tx1"/>
                </a:solidFill>
                <a:effectLst/>
                <a:latin typeface="+mn-lt"/>
                <a:ea typeface="+mn-ea"/>
                <a:cs typeface="+mn-cs"/>
              </a:rPr>
              <a:t> </a:t>
            </a:r>
          </a:p>
          <a:p>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SELECT     message,    EXTRACT(year FROM </a:t>
            </a:r>
            <a:r>
              <a:rPr lang="en-IN" sz="1200" kern="1200" dirty="0" err="1">
                <a:solidFill>
                  <a:schemeClr val="tx1"/>
                </a:solidFill>
                <a:effectLst/>
                <a:latin typeface="+mn-lt"/>
                <a:ea typeface="+mn-ea"/>
                <a:cs typeface="+mn-cs"/>
              </a:rPr>
              <a:t>logged_at</a:t>
            </a:r>
            <a:r>
              <a:rPr lang="en-IN" sz="1200" kern="1200" dirty="0">
                <a:solidFill>
                  <a:schemeClr val="tx1"/>
                </a:solidFill>
                <a:effectLst/>
                <a:latin typeface="+mn-lt"/>
                <a:ea typeface="+mn-ea"/>
                <a:cs typeface="+mn-cs"/>
              </a:rPr>
              <a:t>) year,    </a:t>
            </a:r>
          </a:p>
          <a:p>
            <a:r>
              <a:rPr lang="en-IN" sz="1200" kern="1200" dirty="0">
                <a:solidFill>
                  <a:schemeClr val="tx1"/>
                </a:solidFill>
                <a:effectLst/>
                <a:latin typeface="+mn-lt"/>
                <a:ea typeface="+mn-ea"/>
                <a:cs typeface="+mn-cs"/>
              </a:rPr>
              <a:t>              EXTRACT(month FROM </a:t>
            </a:r>
            <a:r>
              <a:rPr lang="en-IN" sz="1200" kern="1200" dirty="0" err="1">
                <a:solidFill>
                  <a:schemeClr val="tx1"/>
                </a:solidFill>
                <a:effectLst/>
                <a:latin typeface="+mn-lt"/>
                <a:ea typeface="+mn-ea"/>
                <a:cs typeface="+mn-cs"/>
              </a:rPr>
              <a:t>logged_at</a:t>
            </a:r>
            <a:r>
              <a:rPr lang="en-IN" sz="1200" kern="1200" dirty="0">
                <a:solidFill>
                  <a:schemeClr val="tx1"/>
                </a:solidFill>
                <a:effectLst/>
                <a:latin typeface="+mn-lt"/>
                <a:ea typeface="+mn-ea"/>
                <a:cs typeface="+mn-cs"/>
              </a:rPr>
              <a:t>) month,    EXTRACT(day FROM </a:t>
            </a:r>
            <a:r>
              <a:rPr lang="en-IN" sz="1200" kern="1200" dirty="0" err="1">
                <a:solidFill>
                  <a:schemeClr val="tx1"/>
                </a:solidFill>
                <a:effectLst/>
                <a:latin typeface="+mn-lt"/>
                <a:ea typeface="+mn-ea"/>
                <a:cs typeface="+mn-cs"/>
              </a:rPr>
              <a:t>logged_at</a:t>
            </a:r>
            <a:r>
              <a:rPr lang="en-IN" sz="1200" kern="1200" dirty="0">
                <a:solidFill>
                  <a:schemeClr val="tx1"/>
                </a:solidFill>
                <a:effectLst/>
                <a:latin typeface="+mn-lt"/>
                <a:ea typeface="+mn-ea"/>
                <a:cs typeface="+mn-cs"/>
              </a:rPr>
              <a:t>) day,    </a:t>
            </a:r>
          </a:p>
          <a:p>
            <a:r>
              <a:rPr lang="en-IN" sz="1200" kern="1200" dirty="0">
                <a:solidFill>
                  <a:schemeClr val="tx1"/>
                </a:solidFill>
                <a:effectLst/>
                <a:latin typeface="+mn-lt"/>
                <a:ea typeface="+mn-ea"/>
                <a:cs typeface="+mn-cs"/>
              </a:rPr>
              <a:t>          EXTRACT(hour FROM </a:t>
            </a:r>
            <a:r>
              <a:rPr lang="en-IN" sz="1200" kern="1200" dirty="0" err="1">
                <a:solidFill>
                  <a:schemeClr val="tx1"/>
                </a:solidFill>
                <a:effectLst/>
                <a:latin typeface="+mn-lt"/>
                <a:ea typeface="+mn-ea"/>
                <a:cs typeface="+mn-cs"/>
              </a:rPr>
              <a:t>logged_at</a:t>
            </a:r>
            <a:r>
              <a:rPr lang="en-IN" sz="1200" kern="1200" dirty="0">
                <a:solidFill>
                  <a:schemeClr val="tx1"/>
                </a:solidFill>
                <a:effectLst/>
                <a:latin typeface="+mn-lt"/>
                <a:ea typeface="+mn-ea"/>
                <a:cs typeface="+mn-cs"/>
              </a:rPr>
              <a:t>) hour,    EXTRACT(minute FROM </a:t>
            </a:r>
            <a:r>
              <a:rPr lang="en-IN" sz="1200" kern="1200" dirty="0" err="1">
                <a:solidFill>
                  <a:schemeClr val="tx1"/>
                </a:solidFill>
                <a:effectLst/>
                <a:latin typeface="+mn-lt"/>
                <a:ea typeface="+mn-ea"/>
                <a:cs typeface="+mn-cs"/>
              </a:rPr>
              <a:t>logged_at</a:t>
            </a:r>
            <a:r>
              <a:rPr lang="en-IN" sz="1200" kern="1200" dirty="0">
                <a:solidFill>
                  <a:schemeClr val="tx1"/>
                </a:solidFill>
                <a:effectLst/>
                <a:latin typeface="+mn-lt"/>
                <a:ea typeface="+mn-ea"/>
                <a:cs typeface="+mn-cs"/>
              </a:rPr>
              <a:t>) minute,    </a:t>
            </a:r>
          </a:p>
          <a:p>
            <a:r>
              <a:rPr lang="en-IN" sz="1200" kern="1200" dirty="0">
                <a:solidFill>
                  <a:schemeClr val="tx1"/>
                </a:solidFill>
                <a:effectLst/>
                <a:latin typeface="+mn-lt"/>
                <a:ea typeface="+mn-ea"/>
                <a:cs typeface="+mn-cs"/>
              </a:rPr>
              <a:t>      EXTRACT(second FROM </a:t>
            </a:r>
            <a:r>
              <a:rPr lang="en-IN" sz="1200" kern="1200" dirty="0" err="1">
                <a:solidFill>
                  <a:schemeClr val="tx1"/>
                </a:solidFill>
                <a:effectLst/>
                <a:latin typeface="+mn-lt"/>
                <a:ea typeface="+mn-ea"/>
                <a:cs typeface="+mn-cs"/>
              </a:rPr>
              <a:t>logged_at</a:t>
            </a:r>
            <a:r>
              <a:rPr lang="en-IN" sz="1200" kern="1200" dirty="0">
                <a:solidFill>
                  <a:schemeClr val="tx1"/>
                </a:solidFill>
                <a:effectLst/>
                <a:latin typeface="+mn-lt"/>
                <a:ea typeface="+mn-ea"/>
                <a:cs typeface="+mn-cs"/>
              </a:rPr>
              <a:t>) second FROM     logs;  </a:t>
            </a:r>
          </a:p>
          <a:p>
            <a:endParaRPr lang="en-IN" sz="1200" b="1"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Differences between DATE and TIMESTAMP in Oracle</a:t>
            </a:r>
          </a:p>
          <a:p>
            <a:r>
              <a:rPr lang="en-US" sz="1200" b="0" i="0" kern="1200" dirty="0">
                <a:solidFill>
                  <a:schemeClr val="tx1"/>
                </a:solidFill>
                <a:effectLst/>
                <a:latin typeface="+mn-lt"/>
                <a:ea typeface="+mn-ea"/>
                <a:cs typeface="+mn-cs"/>
              </a:rPr>
              <a:t>DATE in Oracle returns month, day, year, century, hours, minutes, and seconds. For more granular details, TIMESTAMP should be used. TIMESTAMP also returns fraction of seconds that helps to identify which event occurred first.</a:t>
            </a:r>
          </a:p>
          <a:p>
            <a:r>
              <a:rPr lang="en-US" sz="1200" b="0" i="0" kern="1200" dirty="0">
                <a:solidFill>
                  <a:schemeClr val="tx1"/>
                </a:solidFill>
                <a:effectLst/>
                <a:latin typeface="+mn-lt"/>
                <a:ea typeface="+mn-ea"/>
                <a:cs typeface="+mn-cs"/>
              </a:rPr>
              <a:t>Example: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DATE: 16-DEC-08</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TIMESTAMP: 16-DEC-08 12.12.23.000000000 PM</a:t>
            </a:r>
          </a:p>
          <a:p>
            <a:r>
              <a:rPr lang="en-US" sz="1200" b="1" i="1" u="none" strike="noStrike" kern="1200" dirty="0">
                <a:solidFill>
                  <a:schemeClr val="tx1"/>
                </a:solidFill>
                <a:effectLst/>
                <a:latin typeface="+mn-lt"/>
                <a:ea typeface="+mn-ea"/>
                <a:cs typeface="+mn-cs"/>
              </a:rPr>
              <a:t>Oracle - Differences between DATE and TIMESTAMP in Oracle - Feb 07, 2010 at 14:20 PM by </a:t>
            </a:r>
            <a:r>
              <a:rPr lang="en-US" sz="1200" b="1" i="1" u="none" strike="noStrike" kern="1200" dirty="0" err="1">
                <a:solidFill>
                  <a:schemeClr val="tx1"/>
                </a:solidFill>
                <a:effectLst/>
                <a:latin typeface="+mn-lt"/>
                <a:ea typeface="+mn-ea"/>
                <a:cs typeface="+mn-cs"/>
              </a:rPr>
              <a:t>Shuchi</a:t>
            </a:r>
            <a:r>
              <a:rPr lang="en-US" sz="1200" b="1" i="1" u="none" strike="noStrike" kern="1200" dirty="0">
                <a:solidFill>
                  <a:schemeClr val="tx1"/>
                </a:solidFill>
                <a:effectLst/>
                <a:latin typeface="+mn-lt"/>
                <a:ea typeface="+mn-ea"/>
                <a:cs typeface="+mn-cs"/>
              </a:rPr>
              <a:t> Gauri</a:t>
            </a:r>
            <a:endParaRPr lang="en-US" sz="1200" b="1" i="0" u="none" strike="noStrike" kern="1200" dirty="0">
              <a:solidFill>
                <a:schemeClr val="tx1"/>
              </a:solidFill>
              <a:effectLst/>
              <a:latin typeface="+mn-lt"/>
              <a:ea typeface="+mn-ea"/>
              <a:cs typeface="+mn-cs"/>
            </a:endParaRPr>
          </a:p>
          <a:p>
            <a:endParaRPr lang="en-US" b="1" dirty="0"/>
          </a:p>
        </p:txBody>
      </p:sp>
      <p:sp>
        <p:nvSpPr>
          <p:cNvPr id="4" name="Slide Number Placeholder 3"/>
          <p:cNvSpPr>
            <a:spLocks noGrp="1"/>
          </p:cNvSpPr>
          <p:nvPr>
            <p:ph type="sldNum" sz="quarter" idx="10"/>
          </p:nvPr>
        </p:nvSpPr>
        <p:spPr/>
        <p:txBody>
          <a:bodyPr/>
          <a:lstStyle/>
          <a:p>
            <a:fld id="{C82CEB8A-5BB4-46B1-9792-2D374E2BA62D}" type="slidenum">
              <a:rPr lang="en-US" smtClean="0"/>
              <a:t>6</a:t>
            </a:fld>
            <a:endParaRPr lang="en-US"/>
          </a:p>
        </p:txBody>
      </p:sp>
    </p:spTree>
    <p:extLst>
      <p:ext uri="{BB962C8B-B14F-4D97-AF65-F5344CB8AC3E}">
        <p14:creationId xmlns:p14="http://schemas.microsoft.com/office/powerpoint/2010/main" val="1820258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use the VARCHAR data type. Use the VARCHAR2 data type instead. Although the VARCHAR data type is currently synonymous with VARCHAR2, the VARCHAR data type is scheduled to be redefined as a separate data type used for variable-length character strings compared with different comparison semantics.</a:t>
            </a:r>
          </a:p>
        </p:txBody>
      </p:sp>
      <p:sp>
        <p:nvSpPr>
          <p:cNvPr id="4" name="Slide Number Placeholder 3"/>
          <p:cNvSpPr>
            <a:spLocks noGrp="1"/>
          </p:cNvSpPr>
          <p:nvPr>
            <p:ph type="sldNum" sz="quarter" idx="10"/>
          </p:nvPr>
        </p:nvSpPr>
        <p:spPr/>
        <p:txBody>
          <a:bodyPr/>
          <a:lstStyle/>
          <a:p>
            <a:fld id="{C82CEB8A-5BB4-46B1-9792-2D374E2BA62D}" type="slidenum">
              <a:rPr lang="en-US" smtClean="0"/>
              <a:t>7</a:t>
            </a:fld>
            <a:endParaRPr lang="en-US"/>
          </a:p>
        </p:txBody>
      </p:sp>
    </p:spTree>
    <p:extLst>
      <p:ext uri="{BB962C8B-B14F-4D97-AF65-F5344CB8AC3E}">
        <p14:creationId xmlns:p14="http://schemas.microsoft.com/office/powerpoint/2010/main" val="14457418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https://docs.oracle.com/database/121/TTSQL/types.htm#TTSQL148</a:t>
            </a:r>
          </a:p>
          <a:p>
            <a:r>
              <a:rPr lang="en-US" sz="1200" b="1" i="0" kern="1200" dirty="0">
                <a:solidFill>
                  <a:schemeClr val="tx1"/>
                </a:solidFill>
                <a:effectLst/>
                <a:latin typeface="+mn-lt"/>
                <a:ea typeface="+mn-ea"/>
                <a:cs typeface="+mn-cs"/>
              </a:rPr>
              <a:t>LOB data types</a:t>
            </a:r>
          </a:p>
          <a:p>
            <a:r>
              <a:rPr lang="en-US" sz="1200" b="0" i="0" kern="1200" dirty="0">
                <a:solidFill>
                  <a:schemeClr val="tx1"/>
                </a:solidFill>
                <a:effectLst/>
                <a:latin typeface="+mn-lt"/>
                <a:ea typeface="+mn-ea"/>
                <a:cs typeface="+mn-cs"/>
              </a:rPr>
              <a:t>The large object (LOB) data types can store large and unstructured data such as text, image, video, and spatial data. LOBs include the </a:t>
            </a:r>
            <a:r>
              <a:rPr lang="en-US" sz="1200" b="1" i="0" kern="1200" dirty="0">
                <a:solidFill>
                  <a:schemeClr val="tx1"/>
                </a:solidFill>
                <a:effectLst/>
                <a:latin typeface="+mn-lt"/>
                <a:ea typeface="+mn-ea"/>
                <a:cs typeface="+mn-cs"/>
              </a:rPr>
              <a:t>BLOB, CLOB and NCLOB</a:t>
            </a:r>
            <a:r>
              <a:rPr lang="en-US" sz="1200" b="0" i="0" kern="1200" dirty="0">
                <a:solidFill>
                  <a:schemeClr val="tx1"/>
                </a:solidFill>
                <a:effectLst/>
                <a:latin typeface="+mn-lt"/>
                <a:ea typeface="+mn-ea"/>
                <a:cs typeface="+mn-cs"/>
              </a:rPr>
              <a:t> data types.</a:t>
            </a:r>
          </a:p>
          <a:p>
            <a:endParaRPr lang="en-US" dirty="0"/>
          </a:p>
          <a:p>
            <a:r>
              <a:rPr lang="en-US" dirty="0"/>
              <a:t>BLOB: </a:t>
            </a:r>
            <a:r>
              <a:rPr lang="en-IN" sz="1200" b="0" i="0" kern="1200" dirty="0">
                <a:solidFill>
                  <a:schemeClr val="tx1"/>
                </a:solidFill>
                <a:effectLst/>
                <a:latin typeface="+mn-lt"/>
                <a:ea typeface="+mn-ea"/>
                <a:cs typeface="+mn-cs"/>
              </a:rPr>
              <a:t>16 MB data (Max)</a:t>
            </a:r>
            <a:endParaRPr lang="en-US" dirty="0"/>
          </a:p>
          <a:p>
            <a:r>
              <a:rPr lang="en-US" dirty="0"/>
              <a:t>CREATE TABLE </a:t>
            </a:r>
            <a:r>
              <a:rPr lang="en-US" dirty="0" err="1"/>
              <a:t>blob_content</a:t>
            </a:r>
            <a:r>
              <a:rPr lang="en-US" dirty="0"/>
              <a:t> ( id NUMBER PRIMARY KEY,   </a:t>
            </a:r>
            <a:r>
              <a:rPr lang="en-US" dirty="0" err="1"/>
              <a:t>blob_column</a:t>
            </a:r>
            <a:r>
              <a:rPr lang="en-US" dirty="0"/>
              <a:t> BLOB);</a:t>
            </a:r>
          </a:p>
          <a:p>
            <a:endParaRPr lang="en-US" dirty="0"/>
          </a:p>
          <a:p>
            <a:r>
              <a:rPr lang="en-US" sz="1200" b="0" i="0" kern="1200" dirty="0">
                <a:solidFill>
                  <a:schemeClr val="tx1"/>
                </a:solidFill>
                <a:effectLst/>
                <a:latin typeface="+mn-lt"/>
                <a:ea typeface="+mn-ea"/>
                <a:cs typeface="+mn-cs"/>
              </a:rPr>
              <a:t>CLOB: 4MB data(max)</a:t>
            </a:r>
          </a:p>
          <a:p>
            <a:r>
              <a:rPr lang="en-US" sz="1200" b="0" i="0" kern="1200" dirty="0">
                <a:solidFill>
                  <a:schemeClr val="tx1"/>
                </a:solidFill>
                <a:effectLst/>
                <a:latin typeface="+mn-lt"/>
                <a:ea typeface="+mn-ea"/>
                <a:cs typeface="+mn-cs"/>
              </a:rPr>
              <a:t>The Character LOB (CLOB) data type stores single-byte and multibyte character data. The maximum size for CLOB data is 4 MB.</a:t>
            </a:r>
          </a:p>
          <a:p>
            <a:endParaRPr lang="en-US" dirty="0"/>
          </a:p>
          <a:p>
            <a:r>
              <a:rPr lang="en-US" dirty="0"/>
              <a:t>BFILE: </a:t>
            </a:r>
            <a:r>
              <a:rPr lang="en-US" sz="1200" b="0" i="0" kern="1200" dirty="0">
                <a:solidFill>
                  <a:schemeClr val="tx1"/>
                </a:solidFill>
                <a:effectLst/>
                <a:latin typeface="+mn-lt"/>
                <a:ea typeface="+mn-ea"/>
                <a:cs typeface="+mn-cs"/>
              </a:rPr>
              <a:t>Contains a locator to a large binary file stored outside the database. Enables byte stream I/O access to external LOBs residing on the database server. Maximum size is 4GB. A </a:t>
            </a:r>
            <a:r>
              <a:rPr lang="en-US" dirty="0"/>
              <a:t>BFILE</a:t>
            </a:r>
            <a:r>
              <a:rPr lang="en-US" sz="1200" b="0" i="0" kern="1200" dirty="0">
                <a:solidFill>
                  <a:schemeClr val="tx1"/>
                </a:solidFill>
                <a:effectLst/>
                <a:latin typeface="+mn-lt"/>
                <a:ea typeface="+mn-ea"/>
                <a:cs typeface="+mn-cs"/>
              </a:rPr>
              <a:t> column or attribute </a:t>
            </a:r>
            <a:r>
              <a:rPr lang="en-US" sz="1200" b="1" i="0" kern="1200" dirty="0">
                <a:solidFill>
                  <a:schemeClr val="tx1"/>
                </a:solidFill>
                <a:effectLst/>
                <a:latin typeface="+mn-lt"/>
                <a:ea typeface="+mn-ea"/>
                <a:cs typeface="+mn-cs"/>
              </a:rPr>
              <a:t>stores a </a:t>
            </a:r>
            <a:r>
              <a:rPr lang="en-US" b="1" dirty="0"/>
              <a:t>BFILE</a:t>
            </a:r>
            <a:r>
              <a:rPr lang="en-US" sz="1200" b="1" i="0" kern="1200" dirty="0">
                <a:solidFill>
                  <a:schemeClr val="tx1"/>
                </a:solidFill>
                <a:effectLst/>
                <a:latin typeface="+mn-lt"/>
                <a:ea typeface="+mn-ea"/>
                <a:cs typeface="+mn-cs"/>
              </a:rPr>
              <a:t> locator</a:t>
            </a:r>
            <a:r>
              <a:rPr lang="en-US" sz="1200" b="0" i="0" kern="1200" dirty="0">
                <a:solidFill>
                  <a:schemeClr val="tx1"/>
                </a:solidFill>
                <a:effectLst/>
                <a:latin typeface="+mn-lt"/>
                <a:ea typeface="+mn-ea"/>
                <a:cs typeface="+mn-cs"/>
              </a:rPr>
              <a:t>, which </a:t>
            </a:r>
            <a:r>
              <a:rPr lang="en-US" sz="1200" b="1" i="0" kern="1200" dirty="0">
                <a:solidFill>
                  <a:schemeClr val="tx1"/>
                </a:solidFill>
                <a:effectLst/>
                <a:latin typeface="+mn-lt"/>
                <a:ea typeface="+mn-ea"/>
                <a:cs typeface="+mn-cs"/>
              </a:rPr>
              <a:t>serves as a pointer to a binary file </a:t>
            </a:r>
            <a:r>
              <a:rPr lang="en-US" sz="1200" b="0" i="0" kern="1200" dirty="0">
                <a:solidFill>
                  <a:schemeClr val="tx1"/>
                </a:solidFill>
                <a:effectLst/>
                <a:latin typeface="+mn-lt"/>
                <a:ea typeface="+mn-ea"/>
                <a:cs typeface="+mn-cs"/>
              </a:rPr>
              <a:t>on the server file system. The locator maintains the directory name and the filename.</a:t>
            </a:r>
            <a:endParaRPr lang="en-US" dirty="0"/>
          </a:p>
          <a:p>
            <a:endParaRPr lang="en-US" dirty="0"/>
          </a:p>
          <a:p>
            <a:r>
              <a:rPr lang="en-US" b="1" dirty="0"/>
              <a:t>LONG Data Type </a:t>
            </a:r>
          </a:p>
          <a:p>
            <a:r>
              <a:rPr lang="en-US" dirty="0"/>
              <a:t>Do not create tables with LONG columns. Use LOB columns (CLOB, NCLOB, BLOB) instead. LONG columns are supported only for backward compatibility. </a:t>
            </a:r>
          </a:p>
          <a:p>
            <a:endParaRPr lang="en-US" dirty="0"/>
          </a:p>
          <a:p>
            <a:r>
              <a:rPr lang="en-US" dirty="0"/>
              <a:t>The TIMESTAMP data type is an extension of the DATE data type. It stores the year, month, and day of the DATE data type, plus hour, minute, and second values.  </a:t>
            </a:r>
          </a:p>
          <a:p>
            <a:endParaRPr lang="en-US" dirty="0"/>
          </a:p>
          <a:p>
            <a:r>
              <a:rPr lang="en-US" dirty="0"/>
              <a:t>CREATE TABLE time_table (start_time TIMESTAMP, duration_1 INTERVAL DAY (6) TO SECOND (5), duration_2 INTERVAL YEAR TO MONTH);</a:t>
            </a:r>
          </a:p>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8</a:t>
            </a:fld>
            <a:endParaRPr lang="en-US"/>
          </a:p>
        </p:txBody>
      </p:sp>
    </p:spTree>
    <p:extLst>
      <p:ext uri="{BB962C8B-B14F-4D97-AF65-F5344CB8AC3E}">
        <p14:creationId xmlns:p14="http://schemas.microsoft.com/office/powerpoint/2010/main" val="3251484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Create table student(SID varchar2(5) PRIMARY KEY, Name varchar2(10), Age number(2));</a:t>
            </a:r>
          </a:p>
          <a:p>
            <a:r>
              <a:rPr lang="en-IN" dirty="0"/>
              <a:t>Create table Course(CID varchar2(5) UNIQUE, </a:t>
            </a:r>
            <a:r>
              <a:rPr lang="en-IN" dirty="0" err="1"/>
              <a:t>C_Name</a:t>
            </a:r>
            <a:r>
              <a:rPr lang="en-IN" dirty="0"/>
              <a:t> varchar2(10) Credits number(1), Duration number(2));</a:t>
            </a:r>
          </a:p>
          <a:p>
            <a:r>
              <a:rPr lang="en-IN" dirty="0"/>
              <a:t>Create table  enrolment(</a:t>
            </a:r>
            <a:r>
              <a:rPr lang="en-IN" dirty="0" err="1"/>
              <a:t>sid</a:t>
            </a:r>
            <a:r>
              <a:rPr lang="en-IN" dirty="0"/>
              <a:t> varchar2(5) References Students, </a:t>
            </a:r>
            <a:r>
              <a:rPr lang="en-IN" dirty="0" err="1"/>
              <a:t>cno</a:t>
            </a:r>
            <a:r>
              <a:rPr lang="en-IN" dirty="0"/>
              <a:t> varchar2(5) References Course(Cid), Year number(4), Primary key(</a:t>
            </a:r>
            <a:r>
              <a:rPr lang="en-IN" dirty="0" err="1"/>
              <a:t>Sid,cno,year</a:t>
            </a:r>
            <a:r>
              <a:rPr lang="en-IN" dirty="0"/>
              <a:t>));</a:t>
            </a:r>
          </a:p>
        </p:txBody>
      </p:sp>
      <p:sp>
        <p:nvSpPr>
          <p:cNvPr id="4" name="Slide Number Placeholder 3"/>
          <p:cNvSpPr>
            <a:spLocks noGrp="1"/>
          </p:cNvSpPr>
          <p:nvPr>
            <p:ph type="sldNum" sz="quarter" idx="5"/>
          </p:nvPr>
        </p:nvSpPr>
        <p:spPr/>
        <p:txBody>
          <a:bodyPr/>
          <a:lstStyle/>
          <a:p>
            <a:fld id="{C82CEB8A-5BB4-46B1-9792-2D374E2BA62D}" type="slidenum">
              <a:rPr lang="en-US" smtClean="0"/>
              <a:t>17</a:t>
            </a:fld>
            <a:endParaRPr lang="en-US"/>
          </a:p>
        </p:txBody>
      </p:sp>
    </p:spTree>
    <p:extLst>
      <p:ext uri="{BB962C8B-B14F-4D97-AF65-F5344CB8AC3E}">
        <p14:creationId xmlns:p14="http://schemas.microsoft.com/office/powerpoint/2010/main" val="2814537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Create table student(SID varchar2(5) PRIMARY KEY, Name varchar2(10), Age number(2));</a:t>
            </a:r>
          </a:p>
          <a:p>
            <a:r>
              <a:rPr lang="en-IN" dirty="0"/>
              <a:t>Create table Course(CID varchar2(5) UNIQUE, </a:t>
            </a:r>
            <a:r>
              <a:rPr lang="en-IN" dirty="0" err="1"/>
              <a:t>C_Name</a:t>
            </a:r>
            <a:r>
              <a:rPr lang="en-IN" dirty="0"/>
              <a:t> varchar2(10), Credits number(1), Duration number(2));</a:t>
            </a:r>
          </a:p>
          <a:p>
            <a:r>
              <a:rPr lang="en-IN" dirty="0"/>
              <a:t>Create table  enrolment(</a:t>
            </a:r>
            <a:r>
              <a:rPr lang="en-IN" dirty="0" err="1"/>
              <a:t>sid</a:t>
            </a:r>
            <a:r>
              <a:rPr lang="en-IN" dirty="0"/>
              <a:t> varchar2(5) References Students, </a:t>
            </a:r>
            <a:r>
              <a:rPr lang="en-IN" dirty="0" err="1"/>
              <a:t>cno</a:t>
            </a:r>
            <a:r>
              <a:rPr lang="en-IN" dirty="0"/>
              <a:t> varchar2(5) References Course(Cid), Year number(4), Primary key(</a:t>
            </a:r>
            <a:r>
              <a:rPr lang="en-IN" dirty="0" err="1"/>
              <a:t>Sid,cno,year</a:t>
            </a:r>
            <a:r>
              <a:rPr lang="en-IN" dirty="0"/>
              <a:t>));</a:t>
            </a:r>
          </a:p>
          <a:p>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19</a:t>
            </a:fld>
            <a:endParaRPr lang="en-US"/>
          </a:p>
        </p:txBody>
      </p:sp>
    </p:spTree>
    <p:extLst>
      <p:ext uri="{BB962C8B-B14F-4D97-AF65-F5344CB8AC3E}">
        <p14:creationId xmlns:p14="http://schemas.microsoft.com/office/powerpoint/2010/main" val="1718507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Sample Tables</a:t>
            </a:r>
          </a:p>
          <a:p>
            <a:r>
              <a:rPr lang="en-IN" dirty="0"/>
              <a:t>Create table </a:t>
            </a:r>
            <a:r>
              <a:rPr lang="en-IN" dirty="0" err="1"/>
              <a:t>DepartmentX</a:t>
            </a:r>
            <a:r>
              <a:rPr lang="en-IN" dirty="0"/>
              <a:t>(</a:t>
            </a:r>
            <a:r>
              <a:rPr lang="en-IN" dirty="0" err="1"/>
              <a:t>Dno</a:t>
            </a:r>
            <a:r>
              <a:rPr lang="en-IN" dirty="0"/>
              <a:t> char(3) Unique, Dname varchar2(10), Budget number(7));</a:t>
            </a:r>
          </a:p>
          <a:p>
            <a:r>
              <a:rPr lang="en-IN" dirty="0"/>
              <a:t>Create  table </a:t>
            </a:r>
            <a:r>
              <a:rPr lang="en-IN" dirty="0" err="1"/>
              <a:t>empX</a:t>
            </a:r>
            <a:r>
              <a:rPr lang="en-IN" dirty="0"/>
              <a:t>( Empno number(3) Primary key, Name varchar2(10), Deptno char(3) References </a:t>
            </a:r>
            <a:r>
              <a:rPr lang="en-IN" dirty="0" err="1"/>
              <a:t>DepartmentX</a:t>
            </a:r>
            <a:r>
              <a:rPr lang="en-IN" dirty="0"/>
              <a:t>(</a:t>
            </a:r>
            <a:r>
              <a:rPr lang="en-IN" dirty="0" err="1"/>
              <a:t>Dno</a:t>
            </a:r>
            <a:r>
              <a:rPr lang="en-IN" dirty="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DepartmentX</a:t>
            </a:r>
            <a:r>
              <a:rPr lang="en-IN" dirty="0"/>
              <a:t> values('D1', 'MCA’,128999);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DepartmentX</a:t>
            </a:r>
            <a:r>
              <a:rPr lang="en-IN" dirty="0"/>
              <a:t> values('D2', 'CompSc',124456);</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DepartmentX</a:t>
            </a:r>
            <a:r>
              <a:rPr lang="en-IN" dirty="0"/>
              <a:t> values('D3', 'MTech',123562);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values(100,'Raj', 'D1’);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values(101,'Krishna', 'D2');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values(102,'Manoj', 'D1');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values(103,'Ravi',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values(104,'Shrinivas',NULL);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r>
              <a:rPr lang="en-IN" dirty="0"/>
              <a:t> </a:t>
            </a:r>
          </a:p>
          <a:p>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22</a:t>
            </a:fld>
            <a:endParaRPr lang="en-US"/>
          </a:p>
        </p:txBody>
      </p:sp>
    </p:spTree>
    <p:extLst>
      <p:ext uri="{BB962C8B-B14F-4D97-AF65-F5344CB8AC3E}">
        <p14:creationId xmlns:p14="http://schemas.microsoft.com/office/powerpoint/2010/main" val="2077873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Sample Tables</a:t>
            </a:r>
          </a:p>
          <a:p>
            <a:r>
              <a:rPr lang="en-IN" dirty="0"/>
              <a:t>Create table </a:t>
            </a:r>
            <a:r>
              <a:rPr lang="en-IN" dirty="0" err="1"/>
              <a:t>DepartmentX</a:t>
            </a:r>
            <a:r>
              <a:rPr lang="en-IN" dirty="0"/>
              <a:t>(</a:t>
            </a:r>
            <a:r>
              <a:rPr lang="en-IN" dirty="0" err="1"/>
              <a:t>Dno</a:t>
            </a:r>
            <a:r>
              <a:rPr lang="en-IN" dirty="0"/>
              <a:t> char(3) Unique, Dname varchar2(10), Budget number(7));</a:t>
            </a:r>
          </a:p>
          <a:p>
            <a:r>
              <a:rPr lang="en-IN" dirty="0"/>
              <a:t>Create  table </a:t>
            </a:r>
            <a:r>
              <a:rPr lang="en-IN" dirty="0" err="1"/>
              <a:t>empX</a:t>
            </a:r>
            <a:r>
              <a:rPr lang="en-IN" dirty="0"/>
              <a:t>( Empno number(3) Primary key, Name varchar2(10), Deptno char(3) References </a:t>
            </a:r>
            <a:r>
              <a:rPr lang="en-IN" dirty="0" err="1"/>
              <a:t>DepartmentX</a:t>
            </a:r>
            <a:r>
              <a:rPr lang="en-IN" dirty="0"/>
              <a:t>(</a:t>
            </a:r>
            <a:r>
              <a:rPr lang="en-IN" dirty="0" err="1"/>
              <a:t>Dno</a:t>
            </a:r>
            <a:r>
              <a:rPr lang="en-IN"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DepartmentX</a:t>
            </a:r>
            <a:r>
              <a:rPr lang="en-IN" dirty="0"/>
              <a:t> values('D1', 'MCA’,128999);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DepartmentX</a:t>
            </a:r>
            <a:r>
              <a:rPr lang="en-IN" dirty="0"/>
              <a:t> values('D2', 'CompSc',124456);</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DepartmentX</a:t>
            </a:r>
            <a:r>
              <a:rPr lang="en-IN" dirty="0"/>
              <a:t> values('D3', 'MTech',123562);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values(100,'Raj', 'D1’);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values(101,'Krishna', 'D2');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values(102,'Manoj', 'D1');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values(103,'Ravi',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values(104,'Shrinivas',NULL);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r>
              <a:rPr lang="en-IN" dirty="0"/>
              <a:t> </a:t>
            </a:r>
          </a:p>
          <a:p>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23</a:t>
            </a:fld>
            <a:endParaRPr lang="en-US"/>
          </a:p>
        </p:txBody>
      </p:sp>
    </p:spTree>
    <p:extLst>
      <p:ext uri="{BB962C8B-B14F-4D97-AF65-F5344CB8AC3E}">
        <p14:creationId xmlns:p14="http://schemas.microsoft.com/office/powerpoint/2010/main" val="33229038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a:t>
            </a:r>
            <a:r>
              <a:rPr lang="en-US" baseline="0" dirty="0"/>
              <a:t> UPDATE  CASCADE is not supported in Oracle</a:t>
            </a:r>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24</a:t>
            </a:fld>
            <a:endParaRPr lang="en-US"/>
          </a:p>
        </p:txBody>
      </p:sp>
    </p:spTree>
    <p:extLst>
      <p:ext uri="{BB962C8B-B14F-4D97-AF65-F5344CB8AC3E}">
        <p14:creationId xmlns:p14="http://schemas.microsoft.com/office/powerpoint/2010/main" val="2555425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tables give in slide 16 with ON DELETE CASCADE clause along</a:t>
            </a:r>
            <a:r>
              <a:rPr lang="en-US" baseline="0" dirty="0"/>
              <a:t> with FOREIGN KEY.</a:t>
            </a:r>
          </a:p>
          <a:p>
            <a:r>
              <a:rPr lang="en-US" dirty="0"/>
              <a:t>A foreign key with cascade delete means that if a record in the parent table is deleted, then the corresponding records in the child table will automatically be deleted. This is called a cascade delete in Oracle.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kern="0" dirty="0">
                <a:solidFill>
                  <a:srgbClr val="000000"/>
                </a:solidFill>
                <a:latin typeface="Helvetica"/>
              </a:rPr>
              <a:t>CREATE TABLE  </a:t>
            </a:r>
            <a:r>
              <a:rPr lang="en-US" b="1" kern="0" dirty="0" err="1">
                <a:solidFill>
                  <a:srgbClr val="000000"/>
                </a:solidFill>
                <a:latin typeface="Helvetica"/>
              </a:rPr>
              <a:t>Departmentx</a:t>
            </a:r>
            <a:r>
              <a:rPr lang="en-US" b="1" kern="0" dirty="0">
                <a:solidFill>
                  <a:srgbClr val="C00000"/>
                </a:solidFill>
                <a:latin typeface="Helvetica"/>
              </a:rPr>
              <a:t>(</a:t>
            </a:r>
            <a:r>
              <a:rPr lang="en-US" kern="0" dirty="0" err="1">
                <a:latin typeface="Helvetica"/>
              </a:rPr>
              <a:t>Dno</a:t>
            </a:r>
            <a:r>
              <a:rPr lang="en-US" kern="0" dirty="0">
                <a:latin typeface="Helvetica"/>
              </a:rPr>
              <a:t>  varchar(3) PRIMARY KEY, Name varchar(10),Budget Number(9)</a:t>
            </a:r>
            <a:r>
              <a:rPr lang="en-US" b="1" kern="0" dirty="0">
                <a:solidFill>
                  <a:srgbClr val="C00000"/>
                </a:solidFill>
                <a:latin typeface="Helvetica"/>
              </a:rPr>
              <a:t>)</a:t>
            </a:r>
            <a:r>
              <a:rPr lang="en-US" kern="0" dirty="0">
                <a:solidFill>
                  <a:srgbClr val="000000"/>
                </a:solidFill>
                <a:latin typeface="Helvetica"/>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dirty="0">
                <a:solidFill>
                  <a:srgbClr val="000000"/>
                </a:solidFill>
                <a:latin typeface="Helvetica"/>
              </a:rPr>
              <a:t>CREATE TABLE  </a:t>
            </a:r>
            <a:r>
              <a:rPr lang="en-US" sz="1200" b="1" kern="0" dirty="0" err="1">
                <a:solidFill>
                  <a:srgbClr val="000000"/>
                </a:solidFill>
                <a:latin typeface="Helvetica"/>
              </a:rPr>
              <a:t>Empx</a:t>
            </a:r>
            <a:r>
              <a:rPr lang="en-US" sz="1200" b="1" kern="0" dirty="0">
                <a:solidFill>
                  <a:srgbClr val="C00000"/>
                </a:solidFill>
                <a:latin typeface="Helvetica"/>
              </a:rPr>
              <a:t>( </a:t>
            </a:r>
            <a:r>
              <a:rPr lang="en-US" sz="1200" kern="0" dirty="0">
                <a:solidFill>
                  <a:srgbClr val="000000"/>
                </a:solidFill>
                <a:latin typeface="Helvetica"/>
              </a:rPr>
              <a:t>Empno number(3) PRIMARY KEY, Name varchar(10), </a:t>
            </a:r>
            <a:r>
              <a:rPr lang="en-US" sz="1200" kern="0" dirty="0" err="1">
                <a:solidFill>
                  <a:srgbClr val="000000"/>
                </a:solidFill>
                <a:latin typeface="Helvetica"/>
              </a:rPr>
              <a:t>Deptno</a:t>
            </a:r>
            <a:r>
              <a:rPr lang="en-US" sz="1200" kern="0" dirty="0">
                <a:solidFill>
                  <a:srgbClr val="000000"/>
                </a:solidFill>
                <a:latin typeface="Helvetica"/>
              </a:rPr>
              <a:t> char(3) </a:t>
            </a:r>
            <a:r>
              <a:rPr lang="en-US" sz="1200" b="1" kern="0" dirty="0">
                <a:solidFill>
                  <a:srgbClr val="C00000"/>
                </a:solidFill>
                <a:latin typeface="Helvetica"/>
              </a:rPr>
              <a:t>REFERENCES</a:t>
            </a:r>
            <a:r>
              <a:rPr lang="en-US" sz="1200" b="1" kern="0" dirty="0">
                <a:solidFill>
                  <a:srgbClr val="000000"/>
                </a:solidFill>
                <a:latin typeface="Helvetica"/>
              </a:rPr>
              <a:t> </a:t>
            </a:r>
            <a:r>
              <a:rPr lang="en-US" sz="1200" b="1" kern="0" dirty="0" err="1">
                <a:solidFill>
                  <a:srgbClr val="000000"/>
                </a:solidFill>
                <a:latin typeface="Helvetica"/>
              </a:rPr>
              <a:t>Departmentx</a:t>
            </a:r>
            <a:r>
              <a:rPr lang="en-US" sz="1200" b="1" kern="0" dirty="0">
                <a:solidFill>
                  <a:srgbClr val="000000"/>
                </a:solidFill>
                <a:latin typeface="Helvetica"/>
              </a:rPr>
              <a:t>(</a:t>
            </a:r>
            <a:r>
              <a:rPr lang="en-US" sz="1200" b="1" kern="0" dirty="0" err="1">
                <a:solidFill>
                  <a:srgbClr val="000000"/>
                </a:solidFill>
                <a:latin typeface="Helvetica"/>
              </a:rPr>
              <a:t>Dno</a:t>
            </a:r>
            <a:r>
              <a:rPr lang="en-US" sz="1200" b="1" kern="0" dirty="0">
                <a:solidFill>
                  <a:srgbClr val="000000"/>
                </a:solidFill>
                <a:latin typeface="Helvetica"/>
              </a:rPr>
              <a:t>) </a:t>
            </a:r>
            <a:r>
              <a:rPr lang="en-US" sz="1200" b="1" dirty="0">
                <a:solidFill>
                  <a:srgbClr val="C00000"/>
                </a:solidFill>
              </a:rPr>
              <a:t>ON DELETE CASCADE</a:t>
            </a:r>
            <a:r>
              <a:rPr lang="en-US" sz="1200" b="1" kern="0" dirty="0">
                <a:solidFill>
                  <a:srgbClr val="C00000"/>
                </a:solidFill>
                <a:latin typeface="Helvetica"/>
              </a:rPr>
              <a:t>)</a:t>
            </a:r>
            <a:r>
              <a:rPr lang="en-US" sz="1200" b="1" kern="0" dirty="0">
                <a:solidFill>
                  <a:srgbClr val="000000"/>
                </a:solidFill>
                <a:latin typeface="Helvetica"/>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DepartmentX</a:t>
            </a:r>
            <a:r>
              <a:rPr lang="en-IN" dirty="0"/>
              <a:t> values('D1', 'MCA’,128999); </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DepartmentX</a:t>
            </a:r>
            <a:r>
              <a:rPr lang="en-IN" dirty="0"/>
              <a:t> values('D2', 'CompSc',124456);</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DepartmentX</a:t>
            </a:r>
            <a:r>
              <a:rPr lang="en-IN" dirty="0"/>
              <a:t> values('D3', 'MTech',123562);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values(100,'Raj', 'D1’);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values(101,'Krishna', 'D2');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values(102,'Manoj', 'D1');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values(103,'Ravi', 'D3');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Insert into </a:t>
            </a:r>
            <a:r>
              <a:rPr lang="en-IN" dirty="0" err="1"/>
              <a:t>empX</a:t>
            </a:r>
            <a:r>
              <a:rPr lang="en-IN" dirty="0"/>
              <a:t> values(104,'Shrinivas',NULL);</a:t>
            </a:r>
          </a:p>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25</a:t>
            </a:fld>
            <a:endParaRPr lang="en-US"/>
          </a:p>
        </p:txBody>
      </p:sp>
    </p:spTree>
    <p:extLst>
      <p:ext uri="{BB962C8B-B14F-4D97-AF65-F5344CB8AC3E}">
        <p14:creationId xmlns:p14="http://schemas.microsoft.com/office/powerpoint/2010/main" val="36928311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tables give in slide 16 with ON DELETE CASCADE clause along</a:t>
            </a:r>
            <a:r>
              <a:rPr lang="en-US" baseline="0" dirty="0"/>
              <a:t> with FOREIGN KEY.</a:t>
            </a:r>
          </a:p>
          <a:p>
            <a:r>
              <a:rPr lang="en-US" dirty="0"/>
              <a:t>A foreign key with cascade delete means that if a record in the parent table is deleted, then the corresponding records in the child table will automatically be deleted. This is called a cascade delete in Oracle.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kern="0" dirty="0">
                <a:solidFill>
                  <a:srgbClr val="000000"/>
                </a:solidFill>
                <a:latin typeface="Helvetica"/>
              </a:rPr>
              <a:t>CREATE TABLE  </a:t>
            </a:r>
            <a:r>
              <a:rPr lang="en-US" b="1" kern="0" dirty="0" err="1">
                <a:solidFill>
                  <a:srgbClr val="000000"/>
                </a:solidFill>
                <a:latin typeface="Helvetica"/>
              </a:rPr>
              <a:t>Departmentx</a:t>
            </a:r>
            <a:r>
              <a:rPr lang="en-US" b="1" kern="0" dirty="0">
                <a:solidFill>
                  <a:srgbClr val="C00000"/>
                </a:solidFill>
                <a:latin typeface="Helvetica"/>
              </a:rPr>
              <a:t>(</a:t>
            </a:r>
            <a:r>
              <a:rPr lang="en-US" kern="0" dirty="0" err="1">
                <a:latin typeface="Helvetica"/>
              </a:rPr>
              <a:t>Dno</a:t>
            </a:r>
            <a:r>
              <a:rPr lang="en-US" kern="0" dirty="0">
                <a:latin typeface="Helvetica"/>
              </a:rPr>
              <a:t>  varchar(3) PRIMARY KEY, Name varchar(10),Budget Number(9)</a:t>
            </a:r>
            <a:r>
              <a:rPr lang="en-US" b="1" kern="0" dirty="0">
                <a:solidFill>
                  <a:srgbClr val="C00000"/>
                </a:solidFill>
                <a:latin typeface="Helvetica"/>
              </a:rPr>
              <a:t>)</a:t>
            </a:r>
            <a:r>
              <a:rPr lang="en-US" kern="0" dirty="0">
                <a:solidFill>
                  <a:srgbClr val="000000"/>
                </a:solidFill>
                <a:latin typeface="Helvetica"/>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0" dirty="0">
                <a:solidFill>
                  <a:srgbClr val="000000"/>
                </a:solidFill>
                <a:latin typeface="Helvetica"/>
              </a:rPr>
              <a:t>CREATE TABLE  </a:t>
            </a:r>
            <a:r>
              <a:rPr lang="en-US" sz="1200" b="1" kern="0" dirty="0" err="1">
                <a:solidFill>
                  <a:srgbClr val="000000"/>
                </a:solidFill>
                <a:latin typeface="Helvetica"/>
              </a:rPr>
              <a:t>Empx</a:t>
            </a:r>
            <a:r>
              <a:rPr lang="en-US" sz="1200" b="1" kern="0" dirty="0">
                <a:solidFill>
                  <a:srgbClr val="C00000"/>
                </a:solidFill>
                <a:latin typeface="Helvetica"/>
              </a:rPr>
              <a:t>( </a:t>
            </a:r>
            <a:r>
              <a:rPr lang="en-US" sz="1200" kern="0" dirty="0">
                <a:solidFill>
                  <a:srgbClr val="000000"/>
                </a:solidFill>
                <a:latin typeface="Helvetica"/>
              </a:rPr>
              <a:t>Empno number(3) PRIMARY KEY, Name varchar(10), </a:t>
            </a:r>
            <a:r>
              <a:rPr lang="en-US" sz="1200" kern="0" dirty="0" err="1">
                <a:solidFill>
                  <a:srgbClr val="000000"/>
                </a:solidFill>
                <a:latin typeface="Helvetica"/>
              </a:rPr>
              <a:t>Deptno</a:t>
            </a:r>
            <a:r>
              <a:rPr lang="en-US" sz="1200" kern="0" dirty="0">
                <a:solidFill>
                  <a:srgbClr val="000000"/>
                </a:solidFill>
                <a:latin typeface="Helvetica"/>
              </a:rPr>
              <a:t> char(3) </a:t>
            </a:r>
            <a:r>
              <a:rPr lang="en-US" sz="1200" b="1" kern="0" dirty="0">
                <a:solidFill>
                  <a:srgbClr val="C00000"/>
                </a:solidFill>
                <a:latin typeface="Helvetica"/>
              </a:rPr>
              <a:t>REFERENCES</a:t>
            </a:r>
            <a:r>
              <a:rPr lang="en-US" sz="1200" b="1" kern="0" dirty="0">
                <a:solidFill>
                  <a:srgbClr val="000000"/>
                </a:solidFill>
                <a:latin typeface="Helvetica"/>
              </a:rPr>
              <a:t> </a:t>
            </a:r>
            <a:r>
              <a:rPr lang="en-US" sz="1200" b="1" kern="0" dirty="0" err="1">
                <a:solidFill>
                  <a:srgbClr val="000000"/>
                </a:solidFill>
                <a:latin typeface="Helvetica"/>
              </a:rPr>
              <a:t>Departmentx</a:t>
            </a:r>
            <a:r>
              <a:rPr lang="en-US" sz="1200" b="1" kern="0" dirty="0">
                <a:solidFill>
                  <a:srgbClr val="000000"/>
                </a:solidFill>
                <a:latin typeface="Helvetica"/>
              </a:rPr>
              <a:t>(</a:t>
            </a:r>
            <a:r>
              <a:rPr lang="en-US" sz="1200" b="1" kern="0" dirty="0" err="1">
                <a:solidFill>
                  <a:srgbClr val="000000"/>
                </a:solidFill>
                <a:latin typeface="Helvetica"/>
              </a:rPr>
              <a:t>Dno</a:t>
            </a:r>
            <a:r>
              <a:rPr lang="en-US" sz="1200" b="1" kern="0" dirty="0">
                <a:solidFill>
                  <a:srgbClr val="000000"/>
                </a:solidFill>
                <a:latin typeface="Helvetica"/>
              </a:rPr>
              <a:t>) </a:t>
            </a:r>
            <a:r>
              <a:rPr lang="en-US" sz="1200" b="1" dirty="0">
                <a:solidFill>
                  <a:srgbClr val="C00000"/>
                </a:solidFill>
              </a:rPr>
              <a:t>ON DELETE SET NULL </a:t>
            </a:r>
            <a:r>
              <a:rPr lang="en-US" sz="1200" b="1" kern="0" dirty="0">
                <a:solidFill>
                  <a:srgbClr val="C00000"/>
                </a:solidFill>
                <a:latin typeface="Helvetica"/>
              </a:rPr>
              <a:t>)</a:t>
            </a:r>
            <a:r>
              <a:rPr lang="en-US" sz="1200" b="1" kern="0" dirty="0">
                <a:solidFill>
                  <a:srgbClr val="000000"/>
                </a:solidFill>
                <a:latin typeface="Helvetica"/>
              </a:rPr>
              <a:t>;</a:t>
            </a:r>
          </a:p>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26</a:t>
            </a:fld>
            <a:endParaRPr lang="en-US"/>
          </a:p>
        </p:txBody>
      </p:sp>
    </p:spTree>
    <p:extLst>
      <p:ext uri="{BB962C8B-B14F-4D97-AF65-F5344CB8AC3E}">
        <p14:creationId xmlns:p14="http://schemas.microsoft.com/office/powerpoint/2010/main" val="135443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CREATE TABLE  Emp21( Empno number(3) PRIMARY KEY, Name varchar(10), MgrNo number(3) REFERENCES EMP21 );      is Allowed. </a:t>
            </a:r>
          </a:p>
          <a:p>
            <a:r>
              <a:rPr lang="en-US" dirty="0"/>
              <a:t>insert into emp21 values(100,'XXX',null);</a:t>
            </a:r>
          </a:p>
          <a:p>
            <a:r>
              <a:rPr lang="en-US" dirty="0"/>
              <a:t>insert into emp21 values(101,'yyy',null);</a:t>
            </a:r>
          </a:p>
          <a:p>
            <a:r>
              <a:rPr lang="en-US" dirty="0"/>
              <a:t> insert into emp21 values(102,'zzz',null);</a:t>
            </a:r>
          </a:p>
          <a:p>
            <a:r>
              <a:rPr lang="en-US" dirty="0"/>
              <a:t>update emp21 set mgrno=101  where empno=100;</a:t>
            </a:r>
          </a:p>
          <a:p>
            <a:r>
              <a:rPr lang="en-US" dirty="0"/>
              <a:t>update emp21 set mgrno=102  where empno=101; </a:t>
            </a:r>
          </a:p>
          <a:p>
            <a:endParaRPr lang="en-US" dirty="0"/>
          </a:p>
          <a:p>
            <a:r>
              <a:rPr lang="en-US" dirty="0"/>
              <a:t>Violates Primary key &amp; Foreign key relationship</a:t>
            </a:r>
          </a:p>
          <a:p>
            <a:r>
              <a:rPr lang="en-US" dirty="0"/>
              <a:t>delete from emp21 where empno=102;</a:t>
            </a:r>
          </a:p>
        </p:txBody>
      </p:sp>
      <p:sp>
        <p:nvSpPr>
          <p:cNvPr id="4" name="Slide Number Placeholder 3"/>
          <p:cNvSpPr>
            <a:spLocks noGrp="1"/>
          </p:cNvSpPr>
          <p:nvPr>
            <p:ph type="sldNum" sz="quarter" idx="10"/>
          </p:nvPr>
        </p:nvSpPr>
        <p:spPr/>
        <p:txBody>
          <a:bodyPr/>
          <a:lstStyle/>
          <a:p>
            <a:fld id="{C82CEB8A-5BB4-46B1-9792-2D374E2BA62D}" type="slidenum">
              <a:rPr lang="en-US" smtClean="0"/>
              <a:t>28</a:t>
            </a:fld>
            <a:endParaRPr lang="en-US"/>
          </a:p>
        </p:txBody>
      </p:sp>
    </p:spTree>
    <p:extLst>
      <p:ext uri="{BB962C8B-B14F-4D97-AF65-F5344CB8AC3E}">
        <p14:creationId xmlns:p14="http://schemas.microsoft.com/office/powerpoint/2010/main" val="41447066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DEPT - create table DEPT(DeptId char(3) Unique, Dname Varchar2(10) Unique, HOD varchar(10));</a:t>
            </a:r>
          </a:p>
          <a:p>
            <a:r>
              <a:rPr lang="en-IN" dirty="0"/>
              <a:t>FACULTY -</a:t>
            </a:r>
            <a:r>
              <a:rPr lang="en-US" dirty="0"/>
              <a:t>create table FACULTY(</a:t>
            </a:r>
            <a:r>
              <a:rPr lang="en-US" dirty="0" err="1"/>
              <a:t>FacultyId</a:t>
            </a:r>
            <a:r>
              <a:rPr lang="en-US" dirty="0"/>
              <a:t> Number(3) Primary key, Name varchar2(10), </a:t>
            </a:r>
            <a:r>
              <a:rPr lang="en-US" dirty="0" err="1"/>
              <a:t>Dno</a:t>
            </a:r>
            <a:r>
              <a:rPr lang="en-US" dirty="0"/>
              <a:t> char(3) references Deptz1(</a:t>
            </a:r>
            <a:r>
              <a:rPr lang="en-US" dirty="0" err="1"/>
              <a:t>DeptId</a:t>
            </a:r>
            <a:r>
              <a:rPr lang="en-US" dirty="0"/>
              <a:t>) On delete set null);</a:t>
            </a:r>
          </a:p>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EMP- Create table EMP(RegNo Number(3) Primary Key, Name varchar2(10), </a:t>
            </a:r>
            <a:r>
              <a:rPr lang="en-IN" dirty="0" err="1"/>
              <a:t>Faculty_Advisor</a:t>
            </a:r>
            <a:r>
              <a:rPr lang="en-IN" dirty="0"/>
              <a:t> Number(3) References FACULTY);</a:t>
            </a:r>
          </a:p>
          <a:p>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31</a:t>
            </a:fld>
            <a:endParaRPr lang="en-US"/>
          </a:p>
        </p:txBody>
      </p:sp>
    </p:spTree>
    <p:extLst>
      <p:ext uri="{BB962C8B-B14F-4D97-AF65-F5344CB8AC3E}">
        <p14:creationId xmlns:p14="http://schemas.microsoft.com/office/powerpoint/2010/main" val="1670723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0" dirty="0">
                <a:solidFill>
                  <a:srgbClr val="000000"/>
                </a:solidFill>
                <a:latin typeface="Helvetica"/>
              </a:rPr>
              <a:t>INSERT INTO PRODUCT VALUES('JOI-’,’S.WATCH’,2344);     </a:t>
            </a:r>
            <a:r>
              <a:rPr lang="en-US" kern="0" dirty="0">
                <a:solidFill>
                  <a:srgbClr val="C00000"/>
                </a:solidFill>
                <a:latin typeface="Helvetica"/>
              </a:rPr>
              <a:t>rejected , because JOI-followed by zero characters</a:t>
            </a:r>
            <a:endParaRPr lang="en-US" kern="0" dirty="0">
              <a:solidFill>
                <a:srgbClr val="000000"/>
              </a:solidFill>
              <a:latin typeface="Helvetica"/>
            </a:endParaRPr>
          </a:p>
          <a:p>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35</a:t>
            </a:fld>
            <a:endParaRPr lang="en-US"/>
          </a:p>
        </p:txBody>
      </p:sp>
    </p:spTree>
    <p:extLst>
      <p:ext uri="{BB962C8B-B14F-4D97-AF65-F5344CB8AC3E}">
        <p14:creationId xmlns:p14="http://schemas.microsoft.com/office/powerpoint/2010/main" val="12702841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200" b="0" i="0" u="none" strike="noStrike" kern="0" cap="none" spc="0" normalizeH="0" baseline="0" noProof="0" dirty="0">
                <a:ln>
                  <a:noFill/>
                </a:ln>
                <a:solidFill>
                  <a:srgbClr val="000000"/>
                </a:solidFill>
                <a:effectLst/>
                <a:uLnTx/>
                <a:uFillTx/>
                <a:latin typeface="Helvetica"/>
                <a:ea typeface="+mn-ea"/>
                <a:cs typeface="+mn-cs"/>
              </a:rPr>
              <a:t>CREATE TABLE CANDIDATE</a:t>
            </a:r>
            <a:r>
              <a:rPr kumimoji="1" lang="en-US" sz="1200" b="1" i="0" u="none" strike="noStrike" kern="0" cap="none" spc="0" normalizeH="0" baseline="0" noProof="0" dirty="0">
                <a:ln>
                  <a:noFill/>
                </a:ln>
                <a:solidFill>
                  <a:srgbClr val="000000"/>
                </a:solidFill>
                <a:effectLst/>
                <a:uLnTx/>
                <a:uFillTx/>
                <a:latin typeface="Helvetica"/>
                <a:ea typeface="+mn-ea"/>
                <a:cs typeface="+mn-cs"/>
              </a:rPr>
              <a:t>( </a:t>
            </a:r>
            <a:r>
              <a:rPr kumimoji="1" lang="en-US" sz="1200" b="0" i="0" u="none" strike="noStrike" kern="0" cap="none" spc="0" normalizeH="0" baseline="0" noProof="0" dirty="0">
                <a:ln>
                  <a:noFill/>
                </a:ln>
                <a:solidFill>
                  <a:srgbClr val="000000"/>
                </a:solidFill>
                <a:effectLst/>
                <a:uLnTx/>
                <a:uFillTx/>
                <a:latin typeface="Helvetica"/>
                <a:ea typeface="+mn-ea"/>
                <a:cs typeface="+mn-cs"/>
              </a:rPr>
              <a:t>CandtId varchar2(7) PRIMARY KEY  </a:t>
            </a:r>
            <a:r>
              <a:rPr kumimoji="1" lang="en-US" sz="1200" b="1" i="0" u="none" strike="noStrike" kern="0" cap="none" spc="0" normalizeH="0" baseline="0" noProof="0" dirty="0">
                <a:ln>
                  <a:noFill/>
                </a:ln>
                <a:solidFill>
                  <a:srgbClr val="000000"/>
                </a:solidFill>
                <a:effectLst/>
                <a:uLnTx/>
                <a:uFillTx/>
                <a:latin typeface="Helvetica"/>
                <a:ea typeface="+mn-ea"/>
                <a:cs typeface="+mn-cs"/>
              </a:rPr>
              <a:t>CHECK </a:t>
            </a:r>
            <a:r>
              <a:rPr kumimoji="1" lang="en-US" sz="1200" b="1" i="0" u="none" strike="noStrike" kern="0" cap="none" spc="0" normalizeH="0" baseline="0" noProof="0" dirty="0">
                <a:ln>
                  <a:noFill/>
                </a:ln>
                <a:solidFill>
                  <a:srgbClr val="C00000"/>
                </a:solidFill>
                <a:effectLst/>
                <a:uLnTx/>
                <a:uFillTx/>
                <a:latin typeface="Helvetica"/>
                <a:ea typeface="+mn-ea"/>
                <a:cs typeface="+mn-cs"/>
              </a:rPr>
              <a:t>(</a:t>
            </a:r>
            <a:r>
              <a:rPr kumimoji="1" lang="en-US" sz="1200" b="1" i="0" u="none" strike="noStrike" kern="0" cap="none" spc="0" normalizeH="0" baseline="0" noProof="0" dirty="0">
                <a:ln>
                  <a:noFill/>
                </a:ln>
                <a:solidFill>
                  <a:srgbClr val="000000"/>
                </a:solidFill>
                <a:effectLst/>
                <a:uLnTx/>
                <a:uFillTx/>
                <a:latin typeface="Helvetica"/>
                <a:ea typeface="+mn-ea"/>
                <a:cs typeface="+mn-cs"/>
              </a:rPr>
              <a:t>CandtId</a:t>
            </a:r>
            <a:r>
              <a:rPr kumimoji="1" lang="en-US" sz="1200" b="1" i="0" u="none" strike="noStrike" kern="0" cap="none" spc="0" normalizeH="0" baseline="0" noProof="0" dirty="0">
                <a:ln>
                  <a:noFill/>
                </a:ln>
                <a:solidFill>
                  <a:srgbClr val="C00000"/>
                </a:solidFill>
                <a:effectLst/>
                <a:uLnTx/>
                <a:uFillTx/>
                <a:latin typeface="Helvetica"/>
                <a:ea typeface="+mn-ea"/>
                <a:cs typeface="+mn-cs"/>
              </a:rPr>
              <a:t> LIKE 'MIT%')</a:t>
            </a:r>
            <a:r>
              <a:rPr kumimoji="1" lang="en-US" sz="1200" b="0" i="0" u="none" strike="noStrike" kern="0" cap="none" spc="0" normalizeH="0" baseline="0" noProof="0" dirty="0">
                <a:ln>
                  <a:noFill/>
                </a:ln>
                <a:solidFill>
                  <a:srgbClr val="000000"/>
                </a:solidFill>
                <a:effectLst/>
                <a:uLnTx/>
                <a:uFillTx/>
                <a:latin typeface="Helvetica"/>
                <a:ea typeface="+mn-ea"/>
                <a:cs typeface="+mn-cs"/>
              </a:rPr>
              <a:t>, Name varchar(10),Branch varchar(10) CHECK(Branch=</a:t>
            </a:r>
            <a:r>
              <a:rPr kumimoji="1" lang="en-US" sz="1200" b="1" i="0" u="none" strike="noStrike" kern="0" cap="none" spc="0" normalizeH="0" baseline="0" noProof="0" dirty="0">
                <a:ln>
                  <a:noFill/>
                </a:ln>
                <a:solidFill>
                  <a:srgbClr val="C00000"/>
                </a:solidFill>
                <a:effectLst/>
                <a:uLnTx/>
                <a:uFillTx/>
                <a:latin typeface="Helvetica"/>
                <a:ea typeface="+mn-ea"/>
                <a:cs typeface="+mn-cs"/>
              </a:rPr>
              <a:t>UPPER</a:t>
            </a:r>
            <a:r>
              <a:rPr kumimoji="1" lang="en-US" sz="1200" b="0" i="0" u="none" strike="noStrike" kern="0" cap="none" spc="0" normalizeH="0" baseline="0" noProof="0" dirty="0">
                <a:ln>
                  <a:noFill/>
                </a:ln>
                <a:solidFill>
                  <a:srgbClr val="000000"/>
                </a:solidFill>
                <a:effectLst/>
                <a:uLnTx/>
                <a:uFillTx/>
                <a:latin typeface="Helvetica"/>
                <a:ea typeface="+mn-ea"/>
                <a:cs typeface="+mn-cs"/>
              </a:rPr>
              <a:t>(Branch))</a:t>
            </a:r>
            <a:r>
              <a:rPr kumimoji="1" lang="en-US" sz="1200" b="1" i="0" u="none" strike="noStrike" kern="0" cap="none" spc="0" normalizeH="0" baseline="0" noProof="0" dirty="0">
                <a:ln>
                  <a:noFill/>
                </a:ln>
                <a:solidFill>
                  <a:srgbClr val="000000"/>
                </a:solidFill>
                <a:effectLst/>
                <a:uLnTx/>
                <a:uFillTx/>
                <a:latin typeface="Helvetica"/>
                <a:ea typeface="+mn-ea"/>
                <a:cs typeface="+mn-cs"/>
              </a:rPr>
              <a:t>)</a:t>
            </a:r>
            <a:r>
              <a:rPr kumimoji="1" lang="en-US" sz="1200" b="0" i="0" u="none" strike="noStrike" kern="0" cap="none" spc="0" normalizeH="0" baseline="0" noProof="0" dirty="0">
                <a:ln>
                  <a:noFill/>
                </a:ln>
                <a:solidFill>
                  <a:srgbClr val="000000"/>
                </a:solidFill>
                <a:effectLst/>
                <a:uLnTx/>
                <a:uFillTx/>
                <a:latin typeface="Helvetica"/>
                <a:ea typeface="+mn-ea"/>
                <a:cs typeface="+mn-cs"/>
              </a:rPr>
              <a:t>;</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200" b="0" i="0" u="none" strike="noStrike" kern="0" cap="none" spc="0" normalizeH="0" baseline="0" noProof="0" dirty="0">
                <a:ln>
                  <a:noFill/>
                </a:ln>
                <a:solidFill>
                  <a:srgbClr val="000000"/>
                </a:solidFill>
                <a:effectLst/>
                <a:uLnTx/>
                <a:uFillTx/>
                <a:latin typeface="Helvetica"/>
                <a:ea typeface="+mn-ea"/>
                <a:cs typeface="+mn-cs"/>
              </a:rPr>
              <a:t>CREATE TABLE CANDIDATE1</a:t>
            </a:r>
            <a:r>
              <a:rPr kumimoji="1" lang="en-US" sz="1200" b="1" i="0" u="none" strike="noStrike" kern="0" cap="none" spc="0" normalizeH="0" baseline="0" noProof="0" dirty="0">
                <a:ln>
                  <a:noFill/>
                </a:ln>
                <a:solidFill>
                  <a:srgbClr val="000000"/>
                </a:solidFill>
                <a:effectLst/>
                <a:uLnTx/>
                <a:uFillTx/>
                <a:latin typeface="Helvetica"/>
                <a:ea typeface="+mn-ea"/>
                <a:cs typeface="+mn-cs"/>
              </a:rPr>
              <a:t>( </a:t>
            </a:r>
            <a:r>
              <a:rPr kumimoji="1" lang="en-US" sz="1200" b="0" i="0" u="none" strike="noStrike" kern="0" cap="none" spc="0" normalizeH="0" baseline="0" noProof="0" dirty="0">
                <a:ln>
                  <a:noFill/>
                </a:ln>
                <a:solidFill>
                  <a:srgbClr val="000000"/>
                </a:solidFill>
                <a:effectLst/>
                <a:uLnTx/>
                <a:uFillTx/>
                <a:latin typeface="Helvetica"/>
                <a:ea typeface="+mn-ea"/>
                <a:cs typeface="+mn-cs"/>
              </a:rPr>
              <a:t>CandtId varchar2(7) PRIMARY KEY  </a:t>
            </a:r>
            <a:r>
              <a:rPr kumimoji="1" lang="en-US" sz="1200" b="1" i="0" u="none" strike="noStrike" kern="0" cap="none" spc="0" normalizeH="0" baseline="0" noProof="0" dirty="0">
                <a:ln>
                  <a:noFill/>
                </a:ln>
                <a:solidFill>
                  <a:srgbClr val="000000"/>
                </a:solidFill>
                <a:effectLst/>
                <a:uLnTx/>
                <a:uFillTx/>
                <a:latin typeface="Helvetica"/>
                <a:ea typeface="+mn-ea"/>
                <a:cs typeface="+mn-cs"/>
              </a:rPr>
              <a:t>CHECK </a:t>
            </a:r>
            <a:r>
              <a:rPr kumimoji="1" lang="en-US" sz="1200" b="1" i="0" u="none" strike="noStrike" kern="0" cap="none" spc="0" normalizeH="0" baseline="0" noProof="0" dirty="0">
                <a:ln>
                  <a:noFill/>
                </a:ln>
                <a:solidFill>
                  <a:srgbClr val="C00000"/>
                </a:solidFill>
                <a:effectLst/>
                <a:uLnTx/>
                <a:uFillTx/>
                <a:latin typeface="Helvetica"/>
                <a:ea typeface="+mn-ea"/>
                <a:cs typeface="+mn-cs"/>
              </a:rPr>
              <a:t>(</a:t>
            </a:r>
            <a:r>
              <a:rPr kumimoji="1" lang="en-US" sz="1200" b="1" i="0" u="none" strike="noStrike" kern="0" cap="none" spc="0" normalizeH="0" baseline="0" noProof="0" dirty="0">
                <a:ln>
                  <a:noFill/>
                </a:ln>
                <a:solidFill>
                  <a:srgbClr val="000000"/>
                </a:solidFill>
                <a:effectLst/>
                <a:uLnTx/>
                <a:uFillTx/>
                <a:latin typeface="Helvetica"/>
                <a:ea typeface="+mn-ea"/>
                <a:cs typeface="+mn-cs"/>
              </a:rPr>
              <a:t>CandtId</a:t>
            </a:r>
            <a:r>
              <a:rPr kumimoji="1" lang="en-US" sz="1200" b="1" i="0" u="none" strike="noStrike" kern="0" cap="none" spc="0" normalizeH="0" baseline="0" noProof="0" dirty="0">
                <a:ln>
                  <a:noFill/>
                </a:ln>
                <a:solidFill>
                  <a:srgbClr val="C00000"/>
                </a:solidFill>
                <a:effectLst/>
                <a:uLnTx/>
                <a:uFillTx/>
                <a:latin typeface="Helvetica"/>
                <a:ea typeface="+mn-ea"/>
                <a:cs typeface="+mn-cs"/>
              </a:rPr>
              <a:t> LIKE 'MIT___')</a:t>
            </a:r>
            <a:r>
              <a:rPr kumimoji="1" lang="en-US" sz="1200" b="0" i="0" u="none" strike="noStrike" kern="0" cap="none" spc="0" normalizeH="0" baseline="0" noProof="0" dirty="0">
                <a:ln>
                  <a:noFill/>
                </a:ln>
                <a:solidFill>
                  <a:srgbClr val="000000"/>
                </a:solidFill>
                <a:effectLst/>
                <a:uLnTx/>
                <a:uFillTx/>
                <a:latin typeface="Helvetica"/>
                <a:ea typeface="+mn-ea"/>
                <a:cs typeface="+mn-cs"/>
              </a:rPr>
              <a:t>, Name varchar(10),Branch varchar(10) CHECK(Branch=</a:t>
            </a:r>
            <a:r>
              <a:rPr kumimoji="1" lang="en-US" sz="1200" b="1" i="0" u="none" strike="noStrike" kern="0" cap="none" spc="0" normalizeH="0" baseline="0" noProof="0" dirty="0">
                <a:ln>
                  <a:noFill/>
                </a:ln>
                <a:solidFill>
                  <a:srgbClr val="C00000"/>
                </a:solidFill>
                <a:effectLst/>
                <a:uLnTx/>
                <a:uFillTx/>
                <a:latin typeface="Helvetica"/>
                <a:ea typeface="+mn-ea"/>
                <a:cs typeface="+mn-cs"/>
              </a:rPr>
              <a:t>UPPER</a:t>
            </a:r>
            <a:r>
              <a:rPr kumimoji="1" lang="en-US" sz="1200" b="0" i="0" u="none" strike="noStrike" kern="0" cap="none" spc="0" normalizeH="0" baseline="0" noProof="0" dirty="0">
                <a:ln>
                  <a:noFill/>
                </a:ln>
                <a:solidFill>
                  <a:srgbClr val="000000"/>
                </a:solidFill>
                <a:effectLst/>
                <a:uLnTx/>
                <a:uFillTx/>
                <a:latin typeface="Helvetica"/>
                <a:ea typeface="+mn-ea"/>
                <a:cs typeface="+mn-cs"/>
              </a:rPr>
              <a:t>(Branch))</a:t>
            </a:r>
            <a:r>
              <a:rPr kumimoji="1" lang="en-US" sz="1200" b="1" i="0" u="none" strike="noStrike" kern="0" cap="none" spc="0" normalizeH="0" baseline="0" noProof="0" dirty="0">
                <a:ln>
                  <a:noFill/>
                </a:ln>
                <a:solidFill>
                  <a:srgbClr val="000000"/>
                </a:solidFill>
                <a:effectLst/>
                <a:uLnTx/>
                <a:uFillTx/>
                <a:latin typeface="Helvetica"/>
                <a:ea typeface="+mn-ea"/>
                <a:cs typeface="+mn-cs"/>
              </a:rPr>
              <a:t>)</a:t>
            </a:r>
            <a:r>
              <a:rPr kumimoji="1" lang="en-US" sz="1200" b="0" i="0" u="none" strike="noStrike" kern="0" cap="none" spc="0" normalizeH="0" baseline="0" noProof="0" dirty="0">
                <a:ln>
                  <a:noFill/>
                </a:ln>
                <a:solidFill>
                  <a:srgbClr val="000000"/>
                </a:solidFill>
                <a:effectLst/>
                <a:uLnTx/>
                <a:uFillTx/>
                <a:latin typeface="Helvetica"/>
                <a:ea typeface="+mn-ea"/>
                <a:cs typeface="+mn-cs"/>
              </a:rPr>
              <a:t>;</a:t>
            </a:r>
          </a:p>
          <a:p>
            <a:r>
              <a:rPr lang="en-US" dirty="0"/>
              <a:t>insert into candidate1 values('</a:t>
            </a:r>
            <a:r>
              <a:rPr lang="en-US" b="1" dirty="0"/>
              <a:t>MIT12</a:t>
            </a:r>
            <a:r>
              <a:rPr lang="en-US" dirty="0"/>
              <a:t>','ABD','B1’); </a:t>
            </a:r>
          </a:p>
          <a:p>
            <a:r>
              <a:rPr lang="en-IN" dirty="0"/>
              <a:t>     </a:t>
            </a:r>
            <a:r>
              <a:rPr lang="en-IN" b="1" dirty="0"/>
              <a:t>ORA-02290: </a:t>
            </a:r>
            <a:r>
              <a:rPr lang="en-IN" dirty="0"/>
              <a:t>check constraint (MCA2020.SYS_C0010467) violated</a:t>
            </a:r>
          </a:p>
          <a:p>
            <a:r>
              <a:rPr lang="en-US" dirty="0"/>
              <a:t> insert into candidate1 values('MIT123','ABD','B1’); </a:t>
            </a:r>
          </a:p>
          <a:p>
            <a:r>
              <a:rPr lang="en-IN" dirty="0"/>
              <a:t>    1 row created.</a:t>
            </a:r>
          </a:p>
          <a:p>
            <a:r>
              <a:rPr lang="en-US" dirty="0"/>
              <a:t>insert into candidate1 values('</a:t>
            </a:r>
            <a:r>
              <a:rPr lang="en-US" b="1" dirty="0"/>
              <a:t>MIT1234</a:t>
            </a:r>
            <a:r>
              <a:rPr lang="en-US" dirty="0"/>
              <a:t>','ABD','B1’); </a:t>
            </a:r>
          </a:p>
          <a:p>
            <a:r>
              <a:rPr lang="en-IN" dirty="0"/>
              <a:t>     </a:t>
            </a:r>
            <a:r>
              <a:rPr lang="en-IN" b="1" dirty="0"/>
              <a:t>ORA-02290:</a:t>
            </a:r>
            <a:r>
              <a:rPr lang="en-IN" dirty="0"/>
              <a:t> check constraint (MCA2020.SYS_C0010467) violated  (only 3 digit/char accepted after MIT</a:t>
            </a:r>
          </a:p>
        </p:txBody>
      </p:sp>
      <p:sp>
        <p:nvSpPr>
          <p:cNvPr id="4" name="Slide Number Placeholder 3"/>
          <p:cNvSpPr>
            <a:spLocks noGrp="1"/>
          </p:cNvSpPr>
          <p:nvPr>
            <p:ph type="sldNum" sz="quarter" idx="5"/>
          </p:nvPr>
        </p:nvSpPr>
        <p:spPr/>
        <p:txBody>
          <a:bodyPr/>
          <a:lstStyle/>
          <a:p>
            <a:fld id="{C82CEB8A-5BB4-46B1-9792-2D374E2BA62D}" type="slidenum">
              <a:rPr lang="en-US" smtClean="0"/>
              <a:t>36</a:t>
            </a:fld>
            <a:endParaRPr lang="en-US"/>
          </a:p>
        </p:txBody>
      </p:sp>
    </p:spTree>
    <p:extLst>
      <p:ext uri="{BB962C8B-B14F-4D97-AF65-F5344CB8AC3E}">
        <p14:creationId xmlns:p14="http://schemas.microsoft.com/office/powerpoint/2010/main" val="537953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clause  is</a:t>
            </a:r>
            <a:r>
              <a:rPr lang="en-US" baseline="0" dirty="0"/>
              <a:t> used to  </a:t>
            </a:r>
          </a:p>
          <a:p>
            <a:r>
              <a:rPr lang="en-US" dirty="0"/>
              <a:t>CREATE TABLE Persons (ID Number(3) NOT NULL,  LastName varchar(10) NOT NULL,   FirstName varchar(10),   Age Number(2),   City varchar(15) DEFAULT  'Manipal’ );</a:t>
            </a:r>
          </a:p>
          <a:p>
            <a:endParaRPr lang="en-US" dirty="0"/>
          </a:p>
          <a:p>
            <a:pPr>
              <a:lnSpc>
                <a:spcPct val="150000"/>
              </a:lnSpc>
            </a:pPr>
            <a:r>
              <a:rPr lang="en-US" sz="1200" b="1" dirty="0">
                <a:latin typeface="Helvetica" panose="020B0604020202020204" pitchFamily="34" charset="0"/>
                <a:cs typeface="Helvetica" panose="020B0604020202020204" pitchFamily="34" charset="0"/>
              </a:rPr>
              <a:t>INSERT INTO Persons(ID, Lastname) values(100,'AAA');</a:t>
            </a:r>
          </a:p>
          <a:p>
            <a:pPr>
              <a:lnSpc>
                <a:spcPct val="150000"/>
              </a:lnSpc>
            </a:pPr>
            <a:r>
              <a:rPr lang="en-US" sz="1200" dirty="0">
                <a:latin typeface="Helvetica" panose="020B0604020202020204" pitchFamily="34" charset="0"/>
                <a:cs typeface="Helvetica" panose="020B0604020202020204" pitchFamily="34" charset="0"/>
              </a:rPr>
              <a:t>Inserts value to ID=100 , Lastname=AAA , FirstName= NULL , Age=NULL  &amp; City takes value </a:t>
            </a:r>
            <a:r>
              <a:rPr lang="en-US" sz="1200" b="1" dirty="0">
                <a:latin typeface="Helvetica" panose="020B0604020202020204" pitchFamily="34" charset="0"/>
                <a:cs typeface="Helvetica" panose="020B0604020202020204" pitchFamily="34" charset="0"/>
              </a:rPr>
              <a:t>Manipal</a:t>
            </a:r>
            <a:r>
              <a:rPr lang="en-US" sz="1200" dirty="0">
                <a:latin typeface="Helvetica" panose="020B0604020202020204" pitchFamily="34" charset="0"/>
                <a:cs typeface="Helvetica" panose="020B0604020202020204" pitchFamily="34" charset="0"/>
              </a:rPr>
              <a:t> automatically even though City value is not specified in the INSERT command.</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latin typeface="Helvetica" panose="020B0604020202020204" pitchFamily="34" charset="0"/>
                <a:cs typeface="Helvetica" panose="020B0604020202020204" pitchFamily="34" charset="0"/>
              </a:rPr>
              <a:t>INSERT INTO Persons(ID, Lastname, City) values(100,'AAA’,Null);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latin typeface="Helvetica" panose="020B0604020202020204" pitchFamily="34" charset="0"/>
                <a:cs typeface="Helvetica" panose="020B0604020202020204" pitchFamily="34" charset="0"/>
              </a:rPr>
              <a:t> City </a:t>
            </a:r>
            <a:r>
              <a:rPr lang="en-US" sz="1200" b="0" dirty="0">
                <a:latin typeface="Helvetica" panose="020B0604020202020204" pitchFamily="34" charset="0"/>
                <a:cs typeface="Helvetica" panose="020B0604020202020204" pitchFamily="34" charset="0"/>
              </a:rPr>
              <a:t>column will not get default value Manipal when specifically NULL value is specified.</a:t>
            </a:r>
            <a:endParaRPr lang="en-US" sz="1200" b="1" dirty="0">
              <a:latin typeface="Helvetica" panose="020B0604020202020204" pitchFamily="34" charset="0"/>
              <a:cs typeface="Helvetica"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37</a:t>
            </a:fld>
            <a:endParaRPr lang="en-US"/>
          </a:p>
        </p:txBody>
      </p:sp>
    </p:spTree>
    <p:extLst>
      <p:ext uri="{BB962C8B-B14F-4D97-AF65-F5344CB8AC3E}">
        <p14:creationId xmlns:p14="http://schemas.microsoft.com/office/powerpoint/2010/main" val="35640629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Tables created without constraint Name</a:t>
            </a:r>
          </a:p>
        </p:txBody>
      </p:sp>
      <p:sp>
        <p:nvSpPr>
          <p:cNvPr id="4" name="Slide Number Placeholder 3"/>
          <p:cNvSpPr>
            <a:spLocks noGrp="1"/>
          </p:cNvSpPr>
          <p:nvPr>
            <p:ph type="sldNum" sz="quarter" idx="5"/>
          </p:nvPr>
        </p:nvSpPr>
        <p:spPr/>
        <p:txBody>
          <a:bodyPr/>
          <a:lstStyle/>
          <a:p>
            <a:fld id="{C82CEB8A-5BB4-46B1-9792-2D374E2BA62D}" type="slidenum">
              <a:rPr lang="en-US" smtClean="0"/>
              <a:t>39</a:t>
            </a:fld>
            <a:endParaRPr lang="en-US"/>
          </a:p>
        </p:txBody>
      </p:sp>
    </p:spTree>
    <p:extLst>
      <p:ext uri="{BB962C8B-B14F-4D97-AF65-F5344CB8AC3E}">
        <p14:creationId xmlns:p14="http://schemas.microsoft.com/office/powerpoint/2010/main" val="34708619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Note the constraint name and error numbers displayed when data being inserted violates constraints</a:t>
            </a:r>
          </a:p>
        </p:txBody>
      </p:sp>
      <p:sp>
        <p:nvSpPr>
          <p:cNvPr id="4" name="Slide Number Placeholder 3"/>
          <p:cNvSpPr>
            <a:spLocks noGrp="1"/>
          </p:cNvSpPr>
          <p:nvPr>
            <p:ph type="sldNum" sz="quarter" idx="5"/>
          </p:nvPr>
        </p:nvSpPr>
        <p:spPr/>
        <p:txBody>
          <a:bodyPr/>
          <a:lstStyle/>
          <a:p>
            <a:fld id="{C82CEB8A-5BB4-46B1-9792-2D374E2BA62D}" type="slidenum">
              <a:rPr lang="en-US" smtClean="0"/>
              <a:t>40</a:t>
            </a:fld>
            <a:endParaRPr lang="en-US"/>
          </a:p>
        </p:txBody>
      </p:sp>
    </p:spTree>
    <p:extLst>
      <p:ext uri="{BB962C8B-B14F-4D97-AF65-F5344CB8AC3E}">
        <p14:creationId xmlns:p14="http://schemas.microsoft.com/office/powerpoint/2010/main" val="21498211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Example:</a:t>
            </a:r>
          </a:p>
        </p:txBody>
      </p:sp>
      <p:sp>
        <p:nvSpPr>
          <p:cNvPr id="4" name="Slide Number Placeholder 3"/>
          <p:cNvSpPr>
            <a:spLocks noGrp="1"/>
          </p:cNvSpPr>
          <p:nvPr>
            <p:ph type="sldNum" sz="quarter" idx="5"/>
          </p:nvPr>
        </p:nvSpPr>
        <p:spPr/>
        <p:txBody>
          <a:bodyPr/>
          <a:lstStyle/>
          <a:p>
            <a:fld id="{C82CEB8A-5BB4-46B1-9792-2D374E2BA62D}" type="slidenum">
              <a:rPr lang="en-US" smtClean="0"/>
              <a:t>41</a:t>
            </a:fld>
            <a:endParaRPr lang="en-US"/>
          </a:p>
        </p:txBody>
      </p:sp>
    </p:spTree>
    <p:extLst>
      <p:ext uri="{BB962C8B-B14F-4D97-AF65-F5344CB8AC3E}">
        <p14:creationId xmlns:p14="http://schemas.microsoft.com/office/powerpoint/2010/main" val="38681175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Without Constraint Names-</a:t>
            </a:r>
          </a:p>
          <a:p>
            <a:r>
              <a:rPr lang="en-US" dirty="0"/>
              <a:t>CREATE TABLE Organization1(</a:t>
            </a:r>
            <a:r>
              <a:rPr lang="en-US" dirty="0" err="1"/>
              <a:t>Dept_name</a:t>
            </a:r>
            <a:r>
              <a:rPr lang="en-US" dirty="0"/>
              <a:t> varchar (8) </a:t>
            </a:r>
            <a:r>
              <a:rPr lang="en-US" b="1" dirty="0"/>
              <a:t>PRIMARY KEY</a:t>
            </a:r>
            <a:r>
              <a:rPr lang="en-US" dirty="0"/>
              <a:t>, Head varchar(10)); </a:t>
            </a:r>
          </a:p>
          <a:p>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CREATE TABLE Department1 (</a:t>
            </a:r>
            <a:r>
              <a:rPr lang="en-US" dirty="0" err="1"/>
              <a:t>Dname</a:t>
            </a:r>
            <a:r>
              <a:rPr lang="en-US" dirty="0"/>
              <a:t> varchar (8) </a:t>
            </a:r>
            <a:r>
              <a:rPr lang="en-US" dirty="0">
                <a:solidFill>
                  <a:srgbClr val="C00000"/>
                </a:solidFill>
              </a:rPr>
              <a:t>CONSTRAINT  </a:t>
            </a:r>
            <a:r>
              <a:rPr lang="en-US" b="1" dirty="0"/>
              <a:t>PRIMARY KEY REFERENCES Organization1</a:t>
            </a:r>
            <a:r>
              <a:rPr lang="en-US" dirty="0"/>
              <a:t>, </a:t>
            </a:r>
            <a:r>
              <a:rPr lang="en-US" dirty="0" err="1"/>
              <a:t>Course_Type</a:t>
            </a:r>
            <a:r>
              <a:rPr lang="en-US" dirty="0"/>
              <a:t> varchar (8) </a:t>
            </a:r>
            <a:r>
              <a:rPr lang="en-US" b="1" dirty="0"/>
              <a:t>CHECK( </a:t>
            </a:r>
            <a:r>
              <a:rPr lang="en-US" b="1" dirty="0" err="1"/>
              <a:t>Course_Type</a:t>
            </a:r>
            <a:r>
              <a:rPr lang="en-US" b="1" dirty="0"/>
              <a:t> IN( '</a:t>
            </a:r>
            <a:r>
              <a:rPr lang="en-US" b="1" dirty="0" err="1"/>
              <a:t>MCA','MTech</a:t>
            </a:r>
            <a:r>
              <a:rPr lang="en-US" b="1" dirty="0"/>
              <a:t> ', 'BTech', 'MS'))</a:t>
            </a:r>
            <a:r>
              <a:rPr lang="en-US" dirty="0"/>
              <a:t>, </a:t>
            </a:r>
            <a:r>
              <a:rPr lang="en-US" dirty="0" err="1"/>
              <a:t>Numb_of_Sem</a:t>
            </a:r>
            <a:r>
              <a:rPr lang="en-US" dirty="0"/>
              <a:t>  Number(1)  </a:t>
            </a:r>
            <a:r>
              <a:rPr lang="en-US" b="1" dirty="0"/>
              <a:t>CHECK(</a:t>
            </a:r>
            <a:r>
              <a:rPr lang="en-US" dirty="0" err="1"/>
              <a:t>Numb_of_Sem</a:t>
            </a:r>
            <a:r>
              <a:rPr lang="en-US" dirty="0"/>
              <a:t> BETWEEN 1 AND 8), </a:t>
            </a:r>
            <a:r>
              <a:rPr lang="en-US" dirty="0" err="1"/>
              <a:t>In_take_stud</a:t>
            </a:r>
            <a:r>
              <a:rPr lang="en-US" dirty="0"/>
              <a:t>    Number(2), </a:t>
            </a:r>
            <a:r>
              <a:rPr lang="en-US" dirty="0" err="1"/>
              <a:t>Dep_Phone</a:t>
            </a:r>
            <a:r>
              <a:rPr lang="en-US" dirty="0"/>
              <a:t>   Number(10)</a:t>
            </a:r>
            <a:r>
              <a:rPr lang="en-US" dirty="0">
                <a:solidFill>
                  <a:srgbClr val="C00000"/>
                </a:solidFill>
              </a:rPr>
              <a:t> </a:t>
            </a:r>
            <a:r>
              <a:rPr lang="en-US" b="1" dirty="0"/>
              <a:t>UNIQUE </a:t>
            </a:r>
            <a:r>
              <a:rPr lang="en-US" dirty="0"/>
              <a:t>);</a:t>
            </a:r>
          </a:p>
          <a:p>
            <a:endParaRPr lang="en-IN" dirty="0"/>
          </a:p>
          <a:p>
            <a:r>
              <a:rPr lang="en-US" dirty="0"/>
              <a:t>CREATE TABLE Department1 (</a:t>
            </a:r>
            <a:r>
              <a:rPr lang="en-US" dirty="0" err="1"/>
              <a:t>Dname</a:t>
            </a:r>
            <a:r>
              <a:rPr lang="en-US" dirty="0"/>
              <a:t> varchar (8) </a:t>
            </a:r>
            <a:r>
              <a:rPr lang="en-US" dirty="0">
                <a:solidFill>
                  <a:srgbClr val="C00000"/>
                </a:solidFill>
              </a:rPr>
              <a:t>CONSTRAINT </a:t>
            </a:r>
            <a:r>
              <a:rPr lang="en-US" dirty="0" err="1">
                <a:solidFill>
                  <a:srgbClr val="C00000"/>
                </a:solidFill>
              </a:rPr>
              <a:t>Dname_PK</a:t>
            </a:r>
            <a:r>
              <a:rPr lang="en-US" dirty="0">
                <a:solidFill>
                  <a:srgbClr val="C00000"/>
                </a:solidFill>
              </a:rPr>
              <a:t> </a:t>
            </a:r>
            <a:r>
              <a:rPr lang="en-US" b="1" dirty="0"/>
              <a:t>PRIMARY KEY </a:t>
            </a:r>
            <a:r>
              <a:rPr lang="en-US" dirty="0">
                <a:solidFill>
                  <a:srgbClr val="C00000"/>
                </a:solidFill>
              </a:rPr>
              <a:t>CONSTRAINT </a:t>
            </a:r>
            <a:r>
              <a:rPr lang="en-US" dirty="0" err="1">
                <a:solidFill>
                  <a:srgbClr val="C00000"/>
                </a:solidFill>
              </a:rPr>
              <a:t>fk_Orga</a:t>
            </a:r>
            <a:r>
              <a:rPr lang="en-US" dirty="0"/>
              <a:t> </a:t>
            </a:r>
            <a:r>
              <a:rPr lang="en-US" b="1" dirty="0"/>
              <a:t>REFERENCES Organization</a:t>
            </a:r>
            <a:r>
              <a:rPr lang="en-US" dirty="0"/>
              <a:t>, </a:t>
            </a:r>
            <a:r>
              <a:rPr lang="en-US" dirty="0" err="1"/>
              <a:t>Course_Type</a:t>
            </a:r>
            <a:r>
              <a:rPr lang="en-US" dirty="0"/>
              <a:t> varchar (8) </a:t>
            </a:r>
            <a:r>
              <a:rPr lang="en-US" dirty="0">
                <a:solidFill>
                  <a:srgbClr val="C00000"/>
                </a:solidFill>
              </a:rPr>
              <a:t>CONSTRAINT </a:t>
            </a:r>
            <a:r>
              <a:rPr lang="en-US" dirty="0" err="1">
                <a:solidFill>
                  <a:srgbClr val="C00000"/>
                </a:solidFill>
              </a:rPr>
              <a:t>Chk_Type</a:t>
            </a:r>
            <a:r>
              <a:rPr lang="en-US" dirty="0"/>
              <a:t> </a:t>
            </a:r>
            <a:r>
              <a:rPr lang="en-US" b="1" dirty="0"/>
              <a:t>CHECK( </a:t>
            </a:r>
            <a:r>
              <a:rPr lang="en-US" b="1" dirty="0" err="1"/>
              <a:t>Course_Type</a:t>
            </a:r>
            <a:r>
              <a:rPr lang="en-US" b="1" dirty="0"/>
              <a:t> IN( '</a:t>
            </a:r>
            <a:r>
              <a:rPr lang="en-US" b="1" dirty="0" err="1"/>
              <a:t>MCA','MTech</a:t>
            </a:r>
            <a:r>
              <a:rPr lang="en-US" b="1" dirty="0"/>
              <a:t> ', 'BTech', 'MS'))</a:t>
            </a:r>
            <a:r>
              <a:rPr lang="en-US" dirty="0"/>
              <a:t>, </a:t>
            </a:r>
            <a:r>
              <a:rPr lang="en-US" dirty="0" err="1"/>
              <a:t>Numb_of_Sem</a:t>
            </a:r>
            <a:r>
              <a:rPr lang="en-US" dirty="0"/>
              <a:t>  Number(1) </a:t>
            </a:r>
            <a:r>
              <a:rPr lang="en-US" dirty="0">
                <a:solidFill>
                  <a:srgbClr val="C00000"/>
                </a:solidFill>
              </a:rPr>
              <a:t>CONSTRAINT </a:t>
            </a:r>
            <a:r>
              <a:rPr lang="en-US" dirty="0" err="1">
                <a:solidFill>
                  <a:srgbClr val="C00000"/>
                </a:solidFill>
              </a:rPr>
              <a:t>Sem_Num</a:t>
            </a:r>
            <a:r>
              <a:rPr lang="en-US" dirty="0"/>
              <a:t> </a:t>
            </a:r>
            <a:r>
              <a:rPr lang="en-US" b="1" dirty="0"/>
              <a:t>CHECK(</a:t>
            </a:r>
            <a:r>
              <a:rPr lang="en-US" dirty="0" err="1"/>
              <a:t>Numb_of_Sem</a:t>
            </a:r>
            <a:r>
              <a:rPr lang="en-US" dirty="0"/>
              <a:t> BETWEEN 1 AND 8), </a:t>
            </a:r>
            <a:r>
              <a:rPr lang="en-US" dirty="0" err="1"/>
              <a:t>In_take_stud</a:t>
            </a:r>
            <a:r>
              <a:rPr lang="en-US" dirty="0"/>
              <a:t>    Number(2), </a:t>
            </a:r>
            <a:r>
              <a:rPr lang="en-US" dirty="0" err="1"/>
              <a:t>Dep_Phone</a:t>
            </a:r>
            <a:r>
              <a:rPr lang="en-US" dirty="0"/>
              <a:t>   Number(10)</a:t>
            </a:r>
            <a:r>
              <a:rPr lang="en-US" dirty="0">
                <a:solidFill>
                  <a:srgbClr val="C00000"/>
                </a:solidFill>
              </a:rPr>
              <a:t> CONSTRAINT </a:t>
            </a:r>
            <a:r>
              <a:rPr lang="en-US" dirty="0" err="1">
                <a:solidFill>
                  <a:srgbClr val="C00000"/>
                </a:solidFill>
              </a:rPr>
              <a:t>NoNul</a:t>
            </a:r>
            <a:r>
              <a:rPr lang="en-US" dirty="0"/>
              <a:t> </a:t>
            </a:r>
            <a:r>
              <a:rPr lang="en-US" b="1" dirty="0"/>
              <a:t>NOT NULL  </a:t>
            </a:r>
            <a:r>
              <a:rPr lang="en-US" dirty="0">
                <a:solidFill>
                  <a:srgbClr val="C00000"/>
                </a:solidFill>
              </a:rPr>
              <a:t>CONSTRAINT </a:t>
            </a:r>
            <a:r>
              <a:rPr lang="en-US" dirty="0" err="1">
                <a:solidFill>
                  <a:srgbClr val="C00000"/>
                </a:solidFill>
              </a:rPr>
              <a:t>Unq_Ph</a:t>
            </a:r>
            <a:r>
              <a:rPr lang="en-US" dirty="0"/>
              <a:t> </a:t>
            </a:r>
            <a:r>
              <a:rPr lang="en-US" b="1" dirty="0"/>
              <a:t>UNIQUE</a:t>
            </a:r>
            <a:r>
              <a:rPr lang="en-US" dirty="0"/>
              <a:t>) </a:t>
            </a:r>
          </a:p>
          <a:p>
            <a:endParaRPr lang="en-US" dirty="0"/>
          </a:p>
          <a:p>
            <a:br>
              <a:rPr lang="en-US" dirty="0"/>
            </a:br>
            <a:r>
              <a:rPr lang="en-US" dirty="0"/>
              <a:t>alter table test </a:t>
            </a:r>
            <a:r>
              <a:rPr lang="en-US" b="1" dirty="0"/>
              <a:t>rename constraint </a:t>
            </a:r>
            <a:r>
              <a:rPr lang="en-US" dirty="0"/>
              <a:t>test1_pk to </a:t>
            </a:r>
            <a:r>
              <a:rPr lang="en-US" dirty="0" err="1"/>
              <a:t>test_pk</a:t>
            </a:r>
            <a:r>
              <a:rPr lang="en-US" dirty="0"/>
              <a:t>;</a:t>
            </a:r>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42</a:t>
            </a:fld>
            <a:endParaRPr lang="en-US"/>
          </a:p>
        </p:txBody>
      </p:sp>
    </p:spTree>
    <p:extLst>
      <p:ext uri="{BB962C8B-B14F-4D97-AF65-F5344CB8AC3E}">
        <p14:creationId xmlns:p14="http://schemas.microsoft.com/office/powerpoint/2010/main" val="378898901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Note the constraint name and error numbers displayed when data being inserted violates constraints.</a:t>
            </a:r>
          </a:p>
          <a:p>
            <a:endParaRPr lang="en-IN" dirty="0"/>
          </a:p>
          <a:p>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43</a:t>
            </a:fld>
            <a:endParaRPr lang="en-US"/>
          </a:p>
        </p:txBody>
      </p:sp>
    </p:spTree>
    <p:extLst>
      <p:ext uri="{BB962C8B-B14F-4D97-AF65-F5344CB8AC3E}">
        <p14:creationId xmlns:p14="http://schemas.microsoft.com/office/powerpoint/2010/main" val="27452567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44</a:t>
            </a:fld>
            <a:endParaRPr lang="en-US"/>
          </a:p>
        </p:txBody>
      </p:sp>
    </p:spTree>
    <p:extLst>
      <p:ext uri="{BB962C8B-B14F-4D97-AF65-F5344CB8AC3E}">
        <p14:creationId xmlns:p14="http://schemas.microsoft.com/office/powerpoint/2010/main" val="35762318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45</a:t>
            </a:fld>
            <a:endParaRPr lang="en-US"/>
          </a:p>
        </p:txBody>
      </p:sp>
    </p:spTree>
    <p:extLst>
      <p:ext uri="{BB962C8B-B14F-4D97-AF65-F5344CB8AC3E}">
        <p14:creationId xmlns:p14="http://schemas.microsoft.com/office/powerpoint/2010/main" val="30161638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If we are not altering width of name but </a:t>
            </a:r>
            <a:r>
              <a:rPr lang="en-US" sz="1200" b="1" dirty="0"/>
              <a:t>only Not Null </a:t>
            </a:r>
            <a:r>
              <a:rPr lang="en-US" sz="1200" dirty="0"/>
              <a:t>then we can leave datatype and size</a:t>
            </a:r>
          </a:p>
          <a:p>
            <a:r>
              <a:rPr lang="en-US" sz="1200" dirty="0"/>
              <a:t>ALTER TABLE Emp MODIFY ( Name </a:t>
            </a:r>
            <a:r>
              <a:rPr lang="en-US" sz="1200" b="1" dirty="0"/>
              <a:t>NOT NULL</a:t>
            </a:r>
            <a:r>
              <a:rPr lang="en-US" sz="1200" dirty="0"/>
              <a:t>, Salary  Number(</a:t>
            </a:r>
            <a:r>
              <a:rPr lang="en-US" sz="1200" b="1" dirty="0"/>
              <a:t>9,2</a:t>
            </a:r>
            <a:r>
              <a:rPr lang="en-US" sz="1200" dirty="0"/>
              <a:t>));  </a:t>
            </a:r>
          </a:p>
          <a:p>
            <a:endParaRPr lang="en-US" sz="1200" dirty="0"/>
          </a:p>
          <a:p>
            <a:r>
              <a:rPr lang="en-US" sz="1200" dirty="0"/>
              <a:t>column to be modified must be </a:t>
            </a:r>
            <a:r>
              <a:rPr lang="en-US" sz="1200" b="1" u="sng" dirty="0"/>
              <a:t>empty to decrease precision </a:t>
            </a:r>
            <a:r>
              <a:rPr lang="en-US" sz="1200" dirty="0"/>
              <a:t>or scale.</a:t>
            </a:r>
          </a:p>
          <a:p>
            <a:r>
              <a:rPr lang="en-US" sz="1200" dirty="0"/>
              <a:t>column to be modified must be </a:t>
            </a:r>
            <a:r>
              <a:rPr lang="en-US" sz="1200" b="1" u="sng" dirty="0"/>
              <a:t>empty to change datatype</a:t>
            </a:r>
          </a:p>
        </p:txBody>
      </p:sp>
      <p:sp>
        <p:nvSpPr>
          <p:cNvPr id="4" name="Slide Number Placeholder 3"/>
          <p:cNvSpPr>
            <a:spLocks noGrp="1"/>
          </p:cNvSpPr>
          <p:nvPr>
            <p:ph type="sldNum" sz="quarter" idx="10"/>
          </p:nvPr>
        </p:nvSpPr>
        <p:spPr/>
        <p:txBody>
          <a:bodyPr/>
          <a:lstStyle/>
          <a:p>
            <a:fld id="{C82CEB8A-5BB4-46B1-9792-2D374E2BA62D}" type="slidenum">
              <a:rPr lang="en-US" smtClean="0"/>
              <a:t>46</a:t>
            </a:fld>
            <a:endParaRPr lang="en-US"/>
          </a:p>
        </p:txBody>
      </p:sp>
    </p:spTree>
    <p:extLst>
      <p:ext uri="{BB962C8B-B14F-4D97-AF65-F5344CB8AC3E}">
        <p14:creationId xmlns:p14="http://schemas.microsoft.com/office/powerpoint/2010/main" val="7717902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30000"/>
              </a:lnSpc>
              <a:spcBef>
                <a:spcPts val="1000"/>
              </a:spcBef>
            </a:pPr>
            <a:r>
              <a:rPr lang="en-US" sz="1200" dirty="0"/>
              <a:t>CREATE TABLE Organization(</a:t>
            </a:r>
            <a:r>
              <a:rPr lang="en-US" sz="1200" dirty="0" err="1"/>
              <a:t>Dept_name</a:t>
            </a:r>
            <a:r>
              <a:rPr lang="en-US" sz="1200" dirty="0"/>
              <a:t> varchar (8) </a:t>
            </a:r>
            <a:r>
              <a:rPr lang="en-US" sz="1200" b="1" dirty="0"/>
              <a:t>PRIMARY KEY</a:t>
            </a:r>
            <a:r>
              <a:rPr lang="en-US" sz="1200" dirty="0"/>
              <a:t>, Head varchar(10)); </a:t>
            </a:r>
          </a:p>
          <a:p>
            <a:pPr>
              <a:lnSpc>
                <a:spcPct val="130000"/>
              </a:lnSpc>
              <a:spcBef>
                <a:spcPts val="1000"/>
              </a:spcBef>
            </a:pPr>
            <a:endParaRPr lang="en-US" sz="1200" dirty="0"/>
          </a:p>
          <a:p>
            <a:pPr>
              <a:lnSpc>
                <a:spcPct val="130000"/>
              </a:lnSpc>
              <a:spcBef>
                <a:spcPts val="1000"/>
              </a:spcBef>
            </a:pPr>
            <a:r>
              <a:rPr lang="en-US" sz="1200" dirty="0"/>
              <a:t>CREATE TABLE Department (</a:t>
            </a:r>
            <a:r>
              <a:rPr lang="en-US" sz="1200" dirty="0" err="1"/>
              <a:t>Dname</a:t>
            </a:r>
            <a:r>
              <a:rPr lang="en-US" sz="1200" dirty="0"/>
              <a:t> varchar (8)   </a:t>
            </a:r>
            <a:r>
              <a:rPr lang="en-US" sz="1200" b="1" dirty="0"/>
              <a:t>PRIMARY KEY REFERENCES </a:t>
            </a:r>
            <a:r>
              <a:rPr lang="en-US" sz="1200" dirty="0"/>
              <a:t>Organization, </a:t>
            </a:r>
            <a:r>
              <a:rPr lang="en-US" sz="1200" dirty="0" err="1"/>
              <a:t>Course_Type</a:t>
            </a:r>
            <a:r>
              <a:rPr lang="en-US" sz="1200" dirty="0"/>
              <a:t> varchar (8) </a:t>
            </a:r>
            <a:r>
              <a:rPr lang="en-US" sz="1200" b="1" dirty="0"/>
              <a:t>CHECK</a:t>
            </a:r>
            <a:r>
              <a:rPr lang="en-US" sz="1200" dirty="0"/>
              <a:t>( </a:t>
            </a:r>
            <a:r>
              <a:rPr lang="en-US" sz="1200" dirty="0" err="1"/>
              <a:t>Course_Type</a:t>
            </a:r>
            <a:r>
              <a:rPr lang="en-US" sz="1200" dirty="0"/>
              <a:t> IN( '</a:t>
            </a:r>
            <a:r>
              <a:rPr lang="en-US" sz="1200" dirty="0" err="1"/>
              <a:t>MCA','MTech</a:t>
            </a:r>
            <a:r>
              <a:rPr lang="en-US" sz="1200" dirty="0"/>
              <a:t>' ,'</a:t>
            </a:r>
            <a:r>
              <a:rPr lang="en-US" sz="1200" dirty="0" err="1"/>
              <a:t>BTech','MS</a:t>
            </a:r>
            <a:r>
              <a:rPr lang="en-US" sz="1200" dirty="0"/>
              <a:t>')), </a:t>
            </a:r>
            <a:r>
              <a:rPr lang="en-US" sz="1200" dirty="0" err="1"/>
              <a:t>Numb_of_Sem</a:t>
            </a:r>
            <a:r>
              <a:rPr lang="en-US" sz="1200" dirty="0"/>
              <a:t>  Number(1)  </a:t>
            </a:r>
            <a:r>
              <a:rPr lang="en-US" sz="1200" b="1" dirty="0"/>
              <a:t>CHECK</a:t>
            </a:r>
            <a:r>
              <a:rPr lang="en-US" sz="1200" dirty="0"/>
              <a:t> (</a:t>
            </a:r>
            <a:r>
              <a:rPr lang="en-US" sz="1200" dirty="0" err="1"/>
              <a:t>Numb_of_Sem</a:t>
            </a:r>
            <a:r>
              <a:rPr lang="en-US" sz="1200" dirty="0"/>
              <a:t> BETWEEN 1 AND 8),  </a:t>
            </a:r>
            <a:r>
              <a:rPr lang="en-US" sz="1200" dirty="0" err="1"/>
              <a:t>In_take_stud</a:t>
            </a:r>
            <a:r>
              <a:rPr lang="en-US" sz="1200" dirty="0"/>
              <a:t>    Number(2), </a:t>
            </a:r>
            <a:r>
              <a:rPr lang="en-US" sz="1200" dirty="0" err="1"/>
              <a:t>Dep_Phone</a:t>
            </a:r>
            <a:r>
              <a:rPr lang="en-US" sz="1200" dirty="0"/>
              <a:t>   Number(10) </a:t>
            </a:r>
            <a:r>
              <a:rPr lang="en-US" sz="1200" b="1" dirty="0"/>
              <a:t>NOT NULL UNIQUE</a:t>
            </a:r>
            <a:r>
              <a:rPr lang="en-US" sz="1200" dirty="0"/>
              <a:t> ); </a:t>
            </a:r>
          </a:p>
          <a:p>
            <a:endParaRPr lang="en-US" dirty="0"/>
          </a:p>
          <a:p>
            <a:r>
              <a:rPr lang="en-US" dirty="0"/>
              <a:t>SQL&gt; alter table organization1 drop column </a:t>
            </a:r>
            <a:r>
              <a:rPr lang="en-US" dirty="0" err="1"/>
              <a:t>dept_name</a:t>
            </a:r>
            <a:r>
              <a:rPr lang="en-US" dirty="0"/>
              <a:t>;</a:t>
            </a:r>
          </a:p>
          <a:p>
            <a:r>
              <a:rPr lang="en-US" dirty="0"/>
              <a:t>ORA-12992: cannot drop parent key column</a:t>
            </a:r>
          </a:p>
        </p:txBody>
      </p:sp>
      <p:sp>
        <p:nvSpPr>
          <p:cNvPr id="4" name="Slide Number Placeholder 3"/>
          <p:cNvSpPr>
            <a:spLocks noGrp="1"/>
          </p:cNvSpPr>
          <p:nvPr>
            <p:ph type="sldNum" sz="quarter" idx="10"/>
          </p:nvPr>
        </p:nvSpPr>
        <p:spPr/>
        <p:txBody>
          <a:bodyPr/>
          <a:lstStyle/>
          <a:p>
            <a:fld id="{C82CEB8A-5BB4-46B1-9792-2D374E2BA62D}" type="slidenum">
              <a:rPr lang="en-US" smtClean="0"/>
              <a:t>47</a:t>
            </a:fld>
            <a:endParaRPr lang="en-US"/>
          </a:p>
        </p:txBody>
      </p:sp>
    </p:spTree>
    <p:extLst>
      <p:ext uri="{BB962C8B-B14F-4D97-AF65-F5344CB8AC3E}">
        <p14:creationId xmlns:p14="http://schemas.microsoft.com/office/powerpoint/2010/main" val="12281565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30000"/>
              </a:lnSpc>
              <a:spcBef>
                <a:spcPts val="1000"/>
              </a:spcBef>
            </a:pPr>
            <a:r>
              <a:rPr lang="en-US" sz="1200" dirty="0"/>
              <a:t>CREATE TABLE Organization(</a:t>
            </a:r>
            <a:r>
              <a:rPr lang="en-US" sz="1200" dirty="0" err="1"/>
              <a:t>Dept_name</a:t>
            </a:r>
            <a:r>
              <a:rPr lang="en-US" sz="1200" dirty="0"/>
              <a:t> varchar (8) </a:t>
            </a:r>
            <a:r>
              <a:rPr lang="en-US" sz="1200" b="1" dirty="0"/>
              <a:t>PRIMARY KEY</a:t>
            </a:r>
            <a:r>
              <a:rPr lang="en-US" sz="1200" dirty="0"/>
              <a:t>, Head varchar(10)); </a:t>
            </a:r>
          </a:p>
          <a:p>
            <a:pPr>
              <a:lnSpc>
                <a:spcPct val="130000"/>
              </a:lnSpc>
              <a:spcBef>
                <a:spcPts val="1000"/>
              </a:spcBef>
            </a:pPr>
            <a:endParaRPr lang="en-US" sz="1200" dirty="0"/>
          </a:p>
          <a:p>
            <a:pPr>
              <a:lnSpc>
                <a:spcPct val="130000"/>
              </a:lnSpc>
              <a:spcBef>
                <a:spcPts val="1000"/>
              </a:spcBef>
            </a:pPr>
            <a:r>
              <a:rPr lang="en-US" sz="1200" dirty="0"/>
              <a:t>CREATE TABLE Department (</a:t>
            </a:r>
            <a:r>
              <a:rPr lang="en-US" sz="1200" dirty="0" err="1"/>
              <a:t>Dname</a:t>
            </a:r>
            <a:r>
              <a:rPr lang="en-US" sz="1200" dirty="0"/>
              <a:t> varchar (8)   </a:t>
            </a:r>
            <a:r>
              <a:rPr lang="en-US" sz="1200" b="1" dirty="0"/>
              <a:t>PRIMARY KEY REFERENCES </a:t>
            </a:r>
            <a:r>
              <a:rPr lang="en-US" sz="1200" dirty="0"/>
              <a:t>Organization, </a:t>
            </a:r>
            <a:r>
              <a:rPr lang="en-US" sz="1200" dirty="0" err="1"/>
              <a:t>Course_Type</a:t>
            </a:r>
            <a:r>
              <a:rPr lang="en-US" sz="1200" dirty="0"/>
              <a:t> varchar (8) </a:t>
            </a:r>
            <a:r>
              <a:rPr lang="en-US" sz="1200" b="1" dirty="0"/>
              <a:t>CHECK</a:t>
            </a:r>
            <a:r>
              <a:rPr lang="en-US" sz="1200" dirty="0"/>
              <a:t>( </a:t>
            </a:r>
            <a:r>
              <a:rPr lang="en-US" sz="1200" dirty="0" err="1"/>
              <a:t>Course_Type</a:t>
            </a:r>
            <a:r>
              <a:rPr lang="en-US" sz="1200" dirty="0"/>
              <a:t> IN( '</a:t>
            </a:r>
            <a:r>
              <a:rPr lang="en-US" sz="1200" dirty="0" err="1"/>
              <a:t>MCA','MTech</a:t>
            </a:r>
            <a:r>
              <a:rPr lang="en-US" sz="1200" dirty="0"/>
              <a:t>' ,'</a:t>
            </a:r>
            <a:r>
              <a:rPr lang="en-US" sz="1200" dirty="0" err="1"/>
              <a:t>BTech','MS</a:t>
            </a:r>
            <a:r>
              <a:rPr lang="en-US" sz="1200" dirty="0"/>
              <a:t>')), </a:t>
            </a:r>
            <a:r>
              <a:rPr lang="en-US" sz="1200" dirty="0" err="1"/>
              <a:t>Numb_of_Sem</a:t>
            </a:r>
            <a:r>
              <a:rPr lang="en-US" sz="1200" dirty="0"/>
              <a:t>  Number(1)  </a:t>
            </a:r>
            <a:r>
              <a:rPr lang="en-US" sz="1200" b="1" dirty="0"/>
              <a:t>CHECK</a:t>
            </a:r>
            <a:r>
              <a:rPr lang="en-US" sz="1200" dirty="0"/>
              <a:t> (</a:t>
            </a:r>
            <a:r>
              <a:rPr lang="en-US" sz="1200" dirty="0" err="1"/>
              <a:t>Numb_of_Sem</a:t>
            </a:r>
            <a:r>
              <a:rPr lang="en-US" sz="1200" dirty="0"/>
              <a:t> BETWEEN 1 AND 8),  </a:t>
            </a:r>
            <a:r>
              <a:rPr lang="en-US" sz="1200" dirty="0" err="1"/>
              <a:t>In_take_stud</a:t>
            </a:r>
            <a:r>
              <a:rPr lang="en-US" sz="1200" dirty="0"/>
              <a:t>    Number(2), </a:t>
            </a:r>
            <a:r>
              <a:rPr lang="en-US" sz="1200" dirty="0" err="1"/>
              <a:t>Dep_Phone</a:t>
            </a:r>
            <a:r>
              <a:rPr lang="en-US" sz="1200" dirty="0"/>
              <a:t>   Number(10) </a:t>
            </a:r>
            <a:r>
              <a:rPr lang="en-US" sz="1200" b="1" dirty="0"/>
              <a:t>NOT NULL UNIQUE</a:t>
            </a:r>
            <a:r>
              <a:rPr lang="en-US" sz="1200" dirty="0"/>
              <a:t> ); </a:t>
            </a:r>
          </a:p>
          <a:p>
            <a:pPr>
              <a:lnSpc>
                <a:spcPct val="130000"/>
              </a:lnSpc>
              <a:spcBef>
                <a:spcPts val="1000"/>
              </a:spcBef>
            </a:pPr>
            <a:endParaRPr lang="en-US" sz="1200" dirty="0"/>
          </a:p>
          <a:p>
            <a:pPr>
              <a:lnSpc>
                <a:spcPct val="130000"/>
              </a:lnSpc>
              <a:spcBef>
                <a:spcPts val="1000"/>
              </a:spcBef>
            </a:pPr>
            <a:r>
              <a:rPr lang="en-US" sz="1200" dirty="0"/>
              <a:t>SQL&gt; select * from organization1;</a:t>
            </a:r>
          </a:p>
          <a:p>
            <a:pPr>
              <a:lnSpc>
                <a:spcPct val="130000"/>
              </a:lnSpc>
              <a:spcBef>
                <a:spcPts val="1000"/>
              </a:spcBef>
            </a:pPr>
            <a:endParaRPr lang="en-US" sz="1200" dirty="0"/>
          </a:p>
          <a:p>
            <a:pPr>
              <a:lnSpc>
                <a:spcPct val="130000"/>
              </a:lnSpc>
              <a:spcBef>
                <a:spcPts val="1000"/>
              </a:spcBef>
            </a:pPr>
            <a:r>
              <a:rPr lang="en-US" sz="1200" dirty="0"/>
              <a:t>DEPT_NAM HEAD</a:t>
            </a:r>
          </a:p>
          <a:p>
            <a:pPr>
              <a:lnSpc>
                <a:spcPct val="130000"/>
              </a:lnSpc>
              <a:spcBef>
                <a:spcPts val="1000"/>
              </a:spcBef>
            </a:pPr>
            <a:r>
              <a:rPr lang="en-US" sz="1200" dirty="0"/>
              <a:t>-------- ----------</a:t>
            </a:r>
          </a:p>
          <a:p>
            <a:pPr>
              <a:lnSpc>
                <a:spcPct val="130000"/>
              </a:lnSpc>
              <a:spcBef>
                <a:spcPts val="1000"/>
              </a:spcBef>
            </a:pPr>
            <a:r>
              <a:rPr lang="en-US" sz="1200" dirty="0" err="1"/>
              <a:t>aaa</a:t>
            </a:r>
            <a:r>
              <a:rPr lang="en-US" sz="1200" dirty="0"/>
              <a:t>      </a:t>
            </a:r>
            <a:r>
              <a:rPr lang="en-US" sz="1200" dirty="0" err="1"/>
              <a:t>sss</a:t>
            </a:r>
            <a:endParaRPr lang="en-US" sz="1200" dirty="0"/>
          </a:p>
          <a:p>
            <a:pPr>
              <a:lnSpc>
                <a:spcPct val="130000"/>
              </a:lnSpc>
              <a:spcBef>
                <a:spcPts val="1000"/>
              </a:spcBef>
            </a:pPr>
            <a:endParaRPr lang="en-US" sz="1200" dirty="0"/>
          </a:p>
          <a:p>
            <a:pPr>
              <a:lnSpc>
                <a:spcPct val="130000"/>
              </a:lnSpc>
              <a:spcBef>
                <a:spcPts val="1000"/>
              </a:spcBef>
            </a:pPr>
            <a:r>
              <a:rPr lang="en-US" sz="1200" dirty="0"/>
              <a:t>SQL&gt; select * from department1;</a:t>
            </a:r>
          </a:p>
          <a:p>
            <a:pPr>
              <a:lnSpc>
                <a:spcPct val="130000"/>
              </a:lnSpc>
              <a:spcBef>
                <a:spcPts val="1000"/>
              </a:spcBef>
            </a:pPr>
            <a:endParaRPr lang="en-US" sz="1200" dirty="0"/>
          </a:p>
          <a:p>
            <a:pPr marL="0" marR="0" lvl="0" indent="0" algn="l" defTabSz="914400" rtl="0" eaLnBrk="1" fontAlgn="auto" latinLnBrk="0" hangingPunct="1">
              <a:lnSpc>
                <a:spcPct val="130000"/>
              </a:lnSpc>
              <a:spcBef>
                <a:spcPts val="1000"/>
              </a:spcBef>
              <a:spcAft>
                <a:spcPts val="0"/>
              </a:spcAft>
              <a:buClrTx/>
              <a:buSzTx/>
              <a:buFontTx/>
              <a:buNone/>
              <a:tabLst/>
              <a:defRPr/>
            </a:pPr>
            <a:r>
              <a:rPr lang="en-US" sz="1200" dirty="0"/>
              <a:t>DNAME    COURSE_T NUMB_OF_SEM IN_TAKE_STUD  DEP_PHONE</a:t>
            </a:r>
          </a:p>
          <a:p>
            <a:pPr>
              <a:lnSpc>
                <a:spcPct val="130000"/>
              </a:lnSpc>
              <a:spcBef>
                <a:spcPts val="1000"/>
              </a:spcBef>
            </a:pPr>
            <a:r>
              <a:rPr lang="en-US" sz="1200" dirty="0"/>
              <a:t>-------- -------- ----------- ------------ ----------</a:t>
            </a:r>
          </a:p>
          <a:p>
            <a:pPr>
              <a:lnSpc>
                <a:spcPct val="130000"/>
              </a:lnSpc>
              <a:spcBef>
                <a:spcPts val="1000"/>
              </a:spcBef>
            </a:pPr>
            <a:r>
              <a:rPr lang="en-US" sz="1200" dirty="0" err="1"/>
              <a:t>aaa</a:t>
            </a:r>
            <a:r>
              <a:rPr lang="en-US" sz="1200" dirty="0"/>
              <a:t>      MCA                4           66      78899</a:t>
            </a:r>
          </a:p>
          <a:p>
            <a:pPr>
              <a:lnSpc>
                <a:spcPct val="130000"/>
              </a:lnSpc>
              <a:spcBef>
                <a:spcPts val="1000"/>
              </a:spcBef>
            </a:pPr>
            <a:endParaRPr lang="en-US" sz="1200" dirty="0"/>
          </a:p>
          <a:p>
            <a:pPr>
              <a:lnSpc>
                <a:spcPct val="130000"/>
              </a:lnSpc>
              <a:spcBef>
                <a:spcPts val="1000"/>
              </a:spcBef>
            </a:pPr>
            <a:r>
              <a:rPr lang="en-US" sz="1200" dirty="0"/>
              <a:t> insert into department1 values('bbb','MCA',3,55,6788); </a:t>
            </a:r>
          </a:p>
          <a:p>
            <a:pPr>
              <a:lnSpc>
                <a:spcPct val="130000"/>
              </a:lnSpc>
              <a:spcBef>
                <a:spcPts val="1000"/>
              </a:spcBef>
            </a:pPr>
            <a:r>
              <a:rPr lang="en-US" sz="1200" dirty="0"/>
              <a:t>ORA-02291: integrity constraint (MCA2020.SYS_C0010502) violated - parent key</a:t>
            </a:r>
          </a:p>
          <a:p>
            <a:pPr>
              <a:lnSpc>
                <a:spcPct val="130000"/>
              </a:lnSpc>
              <a:spcBef>
                <a:spcPts val="1000"/>
              </a:spcBef>
            </a:pPr>
            <a:r>
              <a:rPr lang="en-US" sz="1200" dirty="0"/>
              <a:t>not found</a:t>
            </a:r>
          </a:p>
          <a:p>
            <a:pPr>
              <a:lnSpc>
                <a:spcPct val="130000"/>
              </a:lnSpc>
              <a:spcBef>
                <a:spcPts val="1000"/>
              </a:spcBef>
            </a:pPr>
            <a:r>
              <a:rPr lang="en-US" sz="1200" dirty="0"/>
              <a:t>SQL&gt; alter table department1 rename To dept1;</a:t>
            </a:r>
          </a:p>
          <a:p>
            <a:pPr>
              <a:lnSpc>
                <a:spcPct val="130000"/>
              </a:lnSpc>
              <a:spcBef>
                <a:spcPts val="1000"/>
              </a:spcBef>
            </a:pPr>
            <a:endParaRPr lang="en-US" sz="1200" dirty="0"/>
          </a:p>
          <a:p>
            <a:pPr>
              <a:lnSpc>
                <a:spcPct val="130000"/>
              </a:lnSpc>
              <a:spcBef>
                <a:spcPts val="1000"/>
              </a:spcBef>
            </a:pPr>
            <a:r>
              <a:rPr lang="en-US" sz="1200" dirty="0"/>
              <a:t>Table altered.</a:t>
            </a:r>
          </a:p>
          <a:p>
            <a:pPr>
              <a:lnSpc>
                <a:spcPct val="130000"/>
              </a:lnSpc>
              <a:spcBef>
                <a:spcPts val="1000"/>
              </a:spcBef>
            </a:pPr>
            <a:endParaRPr lang="en-US" sz="1200" dirty="0"/>
          </a:p>
          <a:p>
            <a:pPr>
              <a:lnSpc>
                <a:spcPct val="130000"/>
              </a:lnSpc>
              <a:spcBef>
                <a:spcPts val="1000"/>
              </a:spcBef>
            </a:pPr>
            <a:r>
              <a:rPr lang="en-US" sz="1200" dirty="0"/>
              <a:t>SQL&gt; insert into department1 values('bbb','MCA',3,55,6788); </a:t>
            </a:r>
          </a:p>
          <a:p>
            <a:pPr>
              <a:lnSpc>
                <a:spcPct val="130000"/>
              </a:lnSpc>
              <a:spcBef>
                <a:spcPts val="1000"/>
              </a:spcBef>
            </a:pPr>
            <a:r>
              <a:rPr lang="en-US" sz="1200" dirty="0"/>
              <a:t>ORA-00942: table or view does not exist</a:t>
            </a:r>
          </a:p>
          <a:p>
            <a:pPr>
              <a:lnSpc>
                <a:spcPct val="130000"/>
              </a:lnSpc>
              <a:spcBef>
                <a:spcPts val="1000"/>
              </a:spcBef>
            </a:pPr>
            <a:endParaRPr lang="en-US" sz="1200" dirty="0"/>
          </a:p>
          <a:p>
            <a:pPr>
              <a:lnSpc>
                <a:spcPct val="130000"/>
              </a:lnSpc>
              <a:spcBef>
                <a:spcPts val="1000"/>
              </a:spcBef>
            </a:pPr>
            <a:r>
              <a:rPr lang="en-US" sz="1200" dirty="0"/>
              <a:t>SQL&gt; insert into dept1 values('bbb','MCA',3,55,6788);</a:t>
            </a:r>
          </a:p>
          <a:p>
            <a:pPr>
              <a:lnSpc>
                <a:spcPct val="130000"/>
              </a:lnSpc>
              <a:spcBef>
                <a:spcPts val="1000"/>
              </a:spcBef>
            </a:pPr>
            <a:r>
              <a:rPr lang="en-US" sz="1200" dirty="0"/>
              <a:t>ORA-02291: integrity constraint (MCA2020.SYS_C0010502) violated - parent key not found</a:t>
            </a:r>
          </a:p>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48</a:t>
            </a:fld>
            <a:endParaRPr lang="en-US"/>
          </a:p>
        </p:txBody>
      </p:sp>
    </p:spTree>
    <p:extLst>
      <p:ext uri="{BB962C8B-B14F-4D97-AF65-F5344CB8AC3E}">
        <p14:creationId xmlns:p14="http://schemas.microsoft.com/office/powerpoint/2010/main" val="11519839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49</a:t>
            </a:fld>
            <a:endParaRPr lang="en-US"/>
          </a:p>
        </p:txBody>
      </p:sp>
    </p:spTree>
    <p:extLst>
      <p:ext uri="{BB962C8B-B14F-4D97-AF65-F5344CB8AC3E}">
        <p14:creationId xmlns:p14="http://schemas.microsoft.com/office/powerpoint/2010/main" val="26299243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50</a:t>
            </a:fld>
            <a:endParaRPr lang="en-US"/>
          </a:p>
        </p:txBody>
      </p:sp>
    </p:spTree>
    <p:extLst>
      <p:ext uri="{BB962C8B-B14F-4D97-AF65-F5344CB8AC3E}">
        <p14:creationId xmlns:p14="http://schemas.microsoft.com/office/powerpoint/2010/main" val="26357049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You can drop the constraint using the ALTER TABLE statement with one of the following clauses:</a:t>
            </a:r>
          </a:p>
          <a:p>
            <a:r>
              <a:rPr lang="en-US" sz="1200" b="0" i="0" kern="1200" dirty="0">
                <a:solidFill>
                  <a:schemeClr val="tx1"/>
                </a:solidFill>
                <a:effectLst/>
                <a:latin typeface="+mn-lt"/>
                <a:ea typeface="+mn-ea"/>
                <a:cs typeface="+mn-cs"/>
              </a:rPr>
              <a:t>DROP PRIMARY KEY</a:t>
            </a:r>
          </a:p>
          <a:p>
            <a:r>
              <a:rPr lang="en-US" sz="1200" b="0" i="0" kern="1200" dirty="0">
                <a:solidFill>
                  <a:schemeClr val="tx1"/>
                </a:solidFill>
                <a:effectLst/>
                <a:latin typeface="+mn-lt"/>
                <a:ea typeface="+mn-ea"/>
                <a:cs typeface="+mn-cs"/>
              </a:rPr>
              <a:t>DROP UNIQUE</a:t>
            </a:r>
          </a:p>
          <a:p>
            <a:r>
              <a:rPr lang="en-US" sz="1200" b="0" i="0" kern="1200" dirty="0">
                <a:solidFill>
                  <a:schemeClr val="tx1"/>
                </a:solidFill>
                <a:effectLst/>
                <a:latin typeface="+mn-lt"/>
                <a:ea typeface="+mn-ea"/>
                <a:cs typeface="+mn-cs"/>
              </a:rPr>
              <a:t>DROP CONSTRAINT</a:t>
            </a:r>
          </a:p>
          <a:p>
            <a:endParaRPr lang="en-US" dirty="0"/>
          </a:p>
          <a:p>
            <a:r>
              <a:rPr lang="en-US" dirty="0"/>
              <a:t>SQL&gt; </a:t>
            </a:r>
            <a:r>
              <a:rPr lang="en-US" b="1" dirty="0"/>
              <a:t>Desc </a:t>
            </a:r>
            <a:r>
              <a:rPr lang="en-US" b="1" dirty="0" err="1"/>
              <a:t>user_cons_columns</a:t>
            </a:r>
            <a:r>
              <a:rPr lang="en-US" b="1" dirty="0"/>
              <a:t>;</a:t>
            </a:r>
          </a:p>
          <a:p>
            <a:r>
              <a:rPr lang="en-US" dirty="0"/>
              <a:t> </a:t>
            </a:r>
            <a:r>
              <a:rPr lang="en-US" b="1" dirty="0"/>
              <a:t>Name                                      Null?    Type</a:t>
            </a:r>
          </a:p>
          <a:p>
            <a:r>
              <a:rPr lang="en-US" dirty="0"/>
              <a:t> ----------------------------------------- -------- ----------------------------</a:t>
            </a:r>
          </a:p>
          <a:p>
            <a:r>
              <a:rPr lang="en-US" dirty="0"/>
              <a:t> OWNER                                     NOT NULL VARCHAR2(128)</a:t>
            </a:r>
          </a:p>
          <a:p>
            <a:r>
              <a:rPr lang="en-US" dirty="0"/>
              <a:t> CONSTRAINT_NAME                NOT NULL VARCHAR2(128)</a:t>
            </a:r>
          </a:p>
          <a:p>
            <a:r>
              <a:rPr lang="en-US" dirty="0"/>
              <a:t> TABLE_NAME                            NOT NULL VARCHAR2(128)</a:t>
            </a:r>
          </a:p>
          <a:p>
            <a:r>
              <a:rPr lang="en-US" dirty="0"/>
              <a:t> COLUMN_NAME                       VARCHAR2(4000)</a:t>
            </a:r>
          </a:p>
          <a:p>
            <a:r>
              <a:rPr lang="en-US" dirty="0"/>
              <a:t> POSITION                                  NUMBER </a:t>
            </a:r>
          </a:p>
          <a:p>
            <a:endParaRPr lang="en-US" dirty="0"/>
          </a:p>
          <a:p>
            <a:r>
              <a:rPr lang="en-US" sz="1200" b="1" i="0" kern="1200" dirty="0">
                <a:solidFill>
                  <a:schemeClr val="tx1"/>
                </a:solidFill>
                <a:effectLst/>
                <a:latin typeface="+mn-lt"/>
                <a:ea typeface="+mn-ea"/>
                <a:cs typeface="+mn-cs"/>
              </a:rPr>
              <a:t>Viewing Constraint Information</a:t>
            </a:r>
          </a:p>
          <a:p>
            <a:r>
              <a:rPr lang="en-US" sz="1200" b="1" i="0" kern="1200" dirty="0">
                <a:solidFill>
                  <a:schemeClr val="tx1"/>
                </a:solidFill>
                <a:effectLst/>
                <a:latin typeface="+mn-lt"/>
                <a:ea typeface="+mn-ea"/>
                <a:cs typeface="+mn-cs"/>
              </a:rPr>
              <a:t>https://docs.oracle.com/cd/E18283_01/server.112/e17120/general005.htm#i1006732</a:t>
            </a:r>
          </a:p>
          <a:p>
            <a:r>
              <a:rPr lang="en-US" sz="1200" b="0" i="0" kern="1200" dirty="0">
                <a:solidFill>
                  <a:schemeClr val="tx1"/>
                </a:solidFill>
                <a:effectLst/>
                <a:latin typeface="+mn-lt"/>
                <a:ea typeface="+mn-ea"/>
                <a:cs typeface="+mn-cs"/>
              </a:rPr>
              <a:t>Oracle Database provides the following views that enable you to see constraint definitions on tables and to identify columns that are specified in constraints:</a:t>
            </a:r>
          </a:p>
          <a:p>
            <a:pPr fontAlgn="t"/>
            <a:r>
              <a:rPr lang="en-US" sz="1200" b="0" i="0" kern="1200" dirty="0" err="1">
                <a:solidFill>
                  <a:schemeClr val="tx1"/>
                </a:solidFill>
                <a:effectLst/>
                <a:latin typeface="+mn-lt"/>
                <a:ea typeface="+mn-ea"/>
                <a:cs typeface="+mn-cs"/>
              </a:rPr>
              <a:t>ViewDescription</a:t>
            </a:r>
            <a:endParaRPr lang="en-US" sz="1200" b="0" i="0" kern="1200" dirty="0">
              <a:solidFill>
                <a:schemeClr val="tx1"/>
              </a:solidFill>
              <a:effectLst/>
              <a:latin typeface="+mn-lt"/>
              <a:ea typeface="+mn-ea"/>
              <a:cs typeface="+mn-cs"/>
            </a:endParaRPr>
          </a:p>
          <a:p>
            <a:pPr fontAlgn="t"/>
            <a:r>
              <a:rPr lang="en-US" sz="1200" b="0" i="0" kern="1200" dirty="0">
                <a:solidFill>
                  <a:schemeClr val="tx1"/>
                </a:solidFill>
                <a:effectLst/>
                <a:latin typeface="+mn-lt"/>
                <a:ea typeface="+mn-ea"/>
                <a:cs typeface="+mn-cs"/>
              </a:rPr>
              <a:t>DBA_CONSTRAINTS; ALL_CONSTRAINTS; USER_CONSTRAINTS</a:t>
            </a:r>
          </a:p>
          <a:p>
            <a:pPr fontAlgn="t"/>
            <a:r>
              <a:rPr lang="en-US" sz="1200" b="0" i="0" kern="1200" dirty="0">
                <a:solidFill>
                  <a:schemeClr val="tx1"/>
                </a:solidFill>
                <a:effectLst/>
                <a:latin typeface="+mn-lt"/>
                <a:ea typeface="+mn-ea"/>
                <a:cs typeface="+mn-cs"/>
              </a:rPr>
              <a:t>DBA view describes all constraint definitions in the database. ALL view describes constraint definitions accessible to current user. USER view describes constraint definitions owned by the current user.</a:t>
            </a:r>
          </a:p>
          <a:p>
            <a:pPr fontAlgn="t"/>
            <a:r>
              <a:rPr lang="en-US" sz="1200" b="0" i="0" kern="1200" dirty="0">
                <a:solidFill>
                  <a:schemeClr val="tx1"/>
                </a:solidFill>
                <a:effectLst/>
                <a:latin typeface="+mn-lt"/>
                <a:ea typeface="+mn-ea"/>
                <a:cs typeface="+mn-cs"/>
              </a:rPr>
              <a:t>DBA_CONS_COLUMNS; ALL_CONS_COLUMNS; USER_CONS_COLUMNS</a:t>
            </a:r>
          </a:p>
          <a:p>
            <a:r>
              <a:rPr lang="en-US" sz="1200" b="0" i="0" kern="1200" dirty="0">
                <a:solidFill>
                  <a:schemeClr val="tx1"/>
                </a:solidFill>
                <a:effectLst/>
                <a:latin typeface="+mn-lt"/>
                <a:ea typeface="+mn-ea"/>
                <a:cs typeface="+mn-cs"/>
              </a:rPr>
              <a:t>DBA view describes all columns in the database that are specified in constraints. ALL view describes only those columns accessible to current user that are specified in constraints. USER view describes only those columns owned by the current user that are specified in constraints.</a:t>
            </a:r>
          </a:p>
          <a:p>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53</a:t>
            </a:fld>
            <a:endParaRPr lang="en-US"/>
          </a:p>
        </p:txBody>
      </p:sp>
    </p:spTree>
    <p:extLst>
      <p:ext uri="{BB962C8B-B14F-4D97-AF65-F5344CB8AC3E}">
        <p14:creationId xmlns:p14="http://schemas.microsoft.com/office/powerpoint/2010/main" val="15765557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SQL&gt; create table person( name varchar2(10),phone number(5) constraint </a:t>
            </a:r>
            <a:r>
              <a:rPr lang="en-US" dirty="0" err="1"/>
              <a:t>phone_UNQ</a:t>
            </a:r>
            <a:r>
              <a:rPr lang="en-US" dirty="0"/>
              <a:t> unique);</a:t>
            </a:r>
          </a:p>
          <a:p>
            <a:endParaRPr lang="en-US" dirty="0"/>
          </a:p>
          <a:p>
            <a:r>
              <a:rPr lang="en-US" dirty="0"/>
              <a:t>Table created.</a:t>
            </a:r>
          </a:p>
          <a:p>
            <a:endParaRPr lang="en-US" dirty="0"/>
          </a:p>
          <a:p>
            <a:r>
              <a:rPr lang="en-US" dirty="0"/>
              <a:t>SQL&gt; ALTER TABLE Person RENAME CONSTRAINT PHONE_UNQ  TO UNIQUE_PHONE;</a:t>
            </a:r>
          </a:p>
          <a:p>
            <a:endParaRPr lang="en-US" dirty="0"/>
          </a:p>
          <a:p>
            <a:r>
              <a:rPr lang="en-US" dirty="0"/>
              <a:t>Table altered.</a:t>
            </a:r>
          </a:p>
          <a:p>
            <a:endParaRPr lang="en-US" dirty="0"/>
          </a:p>
          <a:p>
            <a:r>
              <a:rPr lang="en-US"/>
              <a:t>SQL&gt;</a:t>
            </a:r>
            <a:endParaRPr lang="en-IN"/>
          </a:p>
        </p:txBody>
      </p:sp>
      <p:sp>
        <p:nvSpPr>
          <p:cNvPr id="4" name="Slide Number Placeholder 3"/>
          <p:cNvSpPr>
            <a:spLocks noGrp="1"/>
          </p:cNvSpPr>
          <p:nvPr>
            <p:ph type="sldNum" sz="quarter" idx="5"/>
          </p:nvPr>
        </p:nvSpPr>
        <p:spPr/>
        <p:txBody>
          <a:bodyPr/>
          <a:lstStyle/>
          <a:p>
            <a:fld id="{C82CEB8A-5BB4-46B1-9792-2D374E2BA62D}" type="slidenum">
              <a:rPr lang="en-US" smtClean="0"/>
              <a:t>54</a:t>
            </a:fld>
            <a:endParaRPr lang="en-US"/>
          </a:p>
        </p:txBody>
      </p:sp>
    </p:spTree>
    <p:extLst>
      <p:ext uri="{BB962C8B-B14F-4D97-AF65-F5344CB8AC3E}">
        <p14:creationId xmlns:p14="http://schemas.microsoft.com/office/powerpoint/2010/main" val="383649810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constraint can be disabled by using either of these two commands-</a:t>
            </a:r>
          </a:p>
          <a:p>
            <a:pPr marL="0" indent="0">
              <a:lnSpc>
                <a:spcPct val="112000"/>
              </a:lnSpc>
              <a:spcBef>
                <a:spcPts val="600"/>
              </a:spcBef>
              <a:buNone/>
            </a:pPr>
            <a:r>
              <a:rPr lang="fr-FR" sz="1200" dirty="0">
                <a:latin typeface="Helvetica" panose="020B0604020202020204" pitchFamily="34" charset="0"/>
                <a:cs typeface="Helvetica" panose="020B0604020202020204" pitchFamily="34" charset="0"/>
              </a:rPr>
              <a:t>ALTER TABLE table_name  DISABLE PRIMARY KEY;</a:t>
            </a:r>
          </a:p>
          <a:p>
            <a:pPr marL="0" indent="0">
              <a:lnSpc>
                <a:spcPct val="112000"/>
              </a:lnSpc>
              <a:spcBef>
                <a:spcPts val="600"/>
              </a:spcBef>
              <a:buNone/>
            </a:pPr>
            <a:r>
              <a:rPr lang="fr-FR" sz="1200" dirty="0">
                <a:latin typeface="Helvetica" panose="020B0604020202020204" pitchFamily="34" charset="0"/>
                <a:cs typeface="Helvetica" panose="020B0604020202020204" pitchFamily="34" charset="0"/>
              </a:rPr>
              <a:t>ALTER TABLE table_name  DISABLE UNIQUE(column1,column2,..);</a:t>
            </a:r>
          </a:p>
          <a:p>
            <a:pPr marL="0" indent="0">
              <a:lnSpc>
                <a:spcPct val="150000"/>
              </a:lnSpc>
              <a:spcBef>
                <a:spcPts val="600"/>
              </a:spcBef>
              <a:buNone/>
            </a:pPr>
            <a:endParaRPr lang="en-US" sz="1200" b="1" dirty="0">
              <a:latin typeface="Helvetica" panose="020B0604020202020204" pitchFamily="34" charset="0"/>
              <a:cs typeface="Helvetica" panose="020B0604020202020204" pitchFamily="34" charset="0"/>
            </a:endParaRPr>
          </a:p>
          <a:p>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55</a:t>
            </a:fld>
            <a:endParaRPr lang="en-US"/>
          </a:p>
        </p:txBody>
      </p:sp>
    </p:spTree>
    <p:extLst>
      <p:ext uri="{BB962C8B-B14F-4D97-AF65-F5344CB8AC3E}">
        <p14:creationId xmlns:p14="http://schemas.microsoft.com/office/powerpoint/2010/main" val="41423921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Unique constraint can be disabled by using either of these two commands-</a:t>
            </a:r>
          </a:p>
          <a:p>
            <a:pPr marL="0" indent="0">
              <a:lnSpc>
                <a:spcPct val="112000"/>
              </a:lnSpc>
              <a:spcBef>
                <a:spcPts val="600"/>
              </a:spcBef>
              <a:buNone/>
            </a:pPr>
            <a:r>
              <a:rPr lang="fr-FR" sz="1200" dirty="0">
                <a:latin typeface="Helvetica" panose="020B0604020202020204" pitchFamily="34" charset="0"/>
                <a:cs typeface="Helvetica" panose="020B0604020202020204" pitchFamily="34" charset="0"/>
              </a:rPr>
              <a:t>ALTER TABLE table_name  DISABLE PRIMARY KEY;</a:t>
            </a:r>
          </a:p>
          <a:p>
            <a:pPr marL="0" indent="0">
              <a:lnSpc>
                <a:spcPct val="112000"/>
              </a:lnSpc>
              <a:spcBef>
                <a:spcPts val="600"/>
              </a:spcBef>
              <a:buNone/>
            </a:pPr>
            <a:r>
              <a:rPr lang="fr-FR" sz="1200" dirty="0">
                <a:latin typeface="Helvetica" panose="020B0604020202020204" pitchFamily="34" charset="0"/>
                <a:cs typeface="Helvetica" panose="020B0604020202020204" pitchFamily="34" charset="0"/>
              </a:rPr>
              <a:t>ALTER TABLE table_name  DISABLE UNIQUE(column1,column2,..);</a:t>
            </a:r>
          </a:p>
          <a:p>
            <a:pPr marL="0" indent="0">
              <a:lnSpc>
                <a:spcPct val="150000"/>
              </a:lnSpc>
              <a:spcBef>
                <a:spcPts val="600"/>
              </a:spcBef>
              <a:buNone/>
            </a:pPr>
            <a:endParaRPr lang="en-US" sz="1200" b="1" dirty="0">
              <a:latin typeface="Helvetica" panose="020B0604020202020204" pitchFamily="34" charset="0"/>
              <a:cs typeface="Helvetica" panose="020B0604020202020204" pitchFamily="34" charset="0"/>
            </a:endParaRPr>
          </a:p>
          <a:p>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56</a:t>
            </a:fld>
            <a:endParaRPr lang="en-US"/>
          </a:p>
        </p:txBody>
      </p:sp>
    </p:spTree>
    <p:extLst>
      <p:ext uri="{BB962C8B-B14F-4D97-AF65-F5344CB8AC3E}">
        <p14:creationId xmlns:p14="http://schemas.microsoft.com/office/powerpoint/2010/main" val="36333198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b="1" i="0" kern="1200" dirty="0">
                <a:solidFill>
                  <a:schemeClr val="tx1"/>
                </a:solidFill>
                <a:effectLst/>
                <a:latin typeface="+mn-lt"/>
                <a:ea typeface="+mn-ea"/>
                <a:cs typeface="+mn-cs"/>
              </a:rPr>
              <a:t>INSERT ALL Statement</a:t>
            </a:r>
          </a:p>
          <a:p>
            <a:r>
              <a:rPr lang="en-US" sz="1200" b="0" i="0" kern="1200" dirty="0">
                <a:solidFill>
                  <a:schemeClr val="tx1"/>
                </a:solidFill>
                <a:effectLst/>
                <a:latin typeface="+mn-lt"/>
                <a:ea typeface="+mn-ea"/>
                <a:cs typeface="+mn-cs"/>
              </a:rPr>
              <a:t>The Oracle INSERT ALL statement is used to add multiple rows with a single INSERT statement. The rows can be inserted into one table or multiple tables using only one SQL command.</a:t>
            </a:r>
          </a:p>
          <a:p>
            <a:r>
              <a:rPr lang="en-US" sz="1200" b="1" i="0" kern="1200" dirty="0">
                <a:solidFill>
                  <a:schemeClr val="tx1"/>
                </a:solidFill>
                <a:effectLst/>
                <a:latin typeface="+mn-lt"/>
                <a:ea typeface="+mn-ea"/>
                <a:cs typeface="+mn-cs"/>
              </a:rPr>
              <a:t>EXAMPLE-1</a:t>
            </a:r>
            <a:endParaRPr lang="en-US" b="1" dirty="0"/>
          </a:p>
          <a:p>
            <a:r>
              <a:rPr lang="en-US" dirty="0"/>
              <a:t>INSERT ALL INTO suppliers (</a:t>
            </a:r>
            <a:r>
              <a:rPr lang="en-US" dirty="0" err="1"/>
              <a:t>supplier_id</a:t>
            </a:r>
            <a:r>
              <a:rPr lang="en-US" dirty="0"/>
              <a:t>, </a:t>
            </a:r>
            <a:r>
              <a:rPr lang="en-US" dirty="0" err="1"/>
              <a:t>supplier_name</a:t>
            </a:r>
            <a:r>
              <a:rPr lang="en-US" dirty="0"/>
              <a:t>) VALUES (1000, 'IBM’) </a:t>
            </a:r>
          </a:p>
          <a:p>
            <a:r>
              <a:rPr lang="en-US" dirty="0"/>
              <a:t>INTO suppliers (</a:t>
            </a:r>
            <a:r>
              <a:rPr lang="en-US" dirty="0" err="1"/>
              <a:t>supplier_id</a:t>
            </a:r>
            <a:r>
              <a:rPr lang="en-US" dirty="0"/>
              <a:t>, </a:t>
            </a:r>
            <a:r>
              <a:rPr lang="en-US" dirty="0" err="1"/>
              <a:t>supplier_name</a:t>
            </a:r>
            <a:r>
              <a:rPr lang="en-US" dirty="0"/>
              <a:t>) VALUES (2000, 'Microsoft’) </a:t>
            </a:r>
          </a:p>
          <a:p>
            <a:r>
              <a:rPr lang="en-US" dirty="0"/>
              <a:t>INTO customers (</a:t>
            </a:r>
            <a:r>
              <a:rPr lang="en-US" dirty="0" err="1"/>
              <a:t>customer_id</a:t>
            </a:r>
            <a:r>
              <a:rPr lang="en-US" dirty="0"/>
              <a:t>, </a:t>
            </a:r>
            <a:r>
              <a:rPr lang="en-US" dirty="0" err="1"/>
              <a:t>customer_name</a:t>
            </a:r>
            <a:r>
              <a:rPr lang="en-US" dirty="0"/>
              <a:t>, city) VALUES (999999, 'Anderson Construction', 'New York’) </a:t>
            </a:r>
          </a:p>
          <a:p>
            <a:r>
              <a:rPr lang="en-US" dirty="0"/>
              <a:t>SELECT * FROM dual;</a:t>
            </a:r>
          </a:p>
          <a:p>
            <a:r>
              <a:rPr lang="en-US" b="1" dirty="0"/>
              <a:t>EXAMPLE-2</a:t>
            </a:r>
          </a:p>
          <a:p>
            <a:r>
              <a:rPr lang="en-US" dirty="0"/>
              <a:t>INSERT ALL INTO suppliers (</a:t>
            </a:r>
            <a:r>
              <a:rPr lang="en-US" dirty="0" err="1"/>
              <a:t>supplier_id</a:t>
            </a:r>
            <a:r>
              <a:rPr lang="en-US" dirty="0"/>
              <a:t>, </a:t>
            </a:r>
            <a:r>
              <a:rPr lang="en-US" dirty="0" err="1"/>
              <a:t>supplier_name</a:t>
            </a:r>
            <a:r>
              <a:rPr lang="en-US" dirty="0"/>
              <a:t>) VALUES (1000, 'IBM’) </a:t>
            </a:r>
          </a:p>
          <a:p>
            <a:r>
              <a:rPr lang="en-US" dirty="0"/>
              <a:t>INTO suppliers (</a:t>
            </a:r>
            <a:r>
              <a:rPr lang="en-US" dirty="0" err="1"/>
              <a:t>supplier_id</a:t>
            </a:r>
            <a:r>
              <a:rPr lang="en-US" dirty="0"/>
              <a:t>, </a:t>
            </a:r>
            <a:r>
              <a:rPr lang="en-US" dirty="0" err="1"/>
              <a:t>supplier_name</a:t>
            </a:r>
            <a:r>
              <a:rPr lang="en-US" dirty="0"/>
              <a:t>) VALUES (2000, 'Microsoft’) </a:t>
            </a:r>
          </a:p>
          <a:p>
            <a:r>
              <a:rPr lang="en-US" dirty="0"/>
              <a:t>INTO suppliers (</a:t>
            </a:r>
            <a:r>
              <a:rPr lang="en-US" dirty="0" err="1"/>
              <a:t>supplier_id</a:t>
            </a:r>
            <a:r>
              <a:rPr lang="en-US" dirty="0"/>
              <a:t>, </a:t>
            </a:r>
            <a:r>
              <a:rPr lang="en-US" dirty="0" err="1"/>
              <a:t>supplier_name</a:t>
            </a:r>
            <a:r>
              <a:rPr lang="en-US" dirty="0"/>
              <a:t>) VALUES (3000, 'Google’) </a:t>
            </a:r>
          </a:p>
          <a:p>
            <a:r>
              <a:rPr lang="en-US" dirty="0"/>
              <a:t>SELECT * FROM dual;</a:t>
            </a:r>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57</a:t>
            </a:fld>
            <a:endParaRPr lang="en-US"/>
          </a:p>
        </p:txBody>
      </p:sp>
    </p:spTree>
    <p:extLst>
      <p:ext uri="{BB962C8B-B14F-4D97-AF65-F5344CB8AC3E}">
        <p14:creationId xmlns:p14="http://schemas.microsoft.com/office/powerpoint/2010/main" val="31992028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Inserting to fewer columns</a:t>
            </a:r>
          </a:p>
        </p:txBody>
      </p:sp>
      <p:sp>
        <p:nvSpPr>
          <p:cNvPr id="4" name="Slide Number Placeholder 3"/>
          <p:cNvSpPr>
            <a:spLocks noGrp="1"/>
          </p:cNvSpPr>
          <p:nvPr>
            <p:ph type="sldNum" sz="quarter" idx="10"/>
          </p:nvPr>
        </p:nvSpPr>
        <p:spPr/>
        <p:txBody>
          <a:bodyPr/>
          <a:lstStyle/>
          <a:p>
            <a:fld id="{C82CEB8A-5BB4-46B1-9792-2D374E2BA62D}" type="slidenum">
              <a:rPr lang="en-US" smtClean="0"/>
              <a:t>58</a:t>
            </a:fld>
            <a:endParaRPr lang="en-US"/>
          </a:p>
        </p:txBody>
      </p:sp>
    </p:spTree>
    <p:extLst>
      <p:ext uri="{BB962C8B-B14F-4D97-AF65-F5344CB8AC3E}">
        <p14:creationId xmlns:p14="http://schemas.microsoft.com/office/powerpoint/2010/main" val="18693488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Assume a table Stud</a:t>
            </a:r>
            <a:r>
              <a:rPr lang="en-US" baseline="0" dirty="0"/>
              <a:t> (</a:t>
            </a:r>
            <a:r>
              <a:rPr lang="en-US" baseline="0" dirty="0" err="1"/>
              <a:t>Empno,Ename,Birth_Date</a:t>
            </a:r>
            <a:r>
              <a:rPr lang="en-US" baseline="0" dirty="0"/>
              <a:t>)</a:t>
            </a:r>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59</a:t>
            </a:fld>
            <a:endParaRPr lang="en-US"/>
          </a:p>
        </p:txBody>
      </p:sp>
    </p:spTree>
    <p:extLst>
      <p:ext uri="{BB962C8B-B14F-4D97-AF65-F5344CB8AC3E}">
        <p14:creationId xmlns:p14="http://schemas.microsoft.com/office/powerpoint/2010/main" val="7264625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a:t>
            </a:r>
            <a:r>
              <a:rPr lang="en-US" baseline="0" dirty="0"/>
              <a:t> </a:t>
            </a:r>
            <a:r>
              <a:rPr lang="en-US" baseline="0" dirty="0" err="1"/>
              <a:t>Rollno</a:t>
            </a:r>
            <a:r>
              <a:rPr lang="en-US" baseline="0" dirty="0"/>
              <a:t> and course information of students into MARKS relation.</a:t>
            </a:r>
          </a:p>
          <a:p>
            <a:endParaRPr lang="en-US" dirty="0"/>
          </a:p>
        </p:txBody>
      </p:sp>
      <p:sp>
        <p:nvSpPr>
          <p:cNvPr id="4" name="Slide Number Placeholder 3"/>
          <p:cNvSpPr>
            <a:spLocks noGrp="1"/>
          </p:cNvSpPr>
          <p:nvPr>
            <p:ph type="sldNum" sz="quarter" idx="10"/>
          </p:nvPr>
        </p:nvSpPr>
        <p:spPr/>
        <p:txBody>
          <a:bodyPr/>
          <a:lstStyle/>
          <a:p>
            <a:fld id="{C82CEB8A-5BB4-46B1-9792-2D374E2BA62D}" type="slidenum">
              <a:rPr lang="en-US" smtClean="0"/>
              <a:t>60</a:t>
            </a:fld>
            <a:endParaRPr lang="en-US"/>
          </a:p>
        </p:txBody>
      </p:sp>
    </p:spTree>
    <p:extLst>
      <p:ext uri="{BB962C8B-B14F-4D97-AF65-F5344CB8AC3E}">
        <p14:creationId xmlns:p14="http://schemas.microsoft.com/office/powerpoint/2010/main" val="211906575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Inserting multiple records</a:t>
            </a:r>
          </a:p>
        </p:txBody>
      </p:sp>
      <p:sp>
        <p:nvSpPr>
          <p:cNvPr id="4" name="Slide Number Placeholder 3"/>
          <p:cNvSpPr>
            <a:spLocks noGrp="1"/>
          </p:cNvSpPr>
          <p:nvPr>
            <p:ph type="sldNum" sz="quarter" idx="5"/>
          </p:nvPr>
        </p:nvSpPr>
        <p:spPr/>
        <p:txBody>
          <a:bodyPr/>
          <a:lstStyle/>
          <a:p>
            <a:fld id="{C82CEB8A-5BB4-46B1-9792-2D374E2BA62D}" type="slidenum">
              <a:rPr lang="en-US" smtClean="0"/>
              <a:t>61</a:t>
            </a:fld>
            <a:endParaRPr lang="en-US"/>
          </a:p>
        </p:txBody>
      </p:sp>
    </p:spTree>
    <p:extLst>
      <p:ext uri="{BB962C8B-B14F-4D97-AF65-F5344CB8AC3E}">
        <p14:creationId xmlns:p14="http://schemas.microsoft.com/office/powerpoint/2010/main" val="18817344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a:t>
            </a:r>
            <a:r>
              <a:rPr lang="en-US" altLang="en-US" sz="1200" dirty="0">
                <a:sym typeface="Symbol" panose="05050102010706020507" pitchFamily="18" charset="2"/>
              </a:rPr>
              <a:t>UPDATE instructor</a:t>
            </a:r>
            <a:br>
              <a:rPr lang="en-US" altLang="en-US" sz="1200" dirty="0">
                <a:sym typeface="Symbol" panose="05050102010706020507" pitchFamily="18" charset="2"/>
              </a:rPr>
            </a:br>
            <a:r>
              <a:rPr lang="en-US" altLang="en-US" sz="1200" dirty="0">
                <a:sym typeface="Symbol" panose="05050102010706020507" pitchFamily="18" charset="2"/>
              </a:rPr>
              <a:t>                SET salary = salary * 1.05</a:t>
            </a:r>
            <a:br>
              <a:rPr lang="en-US" altLang="en-US" sz="1200" dirty="0">
                <a:sym typeface="Symbol" panose="05050102010706020507" pitchFamily="18" charset="2"/>
              </a:rPr>
            </a:br>
            <a:r>
              <a:rPr lang="en-US" altLang="en-US" sz="1200" dirty="0">
                <a:sym typeface="Symbol" panose="05050102010706020507" pitchFamily="18" charset="2"/>
              </a:rPr>
              <a:t>                WHERE salary &lt;= 100000;</a:t>
            </a:r>
          </a:p>
          <a:p>
            <a:r>
              <a:rPr lang="en-US" dirty="0"/>
              <a:t>Is executed before executing </a:t>
            </a:r>
            <a:r>
              <a:rPr lang="en-US" altLang="en-US" sz="1200" dirty="0"/>
              <a:t> </a:t>
            </a:r>
            <a:r>
              <a:rPr lang="en-US" altLang="en-US" sz="1200" dirty="0">
                <a:sym typeface="Symbol" panose="05050102010706020507" pitchFamily="18" charset="2"/>
              </a:rPr>
              <a:t>UPDATE instructor</a:t>
            </a:r>
            <a:br>
              <a:rPr lang="en-US" altLang="en-US" sz="1200" dirty="0">
                <a:sym typeface="Symbol" panose="05050102010706020507" pitchFamily="18" charset="2"/>
              </a:rPr>
            </a:br>
            <a:r>
              <a:rPr lang="en-US" altLang="en-US" sz="1200" dirty="0">
                <a:sym typeface="Symbol" panose="05050102010706020507" pitchFamily="18" charset="2"/>
              </a:rPr>
              <a:t>               SET salary = salary * 1.03</a:t>
            </a:r>
            <a:br>
              <a:rPr lang="en-US" altLang="en-US" sz="1200" dirty="0">
                <a:sym typeface="Symbol" panose="05050102010706020507" pitchFamily="18" charset="2"/>
              </a:rPr>
            </a:br>
            <a:r>
              <a:rPr lang="en-US" altLang="en-US" sz="1200" dirty="0">
                <a:sym typeface="Symbol" panose="05050102010706020507" pitchFamily="18" charset="2"/>
              </a:rPr>
              <a:t>               WHERE salary &gt; 100000; then some salaries during 1</a:t>
            </a:r>
            <a:r>
              <a:rPr lang="en-US" altLang="en-US" sz="1200" baseline="30000" dirty="0">
                <a:sym typeface="Symbol" panose="05050102010706020507" pitchFamily="18" charset="2"/>
              </a:rPr>
              <a:t>st</a:t>
            </a:r>
            <a:r>
              <a:rPr lang="en-US" altLang="en-US" sz="1200" dirty="0">
                <a:sym typeface="Symbol" panose="05050102010706020507" pitchFamily="18" charset="2"/>
              </a:rPr>
              <a:t> updating may cross 100000  and such salaries also get updated second time because of 2</a:t>
            </a:r>
            <a:r>
              <a:rPr lang="en-US" altLang="en-US" sz="1200" baseline="30000" dirty="0">
                <a:sym typeface="Symbol" panose="05050102010706020507" pitchFamily="18" charset="2"/>
              </a:rPr>
              <a:t>nd</a:t>
            </a:r>
            <a:r>
              <a:rPr lang="en-US" altLang="en-US" sz="1200" dirty="0">
                <a:sym typeface="Symbol" panose="05050102010706020507" pitchFamily="18" charset="2"/>
              </a:rPr>
              <a:t> Update statement.</a:t>
            </a:r>
            <a:endParaRPr lang="en-IN" dirty="0"/>
          </a:p>
        </p:txBody>
      </p:sp>
      <p:sp>
        <p:nvSpPr>
          <p:cNvPr id="4" name="Slide Number Placeholder 3"/>
          <p:cNvSpPr>
            <a:spLocks noGrp="1"/>
          </p:cNvSpPr>
          <p:nvPr>
            <p:ph type="sldNum" sz="quarter" idx="5"/>
          </p:nvPr>
        </p:nvSpPr>
        <p:spPr/>
        <p:txBody>
          <a:bodyPr/>
          <a:lstStyle/>
          <a:p>
            <a:fld id="{C82CEB8A-5BB4-46B1-9792-2D374E2BA62D}" type="slidenum">
              <a:rPr lang="en-US" smtClean="0"/>
              <a:t>63</a:t>
            </a:fld>
            <a:endParaRPr lang="en-US"/>
          </a:p>
        </p:txBody>
      </p:sp>
    </p:spTree>
    <p:extLst>
      <p:ext uri="{BB962C8B-B14F-4D97-AF65-F5344CB8AC3E}">
        <p14:creationId xmlns:p14="http://schemas.microsoft.com/office/powerpoint/2010/main" val="191410938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a:t>
            </a:r>
            <a:r>
              <a:rPr lang="en-US" dirty="0" err="1"/>
              <a:t>emp</a:t>
            </a:r>
            <a:r>
              <a:rPr lang="en-US" dirty="0"/>
              <a:t> set </a:t>
            </a:r>
            <a:r>
              <a:rPr lang="en-US" dirty="0" err="1"/>
              <a:t>sal</a:t>
            </a:r>
            <a:r>
              <a:rPr lang="en-US" dirty="0"/>
              <a:t>=case</a:t>
            </a:r>
          </a:p>
          <a:p>
            <a:r>
              <a:rPr lang="en-US" dirty="0"/>
              <a:t>when </a:t>
            </a:r>
            <a:r>
              <a:rPr lang="en-US" dirty="0" err="1"/>
              <a:t>sal</a:t>
            </a:r>
            <a:r>
              <a:rPr lang="en-US" dirty="0"/>
              <a:t>&lt;=3000 then </a:t>
            </a:r>
            <a:r>
              <a:rPr lang="en-US" dirty="0" err="1"/>
              <a:t>sal</a:t>
            </a:r>
            <a:r>
              <a:rPr lang="en-US" dirty="0"/>
              <a:t>*1.1</a:t>
            </a:r>
          </a:p>
          <a:p>
            <a:r>
              <a:rPr lang="en-US" dirty="0"/>
              <a:t>when </a:t>
            </a:r>
            <a:r>
              <a:rPr lang="en-US" dirty="0" err="1"/>
              <a:t>sal</a:t>
            </a:r>
            <a:r>
              <a:rPr lang="en-US" dirty="0"/>
              <a:t>&lt;=5000 then </a:t>
            </a:r>
            <a:r>
              <a:rPr lang="en-US" dirty="0" err="1"/>
              <a:t>sal</a:t>
            </a:r>
            <a:r>
              <a:rPr lang="en-US" dirty="0"/>
              <a:t>*1.05</a:t>
            </a:r>
          </a:p>
          <a:p>
            <a:r>
              <a:rPr lang="en-US" dirty="0"/>
              <a:t>else </a:t>
            </a:r>
            <a:r>
              <a:rPr lang="en-US" dirty="0" err="1"/>
              <a:t>sal</a:t>
            </a:r>
            <a:r>
              <a:rPr lang="en-US" dirty="0"/>
              <a:t>*1</a:t>
            </a:r>
          </a:p>
          <a:p>
            <a:r>
              <a:rPr lang="en-US" dirty="0"/>
              <a:t>end;</a:t>
            </a:r>
          </a:p>
          <a:p>
            <a:r>
              <a:rPr lang="en-US" dirty="0"/>
              <a:t>===============</a:t>
            </a:r>
          </a:p>
          <a:p>
            <a:r>
              <a:rPr lang="en-US" dirty="0"/>
              <a:t>ACCOUNT_ID | ACCOUNT_STATUS| </a:t>
            </a:r>
          </a:p>
          <a:p>
            <a:r>
              <a:rPr lang="en-US" baseline="0" dirty="0"/>
              <a:t>    </a:t>
            </a:r>
            <a:r>
              <a:rPr lang="en-US" dirty="0"/>
              <a:t>004460721 |           2 |</a:t>
            </a:r>
          </a:p>
          <a:p>
            <a:r>
              <a:rPr lang="en-US" dirty="0"/>
              <a:t>    042056291 |           5 | </a:t>
            </a:r>
          </a:p>
          <a:p>
            <a:r>
              <a:rPr lang="en-US" dirty="0"/>
              <a:t>    601272065 |           3 | </a:t>
            </a:r>
          </a:p>
          <a:p>
            <a:endParaRPr lang="en-US" dirty="0"/>
          </a:p>
          <a:p>
            <a:r>
              <a:rPr lang="en-US" dirty="0"/>
              <a:t>UPDATE ACCOUNT SET ACCOUNT_STATUS = CASE WHEN ACCOUNT_STATUS = '004460721' THEN 5 WHEN ACCOUNT_STATUS = '042056291' THEN 3 WHEN ACCOUNT_STATUS = '601272065' THEN 2 WHERE ACCOUNT_ID IN ('004460721','042056291','601272065’) </a:t>
            </a:r>
          </a:p>
          <a:p>
            <a:endParaRPr lang="en-US" dirty="0"/>
          </a:p>
          <a:p>
            <a:r>
              <a:rPr lang="en-US" dirty="0"/>
              <a:t>SQL&gt; create table </a:t>
            </a:r>
            <a:r>
              <a:rPr lang="en-US" dirty="0" err="1"/>
              <a:t>salary_emp</a:t>
            </a:r>
            <a:r>
              <a:rPr lang="en-US" dirty="0"/>
              <a:t>(salary number(6));</a:t>
            </a:r>
          </a:p>
          <a:p>
            <a:r>
              <a:rPr lang="en-US" dirty="0"/>
              <a:t>SQL&gt; select * from </a:t>
            </a:r>
            <a:r>
              <a:rPr lang="en-US" dirty="0" err="1"/>
              <a:t>salary_emp</a:t>
            </a:r>
            <a:r>
              <a:rPr lang="en-US" dirty="0"/>
              <a:t>;</a:t>
            </a:r>
          </a:p>
          <a:p>
            <a:endParaRPr lang="en-US" dirty="0"/>
          </a:p>
          <a:p>
            <a:r>
              <a:rPr lang="en-US" b="1" u="sng" dirty="0"/>
              <a:t>Before Update </a:t>
            </a:r>
            <a:r>
              <a:rPr lang="en-US" b="1" u="sng" dirty="0" err="1"/>
              <a:t>salary_emp</a:t>
            </a:r>
            <a:r>
              <a:rPr lang="en-US" b="1" u="sng" dirty="0"/>
              <a:t> data</a:t>
            </a:r>
          </a:p>
          <a:p>
            <a:r>
              <a:rPr lang="en-US" dirty="0"/>
              <a:t>    SALARY</a:t>
            </a:r>
          </a:p>
          <a:p>
            <a:r>
              <a:rPr lang="en-US" dirty="0"/>
              <a:t>----------</a:t>
            </a:r>
          </a:p>
          <a:p>
            <a:r>
              <a:rPr lang="en-US" dirty="0"/>
              <a:t>      5250</a:t>
            </a:r>
          </a:p>
          <a:p>
            <a:r>
              <a:rPr lang="en-US" dirty="0"/>
              <a:t>      2200</a:t>
            </a:r>
          </a:p>
          <a:p>
            <a:r>
              <a:rPr lang="en-US" dirty="0"/>
              <a:t>      3300</a:t>
            </a:r>
          </a:p>
          <a:p>
            <a:r>
              <a:rPr lang="en-US" dirty="0"/>
              <a:t>      4200</a:t>
            </a:r>
          </a:p>
          <a:p>
            <a:endParaRPr lang="en-US" dirty="0"/>
          </a:p>
          <a:p>
            <a:r>
              <a:rPr lang="en-US" dirty="0"/>
              <a:t> 1. UPDATE </a:t>
            </a:r>
            <a:r>
              <a:rPr lang="en-US" dirty="0" err="1"/>
              <a:t>salary_emp</a:t>
            </a:r>
            <a:r>
              <a:rPr lang="en-US" dirty="0"/>
              <a:t> SET salary=CASE  WHEN salary&lt;=3000 THEN   salary*1.1 WHEN salary&lt;=5000 THEN salary*1.05</a:t>
            </a:r>
          </a:p>
          <a:p>
            <a:r>
              <a:rPr lang="en-US" dirty="0"/>
              <a:t>        ELSE salary*1</a:t>
            </a:r>
          </a:p>
          <a:p>
            <a:r>
              <a:rPr lang="en-US" dirty="0"/>
              <a:t>        END;</a:t>
            </a:r>
          </a:p>
          <a:p>
            <a:endParaRPr lang="en-US" dirty="0"/>
          </a:p>
          <a:p>
            <a:r>
              <a:rPr lang="en-US" dirty="0"/>
              <a:t>  SALARY   		Updated Salary</a:t>
            </a:r>
          </a:p>
          <a:p>
            <a:r>
              <a:rPr lang="en-US" dirty="0"/>
              <a:t>----------       	 	-------------------</a:t>
            </a:r>
          </a:p>
          <a:p>
            <a:r>
              <a:rPr lang="en-US" dirty="0"/>
              <a:t>      5250		5250= 5250*1</a:t>
            </a:r>
          </a:p>
          <a:p>
            <a:r>
              <a:rPr lang="en-US" dirty="0"/>
              <a:t>      2200		2420=2200*1.1</a:t>
            </a:r>
          </a:p>
          <a:p>
            <a:r>
              <a:rPr lang="en-US" dirty="0"/>
              <a:t>      3300		3465=3300*1.05</a:t>
            </a:r>
          </a:p>
          <a:p>
            <a:r>
              <a:rPr lang="en-US" dirty="0"/>
              <a:t>      4200		4410=4200*1.05</a:t>
            </a:r>
          </a:p>
          <a:p>
            <a:endParaRPr lang="en-US" dirty="0"/>
          </a:p>
          <a:p>
            <a:r>
              <a:rPr lang="en-US" dirty="0"/>
              <a:t>2. Updating by changing order of WHEN clauses</a:t>
            </a:r>
          </a:p>
          <a:p>
            <a:r>
              <a:rPr lang="en-US" dirty="0"/>
              <a:t> UPDATE </a:t>
            </a:r>
            <a:r>
              <a:rPr lang="en-US" dirty="0" err="1"/>
              <a:t>salary_emp</a:t>
            </a:r>
            <a:r>
              <a:rPr lang="en-US" dirty="0"/>
              <a:t> SET salary=CASE  WHEN salary&lt;=5000 THEN salary*1.05 WHEN salary&lt;=3000 THEN   salary*1.1 </a:t>
            </a:r>
          </a:p>
          <a:p>
            <a:r>
              <a:rPr lang="en-US" dirty="0"/>
              <a:t>        ELSE salary*1</a:t>
            </a:r>
          </a:p>
          <a:p>
            <a:r>
              <a:rPr lang="en-US" dirty="0"/>
              <a:t>        END;</a:t>
            </a:r>
          </a:p>
          <a:p>
            <a:endParaRPr lang="en-US" dirty="0"/>
          </a:p>
          <a:p>
            <a:r>
              <a:rPr lang="en-US" dirty="0"/>
              <a:t>  SALARY		Updated Salary</a:t>
            </a:r>
          </a:p>
          <a:p>
            <a:r>
              <a:rPr lang="en-US" dirty="0"/>
              <a:t>----------		-------------------</a:t>
            </a:r>
          </a:p>
          <a:p>
            <a:r>
              <a:rPr lang="en-US" dirty="0"/>
              <a:t>      5250		5250=5250*1</a:t>
            </a:r>
          </a:p>
          <a:p>
            <a:r>
              <a:rPr lang="en-US" dirty="0"/>
              <a:t>      2200		2310=2200*1.05</a:t>
            </a:r>
          </a:p>
          <a:p>
            <a:r>
              <a:rPr lang="en-US" dirty="0"/>
              <a:t>      3300		3465=3300*1.05</a:t>
            </a:r>
          </a:p>
          <a:p>
            <a:r>
              <a:rPr lang="en-US" dirty="0"/>
              <a:t>      4200		4410==4200*1.05</a:t>
            </a:r>
          </a:p>
        </p:txBody>
      </p:sp>
      <p:sp>
        <p:nvSpPr>
          <p:cNvPr id="4" name="Slide Number Placeholder 3"/>
          <p:cNvSpPr>
            <a:spLocks noGrp="1"/>
          </p:cNvSpPr>
          <p:nvPr>
            <p:ph type="sldNum" sz="quarter" idx="10"/>
          </p:nvPr>
        </p:nvSpPr>
        <p:spPr/>
        <p:txBody>
          <a:bodyPr/>
          <a:lstStyle/>
          <a:p>
            <a:fld id="{C82CEB8A-5BB4-46B1-9792-2D374E2BA62D}" type="slidenum">
              <a:rPr lang="en-US" smtClean="0"/>
              <a:t>64</a:t>
            </a:fld>
            <a:endParaRPr lang="en-US"/>
          </a:p>
        </p:txBody>
      </p:sp>
    </p:spTree>
    <p:extLst>
      <p:ext uri="{BB962C8B-B14F-4D97-AF65-F5344CB8AC3E}">
        <p14:creationId xmlns:p14="http://schemas.microsoft.com/office/powerpoint/2010/main" val="29291329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Sample Tables</a:t>
            </a:r>
          </a:p>
        </p:txBody>
      </p:sp>
      <p:sp>
        <p:nvSpPr>
          <p:cNvPr id="4" name="Slide Number Placeholder 3"/>
          <p:cNvSpPr>
            <a:spLocks noGrp="1"/>
          </p:cNvSpPr>
          <p:nvPr>
            <p:ph type="sldNum" sz="quarter" idx="5"/>
          </p:nvPr>
        </p:nvSpPr>
        <p:spPr/>
        <p:txBody>
          <a:bodyPr/>
          <a:lstStyle/>
          <a:p>
            <a:fld id="{C82CEB8A-5BB4-46B1-9792-2D374E2BA62D}" type="slidenum">
              <a:rPr lang="en-US" smtClean="0"/>
              <a:t>69</a:t>
            </a:fld>
            <a:endParaRPr lang="en-US"/>
          </a:p>
        </p:txBody>
      </p:sp>
    </p:spTree>
    <p:extLst>
      <p:ext uri="{BB962C8B-B14F-4D97-AF65-F5344CB8AC3E}">
        <p14:creationId xmlns:p14="http://schemas.microsoft.com/office/powerpoint/2010/main" val="4777502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943472B-6F3F-4215-8147-54E58BA9D6A7}" type="datetime1">
              <a:rPr lang="en-US" smtClean="0"/>
              <a:t>10/1/2022</a:t>
            </a:fld>
            <a:endParaRPr lang="en-US"/>
          </a:p>
        </p:txBody>
      </p:sp>
      <p:sp>
        <p:nvSpPr>
          <p:cNvPr id="5" name="Footer Placeholder 4"/>
          <p:cNvSpPr>
            <a:spLocks noGrp="1"/>
          </p:cNvSpPr>
          <p:nvPr>
            <p:ph type="ftr" sz="quarter" idx="11"/>
          </p:nvPr>
        </p:nvSpPr>
        <p:spPr/>
        <p:txBody>
          <a:bodyPr/>
          <a:lstStyle/>
          <a:p>
            <a:r>
              <a:rPr lang="en-US"/>
              <a:t>SQL</a:t>
            </a:r>
          </a:p>
        </p:txBody>
      </p:sp>
      <p:sp>
        <p:nvSpPr>
          <p:cNvPr id="6" name="Slide Number Placeholder 5"/>
          <p:cNvSpPr>
            <a:spLocks noGrp="1"/>
          </p:cNvSpPr>
          <p:nvPr>
            <p:ph type="sldNum" sz="quarter" idx="12"/>
          </p:nvPr>
        </p:nvSpPr>
        <p:spPr/>
        <p:txBody>
          <a:bodyPr/>
          <a:lstStyle/>
          <a:p>
            <a:fld id="{03576695-DB63-4967-AFBB-46E84EF49106}" type="slidenum">
              <a:rPr lang="en-US" smtClean="0"/>
              <a:t>‹#›</a:t>
            </a:fld>
            <a:endParaRPr lang="en-US"/>
          </a:p>
        </p:txBody>
      </p:sp>
    </p:spTree>
    <p:extLst>
      <p:ext uri="{BB962C8B-B14F-4D97-AF65-F5344CB8AC3E}">
        <p14:creationId xmlns:p14="http://schemas.microsoft.com/office/powerpoint/2010/main" val="3884811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EDD3286-FA68-4F5F-B2CA-7AF49A2C3FF6}" type="datetime1">
              <a:rPr lang="en-US" smtClean="0"/>
              <a:t>10/1/2022</a:t>
            </a:fld>
            <a:endParaRPr lang="en-US"/>
          </a:p>
        </p:txBody>
      </p:sp>
      <p:sp>
        <p:nvSpPr>
          <p:cNvPr id="5" name="Footer Placeholder 4"/>
          <p:cNvSpPr>
            <a:spLocks noGrp="1"/>
          </p:cNvSpPr>
          <p:nvPr>
            <p:ph type="ftr" sz="quarter" idx="11"/>
          </p:nvPr>
        </p:nvSpPr>
        <p:spPr/>
        <p:txBody>
          <a:bodyPr/>
          <a:lstStyle/>
          <a:p>
            <a:r>
              <a:rPr lang="en-US"/>
              <a:t>SQL</a:t>
            </a:r>
          </a:p>
        </p:txBody>
      </p:sp>
      <p:sp>
        <p:nvSpPr>
          <p:cNvPr id="6" name="Slide Number Placeholder 5"/>
          <p:cNvSpPr>
            <a:spLocks noGrp="1"/>
          </p:cNvSpPr>
          <p:nvPr>
            <p:ph type="sldNum" sz="quarter" idx="12"/>
          </p:nvPr>
        </p:nvSpPr>
        <p:spPr/>
        <p:txBody>
          <a:bodyPr/>
          <a:lstStyle/>
          <a:p>
            <a:fld id="{03576695-DB63-4967-AFBB-46E84EF49106}" type="slidenum">
              <a:rPr lang="en-US" smtClean="0"/>
              <a:t>‹#›</a:t>
            </a:fld>
            <a:endParaRPr lang="en-US"/>
          </a:p>
        </p:txBody>
      </p:sp>
    </p:spTree>
    <p:extLst>
      <p:ext uri="{BB962C8B-B14F-4D97-AF65-F5344CB8AC3E}">
        <p14:creationId xmlns:p14="http://schemas.microsoft.com/office/powerpoint/2010/main" val="4123509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E1F1EDE-6CA2-482E-A53D-8DA98371ADC0}" type="datetime1">
              <a:rPr lang="en-US" smtClean="0"/>
              <a:t>10/1/2022</a:t>
            </a:fld>
            <a:endParaRPr lang="en-US"/>
          </a:p>
        </p:txBody>
      </p:sp>
      <p:sp>
        <p:nvSpPr>
          <p:cNvPr id="5" name="Footer Placeholder 4"/>
          <p:cNvSpPr>
            <a:spLocks noGrp="1"/>
          </p:cNvSpPr>
          <p:nvPr>
            <p:ph type="ftr" sz="quarter" idx="11"/>
          </p:nvPr>
        </p:nvSpPr>
        <p:spPr/>
        <p:txBody>
          <a:bodyPr/>
          <a:lstStyle/>
          <a:p>
            <a:r>
              <a:rPr lang="en-US"/>
              <a:t>SQL</a:t>
            </a:r>
          </a:p>
        </p:txBody>
      </p:sp>
      <p:sp>
        <p:nvSpPr>
          <p:cNvPr id="6" name="Slide Number Placeholder 5"/>
          <p:cNvSpPr>
            <a:spLocks noGrp="1"/>
          </p:cNvSpPr>
          <p:nvPr>
            <p:ph type="sldNum" sz="quarter" idx="12"/>
          </p:nvPr>
        </p:nvSpPr>
        <p:spPr/>
        <p:txBody>
          <a:bodyPr/>
          <a:lstStyle/>
          <a:p>
            <a:fld id="{03576695-DB63-4967-AFBB-46E84EF49106}" type="slidenum">
              <a:rPr lang="en-US" smtClean="0"/>
              <a:t>‹#›</a:t>
            </a:fld>
            <a:endParaRPr lang="en-US"/>
          </a:p>
        </p:txBody>
      </p:sp>
    </p:spTree>
    <p:extLst>
      <p:ext uri="{BB962C8B-B14F-4D97-AF65-F5344CB8AC3E}">
        <p14:creationId xmlns:p14="http://schemas.microsoft.com/office/powerpoint/2010/main" val="29135027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709B6B8-D14F-4ED2-9025-A05AA319E8F3}" type="datetime1">
              <a:rPr lang="en-US" smtClean="0"/>
              <a:t>10/1/2022</a:t>
            </a:fld>
            <a:endParaRPr lang="en-US"/>
          </a:p>
        </p:txBody>
      </p:sp>
      <p:sp>
        <p:nvSpPr>
          <p:cNvPr id="6" name="Footer Placeholder 5"/>
          <p:cNvSpPr>
            <a:spLocks noGrp="1"/>
          </p:cNvSpPr>
          <p:nvPr>
            <p:ph type="ftr" sz="quarter" idx="11"/>
          </p:nvPr>
        </p:nvSpPr>
        <p:spPr/>
        <p:txBody>
          <a:bodyPr/>
          <a:lstStyle/>
          <a:p>
            <a:r>
              <a:rPr lang="en-US"/>
              <a:t>SQL</a:t>
            </a:r>
          </a:p>
        </p:txBody>
      </p:sp>
      <p:sp>
        <p:nvSpPr>
          <p:cNvPr id="7" name="Slide Number Placeholder 6"/>
          <p:cNvSpPr>
            <a:spLocks noGrp="1"/>
          </p:cNvSpPr>
          <p:nvPr>
            <p:ph type="sldNum" sz="quarter" idx="12"/>
          </p:nvPr>
        </p:nvSpPr>
        <p:spPr/>
        <p:txBody>
          <a:bodyPr/>
          <a:lstStyle/>
          <a:p>
            <a:fld id="{03576695-DB63-4967-AFBB-46E84EF49106}" type="slidenum">
              <a:rPr lang="en-US" smtClean="0"/>
              <a:t>‹#›</a:t>
            </a:fld>
            <a:endParaRPr lang="en-US"/>
          </a:p>
        </p:txBody>
      </p:sp>
    </p:spTree>
    <p:extLst>
      <p:ext uri="{BB962C8B-B14F-4D97-AF65-F5344CB8AC3E}">
        <p14:creationId xmlns:p14="http://schemas.microsoft.com/office/powerpoint/2010/main" val="3919575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8B8E0BC-2830-4E78-98A9-094C379C2D43}" type="datetime1">
              <a:rPr lang="en-US" smtClean="0"/>
              <a:t>10/1/2022</a:t>
            </a:fld>
            <a:endParaRPr lang="en-US"/>
          </a:p>
        </p:txBody>
      </p:sp>
      <p:sp>
        <p:nvSpPr>
          <p:cNvPr id="8" name="Footer Placeholder 7"/>
          <p:cNvSpPr>
            <a:spLocks noGrp="1"/>
          </p:cNvSpPr>
          <p:nvPr>
            <p:ph type="ftr" sz="quarter" idx="11"/>
          </p:nvPr>
        </p:nvSpPr>
        <p:spPr/>
        <p:txBody>
          <a:bodyPr/>
          <a:lstStyle/>
          <a:p>
            <a:r>
              <a:rPr lang="en-US"/>
              <a:t>SQL</a:t>
            </a:r>
          </a:p>
        </p:txBody>
      </p:sp>
      <p:sp>
        <p:nvSpPr>
          <p:cNvPr id="9" name="Slide Number Placeholder 8"/>
          <p:cNvSpPr>
            <a:spLocks noGrp="1"/>
          </p:cNvSpPr>
          <p:nvPr>
            <p:ph type="sldNum" sz="quarter" idx="12"/>
          </p:nvPr>
        </p:nvSpPr>
        <p:spPr/>
        <p:txBody>
          <a:bodyPr/>
          <a:lstStyle/>
          <a:p>
            <a:fld id="{03576695-DB63-4967-AFBB-46E84EF49106}" type="slidenum">
              <a:rPr lang="en-US" smtClean="0"/>
              <a:t>‹#›</a:t>
            </a:fld>
            <a:endParaRPr lang="en-US"/>
          </a:p>
        </p:txBody>
      </p:sp>
    </p:spTree>
    <p:extLst>
      <p:ext uri="{BB962C8B-B14F-4D97-AF65-F5344CB8AC3E}">
        <p14:creationId xmlns:p14="http://schemas.microsoft.com/office/powerpoint/2010/main" val="37733226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40CC26D-4CF1-40BE-9E0F-2F4F32489913}" type="datetime1">
              <a:rPr lang="en-US" smtClean="0"/>
              <a:t>10/1/2022</a:t>
            </a:fld>
            <a:endParaRPr lang="en-US"/>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a:t>
            </a:fld>
            <a:endParaRPr lang="en-US"/>
          </a:p>
        </p:txBody>
      </p:sp>
    </p:spTree>
    <p:extLst>
      <p:ext uri="{BB962C8B-B14F-4D97-AF65-F5344CB8AC3E}">
        <p14:creationId xmlns:p14="http://schemas.microsoft.com/office/powerpoint/2010/main" val="8749517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C210DB-8E1D-4AE3-968A-1EE5BA870DD3}" type="datetime1">
              <a:rPr lang="en-US" smtClean="0"/>
              <a:t>10/1/2022</a:t>
            </a:fld>
            <a:endParaRPr lang="en-US"/>
          </a:p>
        </p:txBody>
      </p:sp>
      <p:sp>
        <p:nvSpPr>
          <p:cNvPr id="3" name="Footer Placeholder 2"/>
          <p:cNvSpPr>
            <a:spLocks noGrp="1"/>
          </p:cNvSpPr>
          <p:nvPr>
            <p:ph type="ftr" sz="quarter" idx="11"/>
          </p:nvPr>
        </p:nvSpPr>
        <p:spPr/>
        <p:txBody>
          <a:bodyPr/>
          <a:lstStyle/>
          <a:p>
            <a:r>
              <a:rPr lang="en-US"/>
              <a:t>SQL</a:t>
            </a:r>
          </a:p>
        </p:txBody>
      </p:sp>
      <p:sp>
        <p:nvSpPr>
          <p:cNvPr id="4" name="Slide Number Placeholder 3"/>
          <p:cNvSpPr>
            <a:spLocks noGrp="1"/>
          </p:cNvSpPr>
          <p:nvPr>
            <p:ph type="sldNum" sz="quarter" idx="12"/>
          </p:nvPr>
        </p:nvSpPr>
        <p:spPr/>
        <p:txBody>
          <a:bodyPr/>
          <a:lstStyle/>
          <a:p>
            <a:fld id="{03576695-DB63-4967-AFBB-46E84EF49106}" type="slidenum">
              <a:rPr lang="en-US" smtClean="0"/>
              <a:t>‹#›</a:t>
            </a:fld>
            <a:endParaRPr lang="en-US"/>
          </a:p>
        </p:txBody>
      </p:sp>
    </p:spTree>
    <p:extLst>
      <p:ext uri="{BB962C8B-B14F-4D97-AF65-F5344CB8AC3E}">
        <p14:creationId xmlns:p14="http://schemas.microsoft.com/office/powerpoint/2010/main" val="1646501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F85BDBE-2567-4FF4-B2C8-4205BD6BB466}" type="datetime1">
              <a:rPr lang="en-US" smtClean="0"/>
              <a:t>10/1/2022</a:t>
            </a:fld>
            <a:endParaRPr lang="en-US"/>
          </a:p>
        </p:txBody>
      </p:sp>
      <p:sp>
        <p:nvSpPr>
          <p:cNvPr id="6" name="Footer Placeholder 5"/>
          <p:cNvSpPr>
            <a:spLocks noGrp="1"/>
          </p:cNvSpPr>
          <p:nvPr>
            <p:ph type="ftr" sz="quarter" idx="11"/>
          </p:nvPr>
        </p:nvSpPr>
        <p:spPr/>
        <p:txBody>
          <a:bodyPr/>
          <a:lstStyle/>
          <a:p>
            <a:r>
              <a:rPr lang="en-US"/>
              <a:t>SQL</a:t>
            </a:r>
          </a:p>
        </p:txBody>
      </p:sp>
      <p:sp>
        <p:nvSpPr>
          <p:cNvPr id="7" name="Slide Number Placeholder 6"/>
          <p:cNvSpPr>
            <a:spLocks noGrp="1"/>
          </p:cNvSpPr>
          <p:nvPr>
            <p:ph type="sldNum" sz="quarter" idx="12"/>
          </p:nvPr>
        </p:nvSpPr>
        <p:spPr/>
        <p:txBody>
          <a:bodyPr/>
          <a:lstStyle/>
          <a:p>
            <a:fld id="{03576695-DB63-4967-AFBB-46E84EF49106}" type="slidenum">
              <a:rPr lang="en-US" smtClean="0"/>
              <a:t>‹#›</a:t>
            </a:fld>
            <a:endParaRPr lang="en-US"/>
          </a:p>
        </p:txBody>
      </p:sp>
    </p:spTree>
    <p:extLst>
      <p:ext uri="{BB962C8B-B14F-4D97-AF65-F5344CB8AC3E}">
        <p14:creationId xmlns:p14="http://schemas.microsoft.com/office/powerpoint/2010/main" val="15200320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CAF54F3-4A76-4AA4-81B6-E6FEF4AE63DC}" type="datetime1">
              <a:rPr lang="en-US" smtClean="0"/>
              <a:t>10/1/2022</a:t>
            </a:fld>
            <a:endParaRPr lang="en-US"/>
          </a:p>
        </p:txBody>
      </p:sp>
      <p:sp>
        <p:nvSpPr>
          <p:cNvPr id="6" name="Footer Placeholder 5"/>
          <p:cNvSpPr>
            <a:spLocks noGrp="1"/>
          </p:cNvSpPr>
          <p:nvPr>
            <p:ph type="ftr" sz="quarter" idx="11"/>
          </p:nvPr>
        </p:nvSpPr>
        <p:spPr/>
        <p:txBody>
          <a:bodyPr/>
          <a:lstStyle/>
          <a:p>
            <a:r>
              <a:rPr lang="en-US"/>
              <a:t>SQL</a:t>
            </a:r>
          </a:p>
        </p:txBody>
      </p:sp>
      <p:sp>
        <p:nvSpPr>
          <p:cNvPr id="7" name="Slide Number Placeholder 6"/>
          <p:cNvSpPr>
            <a:spLocks noGrp="1"/>
          </p:cNvSpPr>
          <p:nvPr>
            <p:ph type="sldNum" sz="quarter" idx="12"/>
          </p:nvPr>
        </p:nvSpPr>
        <p:spPr/>
        <p:txBody>
          <a:bodyPr/>
          <a:lstStyle/>
          <a:p>
            <a:fld id="{03576695-DB63-4967-AFBB-46E84EF49106}" type="slidenum">
              <a:rPr lang="en-US" smtClean="0"/>
              <a:t>‹#›</a:t>
            </a:fld>
            <a:endParaRPr lang="en-US"/>
          </a:p>
        </p:txBody>
      </p:sp>
    </p:spTree>
    <p:extLst>
      <p:ext uri="{BB962C8B-B14F-4D97-AF65-F5344CB8AC3E}">
        <p14:creationId xmlns:p14="http://schemas.microsoft.com/office/powerpoint/2010/main" val="24677742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E496FD3-D51D-4F54-9776-7E62C88B9AE6}" type="datetime1">
              <a:rPr lang="en-US" smtClean="0"/>
              <a:t>10/1/2022</a:t>
            </a:fld>
            <a:endParaRPr lang="en-US"/>
          </a:p>
        </p:txBody>
      </p:sp>
      <p:sp>
        <p:nvSpPr>
          <p:cNvPr id="5" name="Footer Placeholder 4"/>
          <p:cNvSpPr>
            <a:spLocks noGrp="1"/>
          </p:cNvSpPr>
          <p:nvPr>
            <p:ph type="ftr" sz="quarter" idx="11"/>
          </p:nvPr>
        </p:nvSpPr>
        <p:spPr/>
        <p:txBody>
          <a:bodyPr/>
          <a:lstStyle/>
          <a:p>
            <a:r>
              <a:rPr lang="en-US"/>
              <a:t>SQL</a:t>
            </a:r>
          </a:p>
        </p:txBody>
      </p:sp>
      <p:sp>
        <p:nvSpPr>
          <p:cNvPr id="6" name="Slide Number Placeholder 5"/>
          <p:cNvSpPr>
            <a:spLocks noGrp="1"/>
          </p:cNvSpPr>
          <p:nvPr>
            <p:ph type="sldNum" sz="quarter" idx="12"/>
          </p:nvPr>
        </p:nvSpPr>
        <p:spPr/>
        <p:txBody>
          <a:bodyPr/>
          <a:lstStyle/>
          <a:p>
            <a:fld id="{03576695-DB63-4967-AFBB-46E84EF49106}" type="slidenum">
              <a:rPr lang="en-US" smtClean="0"/>
              <a:t>‹#›</a:t>
            </a:fld>
            <a:endParaRPr lang="en-US"/>
          </a:p>
        </p:txBody>
      </p:sp>
    </p:spTree>
    <p:extLst>
      <p:ext uri="{BB962C8B-B14F-4D97-AF65-F5344CB8AC3E}">
        <p14:creationId xmlns:p14="http://schemas.microsoft.com/office/powerpoint/2010/main" val="28955455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F44265D-61A4-457E-ABF5-DDB1E2D072B6}" type="datetime1">
              <a:rPr lang="en-US" smtClean="0"/>
              <a:t>10/1/2022</a:t>
            </a:fld>
            <a:endParaRPr lang="en-US"/>
          </a:p>
        </p:txBody>
      </p:sp>
      <p:sp>
        <p:nvSpPr>
          <p:cNvPr id="5" name="Footer Placeholder 4"/>
          <p:cNvSpPr>
            <a:spLocks noGrp="1"/>
          </p:cNvSpPr>
          <p:nvPr>
            <p:ph type="ftr" sz="quarter" idx="11"/>
          </p:nvPr>
        </p:nvSpPr>
        <p:spPr/>
        <p:txBody>
          <a:bodyPr/>
          <a:lstStyle/>
          <a:p>
            <a:r>
              <a:rPr lang="en-US"/>
              <a:t>SQL</a:t>
            </a:r>
          </a:p>
        </p:txBody>
      </p:sp>
      <p:sp>
        <p:nvSpPr>
          <p:cNvPr id="6" name="Slide Number Placeholder 5"/>
          <p:cNvSpPr>
            <a:spLocks noGrp="1"/>
          </p:cNvSpPr>
          <p:nvPr>
            <p:ph type="sldNum" sz="quarter" idx="12"/>
          </p:nvPr>
        </p:nvSpPr>
        <p:spPr/>
        <p:txBody>
          <a:bodyPr/>
          <a:lstStyle/>
          <a:p>
            <a:fld id="{03576695-DB63-4967-AFBB-46E84EF49106}" type="slidenum">
              <a:rPr lang="en-US" smtClean="0"/>
              <a:t>‹#›</a:t>
            </a:fld>
            <a:endParaRPr lang="en-US"/>
          </a:p>
        </p:txBody>
      </p:sp>
    </p:spTree>
    <p:extLst>
      <p:ext uri="{BB962C8B-B14F-4D97-AF65-F5344CB8AC3E}">
        <p14:creationId xmlns:p14="http://schemas.microsoft.com/office/powerpoint/2010/main" val="3919713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E64445-B937-485D-B73B-9F36B8809334}" type="datetime1">
              <a:rPr lang="en-US" smtClean="0"/>
              <a:t>10/1/2022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SQL</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576695-DB63-4967-AFBB-46E84EF49106}" type="slidenum">
              <a:rPr lang="en-US" smtClean="0"/>
              <a:t>‹#›</a:t>
            </a:fld>
            <a:endParaRPr lang="en-US"/>
          </a:p>
        </p:txBody>
      </p:sp>
    </p:spTree>
    <p:extLst>
      <p:ext uri="{BB962C8B-B14F-4D97-AF65-F5344CB8AC3E}">
        <p14:creationId xmlns:p14="http://schemas.microsoft.com/office/powerpoint/2010/main" val="3446732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slide" Target="slide22.xml"/><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slide" Target="slide23.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slide" Target="slide22.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665163"/>
            <a:ext cx="9144000" cy="2387600"/>
          </a:xfrm>
        </p:spPr>
        <p:txBody>
          <a:bodyPr/>
          <a:lstStyle/>
          <a:p>
            <a:r>
              <a:rPr lang="en-US" dirty="0">
                <a:solidFill>
                  <a:srgbClr val="C00000"/>
                </a:solidFill>
              </a:rPr>
              <a:t>SQL -Basics</a:t>
            </a:r>
          </a:p>
        </p:txBody>
      </p:sp>
      <p:sp>
        <p:nvSpPr>
          <p:cNvPr id="3" name="Subtitle 2"/>
          <p:cNvSpPr>
            <a:spLocks noGrp="1"/>
          </p:cNvSpPr>
          <p:nvPr>
            <p:ph type="subTitle" idx="1"/>
          </p:nvPr>
        </p:nvSpPr>
        <p:spPr/>
        <p:txBody>
          <a:bodyPr>
            <a:normAutofit fontScale="85000" lnSpcReduction="20000"/>
          </a:bodyPr>
          <a:lstStyle/>
          <a:p>
            <a:r>
              <a:rPr lang="en-US" altLang="en-US" dirty="0">
                <a:solidFill>
                  <a:srgbClr val="002060"/>
                </a:solidFill>
              </a:rPr>
              <a:t>Database System Concepts</a:t>
            </a:r>
          </a:p>
          <a:p>
            <a:r>
              <a:rPr lang="en-US" sz="1800" dirty="0">
                <a:solidFill>
                  <a:srgbClr val="FF0000"/>
                </a:solidFill>
              </a:rPr>
              <a:t>Abraham </a:t>
            </a:r>
            <a:r>
              <a:rPr lang="en-US" sz="1800" dirty="0" err="1">
                <a:solidFill>
                  <a:srgbClr val="FF0000"/>
                </a:solidFill>
              </a:rPr>
              <a:t>Silberschatz,Henry</a:t>
            </a:r>
            <a:r>
              <a:rPr lang="en-US" sz="1800" dirty="0">
                <a:solidFill>
                  <a:srgbClr val="FF0000"/>
                </a:solidFill>
              </a:rPr>
              <a:t> F. </a:t>
            </a:r>
            <a:r>
              <a:rPr lang="en-US" sz="1800" dirty="0" err="1">
                <a:solidFill>
                  <a:srgbClr val="FF0000"/>
                </a:solidFill>
              </a:rPr>
              <a:t>Korth</a:t>
            </a:r>
            <a:r>
              <a:rPr lang="en-US" sz="1800" dirty="0">
                <a:solidFill>
                  <a:srgbClr val="FF0000"/>
                </a:solidFill>
              </a:rPr>
              <a:t>, S. </a:t>
            </a:r>
            <a:r>
              <a:rPr lang="en-US" sz="1800" dirty="0" err="1">
                <a:solidFill>
                  <a:srgbClr val="FF0000"/>
                </a:solidFill>
              </a:rPr>
              <a:t>Sudarshan</a:t>
            </a:r>
            <a:endParaRPr lang="en-US" sz="1800" dirty="0">
              <a:solidFill>
                <a:srgbClr val="FF0000"/>
              </a:solidFill>
            </a:endParaRPr>
          </a:p>
          <a:p>
            <a:r>
              <a:rPr lang="en-US" dirty="0"/>
              <a:t>&amp;</a:t>
            </a:r>
          </a:p>
          <a:p>
            <a:r>
              <a:rPr lang="en-US" dirty="0">
                <a:solidFill>
                  <a:srgbClr val="002060"/>
                </a:solidFill>
              </a:rPr>
              <a:t>Oracle database The Complete Reference</a:t>
            </a:r>
          </a:p>
          <a:p>
            <a:r>
              <a:rPr lang="en-US" sz="1800" dirty="0">
                <a:solidFill>
                  <a:srgbClr val="FF0000"/>
                </a:solidFill>
              </a:rPr>
              <a:t>Oracle Press</a:t>
            </a: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1</a:t>
            </a:fld>
            <a:endParaRPr lang="en-US"/>
          </a:p>
        </p:txBody>
      </p:sp>
    </p:spTree>
    <p:extLst>
      <p:ext uri="{BB962C8B-B14F-4D97-AF65-F5344CB8AC3E}">
        <p14:creationId xmlns:p14="http://schemas.microsoft.com/office/powerpoint/2010/main" val="18522683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3675"/>
            <a:ext cx="10515600" cy="792163"/>
          </a:xfrm>
        </p:spPr>
        <p:txBody>
          <a:bodyPr>
            <a:normAutofit/>
          </a:bodyPr>
          <a:lstStyle/>
          <a:p>
            <a:r>
              <a:rPr kumimoji="1" lang="en-US" sz="3200" b="1" kern="0" dirty="0">
                <a:solidFill>
                  <a:srgbClr val="CC3300"/>
                </a:solidFill>
                <a:effectLst>
                  <a:outerShdw blurRad="38100" dist="38100" dir="2700000" algn="tl">
                    <a:srgbClr val="C0C0C0"/>
                  </a:outerShdw>
                </a:effectLst>
                <a:latin typeface="Helvetica"/>
              </a:rPr>
              <a:t>SQL(Structured Query Language)</a:t>
            </a:r>
          </a:p>
        </p:txBody>
      </p:sp>
      <p:sp>
        <p:nvSpPr>
          <p:cNvPr id="3" name="Content Placeholder 2"/>
          <p:cNvSpPr>
            <a:spLocks noGrp="1"/>
          </p:cNvSpPr>
          <p:nvPr>
            <p:ph idx="1"/>
          </p:nvPr>
        </p:nvSpPr>
        <p:spPr>
          <a:xfrm>
            <a:off x="838200" y="1167153"/>
            <a:ext cx="10281557" cy="5007882"/>
          </a:xfrm>
        </p:spPr>
        <p:txBody>
          <a:bodyPr>
            <a:noAutofit/>
          </a:bodyPr>
          <a:lstStyle/>
          <a:p>
            <a:pPr>
              <a:lnSpc>
                <a:spcPct val="150000"/>
              </a:lnSpc>
            </a:pPr>
            <a:r>
              <a:rPr lang="en-US" dirty="0">
                <a:latin typeface="Helvetica" panose="020B0604020202020204" pitchFamily="34" charset="0"/>
                <a:cs typeface="Helvetica" panose="020B0604020202020204" pitchFamily="34" charset="0"/>
              </a:rPr>
              <a:t>SQL-(SEQUEL) was developed by IBM Corporation, Inc., based on  E. F. Codd's model</a:t>
            </a:r>
            <a:endParaRPr lang="en-US" sz="1000" dirty="0">
              <a:latin typeface="Helvetica" panose="020B0604020202020204" pitchFamily="34" charset="0"/>
              <a:cs typeface="Helvetica" panose="020B0604020202020204" pitchFamily="34" charset="0"/>
            </a:endParaRPr>
          </a:p>
          <a:p>
            <a:pPr>
              <a:lnSpc>
                <a:spcPct val="150000"/>
              </a:lnSpc>
            </a:pPr>
            <a:r>
              <a:rPr lang="en-IN" dirty="0">
                <a:latin typeface="Helvetica" panose="020B0604020202020204" pitchFamily="34" charset="0"/>
                <a:cs typeface="Helvetica" panose="020B0604020202020204" pitchFamily="34" charset="0"/>
              </a:rPr>
              <a:t>Proposed 12 Rules such as- </a:t>
            </a:r>
          </a:p>
          <a:p>
            <a:pPr lvl="1">
              <a:lnSpc>
                <a:spcPct val="150000"/>
              </a:lnSpc>
            </a:pPr>
            <a:r>
              <a:rPr lang="en-IN" sz="2000" dirty="0">
                <a:latin typeface="Helvetica" panose="020B0604020202020204" pitchFamily="34" charset="0"/>
                <a:cs typeface="Helvetica" panose="020B0604020202020204" pitchFamily="34" charset="0"/>
              </a:rPr>
              <a:t>Information rule, </a:t>
            </a:r>
            <a:r>
              <a:rPr lang="en-US" sz="2000" dirty="0">
                <a:latin typeface="Helvetica" panose="020B0604020202020204" pitchFamily="34" charset="0"/>
                <a:cs typeface="Helvetica" panose="020B0604020202020204" pitchFamily="34" charset="0"/>
              </a:rPr>
              <a:t>Guaranteed Access Rule, Systematic Treatment of NULL Values, Dynamic Online Catalog Based on the Relational Model, Comprehensive Data Sublanguage (see notes section for details),… Non-Subversion Rule.</a:t>
            </a:r>
            <a:endParaRPr lang="en-IN" sz="1050" dirty="0">
              <a:latin typeface="Helvetica" panose="020B0604020202020204" pitchFamily="34" charset="0"/>
              <a:cs typeface="Helvetica" panose="020B0604020202020204" pitchFamily="34" charset="0"/>
            </a:endParaRPr>
          </a:p>
          <a:p>
            <a:pPr>
              <a:lnSpc>
                <a:spcPct val="150000"/>
              </a:lnSpc>
            </a:pPr>
            <a:r>
              <a:rPr lang="en-IN" dirty="0">
                <a:latin typeface="Helvetica" panose="020B0604020202020204" pitchFamily="34" charset="0"/>
                <a:cs typeface="Helvetica" panose="020B0604020202020204" pitchFamily="34" charset="0"/>
              </a:rPr>
              <a:t>1</a:t>
            </a:r>
            <a:r>
              <a:rPr lang="en-IN" baseline="30000" dirty="0">
                <a:latin typeface="Helvetica" panose="020B0604020202020204" pitchFamily="34" charset="0"/>
                <a:cs typeface="Helvetica" panose="020B0604020202020204" pitchFamily="34" charset="0"/>
              </a:rPr>
              <a:t>st</a:t>
            </a:r>
            <a:r>
              <a:rPr lang="en-IN" dirty="0">
                <a:latin typeface="Helvetica" panose="020B0604020202020204" pitchFamily="34" charset="0"/>
                <a:cs typeface="Helvetica" panose="020B0604020202020204" pitchFamily="34" charset="0"/>
              </a:rPr>
              <a:t> Commercial SQL- Relational Software, Inc</a:t>
            </a:r>
            <a:r>
              <a:rPr lang="en-IN" sz="2400" dirty="0">
                <a:latin typeface="Helvetica" panose="020B0604020202020204" pitchFamily="34" charset="0"/>
                <a:cs typeface="Helvetica" panose="020B0604020202020204" pitchFamily="34" charset="0"/>
              </a:rPr>
              <a:t>. –Now  Oracle</a:t>
            </a:r>
          </a:p>
          <a:p>
            <a:pPr>
              <a:lnSpc>
                <a:spcPct val="150000"/>
              </a:lnSpc>
            </a:pPr>
            <a:r>
              <a:rPr lang="en-IN" sz="2400" dirty="0">
                <a:latin typeface="Helvetica" panose="020B0604020202020204" pitchFamily="34" charset="0"/>
                <a:cs typeface="Helvetica" panose="020B0604020202020204" pitchFamily="34" charset="0"/>
              </a:rPr>
              <a:t>MS SQL Server, IBM DB2, Oracle, MySQL, and Microsoft Access</a:t>
            </a:r>
            <a:endParaRPr lang="en-US" sz="2400" dirty="0">
              <a:latin typeface="Helvetica" panose="020B0604020202020204" pitchFamily="34" charset="0"/>
              <a:cs typeface="Helvetica" panose="020B0604020202020204" pitchFamily="34" charset="0"/>
            </a:endParaRPr>
          </a:p>
          <a:p>
            <a:pPr>
              <a:lnSpc>
                <a:spcPct val="150000"/>
              </a:lnSpc>
            </a:pPr>
            <a:endParaRPr lang="en-US" sz="2400" dirty="0">
              <a:latin typeface="Helvetica" panose="020B0604020202020204" pitchFamily="34" charset="0"/>
              <a:cs typeface="Helvetica" panose="020B0604020202020204" pitchFamily="34" charset="0"/>
            </a:endParaRP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2</a:t>
            </a:fld>
            <a:endParaRPr lang="en-US"/>
          </a:p>
        </p:txBody>
      </p:sp>
    </p:spTree>
    <p:extLst>
      <p:ext uri="{BB962C8B-B14F-4D97-AF65-F5344CB8AC3E}">
        <p14:creationId xmlns:p14="http://schemas.microsoft.com/office/powerpoint/2010/main" val="4865888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22804"/>
          </a:xfrm>
        </p:spPr>
        <p:txBody>
          <a:bodyPr>
            <a:normAutofit/>
          </a:bodyPr>
          <a:lstStyle/>
          <a:p>
            <a:r>
              <a:rPr kumimoji="1" lang="en-US" sz="3200" b="1" kern="0" dirty="0">
                <a:solidFill>
                  <a:srgbClr val="CC3300"/>
                </a:solidFill>
                <a:effectLst>
                  <a:outerShdw blurRad="38100" dist="38100" dir="2700000" algn="tl">
                    <a:srgbClr val="C0C0C0"/>
                  </a:outerShdw>
                </a:effectLst>
                <a:latin typeface="Helvetica"/>
              </a:rPr>
              <a:t>SQL Language Elements</a:t>
            </a: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3</a:t>
            </a:fld>
            <a:endParaRPr lang="en-US"/>
          </a:p>
        </p:txBody>
      </p:sp>
      <p:pic>
        <p:nvPicPr>
          <p:cNvPr id="7" name="Picture 2" descr="https://upload.wikimedia.org/wikipedia/commons/thumb/a/aa/SQL_ANATOMY_wiki.svg/831px-SQL_ANATOMY_wiki.svg.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44367" y="1133203"/>
            <a:ext cx="10409433" cy="391232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1045028" y="4859499"/>
            <a:ext cx="10308772" cy="1384995"/>
          </a:xfrm>
          <a:prstGeom prst="rect">
            <a:avLst/>
          </a:prstGeom>
        </p:spPr>
        <p:txBody>
          <a:bodyPr wrap="square">
            <a:spAutoFit/>
          </a:bodyPr>
          <a:lstStyle/>
          <a:p>
            <a:pPr algn="just">
              <a:lnSpc>
                <a:spcPct val="150000"/>
              </a:lnSpc>
              <a:buFont typeface="Arial" panose="020B0604020202020204" pitchFamily="34" charset="0"/>
              <a:buChar char="•"/>
            </a:pPr>
            <a:r>
              <a:rPr lang="en-IN" sz="2800" dirty="0">
                <a:latin typeface="Helvetica" panose="020B0604020202020204" pitchFamily="34" charset="0"/>
                <a:cs typeface="Helvetica" panose="020B0604020202020204" pitchFamily="34" charset="0"/>
              </a:rPr>
              <a:t>SQL statements also include the semicolon ("</a:t>
            </a:r>
            <a:r>
              <a:rPr lang="en-IN" sz="2800" dirty="0">
                <a:solidFill>
                  <a:srgbClr val="C00000"/>
                </a:solidFill>
                <a:latin typeface="Helvetica" panose="020B0604020202020204" pitchFamily="34" charset="0"/>
                <a:cs typeface="Helvetica" panose="020B0604020202020204" pitchFamily="34" charset="0"/>
              </a:rPr>
              <a:t>;</a:t>
            </a:r>
            <a:r>
              <a:rPr lang="en-IN" sz="2800" dirty="0">
                <a:latin typeface="Helvetica" panose="020B0604020202020204" pitchFamily="34" charset="0"/>
                <a:cs typeface="Helvetica" panose="020B0604020202020204" pitchFamily="34" charset="0"/>
              </a:rPr>
              <a:t>") statement terminator. </a:t>
            </a:r>
            <a:endParaRPr lang="en-US" sz="2800"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925741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2"/>
          <p:cNvSpPr txBox="1">
            <a:spLocks noChangeArrowheads="1"/>
          </p:cNvSpPr>
          <p:nvPr/>
        </p:nvSpPr>
        <p:spPr bwMode="auto">
          <a:xfrm>
            <a:off x="1186873" y="100266"/>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Data Definition Language</a:t>
            </a:r>
          </a:p>
        </p:txBody>
      </p:sp>
      <p:sp>
        <p:nvSpPr>
          <p:cNvPr id="11" name="Rectangle 3"/>
          <p:cNvSpPr txBox="1">
            <a:spLocks noChangeArrowheads="1"/>
          </p:cNvSpPr>
          <p:nvPr/>
        </p:nvSpPr>
        <p:spPr bwMode="auto">
          <a:xfrm>
            <a:off x="2263774" y="2050729"/>
            <a:ext cx="8186511" cy="3987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The </a:t>
            </a:r>
            <a:r>
              <a:rPr kumimoji="1" lang="en-US" altLang="en-US" sz="2000" b="1" i="0" u="none" strike="noStrike" kern="0" cap="none" spc="0" normalizeH="0" baseline="0" noProof="0" dirty="0">
                <a:ln>
                  <a:noFill/>
                </a:ln>
                <a:solidFill>
                  <a:srgbClr val="C00000"/>
                </a:solidFill>
                <a:effectLst/>
                <a:uLnTx/>
                <a:uFillTx/>
                <a:latin typeface="Helvetica"/>
                <a:ea typeface="+mn-ea"/>
                <a:cs typeface="+mn-cs"/>
              </a:rPr>
              <a:t>schema</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for each relation/table.</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The </a:t>
            </a:r>
            <a:r>
              <a:rPr kumimoji="1" lang="en-US" altLang="en-US" sz="2000" b="1" i="0" u="none" strike="noStrike" kern="0" cap="none" spc="0" normalizeH="0" baseline="0" noProof="0" dirty="0">
                <a:ln>
                  <a:noFill/>
                </a:ln>
                <a:solidFill>
                  <a:srgbClr val="C00000"/>
                </a:solidFill>
                <a:effectLst/>
                <a:uLnTx/>
                <a:uFillTx/>
                <a:latin typeface="Helvetica"/>
                <a:ea typeface="+mn-ea"/>
                <a:cs typeface="+mn-cs"/>
              </a:rPr>
              <a:t>domain</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1" i="0" u="none" strike="noStrike" kern="0" cap="none" spc="0" normalizeH="0" baseline="0" noProof="0" dirty="0">
                <a:ln>
                  <a:noFill/>
                </a:ln>
                <a:solidFill>
                  <a:srgbClr val="C00000"/>
                </a:solidFill>
                <a:effectLst/>
                <a:uLnTx/>
                <a:uFillTx/>
                <a:latin typeface="Helvetica"/>
                <a:ea typeface="+mn-ea"/>
                <a:cs typeface="+mn-cs"/>
              </a:rPr>
              <a:t>of values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associated with each attribute.</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C00000"/>
                </a:solidFill>
                <a:effectLst/>
                <a:uLnTx/>
                <a:uFillTx/>
                <a:latin typeface="Helvetica"/>
                <a:ea typeface="+mn-ea"/>
                <a:cs typeface="+mn-cs"/>
              </a:rPr>
              <a:t>Integrity constraints</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And as we will see later, also other information such as </a:t>
            </a:r>
          </a:p>
          <a:p>
            <a:pPr marL="742950" marR="0" lvl="1" indent="-285750" algn="l" defTabSz="914400" rtl="0" eaLnBrk="0" fontAlgn="base" latinLnBrk="0" hangingPunct="0">
              <a:lnSpc>
                <a:spcPct val="150000"/>
              </a:lnSpc>
              <a:spcBef>
                <a:spcPct val="35000"/>
              </a:spcBef>
              <a:spcAft>
                <a:spcPct val="0"/>
              </a:spcAft>
              <a:buClr>
                <a:srgbClr val="FF9933"/>
              </a:buClr>
              <a:buSzPct val="80000"/>
              <a:buFont typeface="Monotype Sorts" charset="2"/>
              <a:buChar char="l"/>
              <a:tabLst/>
              <a:defRPr/>
            </a:pPr>
            <a:r>
              <a:rPr kumimoji="1" lang="en-US" altLang="en-US" sz="2000" b="0" i="0" u="none" strike="noStrike" kern="0" cap="none" spc="0" normalizeH="0" baseline="0" noProof="0" dirty="0">
                <a:ln>
                  <a:noFill/>
                </a:ln>
                <a:solidFill>
                  <a:srgbClr val="000000"/>
                </a:solidFill>
                <a:effectLst/>
                <a:uLnTx/>
                <a:uFillTx/>
                <a:latin typeface="Helvetica"/>
              </a:rPr>
              <a:t>The set of </a:t>
            </a:r>
            <a:r>
              <a:rPr kumimoji="1" lang="en-US" altLang="en-US" sz="2000" b="1" i="0" u="none" strike="noStrike" kern="0" cap="none" spc="0" normalizeH="0" baseline="0" noProof="0" dirty="0">
                <a:ln>
                  <a:noFill/>
                </a:ln>
                <a:solidFill>
                  <a:srgbClr val="C00000"/>
                </a:solidFill>
                <a:effectLst/>
                <a:uLnTx/>
                <a:uFillTx/>
                <a:latin typeface="Helvetica"/>
              </a:rPr>
              <a:t>indices</a:t>
            </a:r>
            <a:r>
              <a:rPr kumimoji="1" lang="en-US" altLang="en-US" sz="2000" b="0" i="0" u="none" strike="noStrike" kern="0" cap="none" spc="0" normalizeH="0" baseline="0" noProof="0" dirty="0">
                <a:ln>
                  <a:noFill/>
                </a:ln>
                <a:solidFill>
                  <a:srgbClr val="000000"/>
                </a:solidFill>
                <a:effectLst/>
                <a:uLnTx/>
                <a:uFillTx/>
                <a:latin typeface="Helvetica"/>
              </a:rPr>
              <a:t> to be maintained for each relations.</a:t>
            </a:r>
          </a:p>
          <a:p>
            <a:pPr marL="742950" marR="0" lvl="1" indent="-285750" algn="l" defTabSz="914400" rtl="0" eaLnBrk="0" fontAlgn="base" latinLnBrk="0" hangingPunct="0">
              <a:lnSpc>
                <a:spcPct val="150000"/>
              </a:lnSpc>
              <a:spcBef>
                <a:spcPct val="35000"/>
              </a:spcBef>
              <a:spcAft>
                <a:spcPct val="0"/>
              </a:spcAft>
              <a:buClr>
                <a:srgbClr val="FF9933"/>
              </a:buClr>
              <a:buSzPct val="80000"/>
              <a:buFont typeface="Monotype Sorts" charset="2"/>
              <a:buChar char="l"/>
              <a:tabLst/>
              <a:defRPr/>
            </a:pPr>
            <a:r>
              <a:rPr kumimoji="1" lang="en-US" altLang="en-US" sz="2000" b="0" i="0" u="none" strike="noStrike" kern="0" cap="none" spc="0" normalizeH="0" baseline="0" noProof="0" dirty="0">
                <a:ln>
                  <a:noFill/>
                </a:ln>
                <a:solidFill>
                  <a:srgbClr val="000000"/>
                </a:solidFill>
                <a:effectLst/>
                <a:uLnTx/>
                <a:uFillTx/>
                <a:latin typeface="Helvetica"/>
              </a:rPr>
              <a:t>Security and </a:t>
            </a:r>
            <a:r>
              <a:rPr kumimoji="1" lang="en-US" altLang="en-US" sz="2000" b="1" i="0" u="none" strike="noStrike" kern="0" cap="none" spc="0" normalizeH="0" baseline="0" noProof="0" dirty="0">
                <a:ln>
                  <a:noFill/>
                </a:ln>
                <a:solidFill>
                  <a:srgbClr val="C00000"/>
                </a:solidFill>
                <a:effectLst/>
                <a:uLnTx/>
                <a:uFillTx/>
                <a:latin typeface="Helvetica"/>
              </a:rPr>
              <a:t>authorization information </a:t>
            </a:r>
            <a:r>
              <a:rPr kumimoji="1" lang="en-US" altLang="en-US" sz="2000" b="0" i="0" u="none" strike="noStrike" kern="0" cap="none" spc="0" normalizeH="0" baseline="0" noProof="0" dirty="0">
                <a:ln>
                  <a:noFill/>
                </a:ln>
                <a:solidFill>
                  <a:srgbClr val="000000"/>
                </a:solidFill>
                <a:effectLst/>
                <a:uLnTx/>
                <a:uFillTx/>
                <a:latin typeface="Helvetica"/>
              </a:rPr>
              <a:t>for each relation.</a:t>
            </a:r>
          </a:p>
          <a:p>
            <a:pPr marL="742950" marR="0" lvl="1" indent="-285750" algn="l" defTabSz="914400" rtl="0" eaLnBrk="0" fontAlgn="base" latinLnBrk="0" hangingPunct="0">
              <a:lnSpc>
                <a:spcPct val="150000"/>
              </a:lnSpc>
              <a:spcBef>
                <a:spcPct val="35000"/>
              </a:spcBef>
              <a:spcAft>
                <a:spcPct val="0"/>
              </a:spcAft>
              <a:buClr>
                <a:srgbClr val="FF9933"/>
              </a:buClr>
              <a:buSzPct val="80000"/>
              <a:buFont typeface="Monotype Sorts" charset="2"/>
              <a:buChar char="l"/>
              <a:tabLst/>
              <a:defRPr/>
            </a:pPr>
            <a:r>
              <a:rPr kumimoji="1" lang="en-US" altLang="en-US" sz="2000" b="0" i="0" u="none" strike="noStrike" kern="0" cap="none" spc="0" normalizeH="0" baseline="0" noProof="0" dirty="0">
                <a:ln>
                  <a:noFill/>
                </a:ln>
                <a:solidFill>
                  <a:srgbClr val="000000"/>
                </a:solidFill>
                <a:effectLst/>
                <a:uLnTx/>
                <a:uFillTx/>
                <a:latin typeface="Helvetica"/>
              </a:rPr>
              <a:t>The </a:t>
            </a:r>
            <a:r>
              <a:rPr kumimoji="1" lang="en-US" altLang="en-US" sz="2000" b="1" i="0" u="none" strike="noStrike" kern="0" cap="none" spc="0" normalizeH="0" baseline="0" noProof="0" dirty="0">
                <a:ln>
                  <a:noFill/>
                </a:ln>
                <a:solidFill>
                  <a:srgbClr val="C00000"/>
                </a:solidFill>
                <a:effectLst/>
                <a:uLnTx/>
                <a:uFillTx/>
                <a:latin typeface="Helvetica"/>
              </a:rPr>
              <a:t>physical storage structure </a:t>
            </a:r>
            <a:r>
              <a:rPr kumimoji="1" lang="en-US" altLang="en-US" sz="2000" b="0" i="0" u="none" strike="noStrike" kern="0" cap="none" spc="0" normalizeH="0" baseline="0" noProof="0" dirty="0">
                <a:ln>
                  <a:noFill/>
                </a:ln>
                <a:solidFill>
                  <a:srgbClr val="000000"/>
                </a:solidFill>
                <a:effectLst/>
                <a:uLnTx/>
                <a:uFillTx/>
                <a:latin typeface="Helvetica"/>
              </a:rPr>
              <a:t>of each relation on disk.</a:t>
            </a:r>
          </a:p>
        </p:txBody>
      </p:sp>
      <p:sp>
        <p:nvSpPr>
          <p:cNvPr id="12" name="Text Box 4"/>
          <p:cNvSpPr txBox="1">
            <a:spLocks noChangeArrowheads="1"/>
          </p:cNvSpPr>
          <p:nvPr/>
        </p:nvSpPr>
        <p:spPr bwMode="auto">
          <a:xfrm>
            <a:off x="2263774" y="993190"/>
            <a:ext cx="7239000" cy="958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1600">
                <a:solidFill>
                  <a:schemeClr val="tx1"/>
                </a:solidFill>
                <a:latin typeface="Helvetica" panose="020B0604020202020204" pitchFamily="34" charset="0"/>
              </a:defRPr>
            </a:lvl1pPr>
            <a:lvl2pPr marL="742950" indent="-285750">
              <a:defRPr sz="1600">
                <a:solidFill>
                  <a:schemeClr val="tx1"/>
                </a:solidFill>
                <a:latin typeface="Helvetica" panose="020B0604020202020204" pitchFamily="34" charset="0"/>
              </a:defRPr>
            </a:lvl2pPr>
            <a:lvl3pPr marL="1143000" indent="-228600">
              <a:defRPr sz="1600">
                <a:solidFill>
                  <a:schemeClr val="tx1"/>
                </a:solidFill>
                <a:latin typeface="Helvetica" panose="020B0604020202020204" pitchFamily="34" charset="0"/>
              </a:defRPr>
            </a:lvl3pPr>
            <a:lvl4pPr marL="1600200" indent="-228600">
              <a:defRPr sz="1600">
                <a:solidFill>
                  <a:schemeClr val="tx1"/>
                </a:solidFill>
                <a:latin typeface="Helvetica" panose="020B0604020202020204" pitchFamily="34" charset="0"/>
              </a:defRPr>
            </a:lvl4pPr>
            <a:lvl5pPr marL="2057400" indent="-228600">
              <a:defRPr sz="1600">
                <a:solidFill>
                  <a:schemeClr val="tx1"/>
                </a:solidFill>
                <a:latin typeface="Helvetica" panose="020B0604020202020204" pitchFamily="34" charset="0"/>
              </a:defRPr>
            </a:lvl5pPr>
            <a:lvl6pPr marL="2514600" indent="-228600" eaLnBrk="0" fontAlgn="base" hangingPunct="0">
              <a:spcBef>
                <a:spcPct val="0"/>
              </a:spcBef>
              <a:spcAft>
                <a:spcPct val="0"/>
              </a:spcAft>
              <a:defRPr sz="1600">
                <a:solidFill>
                  <a:schemeClr val="tx1"/>
                </a:solidFill>
                <a:latin typeface="Helvetica" panose="020B0604020202020204" pitchFamily="34" charset="0"/>
              </a:defRPr>
            </a:lvl6pPr>
            <a:lvl7pPr marL="2971800" indent="-228600" eaLnBrk="0" fontAlgn="base" hangingPunct="0">
              <a:spcBef>
                <a:spcPct val="0"/>
              </a:spcBef>
              <a:spcAft>
                <a:spcPct val="0"/>
              </a:spcAft>
              <a:defRPr sz="1600">
                <a:solidFill>
                  <a:schemeClr val="tx1"/>
                </a:solidFill>
                <a:latin typeface="Helvetica" panose="020B0604020202020204" pitchFamily="34" charset="0"/>
              </a:defRPr>
            </a:lvl7pPr>
            <a:lvl8pPr marL="3429000" indent="-228600" eaLnBrk="0" fontAlgn="base" hangingPunct="0">
              <a:spcBef>
                <a:spcPct val="0"/>
              </a:spcBef>
              <a:spcAft>
                <a:spcPct val="0"/>
              </a:spcAft>
              <a:defRPr sz="1600">
                <a:solidFill>
                  <a:schemeClr val="tx1"/>
                </a:solidFill>
                <a:latin typeface="Helvetica" panose="020B0604020202020204" pitchFamily="34" charset="0"/>
              </a:defRPr>
            </a:lvl8pPr>
            <a:lvl9pPr marL="3886200" indent="-228600" eaLnBrk="0" fontAlgn="base" hangingPunct="0">
              <a:spcBef>
                <a:spcPct val="0"/>
              </a:spcBef>
              <a:spcAft>
                <a:spcPct val="0"/>
              </a:spcAft>
              <a:defRPr sz="1600">
                <a:solidFill>
                  <a:schemeClr val="tx1"/>
                </a:solidFill>
                <a:latin typeface="Helvetica" panose="020B0604020202020204" pitchFamily="34" charset="0"/>
              </a:defRPr>
            </a:lvl9pPr>
          </a:lstStyle>
          <a:p>
            <a:pPr marL="0" marR="0" lvl="0" indent="0" defTabSz="914400" eaLnBrk="0" fontAlgn="base" latinLnBrk="0" hangingPunct="0">
              <a:lnSpc>
                <a:spcPct val="150000"/>
              </a:lnSpc>
              <a:spcBef>
                <a:spcPct val="50000"/>
              </a:spcBef>
              <a:spcAft>
                <a:spcPct val="0"/>
              </a:spcAft>
              <a:buClrTx/>
              <a:buSzTx/>
              <a:buFontTx/>
              <a:buNone/>
              <a:tabLst/>
              <a:defRPr/>
            </a:pP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rPr>
              <a:t>The SQL </a:t>
            </a:r>
            <a:r>
              <a:rPr kumimoji="0" lang="en-US" altLang="en-US" sz="2000" b="1" i="0" u="none" strike="noStrike" kern="0" cap="none" spc="0" normalizeH="0" baseline="0" noProof="0" dirty="0">
                <a:ln>
                  <a:noFill/>
                </a:ln>
                <a:solidFill>
                  <a:srgbClr val="000099"/>
                </a:solidFill>
                <a:effectLst/>
                <a:uLnTx/>
                <a:uFillTx/>
                <a:latin typeface="Helvetica" panose="020B0604020202020204" pitchFamily="34" charset="0"/>
              </a:rPr>
              <a:t>data-definition language (DDL)</a:t>
            </a: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rPr>
              <a:t> allows the specification of information about relations, including:</a:t>
            </a: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4</a:t>
            </a:fld>
            <a:endParaRPr lang="en-US"/>
          </a:p>
        </p:txBody>
      </p:sp>
    </p:spTree>
    <p:extLst>
      <p:ext uri="{BB962C8B-B14F-4D97-AF65-F5344CB8AC3E}">
        <p14:creationId xmlns:p14="http://schemas.microsoft.com/office/powerpoint/2010/main" val="3612418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Domain Types in SQL</a:t>
            </a:r>
          </a:p>
        </p:txBody>
      </p:sp>
      <p:sp>
        <p:nvSpPr>
          <p:cNvPr id="5" name="Rectangle 3"/>
          <p:cNvSpPr txBox="1">
            <a:spLocks noChangeArrowheads="1"/>
          </p:cNvSpPr>
          <p:nvPr/>
        </p:nvSpPr>
        <p:spPr bwMode="auto">
          <a:xfrm>
            <a:off x="783771" y="1106488"/>
            <a:ext cx="10769599"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char(n).</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Fixed length character string, with user-specified length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n.</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varchar(n)/varchar2(n).</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Variable length character strings, with user-specified maximum length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n.</a:t>
            </a:r>
            <a:endParaRPr kumimoji="1" lang="en-US" altLang="en-US" sz="1800" b="0" i="1"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int.</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Integer (a finite subset of the integers that is machine-dependent).</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smallint.</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Small integer (a machine-dependent subset of the integer domain type).</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numeric(</a:t>
            </a:r>
            <a:r>
              <a:rPr kumimoji="1" lang="en-US" altLang="en-US" sz="2000" b="1" i="0" u="none" strike="noStrike" kern="0" cap="none" spc="0" normalizeH="0" baseline="0" noProof="0" dirty="0" err="1">
                <a:ln>
                  <a:noFill/>
                </a:ln>
                <a:solidFill>
                  <a:srgbClr val="000099"/>
                </a:solidFill>
                <a:effectLst/>
                <a:uLnTx/>
                <a:uFillTx/>
                <a:latin typeface="Helvetica"/>
                <a:ea typeface="+mn-ea"/>
                <a:cs typeface="+mn-cs"/>
              </a:rPr>
              <a:t>p,d</a:t>
            </a: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)/number(</a:t>
            </a:r>
            <a:r>
              <a:rPr kumimoji="1" lang="en-US" altLang="en-US" sz="2000" b="1" i="0" u="none" strike="noStrike" kern="0" cap="none" spc="0" normalizeH="0" baseline="0" noProof="0" dirty="0" err="1">
                <a:ln>
                  <a:noFill/>
                </a:ln>
                <a:solidFill>
                  <a:srgbClr val="000099"/>
                </a:solidFill>
                <a:effectLst/>
                <a:uLnTx/>
                <a:uFillTx/>
                <a:latin typeface="Helvetica"/>
                <a:ea typeface="+mn-ea"/>
                <a:cs typeface="+mn-cs"/>
              </a:rPr>
              <a:t>p,d</a:t>
            </a: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Fixed point number, with user-specified precision of </a:t>
            </a:r>
            <a:r>
              <a:rPr kumimoji="1" lang="en-US" altLang="en-US" sz="2000" b="1" i="1" u="none" strike="noStrike" kern="0" cap="none" spc="0" normalizeH="0" baseline="0" noProof="0" dirty="0">
                <a:ln>
                  <a:noFill/>
                </a:ln>
                <a:solidFill>
                  <a:srgbClr val="000000"/>
                </a:solidFill>
                <a:effectLst/>
                <a:uLnTx/>
                <a:uFillTx/>
                <a:latin typeface="Helvetica"/>
                <a:ea typeface="+mn-ea"/>
                <a:cs typeface="+mn-cs"/>
              </a:rPr>
              <a:t>p</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digits, with </a:t>
            </a:r>
            <a:r>
              <a:rPr kumimoji="1" lang="en-US" altLang="en-US" sz="2000" b="1" i="1" u="none" strike="noStrike" kern="0" cap="none" spc="0" normalizeH="0" baseline="0" noProof="0" dirty="0">
                <a:ln>
                  <a:noFill/>
                </a:ln>
                <a:solidFill>
                  <a:srgbClr val="000000"/>
                </a:solidFill>
                <a:effectLst/>
                <a:uLnTx/>
                <a:uFillTx/>
                <a:latin typeface="Helvetica"/>
                <a:ea typeface="+mn-ea"/>
                <a:cs typeface="+mn-cs"/>
              </a:rPr>
              <a:t>d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digits to the right of decimal point.</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real, double precision.</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Floating point and double-precision floating point numbers, with machine-dependent precision.</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float(n).</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Floating point number, with user-specified precision of at least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n</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digits.</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None/>
              <a:tabLst/>
              <a:defRPr/>
            </a:pP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None/>
              <a:tabLst/>
              <a:defRPr/>
            </a:pPr>
            <a:endParaRPr kumimoji="1" lang="en-US" altLang="en-US" sz="1800" b="1" i="0" u="none" strike="noStrike" kern="0" cap="none" spc="0" normalizeH="0" baseline="0" noProof="0" dirty="0">
              <a:ln>
                <a:noFill/>
              </a:ln>
              <a:solidFill>
                <a:srgbClr val="000000"/>
              </a:solidFill>
              <a:effectLst/>
              <a:uLnTx/>
              <a:uFillTx/>
              <a:latin typeface="Helvetica"/>
              <a:ea typeface="+mn-ea"/>
              <a:cs typeface="+mn-cs"/>
            </a:endParaRP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5</a:t>
            </a:fld>
            <a:endParaRPr lang="en-US"/>
          </a:p>
        </p:txBody>
      </p:sp>
    </p:spTree>
    <p:extLst>
      <p:ext uri="{BB962C8B-B14F-4D97-AF65-F5344CB8AC3E}">
        <p14:creationId xmlns:p14="http://schemas.microsoft.com/office/powerpoint/2010/main" val="59561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2741613" y="163513"/>
            <a:ext cx="7264400" cy="55245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28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Built-in Data Types in SQL </a:t>
            </a:r>
          </a:p>
        </p:txBody>
      </p:sp>
      <p:sp>
        <p:nvSpPr>
          <p:cNvPr id="5" name="Rectangle 3"/>
          <p:cNvSpPr txBox="1">
            <a:spLocks noChangeArrowheads="1"/>
          </p:cNvSpPr>
          <p:nvPr/>
        </p:nvSpPr>
        <p:spPr bwMode="auto">
          <a:xfrm>
            <a:off x="1524001" y="1035730"/>
            <a:ext cx="9840686" cy="51962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tab pos="1250950" algn="l"/>
              </a:tabLst>
              <a:defRPr/>
            </a:pP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date</a:t>
            </a:r>
            <a:r>
              <a:rPr kumimoji="1" lang="en-US" altLang="en-US" sz="2000" b="1" i="0" u="none" strike="noStrike" kern="0" cap="none" spc="0" normalizeH="0" baseline="0" noProof="0" dirty="0">
                <a:ln>
                  <a:noFill/>
                </a:ln>
                <a:solidFill>
                  <a:srgbClr val="CC3300"/>
                </a:solidFill>
                <a:effectLst/>
                <a:uLnTx/>
                <a:uFillTx/>
                <a:latin typeface="Helvetica"/>
                <a:ea typeface="+mn-ea"/>
                <a:cs typeface="+mn-cs"/>
              </a:rPr>
              <a:t>:</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Dates, containing a (4 digit) year, month and date</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tab pos="1250950" algn="l"/>
              </a:tabLst>
              <a:defRPr/>
            </a:pPr>
            <a:r>
              <a:rPr kumimoji="1" lang="en-US" altLang="en-US" sz="2000" b="0" i="0" u="none" strike="noStrike" kern="0" cap="none" spc="0" normalizeH="0" baseline="0" noProof="0" dirty="0">
                <a:ln>
                  <a:noFill/>
                </a:ln>
                <a:solidFill>
                  <a:srgbClr val="000000"/>
                </a:solidFill>
                <a:effectLst/>
                <a:uLnTx/>
                <a:uFillTx/>
                <a:latin typeface="Helvetica"/>
              </a:rPr>
              <a:t>Example:  </a:t>
            </a:r>
            <a:r>
              <a:rPr kumimoji="1" lang="en-US" altLang="en-US" sz="2000" b="1" i="0" u="none" strike="noStrike" kern="0" cap="none" spc="0" normalizeH="0" baseline="0" noProof="0" dirty="0">
                <a:ln>
                  <a:noFill/>
                </a:ln>
                <a:solidFill>
                  <a:srgbClr val="000000"/>
                </a:solidFill>
                <a:effectLst/>
                <a:uLnTx/>
                <a:uFillTx/>
                <a:latin typeface="Helvetica"/>
              </a:rPr>
              <a:t>date</a:t>
            </a:r>
            <a:r>
              <a:rPr kumimoji="1" lang="en-US" altLang="en-US" sz="2000" b="0" i="0" u="none" strike="noStrike" kern="0" cap="none" spc="0" normalizeH="0" baseline="0" noProof="0" dirty="0">
                <a:ln>
                  <a:noFill/>
                </a:ln>
                <a:solidFill>
                  <a:srgbClr val="000000"/>
                </a:solidFill>
                <a:effectLst/>
                <a:uLnTx/>
                <a:uFillTx/>
                <a:latin typeface="Helvetica"/>
              </a:rPr>
              <a:t> ‘2005-7-27’</a:t>
            </a:r>
            <a:endParaRPr kumimoji="1" lang="en-US" altLang="en-US" sz="1800" b="0" i="0" u="none" strike="noStrike" kern="0" cap="none" spc="0" normalizeH="0" baseline="0" noProof="0" dirty="0">
              <a:ln>
                <a:noFill/>
              </a:ln>
              <a:solidFill>
                <a:srgbClr val="000000"/>
              </a:solidFill>
              <a:effectLst/>
              <a:uLnTx/>
              <a:uFillTx/>
              <a:latin typeface="Helvetica"/>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tab pos="1250950" algn="l"/>
              </a:tabLst>
              <a:defRPr/>
            </a:pP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time</a:t>
            </a:r>
            <a:r>
              <a:rPr kumimoji="1" lang="en-US" altLang="en-US" sz="2000" b="1" i="0" u="none" strike="noStrike" kern="0" cap="none" spc="0" normalizeH="0" baseline="0" noProof="0" dirty="0">
                <a:ln>
                  <a:noFill/>
                </a:ln>
                <a:solidFill>
                  <a:srgbClr val="CC3300"/>
                </a:solidFill>
                <a:effectLst/>
                <a:uLnTx/>
                <a:uFillTx/>
                <a:latin typeface="Helvetica"/>
                <a:ea typeface="+mn-ea"/>
                <a:cs typeface="+mn-cs"/>
              </a:rPr>
              <a:t>:</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Time of day, in hours, minutes and seconds.</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tab pos="1250950" algn="l"/>
              </a:tabLst>
              <a:defRPr/>
            </a:pPr>
            <a:r>
              <a:rPr kumimoji="1" lang="en-US" altLang="en-US" sz="2000" b="0" i="0" u="none" strike="noStrike" kern="0" cap="none" spc="0" normalizeH="0" baseline="0" noProof="0" dirty="0">
                <a:ln>
                  <a:noFill/>
                </a:ln>
                <a:solidFill>
                  <a:srgbClr val="000000"/>
                </a:solidFill>
                <a:effectLst/>
                <a:uLnTx/>
                <a:uFillTx/>
                <a:latin typeface="Helvetica"/>
              </a:rPr>
              <a:t>Example: </a:t>
            </a:r>
            <a:r>
              <a:rPr kumimoji="1" lang="en-US" altLang="en-US" sz="2000" b="1" i="0" u="none" strike="noStrike" kern="0" cap="none" spc="0" normalizeH="0" baseline="0" noProof="0" dirty="0">
                <a:ln>
                  <a:noFill/>
                </a:ln>
                <a:solidFill>
                  <a:srgbClr val="000000"/>
                </a:solidFill>
                <a:effectLst/>
                <a:uLnTx/>
                <a:uFillTx/>
                <a:latin typeface="Helvetica"/>
              </a:rPr>
              <a:t> time</a:t>
            </a:r>
            <a:r>
              <a:rPr kumimoji="1" lang="en-US" altLang="en-US" sz="2000" b="0" i="0" u="none" strike="noStrike" kern="0" cap="none" spc="0" normalizeH="0" baseline="0" noProof="0" dirty="0">
                <a:ln>
                  <a:noFill/>
                </a:ln>
                <a:solidFill>
                  <a:srgbClr val="000000"/>
                </a:solidFill>
                <a:effectLst/>
                <a:uLnTx/>
                <a:uFillTx/>
                <a:latin typeface="Helvetica"/>
              </a:rPr>
              <a:t> ‘09:00:30’        </a:t>
            </a:r>
            <a:r>
              <a:rPr kumimoji="1" lang="en-US" altLang="en-US" sz="2000" b="1" i="0" u="none" strike="noStrike" kern="0" cap="none" spc="0" normalizeH="0" baseline="0" noProof="0" dirty="0">
                <a:ln>
                  <a:noFill/>
                </a:ln>
                <a:solidFill>
                  <a:srgbClr val="000000"/>
                </a:solidFill>
                <a:effectLst/>
                <a:uLnTx/>
                <a:uFillTx/>
                <a:latin typeface="Helvetica"/>
              </a:rPr>
              <a:t> time</a:t>
            </a:r>
            <a:r>
              <a:rPr kumimoji="1" lang="en-US" altLang="en-US" sz="2000" b="0" i="0" u="none" strike="noStrike" kern="0" cap="none" spc="0" normalizeH="0" baseline="0" noProof="0" dirty="0">
                <a:ln>
                  <a:noFill/>
                </a:ln>
                <a:solidFill>
                  <a:srgbClr val="000000"/>
                </a:solidFill>
                <a:effectLst/>
                <a:uLnTx/>
                <a:uFillTx/>
                <a:latin typeface="Helvetica"/>
              </a:rPr>
              <a:t> ‘09:00:30.75’</a:t>
            </a:r>
            <a:endParaRPr kumimoji="1" lang="en-US" altLang="en-US" sz="1800" b="0" i="0" u="none" strike="noStrike" kern="0" cap="none" spc="0" normalizeH="0" baseline="0" noProof="0" dirty="0">
              <a:ln>
                <a:noFill/>
              </a:ln>
              <a:solidFill>
                <a:srgbClr val="000000"/>
              </a:solidFill>
              <a:effectLst/>
              <a:uLnTx/>
              <a:uFillTx/>
              <a:latin typeface="Helvetica"/>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tab pos="1250950" algn="l"/>
              </a:tabLst>
              <a:defRPr/>
            </a:pP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timestamp</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date plus time of day</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tab pos="1250950" algn="l"/>
              </a:tabLst>
              <a:defRPr/>
            </a:pPr>
            <a:r>
              <a:rPr kumimoji="1" lang="en-US" altLang="en-US" sz="2000" b="0" i="0" u="none" strike="noStrike" kern="0" cap="none" spc="0" normalizeH="0" baseline="0" noProof="0" dirty="0">
                <a:ln>
                  <a:noFill/>
                </a:ln>
                <a:solidFill>
                  <a:srgbClr val="000000"/>
                </a:solidFill>
                <a:effectLst/>
                <a:uLnTx/>
                <a:uFillTx/>
                <a:latin typeface="Helvetica"/>
              </a:rPr>
              <a:t>Example:  </a:t>
            </a:r>
            <a:r>
              <a:rPr kumimoji="1" lang="en-US" altLang="en-US" sz="2000" b="1" i="0" u="none" strike="noStrike" kern="0" cap="none" spc="0" normalizeH="0" baseline="0" noProof="0" dirty="0">
                <a:ln>
                  <a:noFill/>
                </a:ln>
                <a:solidFill>
                  <a:srgbClr val="000000"/>
                </a:solidFill>
                <a:effectLst/>
                <a:uLnTx/>
                <a:uFillTx/>
                <a:latin typeface="Helvetica"/>
              </a:rPr>
              <a:t>timestamp</a:t>
            </a:r>
            <a:r>
              <a:rPr kumimoji="1" lang="en-US" altLang="en-US" sz="2000" b="0" i="0" u="none" strike="noStrike" kern="0" cap="none" spc="0" normalizeH="0" baseline="0" noProof="0" dirty="0">
                <a:ln>
                  <a:noFill/>
                </a:ln>
                <a:solidFill>
                  <a:srgbClr val="000000"/>
                </a:solidFill>
                <a:effectLst/>
                <a:uLnTx/>
                <a:uFillTx/>
                <a:latin typeface="Helvetica"/>
              </a:rPr>
              <a:t>  ‘2005-7-27 09:00:30.75’</a:t>
            </a:r>
            <a:endParaRPr kumimoji="1" lang="en-US" altLang="en-US" sz="1800" b="0" i="0" u="none" strike="noStrike" kern="0" cap="none" spc="0" normalizeH="0" baseline="0" noProof="0" dirty="0">
              <a:ln>
                <a:noFill/>
              </a:ln>
              <a:solidFill>
                <a:srgbClr val="000000"/>
              </a:solidFill>
              <a:effectLst/>
              <a:uLnTx/>
              <a:uFillTx/>
              <a:latin typeface="Helvetica"/>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tab pos="1250950" algn="l"/>
              </a:tabLst>
              <a:defRPr/>
            </a:pP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interval</a:t>
            </a:r>
            <a:r>
              <a:rPr kumimoji="1" lang="en-US" altLang="en-US" sz="2000" b="1" i="0" u="none" strike="noStrike" kern="0" cap="none" spc="0" normalizeH="0" baseline="0" noProof="0" dirty="0">
                <a:ln>
                  <a:noFill/>
                </a:ln>
                <a:solidFill>
                  <a:srgbClr val="CC3300"/>
                </a:solidFill>
                <a:effectLst/>
                <a:uLnTx/>
                <a:uFillTx/>
                <a:latin typeface="Helvetica"/>
                <a:ea typeface="+mn-ea"/>
                <a:cs typeface="+mn-cs"/>
              </a:rPr>
              <a:t>:</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period of time.</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tab pos="1250950" algn="l"/>
              </a:tabLst>
              <a:defRPr/>
            </a:pP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In Oracle this data type is used as below-</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tab pos="1250950" algn="l"/>
              </a:tabLst>
              <a:defRPr/>
            </a:pPr>
            <a:endParaRPr kumimoji="1" lang="en-US" altLang="en-US" sz="1100" b="0" i="0" u="none" strike="noStrike" kern="0" cap="none" spc="0" normalizeH="0" baseline="0" noProof="0" dirty="0">
              <a:ln>
                <a:noFill/>
              </a:ln>
              <a:solidFill>
                <a:srgbClr val="000000"/>
              </a:solidFill>
              <a:effectLst/>
              <a:uLnTx/>
              <a:uFillTx/>
              <a:latin typeface="Helvetica"/>
              <a:ea typeface="+mn-ea"/>
              <a:cs typeface="+mn-cs"/>
            </a:endParaRP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tab pos="1250950" algn="l"/>
              </a:tabLst>
              <a:defRPr/>
            </a:pP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Example: </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CREATE TABLE Emp (  empno NUMBER,  ename VARCHAR2(50),</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tab pos="1250950" algn="l"/>
              </a:tabLst>
              <a:defRPr/>
            </a:pP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job VARCHAR2(255) ,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year_of_experience INTERVAL YEAR TO MONTH </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tab pos="1250950" algn="l"/>
              </a:tabLst>
              <a:defRPr/>
            </a:pPr>
            <a:endParaRPr kumimoji="1" lang="en-US" altLang="en-US" sz="800" b="0" i="0" u="none" strike="noStrike" kern="0" cap="none" spc="0" normalizeH="0" baseline="0" noProof="0" dirty="0">
              <a:ln>
                <a:noFill/>
              </a:ln>
              <a:solidFill>
                <a:srgbClr val="000000"/>
              </a:solidFill>
              <a:effectLst/>
              <a:uLnTx/>
              <a:uFillTx/>
              <a:latin typeface="Helvetica"/>
              <a:ea typeface="+mn-ea"/>
              <a:cs typeface="+mn-cs"/>
            </a:endParaRP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tab pos="1250950" algn="l"/>
              </a:tabLst>
              <a:defRPr/>
            </a:pP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INSERT INTO EMP VALUES (1,'Rajesh','S.Manager',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INTERVAL '10-5' YEAR TO MONTH);</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tab pos="1250950" algn="l"/>
              </a:tabLst>
              <a:defRPr/>
            </a:pPr>
            <a:endParaRPr kumimoji="1" lang="en-US" altLang="en-US" sz="1000" b="1" i="0" u="none" strike="noStrike" kern="0" cap="none" spc="0" normalizeH="0" baseline="0" noProof="0" dirty="0">
              <a:ln>
                <a:noFill/>
              </a:ln>
              <a:solidFill>
                <a:srgbClr val="000000"/>
              </a:solidFill>
              <a:effectLst/>
              <a:uLnTx/>
              <a:uFillTx/>
              <a:latin typeface="Helvetica"/>
              <a:ea typeface="+mn-ea"/>
              <a:cs typeface="+mn-cs"/>
            </a:endParaRP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tab pos="1250950" algn="l"/>
              </a:tabLst>
              <a:defRPr/>
            </a:pP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SELECT * FROM Emp;</a:t>
            </a: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6</a:t>
            </a:fld>
            <a:endParaRPr lang="en-US"/>
          </a:p>
        </p:txBody>
      </p:sp>
    </p:spTree>
    <p:extLst>
      <p:ext uri="{BB962C8B-B14F-4D97-AF65-F5344CB8AC3E}">
        <p14:creationId xmlns:p14="http://schemas.microsoft.com/office/powerpoint/2010/main" val="3392437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881743"/>
          </a:xfrm>
        </p:spPr>
        <p:txBody>
          <a:bodyPr>
            <a:normAutofit/>
          </a:bodyPr>
          <a:lstStyle/>
          <a:p>
            <a:r>
              <a:rPr kumimoji="1" lang="en-US" sz="3200" b="1" kern="0" dirty="0">
                <a:solidFill>
                  <a:srgbClr val="CC3300"/>
                </a:solidFill>
                <a:effectLst>
                  <a:outerShdw blurRad="38100" dist="38100" dir="2700000" algn="tl">
                    <a:srgbClr val="C0C0C0"/>
                  </a:outerShdw>
                </a:effectLst>
                <a:latin typeface="Helvetica"/>
              </a:rPr>
              <a:t>Oracle- SQL Data Types…</a:t>
            </a:r>
          </a:p>
        </p:txBody>
      </p:sp>
      <p:sp>
        <p:nvSpPr>
          <p:cNvPr id="3" name="Content Placeholder 2"/>
          <p:cNvSpPr>
            <a:spLocks noGrp="1"/>
          </p:cNvSpPr>
          <p:nvPr>
            <p:ph idx="1"/>
          </p:nvPr>
        </p:nvSpPr>
        <p:spPr>
          <a:xfrm>
            <a:off x="838200" y="1031649"/>
            <a:ext cx="10515600" cy="4351338"/>
          </a:xfrm>
        </p:spPr>
        <p:txBody>
          <a:bodyPr>
            <a:normAutofit fontScale="92500"/>
          </a:bodyPr>
          <a:lstStyle/>
          <a:p>
            <a:pPr marL="0" indent="0" algn="just">
              <a:buNone/>
            </a:pPr>
            <a:r>
              <a:rPr lang="en-US" dirty="0">
                <a:latin typeface="Helvetica" panose="020B0604020202020204" pitchFamily="34" charset="0"/>
                <a:cs typeface="Helvetica" panose="020B0604020202020204" pitchFamily="34" charset="0"/>
              </a:rPr>
              <a:t>1. </a:t>
            </a:r>
            <a:r>
              <a:rPr lang="en-US" dirty="0">
                <a:solidFill>
                  <a:srgbClr val="C00000"/>
                </a:solidFill>
                <a:latin typeface="Helvetica" panose="020B0604020202020204" pitchFamily="34" charset="0"/>
                <a:cs typeface="Helvetica" panose="020B0604020202020204" pitchFamily="34" charset="0"/>
              </a:rPr>
              <a:t>Character</a:t>
            </a:r>
          </a:p>
          <a:p>
            <a:pPr lvl="2" algn="just">
              <a:lnSpc>
                <a:spcPct val="100000"/>
              </a:lnSpc>
            </a:pPr>
            <a:r>
              <a:rPr lang="en-US" sz="2400" b="1" dirty="0">
                <a:solidFill>
                  <a:srgbClr val="002060"/>
                </a:solidFill>
                <a:latin typeface="Helvetica" panose="020B0604020202020204" pitchFamily="34" charset="0"/>
                <a:cs typeface="Helvetica" panose="020B0604020202020204" pitchFamily="34" charset="0"/>
              </a:rPr>
              <a:t>Char</a:t>
            </a:r>
            <a:r>
              <a:rPr lang="en-US" sz="2400" dirty="0">
                <a:latin typeface="Helvetica" panose="020B0604020202020204" pitchFamily="34" charset="0"/>
                <a:cs typeface="Helvetica" panose="020B0604020202020204" pitchFamily="34" charset="0"/>
              </a:rPr>
              <a:t> – fixed length character string that can varies between 1-2000 bytes</a:t>
            </a:r>
          </a:p>
          <a:p>
            <a:pPr lvl="2" algn="just">
              <a:lnSpc>
                <a:spcPct val="100000"/>
              </a:lnSpc>
            </a:pPr>
            <a:r>
              <a:rPr lang="en-US" sz="2400" b="1" dirty="0">
                <a:solidFill>
                  <a:srgbClr val="002060"/>
                </a:solidFill>
                <a:latin typeface="Helvetica" panose="020B0604020202020204" pitchFamily="34" charset="0"/>
                <a:cs typeface="Helvetica" panose="020B0604020202020204" pitchFamily="34" charset="0"/>
              </a:rPr>
              <a:t>Varchar</a:t>
            </a:r>
            <a:r>
              <a:rPr lang="en-US" sz="2400" dirty="0">
                <a:solidFill>
                  <a:srgbClr val="002060"/>
                </a:solidFill>
                <a:latin typeface="Helvetica" panose="020B0604020202020204" pitchFamily="34" charset="0"/>
                <a:cs typeface="Helvetica" panose="020B0604020202020204" pitchFamily="34" charset="0"/>
              </a:rPr>
              <a:t> / </a:t>
            </a:r>
            <a:r>
              <a:rPr lang="en-US" sz="2400" b="1" dirty="0">
                <a:solidFill>
                  <a:srgbClr val="002060"/>
                </a:solidFill>
                <a:latin typeface="Helvetica" panose="020B0604020202020204" pitchFamily="34" charset="0"/>
                <a:cs typeface="Helvetica" panose="020B0604020202020204" pitchFamily="34" charset="0"/>
              </a:rPr>
              <a:t>Varchar2</a:t>
            </a:r>
            <a:r>
              <a:rPr lang="en-US" sz="2400" dirty="0">
                <a:solidFill>
                  <a:srgbClr val="002060"/>
                </a:solidFill>
                <a:latin typeface="Helvetica" panose="020B0604020202020204" pitchFamily="34" charset="0"/>
                <a:cs typeface="Helvetica" panose="020B0604020202020204" pitchFamily="34" charset="0"/>
              </a:rPr>
              <a:t> </a:t>
            </a:r>
            <a:r>
              <a:rPr lang="en-US" sz="2400" dirty="0">
                <a:latin typeface="Helvetica" panose="020B0604020202020204" pitchFamily="34" charset="0"/>
                <a:cs typeface="Helvetica" panose="020B0604020202020204" pitchFamily="34" charset="0"/>
              </a:rPr>
              <a:t>– variable length character string, size ranges from 1-4000 bytes.</a:t>
            </a:r>
          </a:p>
          <a:p>
            <a:pPr lvl="2" algn="just">
              <a:lnSpc>
                <a:spcPct val="100000"/>
              </a:lnSpc>
            </a:pPr>
            <a:r>
              <a:rPr lang="en-US" sz="2400" dirty="0">
                <a:latin typeface="Helvetica" panose="020B0604020202020204" pitchFamily="34" charset="0"/>
                <a:cs typeface="Helvetica" panose="020B0604020202020204" pitchFamily="34" charset="0"/>
              </a:rPr>
              <a:t> </a:t>
            </a:r>
            <a:r>
              <a:rPr lang="en-US" sz="2400" b="1" dirty="0">
                <a:solidFill>
                  <a:srgbClr val="002060"/>
                </a:solidFill>
                <a:latin typeface="Helvetica" panose="020B0604020202020204" pitchFamily="34" charset="0"/>
                <a:cs typeface="Helvetica" panose="020B0604020202020204" pitchFamily="34" charset="0"/>
              </a:rPr>
              <a:t>Long</a:t>
            </a:r>
            <a:r>
              <a:rPr lang="en-US" sz="2400" dirty="0">
                <a:latin typeface="Helvetica" panose="020B0604020202020204" pitchFamily="34" charset="0"/>
                <a:cs typeface="Helvetica" panose="020B0604020202020204" pitchFamily="34" charset="0"/>
              </a:rPr>
              <a:t> - variable length character string, maximum size is 2 GB</a:t>
            </a:r>
          </a:p>
          <a:p>
            <a:pPr marL="0" indent="0" algn="just">
              <a:buNone/>
            </a:pPr>
            <a:r>
              <a:rPr lang="en-US" dirty="0">
                <a:latin typeface="Helvetica" panose="020B0604020202020204" pitchFamily="34" charset="0"/>
                <a:cs typeface="Helvetica" panose="020B0604020202020204" pitchFamily="34" charset="0"/>
              </a:rPr>
              <a:t>2. </a:t>
            </a:r>
            <a:r>
              <a:rPr lang="en-US" dirty="0">
                <a:solidFill>
                  <a:srgbClr val="C00000"/>
                </a:solidFill>
                <a:latin typeface="Helvetica" panose="020B0604020202020204" pitchFamily="34" charset="0"/>
                <a:cs typeface="Helvetica" panose="020B0604020202020204" pitchFamily="34" charset="0"/>
              </a:rPr>
              <a:t>Number</a:t>
            </a:r>
            <a:r>
              <a:rPr lang="en-US" dirty="0">
                <a:latin typeface="Helvetica" panose="020B0604020202020204" pitchFamily="34" charset="0"/>
                <a:cs typeface="Helvetica" panose="020B0604020202020204" pitchFamily="34" charset="0"/>
              </a:rPr>
              <a:t> :  Can store +</a:t>
            </a:r>
            <a:r>
              <a:rPr lang="en-US" dirty="0" err="1">
                <a:latin typeface="Helvetica" panose="020B0604020202020204" pitchFamily="34" charset="0"/>
                <a:cs typeface="Helvetica" panose="020B0604020202020204" pitchFamily="34" charset="0"/>
              </a:rPr>
              <a:t>ve</a:t>
            </a:r>
            <a:r>
              <a:rPr lang="en-US" dirty="0">
                <a:latin typeface="Helvetica" panose="020B0604020202020204" pitchFamily="34" charset="0"/>
                <a:cs typeface="Helvetica" panose="020B0604020202020204" pitchFamily="34" charset="0"/>
              </a:rPr>
              <a:t>,-ve,zero,fixed point, floating point with 38  </a:t>
            </a:r>
          </a:p>
          <a:p>
            <a:pPr marL="0" indent="0" algn="just">
              <a:buNone/>
            </a:pPr>
            <a:r>
              <a:rPr lang="en-US" dirty="0">
                <a:latin typeface="Helvetica" panose="020B0604020202020204" pitchFamily="34" charset="0"/>
                <a:cs typeface="Helvetica" panose="020B0604020202020204" pitchFamily="34" charset="0"/>
              </a:rPr>
              <a:t>precision.</a:t>
            </a:r>
          </a:p>
          <a:p>
            <a:pPr lvl="2" algn="just">
              <a:lnSpc>
                <a:spcPct val="100000"/>
              </a:lnSpc>
            </a:pPr>
            <a:r>
              <a:rPr lang="en-US" sz="2400" dirty="0">
                <a:latin typeface="Helvetica" panose="020B0604020202020204" pitchFamily="34" charset="0"/>
                <a:cs typeface="Helvetica" panose="020B0604020202020204" pitchFamily="34" charset="0"/>
              </a:rPr>
              <a:t>Number – {p=38,s=0}</a:t>
            </a:r>
          </a:p>
          <a:p>
            <a:pPr lvl="2" algn="just">
              <a:lnSpc>
                <a:spcPct val="100000"/>
              </a:lnSpc>
            </a:pPr>
            <a:r>
              <a:rPr lang="en-US" sz="2400" dirty="0">
                <a:latin typeface="Helvetica" panose="020B0604020202020204" pitchFamily="34" charset="0"/>
                <a:cs typeface="Helvetica" panose="020B0604020202020204" pitchFamily="34" charset="0"/>
              </a:rPr>
              <a:t>Number(p) - fixed point</a:t>
            </a:r>
          </a:p>
          <a:p>
            <a:pPr lvl="2" algn="just">
              <a:lnSpc>
                <a:spcPct val="100000"/>
              </a:lnSpc>
            </a:pPr>
            <a:r>
              <a:rPr lang="en-US" sz="2400" dirty="0">
                <a:latin typeface="Helvetica" panose="020B0604020202020204" pitchFamily="34" charset="0"/>
                <a:cs typeface="Helvetica" panose="020B0604020202020204" pitchFamily="34" charset="0"/>
              </a:rPr>
              <a:t>Number(</a:t>
            </a:r>
            <a:r>
              <a:rPr lang="en-US" sz="2400" dirty="0" err="1">
                <a:latin typeface="Helvetica" panose="020B0604020202020204" pitchFamily="34" charset="0"/>
                <a:cs typeface="Helvetica" panose="020B0604020202020204" pitchFamily="34" charset="0"/>
              </a:rPr>
              <a:t>p,s</a:t>
            </a:r>
            <a:r>
              <a:rPr lang="en-US" sz="2400" dirty="0">
                <a:latin typeface="Helvetica" panose="020B0604020202020204" pitchFamily="34" charset="0"/>
                <a:cs typeface="Helvetica" panose="020B0604020202020204" pitchFamily="34" charset="0"/>
              </a:rPr>
              <a:t>) –floating point</a:t>
            </a:r>
            <a:endParaRPr lang="en-US" dirty="0">
              <a:latin typeface="Helvetica" panose="020B0604020202020204" pitchFamily="34" charset="0"/>
              <a:cs typeface="Helvetica" panose="020B0604020202020204" pitchFamily="34" charset="0"/>
            </a:endParaRP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7</a:t>
            </a:fld>
            <a:endParaRPr lang="en-US"/>
          </a:p>
        </p:txBody>
      </p:sp>
    </p:spTree>
    <p:extLst>
      <p:ext uri="{BB962C8B-B14F-4D97-AF65-F5344CB8AC3E}">
        <p14:creationId xmlns:p14="http://schemas.microsoft.com/office/powerpoint/2010/main" val="2202678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9100" y="813481"/>
            <a:ext cx="11353800" cy="5839732"/>
          </a:xfrm>
        </p:spPr>
        <p:txBody>
          <a:bodyPr>
            <a:normAutofit fontScale="62500" lnSpcReduction="20000"/>
          </a:bodyPr>
          <a:lstStyle/>
          <a:p>
            <a:pPr marL="0" indent="0">
              <a:lnSpc>
                <a:spcPct val="140000"/>
              </a:lnSpc>
              <a:buNone/>
            </a:pPr>
            <a:r>
              <a:rPr lang="en-US" sz="4200" dirty="0">
                <a:latin typeface="Helvetica" panose="020B0604020202020204" pitchFamily="34" charset="0"/>
                <a:cs typeface="Helvetica" panose="020B0604020202020204" pitchFamily="34" charset="0"/>
              </a:rPr>
              <a:t>3. </a:t>
            </a:r>
            <a:r>
              <a:rPr lang="en-US" sz="4200" dirty="0">
                <a:solidFill>
                  <a:srgbClr val="C00000"/>
                </a:solidFill>
                <a:latin typeface="Helvetica" panose="020B0604020202020204" pitchFamily="34" charset="0"/>
                <a:cs typeface="Helvetica" panose="020B0604020202020204" pitchFamily="34" charset="0"/>
              </a:rPr>
              <a:t>Date :  </a:t>
            </a:r>
            <a:r>
              <a:rPr lang="en-US" sz="3500" dirty="0">
                <a:latin typeface="Helvetica" panose="020B0604020202020204" pitchFamily="34" charset="0"/>
                <a:cs typeface="Helvetica" panose="020B0604020202020204" pitchFamily="34" charset="0"/>
              </a:rPr>
              <a:t>used to store date and time in the table. DB uses its own format of    storing in fixed length of </a:t>
            </a:r>
            <a:r>
              <a:rPr lang="en-US" sz="3500" b="1" dirty="0">
                <a:latin typeface="Helvetica" panose="020B0604020202020204" pitchFamily="34" charset="0"/>
                <a:cs typeface="Helvetica" panose="020B0604020202020204" pitchFamily="34" charset="0"/>
              </a:rPr>
              <a:t>7</a:t>
            </a:r>
            <a:r>
              <a:rPr lang="en-US" sz="3500" dirty="0">
                <a:latin typeface="Helvetica" panose="020B0604020202020204" pitchFamily="34" charset="0"/>
                <a:cs typeface="Helvetica" panose="020B0604020202020204" pitchFamily="34" charset="0"/>
              </a:rPr>
              <a:t> bytes for century, date, month, year, hour, minutes, seconds. The default data type is “</a:t>
            </a:r>
            <a:r>
              <a:rPr lang="en-US" sz="3500" b="1" dirty="0" err="1">
                <a:latin typeface="Helvetica" panose="020B0604020202020204" pitchFamily="34" charset="0"/>
                <a:cs typeface="Helvetica" panose="020B0604020202020204" pitchFamily="34" charset="0"/>
              </a:rPr>
              <a:t>dd</a:t>
            </a:r>
            <a:r>
              <a:rPr lang="en-US" sz="3500" b="1" dirty="0">
                <a:latin typeface="Helvetica" panose="020B0604020202020204" pitchFamily="34" charset="0"/>
                <a:cs typeface="Helvetica" panose="020B0604020202020204" pitchFamily="34" charset="0"/>
              </a:rPr>
              <a:t>-mon-</a:t>
            </a:r>
            <a:r>
              <a:rPr lang="en-US" sz="3500" b="1" dirty="0" err="1">
                <a:latin typeface="Helvetica" panose="020B0604020202020204" pitchFamily="34" charset="0"/>
                <a:cs typeface="Helvetica" panose="020B0604020202020204" pitchFamily="34" charset="0"/>
              </a:rPr>
              <a:t>yy</a:t>
            </a:r>
            <a:r>
              <a:rPr lang="en-US" sz="3500" dirty="0">
                <a:latin typeface="Helvetica" panose="020B0604020202020204" pitchFamily="34" charset="0"/>
                <a:cs typeface="Helvetica" panose="020B0604020202020204" pitchFamily="34" charset="0"/>
              </a:rPr>
              <a:t>”</a:t>
            </a:r>
          </a:p>
          <a:p>
            <a:pPr marL="0" indent="0">
              <a:lnSpc>
                <a:spcPct val="140000"/>
              </a:lnSpc>
              <a:buNone/>
            </a:pPr>
            <a:r>
              <a:rPr lang="en-US" sz="4200" dirty="0">
                <a:latin typeface="Helvetica" panose="020B0604020202020204" pitchFamily="34" charset="0"/>
                <a:cs typeface="Helvetica" panose="020B0604020202020204" pitchFamily="34" charset="0"/>
              </a:rPr>
              <a:t>4. </a:t>
            </a:r>
            <a:r>
              <a:rPr lang="en-US" sz="4200" dirty="0">
                <a:solidFill>
                  <a:srgbClr val="C00000"/>
                </a:solidFill>
                <a:latin typeface="Helvetica" panose="020B0604020202020204" pitchFamily="34" charset="0"/>
                <a:cs typeface="Helvetica" panose="020B0604020202020204" pitchFamily="34" charset="0"/>
              </a:rPr>
              <a:t>Interval Year To Month : </a:t>
            </a:r>
            <a:r>
              <a:rPr lang="en-US" sz="3500" dirty="0">
                <a:latin typeface="Helvetica" panose="020B0604020202020204" pitchFamily="34" charset="0"/>
                <a:cs typeface="Helvetica" panose="020B0604020202020204" pitchFamily="34" charset="0"/>
              </a:rPr>
              <a:t>Stores a period of time using the YEAR and MONTH date time fields</a:t>
            </a:r>
          </a:p>
          <a:p>
            <a:pPr marL="0" indent="0">
              <a:lnSpc>
                <a:spcPct val="140000"/>
              </a:lnSpc>
              <a:buNone/>
            </a:pPr>
            <a:r>
              <a:rPr lang="en-US" sz="3800" dirty="0">
                <a:latin typeface="Helvetica" panose="020B0604020202020204" pitchFamily="34" charset="0"/>
                <a:cs typeface="Helvetica" panose="020B0604020202020204" pitchFamily="34" charset="0"/>
              </a:rPr>
              <a:t>5. </a:t>
            </a:r>
            <a:r>
              <a:rPr lang="en-US" sz="4200" dirty="0">
                <a:solidFill>
                  <a:srgbClr val="C00000"/>
                </a:solidFill>
                <a:latin typeface="Helvetica" panose="020B0604020202020204" pitchFamily="34" charset="0"/>
                <a:cs typeface="Helvetica" panose="020B0604020202020204" pitchFamily="34" charset="0"/>
              </a:rPr>
              <a:t>Raw Datatype: </a:t>
            </a:r>
            <a:r>
              <a:rPr lang="en-US" sz="3500" dirty="0">
                <a:latin typeface="Helvetica" panose="020B0604020202020204" pitchFamily="34" charset="0"/>
                <a:cs typeface="Helvetica" panose="020B0604020202020204" pitchFamily="34" charset="0"/>
              </a:rPr>
              <a:t>used to </a:t>
            </a:r>
            <a:r>
              <a:rPr lang="en-US" sz="3500" dirty="0">
                <a:solidFill>
                  <a:srgbClr val="FF0000"/>
                </a:solidFill>
                <a:latin typeface="Helvetica" panose="020B0604020202020204" pitchFamily="34" charset="0"/>
                <a:cs typeface="Helvetica" panose="020B0604020202020204" pitchFamily="34" charset="0"/>
              </a:rPr>
              <a:t>store byte oriented data </a:t>
            </a:r>
            <a:r>
              <a:rPr lang="en-US" sz="3500" dirty="0">
                <a:latin typeface="Helvetica" panose="020B0604020202020204" pitchFamily="34" charset="0"/>
                <a:cs typeface="Helvetica" panose="020B0604020202020204" pitchFamily="34" charset="0"/>
              </a:rPr>
              <a:t>like binary data and byte string. Mainly used when moving data between different systems. Oracle Recommends to store as </a:t>
            </a:r>
            <a:r>
              <a:rPr lang="en-US" sz="3500" b="1" dirty="0">
                <a:latin typeface="Helvetica" panose="020B0604020202020204" pitchFamily="34" charset="0"/>
                <a:cs typeface="Helvetica" panose="020B0604020202020204" pitchFamily="34" charset="0"/>
              </a:rPr>
              <a:t>BLOB</a:t>
            </a:r>
          </a:p>
          <a:p>
            <a:pPr marL="0" indent="0">
              <a:lnSpc>
                <a:spcPct val="120000"/>
              </a:lnSpc>
              <a:buNone/>
            </a:pPr>
            <a:r>
              <a:rPr lang="en-US" sz="3800" dirty="0">
                <a:latin typeface="Helvetica" panose="020B0604020202020204" pitchFamily="34" charset="0"/>
                <a:cs typeface="Helvetica" panose="020B0604020202020204" pitchFamily="34" charset="0"/>
              </a:rPr>
              <a:t>6. </a:t>
            </a:r>
            <a:r>
              <a:rPr lang="en-US" sz="4200" dirty="0">
                <a:solidFill>
                  <a:srgbClr val="C00000"/>
                </a:solidFill>
                <a:latin typeface="Helvetica" panose="020B0604020202020204" pitchFamily="34" charset="0"/>
                <a:cs typeface="Helvetica" panose="020B0604020202020204" pitchFamily="34" charset="0"/>
              </a:rPr>
              <a:t>Other :</a:t>
            </a:r>
          </a:p>
          <a:p>
            <a:pPr lvl="2">
              <a:lnSpc>
                <a:spcPct val="120000"/>
              </a:lnSpc>
            </a:pPr>
            <a:r>
              <a:rPr lang="en-US" sz="3500" dirty="0">
                <a:latin typeface="Helvetica" panose="020B0604020202020204" pitchFamily="34" charset="0"/>
                <a:cs typeface="Helvetica" panose="020B0604020202020204" pitchFamily="34" charset="0"/>
              </a:rPr>
              <a:t>CLOB – A character large object containing single-byte or multi byte characters.</a:t>
            </a:r>
          </a:p>
          <a:p>
            <a:pPr lvl="2">
              <a:lnSpc>
                <a:spcPct val="120000"/>
              </a:lnSpc>
            </a:pPr>
            <a:r>
              <a:rPr lang="en-US" sz="3500" dirty="0">
                <a:latin typeface="Helvetica" panose="020B0604020202020204" pitchFamily="34" charset="0"/>
                <a:cs typeface="Helvetica" panose="020B0604020202020204" pitchFamily="34" charset="0"/>
              </a:rPr>
              <a:t>BLOB – stores large binary objects such as graphics, video, sounds..</a:t>
            </a:r>
          </a:p>
          <a:p>
            <a:pPr lvl="2">
              <a:lnSpc>
                <a:spcPct val="120000"/>
              </a:lnSpc>
            </a:pPr>
            <a:r>
              <a:rPr lang="en-US" sz="3500" dirty="0">
                <a:latin typeface="Helvetica" panose="020B0604020202020204" pitchFamily="34" charset="0"/>
                <a:cs typeface="Helvetica" panose="020B0604020202020204" pitchFamily="34" charset="0"/>
              </a:rPr>
              <a:t>BFILE – Contains a locator to a large binary file stored outside the database.</a:t>
            </a: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8</a:t>
            </a:fld>
            <a:endParaRPr lang="en-US"/>
          </a:p>
        </p:txBody>
      </p:sp>
      <p:sp>
        <p:nvSpPr>
          <p:cNvPr id="6" name="Title 1"/>
          <p:cNvSpPr>
            <a:spLocks noGrp="1"/>
          </p:cNvSpPr>
          <p:nvPr>
            <p:ph type="title"/>
          </p:nvPr>
        </p:nvSpPr>
        <p:spPr>
          <a:xfrm>
            <a:off x="838200" y="0"/>
            <a:ext cx="10515600" cy="881743"/>
          </a:xfrm>
        </p:spPr>
        <p:txBody>
          <a:bodyPr>
            <a:normAutofit/>
          </a:bodyPr>
          <a:lstStyle/>
          <a:p>
            <a:r>
              <a:rPr kumimoji="1" lang="en-US" sz="3200" b="1" kern="0" dirty="0">
                <a:solidFill>
                  <a:srgbClr val="CC3300"/>
                </a:solidFill>
                <a:effectLst>
                  <a:outerShdw blurRad="38100" dist="38100" dir="2700000" algn="tl">
                    <a:srgbClr val="C0C0C0"/>
                  </a:outerShdw>
                </a:effectLst>
                <a:latin typeface="Helvetica"/>
              </a:rPr>
              <a:t>SQL Data Types</a:t>
            </a:r>
          </a:p>
        </p:txBody>
      </p:sp>
    </p:spTree>
    <p:extLst>
      <p:ext uri="{BB962C8B-B14F-4D97-AF65-F5344CB8AC3E}">
        <p14:creationId xmlns:p14="http://schemas.microsoft.com/office/powerpoint/2010/main" val="2729283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586" y="1"/>
            <a:ext cx="10515600" cy="914400"/>
          </a:xfrm>
        </p:spPr>
        <p:txBody>
          <a:bodyPr>
            <a:normAutofit/>
          </a:bodyPr>
          <a:lstStyle/>
          <a:p>
            <a:r>
              <a:rPr kumimoji="1" lang="en-US" sz="3200" b="1" kern="0" dirty="0">
                <a:solidFill>
                  <a:srgbClr val="CC3300"/>
                </a:solidFill>
                <a:effectLst>
                  <a:outerShdw blurRad="38100" dist="38100" dir="2700000" algn="tl">
                    <a:srgbClr val="C0C0C0"/>
                  </a:outerShdw>
                </a:effectLst>
                <a:latin typeface="Helvetica"/>
              </a:rPr>
              <a:t>Different Types of Commands</a:t>
            </a:r>
          </a:p>
        </p:txBody>
      </p:sp>
      <p:sp>
        <p:nvSpPr>
          <p:cNvPr id="3" name="Content Placeholder 2"/>
          <p:cNvSpPr>
            <a:spLocks noGrp="1"/>
          </p:cNvSpPr>
          <p:nvPr>
            <p:ph idx="1"/>
          </p:nvPr>
        </p:nvSpPr>
        <p:spPr>
          <a:xfrm>
            <a:off x="838200" y="1182120"/>
            <a:ext cx="10706100" cy="4712494"/>
          </a:xfrm>
        </p:spPr>
        <p:txBody>
          <a:bodyPr>
            <a:normAutofit fontScale="92500" lnSpcReduction="20000"/>
          </a:bodyPr>
          <a:lstStyle/>
          <a:p>
            <a:pPr lvl="0" algn="just">
              <a:lnSpc>
                <a:spcPct val="122000"/>
              </a:lnSpc>
              <a:buClr>
                <a:srgbClr val="C00000"/>
              </a:buClr>
              <a:buFont typeface="Wingdings" panose="05000000000000000000" pitchFamily="2" charset="2"/>
              <a:buChar char="ü"/>
            </a:pPr>
            <a:r>
              <a:rPr lang="en-US" b="1" dirty="0">
                <a:latin typeface="Helvetica" panose="020B0604020202020204" pitchFamily="34" charset="0"/>
                <a:cs typeface="Helvetica" panose="020B0604020202020204" pitchFamily="34" charset="0"/>
              </a:rPr>
              <a:t>DDL commands: -</a:t>
            </a:r>
            <a:r>
              <a:rPr lang="en-US" dirty="0">
                <a:latin typeface="Helvetica" panose="020B0604020202020204" pitchFamily="34" charset="0"/>
                <a:cs typeface="Helvetica" panose="020B0604020202020204" pitchFamily="34" charset="0"/>
              </a:rPr>
              <a:t> </a:t>
            </a:r>
          </a:p>
          <a:p>
            <a:pPr marL="457200" lvl="1" indent="0" algn="just">
              <a:lnSpc>
                <a:spcPct val="122000"/>
              </a:lnSpc>
              <a:buClr>
                <a:srgbClr val="C00000"/>
              </a:buClr>
              <a:buNone/>
            </a:pPr>
            <a:r>
              <a:rPr lang="en-US" dirty="0">
                <a:latin typeface="Helvetica" panose="020B0604020202020204" pitchFamily="34" charset="0"/>
                <a:cs typeface="Helvetica" panose="020B0604020202020204" pitchFamily="34" charset="0"/>
              </a:rPr>
              <a:t>To create and modify database objects - CREATE, ALTER, DROP                        </a:t>
            </a:r>
          </a:p>
          <a:p>
            <a:pPr lvl="0">
              <a:lnSpc>
                <a:spcPct val="122000"/>
              </a:lnSpc>
              <a:buClr>
                <a:srgbClr val="C00000"/>
              </a:buClr>
              <a:buFont typeface="Wingdings" panose="05000000000000000000" pitchFamily="2" charset="2"/>
              <a:buChar char="ü"/>
            </a:pPr>
            <a:r>
              <a:rPr lang="en-US" b="1" dirty="0">
                <a:latin typeface="Helvetica" panose="020B0604020202020204" pitchFamily="34" charset="0"/>
                <a:cs typeface="Helvetica" panose="020B0604020202020204" pitchFamily="34" charset="0"/>
              </a:rPr>
              <a:t>DML commands: -</a:t>
            </a:r>
            <a:r>
              <a:rPr lang="en-US" dirty="0">
                <a:latin typeface="Helvetica" panose="020B0604020202020204" pitchFamily="34" charset="0"/>
                <a:cs typeface="Helvetica" panose="020B0604020202020204" pitchFamily="34" charset="0"/>
              </a:rPr>
              <a:t> </a:t>
            </a:r>
          </a:p>
          <a:p>
            <a:pPr marL="457200" lvl="1" indent="0">
              <a:lnSpc>
                <a:spcPct val="122000"/>
              </a:lnSpc>
              <a:buClr>
                <a:srgbClr val="C00000"/>
              </a:buClr>
              <a:buNone/>
            </a:pPr>
            <a:r>
              <a:rPr lang="en-US" dirty="0">
                <a:latin typeface="Helvetica" panose="020B0604020202020204" pitchFamily="34" charset="0"/>
                <a:cs typeface="Helvetica" panose="020B0604020202020204" pitchFamily="34" charset="0"/>
              </a:rPr>
              <a:t>To manipulate data of a database objects- INSERT, DELETE, UPDATE</a:t>
            </a:r>
          </a:p>
          <a:p>
            <a:pPr lvl="0">
              <a:lnSpc>
                <a:spcPct val="122000"/>
              </a:lnSpc>
              <a:buClr>
                <a:srgbClr val="C00000"/>
              </a:buClr>
              <a:buFont typeface="Wingdings" panose="05000000000000000000" pitchFamily="2" charset="2"/>
              <a:buChar char="ü"/>
            </a:pPr>
            <a:r>
              <a:rPr lang="en-US" b="1" dirty="0">
                <a:latin typeface="Helvetica" panose="020B0604020202020204" pitchFamily="34" charset="0"/>
                <a:cs typeface="Helvetica" panose="020B0604020202020204" pitchFamily="34" charset="0"/>
              </a:rPr>
              <a:t>DQL command: -</a:t>
            </a:r>
            <a:r>
              <a:rPr lang="en-US" dirty="0">
                <a:latin typeface="Helvetica" panose="020B0604020202020204" pitchFamily="34" charset="0"/>
                <a:cs typeface="Helvetica" panose="020B0604020202020204" pitchFamily="34" charset="0"/>
              </a:rPr>
              <a:t> </a:t>
            </a:r>
          </a:p>
          <a:p>
            <a:pPr marL="457200" lvl="1" indent="0">
              <a:lnSpc>
                <a:spcPct val="122000"/>
              </a:lnSpc>
              <a:buClr>
                <a:srgbClr val="C00000"/>
              </a:buClr>
              <a:buNone/>
            </a:pPr>
            <a:r>
              <a:rPr lang="en-US" dirty="0">
                <a:latin typeface="Helvetica" panose="020B0604020202020204" pitchFamily="34" charset="0"/>
                <a:cs typeface="Helvetica" panose="020B0604020202020204" pitchFamily="34" charset="0"/>
              </a:rPr>
              <a:t>To retrieve the data from a database - SELECT                   </a:t>
            </a:r>
          </a:p>
          <a:p>
            <a:pPr lvl="0">
              <a:lnSpc>
                <a:spcPct val="122000"/>
              </a:lnSpc>
              <a:buClr>
                <a:srgbClr val="C00000"/>
              </a:buClr>
              <a:buFont typeface="Wingdings" panose="05000000000000000000" pitchFamily="2" charset="2"/>
              <a:buChar char="ü"/>
            </a:pPr>
            <a:r>
              <a:rPr lang="en-US" b="1" dirty="0">
                <a:latin typeface="Helvetica" panose="020B0604020202020204" pitchFamily="34" charset="0"/>
                <a:cs typeface="Helvetica" panose="020B0604020202020204" pitchFamily="34" charset="0"/>
              </a:rPr>
              <a:t>DCL commands: -</a:t>
            </a:r>
            <a:r>
              <a:rPr lang="en-US" dirty="0">
                <a:latin typeface="Helvetica" panose="020B0604020202020204" pitchFamily="34" charset="0"/>
                <a:cs typeface="Helvetica" panose="020B0604020202020204" pitchFamily="34" charset="0"/>
              </a:rPr>
              <a:t> </a:t>
            </a:r>
          </a:p>
          <a:p>
            <a:pPr marL="457200" lvl="1" indent="0">
              <a:lnSpc>
                <a:spcPct val="122000"/>
              </a:lnSpc>
              <a:buClr>
                <a:srgbClr val="C00000"/>
              </a:buClr>
              <a:buNone/>
            </a:pPr>
            <a:r>
              <a:rPr lang="en-US" dirty="0">
                <a:latin typeface="Helvetica" panose="020B0604020202020204" pitchFamily="34" charset="0"/>
                <a:cs typeface="Helvetica" panose="020B0604020202020204" pitchFamily="34" charset="0"/>
              </a:rPr>
              <a:t>To control the data of a database – GRANT, REVOKE</a:t>
            </a:r>
          </a:p>
          <a:p>
            <a:pPr lvl="0">
              <a:lnSpc>
                <a:spcPct val="122000"/>
              </a:lnSpc>
              <a:buClr>
                <a:srgbClr val="C00000"/>
              </a:buClr>
              <a:buFont typeface="Wingdings" panose="05000000000000000000" pitchFamily="2" charset="2"/>
              <a:buChar char="ü"/>
            </a:pPr>
            <a:r>
              <a:rPr lang="en-US" b="1" dirty="0">
                <a:latin typeface="Helvetica" panose="020B0604020202020204" pitchFamily="34" charset="0"/>
                <a:cs typeface="Helvetica" panose="020B0604020202020204" pitchFamily="34" charset="0"/>
              </a:rPr>
              <a:t>TCL commands:</a:t>
            </a:r>
            <a:r>
              <a:rPr lang="en-US" dirty="0">
                <a:latin typeface="Helvetica" panose="020B0604020202020204" pitchFamily="34" charset="0"/>
                <a:cs typeface="Helvetica" panose="020B0604020202020204" pitchFamily="34" charset="0"/>
              </a:rPr>
              <a:t>- </a:t>
            </a:r>
          </a:p>
          <a:p>
            <a:pPr marL="457200" lvl="1" indent="0">
              <a:lnSpc>
                <a:spcPct val="122000"/>
              </a:lnSpc>
              <a:buClr>
                <a:srgbClr val="C00000"/>
              </a:buClr>
              <a:buNone/>
            </a:pPr>
            <a:r>
              <a:rPr lang="en-US" dirty="0">
                <a:latin typeface="Helvetica" panose="020B0604020202020204" pitchFamily="34" charset="0"/>
                <a:cs typeface="Helvetica" panose="020B0604020202020204" pitchFamily="34" charset="0"/>
              </a:rPr>
              <a:t>To control and manage transactions – COMMIT, SAVEPOINT,</a:t>
            </a:r>
          </a:p>
          <a:p>
            <a:pPr>
              <a:lnSpc>
                <a:spcPct val="122000"/>
              </a:lnSpc>
            </a:pPr>
            <a:endParaRPr lang="en-US" dirty="0">
              <a:latin typeface="Helvetica" panose="020B0604020202020204" pitchFamily="34" charset="0"/>
              <a:cs typeface="Helvetica" panose="020B0604020202020204" pitchFamily="34" charset="0"/>
            </a:endParaRP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9</a:t>
            </a:fld>
            <a:endParaRPr lang="en-US"/>
          </a:p>
        </p:txBody>
      </p:sp>
    </p:spTree>
    <p:extLst>
      <p:ext uri="{BB962C8B-B14F-4D97-AF65-F5344CB8AC3E}">
        <p14:creationId xmlns:p14="http://schemas.microsoft.com/office/powerpoint/2010/main" val="433425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024467" y="39098"/>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Create Table Construct</a:t>
            </a:r>
          </a:p>
        </p:txBody>
      </p:sp>
      <p:sp>
        <p:nvSpPr>
          <p:cNvPr id="5" name="Rectangle 3"/>
          <p:cNvSpPr txBox="1">
            <a:spLocks noChangeArrowheads="1"/>
          </p:cNvSpPr>
          <p:nvPr/>
        </p:nvSpPr>
        <p:spPr bwMode="auto">
          <a:xfrm>
            <a:off x="1625600" y="648697"/>
            <a:ext cx="9840686" cy="579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90000"/>
              </a:lnSpc>
              <a:spcBef>
                <a:spcPct val="35000"/>
              </a:spcBef>
              <a:spcAft>
                <a:spcPct val="0"/>
              </a:spcAft>
              <a:buClr>
                <a:srgbClr val="CC3300"/>
              </a:buClr>
              <a:buSzPct val="90000"/>
              <a:buFont typeface="Monotype Sorts" charset="2"/>
              <a:buChar char="n"/>
              <a:tabLst>
                <a:tab pos="1489075" algn="l"/>
                <a:tab pos="1949450" algn="l"/>
                <a:tab pos="3036888" algn="l"/>
              </a:tabLst>
              <a:defRPr/>
            </a:pPr>
            <a:r>
              <a:rPr kumimoji="0" lang="en-US" altLang="en-US" sz="2000" b="0" i="0" u="none" strike="noStrike" kern="0" cap="none" spc="0" normalizeH="0" baseline="0" noProof="0" dirty="0">
                <a:ln>
                  <a:noFill/>
                </a:ln>
                <a:solidFill>
                  <a:srgbClr val="000000"/>
                </a:solidFill>
                <a:effectLst/>
                <a:uLnTx/>
                <a:uFillTx/>
                <a:latin typeface="Helvetica"/>
                <a:ea typeface="+mn-ea"/>
                <a:cs typeface="+mn-cs"/>
              </a:rPr>
              <a:t>An SQL relation is defined using the</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1" i="0" u="none" strike="noStrike" kern="0" cap="none" spc="0" normalizeH="0" baseline="0" noProof="0" dirty="0">
                <a:ln>
                  <a:noFill/>
                </a:ln>
                <a:solidFill>
                  <a:srgbClr val="000099"/>
                </a:solidFill>
                <a:effectLst/>
                <a:uLnTx/>
                <a:uFillTx/>
                <a:latin typeface="Helvetica"/>
                <a:ea typeface="+mn-ea"/>
                <a:cs typeface="+mn-cs"/>
              </a:rPr>
              <a:t>create table</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 </a:t>
            </a:r>
            <a:r>
              <a:rPr kumimoji="0" lang="en-US" altLang="en-US" sz="2000" b="0" i="0" u="none" strike="noStrike" kern="0" cap="none" spc="0" normalizeH="0" baseline="0" noProof="0" dirty="0">
                <a:ln>
                  <a:noFill/>
                </a:ln>
                <a:solidFill>
                  <a:srgbClr val="000000"/>
                </a:solidFill>
                <a:effectLst/>
                <a:uLnTx/>
                <a:uFillTx/>
                <a:latin typeface="Helvetica"/>
                <a:ea typeface="+mn-ea"/>
                <a:cs typeface="+mn-cs"/>
              </a:rPr>
              <a:t>command</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90000"/>
              </a:lnSpc>
              <a:spcBef>
                <a:spcPct val="35000"/>
              </a:spcBef>
              <a:spcAft>
                <a:spcPct val="0"/>
              </a:spcAft>
              <a:buClr>
                <a:srgbClr val="CC3300"/>
              </a:buClr>
              <a:buSzPct val="90000"/>
              <a:buFont typeface="Monotype Sorts" charset="2"/>
              <a:buNone/>
              <a:tabLst>
                <a:tab pos="1489075" algn="l"/>
                <a:tab pos="1949450" algn="l"/>
                <a:tab pos="3036888" algn="l"/>
              </a:tabLst>
              <a:defRPr/>
            </a:pP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create table </a:t>
            </a:r>
            <a:r>
              <a:rPr kumimoji="1" lang="en-US" altLang="en-US" sz="2000" b="1" i="1" u="none" strike="noStrike" kern="0" cap="none" spc="0" normalizeH="0" baseline="0" noProof="0" dirty="0">
                <a:ln>
                  <a:noFill/>
                </a:ln>
                <a:solidFill>
                  <a:srgbClr val="C00000"/>
                </a:solidFill>
                <a:effectLst/>
                <a:uLnTx/>
                <a:uFillTx/>
                <a:latin typeface="Helvetica"/>
                <a:ea typeface="+mn-ea"/>
                <a:cs typeface="+mn-cs"/>
              </a:rPr>
              <a:t>r </a:t>
            </a:r>
            <a:r>
              <a:rPr kumimoji="1" lang="en-US" altLang="en-US" sz="2400" b="0" i="0" u="none" strike="noStrike" kern="0" cap="none" spc="0" normalizeH="0" baseline="0" noProof="0" dirty="0">
                <a:ln>
                  <a:noFill/>
                </a:ln>
                <a:solidFill>
                  <a:srgbClr val="000000"/>
                </a:solidFill>
                <a:effectLst/>
                <a:uLnTx/>
                <a:uFillTx/>
                <a:latin typeface="Helvetica"/>
                <a:ea typeface="+mn-ea"/>
                <a:cs typeface="+mn-cs"/>
              </a:rPr>
              <a:t>(</a:t>
            </a:r>
            <a:r>
              <a:rPr kumimoji="1" lang="en-US" altLang="en-US" sz="2000" b="0" i="1" u="none" strike="noStrike" kern="0" cap="none" spc="0" normalizeH="0" baseline="0" noProof="0" dirty="0">
                <a:ln>
                  <a:noFill/>
                </a:ln>
                <a:solidFill>
                  <a:srgbClr val="CCECFF">
                    <a:lumMod val="25000"/>
                  </a:srgbClr>
                </a:solidFill>
                <a:effectLst/>
                <a:uLnTx/>
                <a:uFillTx/>
                <a:latin typeface="Helvetica"/>
                <a:ea typeface="+mn-ea"/>
                <a:cs typeface="+mn-cs"/>
              </a:rPr>
              <a:t>A</a:t>
            </a:r>
            <a:r>
              <a:rPr kumimoji="1" lang="en-US" altLang="en-US" sz="2000" b="0" i="0" u="none" strike="noStrike" kern="0" cap="none" spc="0" normalizeH="0" baseline="-25000" noProof="0" dirty="0">
                <a:ln>
                  <a:noFill/>
                </a:ln>
                <a:solidFill>
                  <a:srgbClr val="CCECFF">
                    <a:lumMod val="25000"/>
                  </a:srgbClr>
                </a:solidFill>
                <a:effectLst/>
                <a:uLnTx/>
                <a:uFillTx/>
                <a:latin typeface="Helvetica"/>
                <a:ea typeface="+mn-ea"/>
                <a:cs typeface="+mn-cs"/>
              </a:rPr>
              <a:t>1</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0" i="1" u="none" strike="noStrike" kern="0" cap="none" spc="0" normalizeH="0" baseline="0" noProof="0" dirty="0">
                <a:ln>
                  <a:noFill/>
                </a:ln>
                <a:solidFill>
                  <a:srgbClr val="CC3300">
                    <a:lumMod val="60000"/>
                    <a:lumOff val="40000"/>
                  </a:srgbClr>
                </a:solidFill>
                <a:effectLst/>
                <a:uLnTx/>
                <a:uFillTx/>
                <a:latin typeface="Helvetica"/>
                <a:ea typeface="+mn-ea"/>
                <a:cs typeface="+mn-cs"/>
              </a:rPr>
              <a:t>D</a:t>
            </a:r>
            <a:r>
              <a:rPr kumimoji="1" lang="en-US" altLang="en-US" sz="2000" b="0" i="0" u="none" strike="noStrike" kern="0" cap="none" spc="0" normalizeH="0" baseline="-25000" noProof="0" dirty="0">
                <a:ln>
                  <a:noFill/>
                </a:ln>
                <a:solidFill>
                  <a:srgbClr val="CC3300">
                    <a:lumMod val="60000"/>
                    <a:lumOff val="40000"/>
                  </a:srgbClr>
                </a:solidFill>
                <a:effectLst/>
                <a:uLnTx/>
                <a:uFillTx/>
                <a:latin typeface="Helvetica"/>
                <a:ea typeface="+mn-ea"/>
                <a:cs typeface="+mn-cs"/>
              </a:rPr>
              <a:t>1</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0" i="1" u="none" strike="noStrike" kern="0" cap="none" spc="0" normalizeH="0" baseline="0" noProof="0" dirty="0">
                <a:ln>
                  <a:noFill/>
                </a:ln>
                <a:solidFill>
                  <a:srgbClr val="CCECFF">
                    <a:lumMod val="25000"/>
                  </a:srgbClr>
                </a:solidFill>
                <a:effectLst/>
                <a:uLnTx/>
                <a:uFillTx/>
                <a:latin typeface="Helvetica"/>
                <a:ea typeface="+mn-ea"/>
                <a:cs typeface="+mn-cs"/>
              </a:rPr>
              <a:t>A</a:t>
            </a:r>
            <a:r>
              <a:rPr kumimoji="1" lang="en-US" altLang="en-US" sz="2000" b="0" i="1" u="none" strike="noStrike" kern="0" cap="none" spc="0" normalizeH="0" baseline="-25000" noProof="0" dirty="0">
                <a:ln>
                  <a:noFill/>
                </a:ln>
                <a:solidFill>
                  <a:srgbClr val="CCECFF">
                    <a:lumMod val="25000"/>
                  </a:srgbClr>
                </a:solidFill>
                <a:effectLst/>
                <a:uLnTx/>
                <a:uFillTx/>
                <a:latin typeface="Helvetica"/>
                <a:ea typeface="+mn-ea"/>
                <a:cs typeface="+mn-cs"/>
              </a:rPr>
              <a:t>2</a:t>
            </a:r>
            <a:r>
              <a:rPr kumimoji="1" lang="en-US" altLang="en-US" sz="2000" b="0" i="1" u="none" strike="noStrike" kern="0" cap="none" spc="0" normalizeH="0" baseline="0" noProof="0" dirty="0">
                <a:ln>
                  <a:noFill/>
                </a:ln>
                <a:solidFill>
                  <a:srgbClr val="CCECFF">
                    <a:lumMod val="25000"/>
                  </a:srgbClr>
                </a:solidFill>
                <a:effectLst/>
                <a:uLnTx/>
                <a:uFillTx/>
                <a:latin typeface="Helvetica"/>
                <a:ea typeface="+mn-ea"/>
                <a:cs typeface="+mn-cs"/>
              </a:rPr>
              <a:t> </a:t>
            </a:r>
            <a:r>
              <a:rPr kumimoji="1" lang="en-US" altLang="en-US" sz="2000" b="0" i="1" u="none" strike="noStrike" kern="0" cap="none" spc="0" normalizeH="0" baseline="0" noProof="0" dirty="0">
                <a:ln>
                  <a:noFill/>
                </a:ln>
                <a:solidFill>
                  <a:srgbClr val="CC3300">
                    <a:lumMod val="60000"/>
                    <a:lumOff val="40000"/>
                  </a:srgbClr>
                </a:solidFill>
                <a:effectLst/>
                <a:uLnTx/>
                <a:uFillTx/>
                <a:latin typeface="Helvetica"/>
                <a:ea typeface="+mn-ea"/>
                <a:cs typeface="+mn-cs"/>
              </a:rPr>
              <a:t>D</a:t>
            </a:r>
            <a:r>
              <a:rPr kumimoji="1" lang="en-US" altLang="en-US" sz="2000" b="0" i="1" u="none" strike="noStrike" kern="0" cap="none" spc="0" normalizeH="0" baseline="-25000" noProof="0" dirty="0">
                <a:ln>
                  <a:noFill/>
                </a:ln>
                <a:solidFill>
                  <a:srgbClr val="CC3300">
                    <a:lumMod val="60000"/>
                    <a:lumOff val="40000"/>
                  </a:srgbClr>
                </a:solidFill>
                <a:effectLst/>
                <a:uLnTx/>
                <a:uFillTx/>
                <a:latin typeface="Helvetica"/>
                <a:ea typeface="+mn-ea"/>
                <a:cs typeface="+mn-cs"/>
              </a:rPr>
              <a:t>2</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 </a:t>
            </a:r>
            <a:r>
              <a:rPr kumimoji="1" lang="en-US" altLang="en-US" sz="2000" b="0" i="1" u="none" strike="noStrike" kern="0" cap="none" spc="0" normalizeH="0" baseline="0" noProof="0" dirty="0">
                <a:ln>
                  <a:noFill/>
                </a:ln>
                <a:solidFill>
                  <a:srgbClr val="CCECFF">
                    <a:lumMod val="25000"/>
                  </a:srgbClr>
                </a:solidFill>
                <a:effectLst/>
                <a:uLnTx/>
                <a:uFillTx/>
                <a:latin typeface="Helvetica"/>
                <a:ea typeface="+mn-ea"/>
                <a:cs typeface="+mn-cs"/>
              </a:rPr>
              <a:t>A</a:t>
            </a:r>
            <a:r>
              <a:rPr kumimoji="1" lang="en-US" altLang="en-US" sz="2000" b="0" i="1" u="none" strike="noStrike" kern="0" cap="none" spc="0" normalizeH="0" baseline="-25000" noProof="0" dirty="0">
                <a:ln>
                  <a:noFill/>
                </a:ln>
                <a:solidFill>
                  <a:srgbClr val="CCECFF">
                    <a:lumMod val="25000"/>
                  </a:srgbClr>
                </a:solidFill>
                <a:effectLst/>
                <a:uLnTx/>
                <a:uFillTx/>
                <a:latin typeface="Helvetica"/>
                <a:ea typeface="+mn-ea"/>
                <a:cs typeface="+mn-cs"/>
              </a:rPr>
              <a:t>n</a:t>
            </a:r>
            <a:r>
              <a:rPr kumimoji="1" lang="en-US" altLang="en-US" sz="2000" b="0" i="1" u="none" strike="noStrike" kern="0" cap="none" spc="0" normalizeH="0" baseline="0" noProof="0" dirty="0">
                <a:ln>
                  <a:noFill/>
                </a:ln>
                <a:solidFill>
                  <a:srgbClr val="CCECFF">
                    <a:lumMod val="25000"/>
                  </a:srgbClr>
                </a:solidFill>
                <a:effectLst/>
                <a:uLnTx/>
                <a:uFillTx/>
                <a:latin typeface="Helvetica"/>
                <a:ea typeface="+mn-ea"/>
                <a:cs typeface="+mn-cs"/>
              </a:rPr>
              <a:t> </a:t>
            </a:r>
            <a:r>
              <a:rPr kumimoji="1" lang="en-US" altLang="en-US" sz="2000" b="0" i="1" u="none" strike="noStrike" kern="0" cap="none" spc="0" normalizeH="0" baseline="0" noProof="0" dirty="0" err="1">
                <a:ln>
                  <a:noFill/>
                </a:ln>
                <a:solidFill>
                  <a:srgbClr val="CC3300">
                    <a:lumMod val="60000"/>
                    <a:lumOff val="40000"/>
                  </a:srgbClr>
                </a:solidFill>
                <a:effectLst/>
                <a:uLnTx/>
                <a:uFillTx/>
                <a:latin typeface="Helvetica"/>
                <a:ea typeface="+mn-ea"/>
                <a:cs typeface="+mn-cs"/>
              </a:rPr>
              <a:t>D</a:t>
            </a:r>
            <a:r>
              <a:rPr kumimoji="1" lang="en-US" altLang="en-US" sz="2000" b="0" i="1" u="none" strike="noStrike" kern="0" cap="none" spc="0" normalizeH="0" baseline="-25000" noProof="0" dirty="0" err="1">
                <a:ln>
                  <a:noFill/>
                </a:ln>
                <a:solidFill>
                  <a:srgbClr val="CC3300">
                    <a:lumMod val="60000"/>
                    <a:lumOff val="40000"/>
                  </a:srgbClr>
                </a:solidFill>
                <a:effectLst/>
                <a:uLnTx/>
                <a:uFillTx/>
                <a:latin typeface="Helvetica"/>
                <a:ea typeface="+mn-ea"/>
                <a:cs typeface="+mn-cs"/>
              </a:rPr>
              <a:t>n</a:t>
            </a:r>
            <a:r>
              <a:rPr kumimoji="1" lang="en-US" altLang="en-US" sz="24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both are equivalent syntax</a:t>
            </a:r>
            <a:endParaRPr kumimoji="1" lang="en-US" altLang="en-US" sz="1600" b="0" i="0" u="none" strike="noStrike" kern="0" cap="none" spc="0" normalizeH="0" baseline="0" noProof="0" dirty="0">
              <a:ln>
                <a:noFill/>
              </a:ln>
              <a:solidFill>
                <a:srgbClr val="000000"/>
              </a:solidFill>
              <a:effectLst/>
              <a:uLnTx/>
              <a:uFillTx/>
              <a:latin typeface="Helvetica"/>
              <a:ea typeface="+mn-ea"/>
              <a:cs typeface="+mn-cs"/>
            </a:endParaRPr>
          </a:p>
          <a:p>
            <a:pPr marL="0" marR="0" lvl="0" indent="0" algn="l" defTabSz="914400" rtl="0" eaLnBrk="0" fontAlgn="base" latinLnBrk="0" hangingPunct="0">
              <a:lnSpc>
                <a:spcPct val="150000"/>
              </a:lnSpc>
              <a:spcBef>
                <a:spcPct val="35000"/>
              </a:spcBef>
              <a:spcAft>
                <a:spcPct val="0"/>
              </a:spcAft>
              <a:buClr>
                <a:srgbClr val="CC3300"/>
              </a:buClr>
              <a:buSzPct val="90000"/>
              <a:buFont typeface="Monotype Sorts" charset="2"/>
              <a:buNone/>
              <a:tabLst/>
              <a:defRPr/>
            </a:pP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sz="1800" b="1" i="0" u="none" strike="noStrike" kern="0" cap="none" spc="0" normalizeH="0" baseline="0" noProof="0" dirty="0">
                <a:ln>
                  <a:noFill/>
                </a:ln>
                <a:solidFill>
                  <a:srgbClr val="000000"/>
                </a:solidFill>
                <a:effectLst/>
                <a:uLnTx/>
                <a:uFillTx/>
                <a:latin typeface="Helvetica"/>
                <a:ea typeface="+mn-ea"/>
                <a:cs typeface="+mn-cs"/>
              </a:rPr>
              <a:t>CREATE TABLE </a:t>
            </a:r>
            <a:r>
              <a:rPr kumimoji="1" lang="en-US" sz="1800" b="0" i="0" u="none" strike="noStrike" kern="0" cap="none" spc="0" normalizeH="0" baseline="0" noProof="0" dirty="0">
                <a:ln>
                  <a:noFill/>
                </a:ln>
                <a:solidFill>
                  <a:srgbClr val="C00000"/>
                </a:solidFill>
                <a:effectLst/>
                <a:uLnTx/>
                <a:uFillTx/>
                <a:latin typeface="Helvetica"/>
                <a:ea typeface="+mn-ea"/>
                <a:cs typeface="+mn-cs"/>
              </a:rPr>
              <a:t>table-name</a:t>
            </a:r>
            <a:r>
              <a:rPr kumimoji="1" 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sz="2400" b="0" i="0" u="none" strike="noStrike" kern="0" cap="none" spc="0" normalizeH="0" baseline="0" noProof="0" dirty="0">
                <a:ln>
                  <a:noFill/>
                </a:ln>
                <a:solidFill>
                  <a:srgbClr val="000000"/>
                </a:solidFill>
                <a:effectLst/>
                <a:uLnTx/>
                <a:uFillTx/>
                <a:latin typeface="Helvetica"/>
                <a:ea typeface="+mn-ea"/>
                <a:cs typeface="+mn-cs"/>
              </a:rPr>
              <a:t>(</a:t>
            </a:r>
            <a:r>
              <a:rPr kumimoji="1" 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sz="2000" b="0" i="1" u="none" strike="noStrike" kern="0" cap="none" spc="0" normalizeH="0" baseline="0" noProof="0" dirty="0">
                <a:ln>
                  <a:noFill/>
                </a:ln>
                <a:solidFill>
                  <a:srgbClr val="CCECFF">
                    <a:lumMod val="25000"/>
                  </a:srgbClr>
                </a:solidFill>
                <a:effectLst/>
                <a:uLnTx/>
                <a:uFillTx/>
                <a:latin typeface="Helvetica"/>
                <a:ea typeface="+mn-ea"/>
                <a:cs typeface="+mn-cs"/>
              </a:rPr>
              <a:t>column_name</a:t>
            </a:r>
            <a:r>
              <a:rPr kumimoji="1" 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sz="2000" b="0" i="0" u="none" strike="noStrike" kern="0" cap="none" spc="0" normalizeH="0" baseline="0" noProof="0" dirty="0">
                <a:ln>
                  <a:noFill/>
                </a:ln>
                <a:solidFill>
                  <a:srgbClr val="CC3300">
                    <a:lumMod val="60000"/>
                    <a:lumOff val="40000"/>
                  </a:srgbClr>
                </a:solidFill>
                <a:effectLst/>
                <a:uLnTx/>
                <a:uFillTx/>
                <a:latin typeface="Helvetica"/>
                <a:ea typeface="+mn-ea"/>
                <a:cs typeface="+mn-cs"/>
              </a:rPr>
              <a:t>Datatype(size)</a:t>
            </a:r>
            <a:r>
              <a:rPr kumimoji="1" lang="en-US" sz="2000" b="0" i="1" u="none" strike="noStrike" kern="0" cap="none" spc="0" normalizeH="0" baseline="0" noProof="0" dirty="0">
                <a:ln>
                  <a:noFill/>
                </a:ln>
                <a:solidFill>
                  <a:srgbClr val="CC3300">
                    <a:lumMod val="60000"/>
                    <a:lumOff val="40000"/>
                  </a:srgbClr>
                </a:solidFill>
                <a:effectLst/>
                <a:uLnTx/>
                <a:uFillTx/>
                <a:latin typeface="Helvetica"/>
                <a:ea typeface="+mn-ea"/>
                <a:cs typeface="+mn-cs"/>
              </a:rPr>
              <a:t>,               </a:t>
            </a:r>
            <a:r>
              <a:rPr kumimoji="1" 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sz="2000" b="0" i="1" u="none" strike="noStrike" kern="0" cap="none" spc="0" normalizeH="0" baseline="0" noProof="0" dirty="0">
                <a:ln>
                  <a:noFill/>
                </a:ln>
                <a:solidFill>
                  <a:srgbClr val="CCECFF">
                    <a:lumMod val="25000"/>
                  </a:srgbClr>
                </a:solidFill>
                <a:effectLst/>
                <a:uLnTx/>
                <a:uFillTx/>
                <a:latin typeface="Helvetica"/>
                <a:ea typeface="+mn-ea"/>
                <a:cs typeface="+mn-cs"/>
              </a:rPr>
              <a:t>column_name</a:t>
            </a:r>
            <a:r>
              <a:rPr kumimoji="1" 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sz="2000" b="0" i="0" u="none" strike="noStrike" kern="0" cap="none" spc="0" normalizeH="0" baseline="0" noProof="0" dirty="0">
                <a:ln>
                  <a:noFill/>
                </a:ln>
                <a:solidFill>
                  <a:srgbClr val="CC3300">
                    <a:lumMod val="60000"/>
                    <a:lumOff val="40000"/>
                  </a:srgbClr>
                </a:solidFill>
                <a:effectLst/>
                <a:uLnTx/>
                <a:uFillTx/>
                <a:latin typeface="Helvetica"/>
                <a:ea typeface="+mn-ea"/>
                <a:cs typeface="+mn-cs"/>
              </a:rPr>
              <a:t>Datatype (size), </a:t>
            </a:r>
            <a:r>
              <a:rPr kumimoji="1" lang="en-US" sz="1800" b="0" i="0" u="none" strike="noStrike" kern="0" cap="none" spc="0" normalizeH="0" baseline="0" noProof="0" dirty="0">
                <a:ln>
                  <a:noFill/>
                </a:ln>
                <a:solidFill>
                  <a:srgbClr val="000000"/>
                </a:solidFill>
                <a:effectLst/>
                <a:uLnTx/>
                <a:uFillTx/>
                <a:latin typeface="Helvetica"/>
                <a:ea typeface="+mn-ea"/>
                <a:cs typeface="+mn-cs"/>
              </a:rPr>
              <a:t>. . . </a:t>
            </a:r>
            <a:r>
              <a:rPr kumimoji="1" lang="en-US" sz="2400" b="0" i="0" u="none" strike="noStrike" kern="0" cap="none" spc="0" normalizeH="0" baseline="0" noProof="0" dirty="0">
                <a:ln>
                  <a:noFill/>
                </a:ln>
                <a:solidFill>
                  <a:srgbClr val="000000"/>
                </a:solidFill>
                <a:effectLst/>
                <a:uLnTx/>
                <a:uFillTx/>
                <a:latin typeface="Helvetica"/>
                <a:ea typeface="+mn-ea"/>
                <a:cs typeface="+mn-cs"/>
              </a:rPr>
              <a:t>)</a:t>
            </a:r>
            <a:r>
              <a:rPr kumimoji="1" lang="en-US" sz="1800" b="0" i="0" u="none" strike="noStrike" kern="0" cap="none" spc="0" normalizeH="0" baseline="0" noProof="0" dirty="0">
                <a:ln>
                  <a:noFill/>
                </a:ln>
                <a:solidFill>
                  <a:srgbClr val="000000"/>
                </a:solidFill>
                <a:effectLst/>
                <a:uLnTx/>
                <a:uFillTx/>
                <a:latin typeface="Helvetica"/>
                <a:ea typeface="+mn-ea"/>
                <a:cs typeface="+mn-cs"/>
              </a:rPr>
              <a:t>; </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742950" marR="0" lvl="1" indent="-285750" algn="l" defTabSz="914400" rtl="0" eaLnBrk="0" fontAlgn="base" latinLnBrk="0" hangingPunct="0">
              <a:lnSpc>
                <a:spcPct val="90000"/>
              </a:lnSpc>
              <a:spcBef>
                <a:spcPct val="35000"/>
              </a:spcBef>
              <a:spcAft>
                <a:spcPct val="0"/>
              </a:spcAft>
              <a:buClr>
                <a:srgbClr val="FF9933"/>
              </a:buClr>
              <a:buSzPct val="80000"/>
              <a:buFont typeface="Monotype Sorts" charset="2"/>
              <a:buChar char="l"/>
              <a:tabLst>
                <a:tab pos="1489075" algn="l"/>
                <a:tab pos="1949450" algn="l"/>
                <a:tab pos="3036888" algn="l"/>
              </a:tabLst>
              <a:defRPr/>
            </a:pPr>
            <a:r>
              <a:rPr kumimoji="1" lang="en-US" altLang="en-US" sz="2000" b="1" i="1" u="none" strike="noStrike" kern="0" cap="none" spc="0" normalizeH="0" baseline="0" noProof="0" dirty="0">
                <a:ln>
                  <a:noFill/>
                </a:ln>
                <a:solidFill>
                  <a:srgbClr val="C00000"/>
                </a:solidFill>
                <a:effectLst/>
                <a:uLnTx/>
                <a:uFillTx/>
                <a:latin typeface="Helvetica"/>
              </a:rPr>
              <a:t>r</a:t>
            </a:r>
            <a:r>
              <a:rPr kumimoji="1" lang="en-US" altLang="en-US" sz="2000" b="1" i="0" u="none" strike="noStrike" kern="0" cap="none" spc="0" normalizeH="0" baseline="0" noProof="0" dirty="0">
                <a:ln>
                  <a:noFill/>
                </a:ln>
                <a:solidFill>
                  <a:srgbClr val="000000"/>
                </a:solidFill>
                <a:effectLst/>
                <a:uLnTx/>
                <a:uFillTx/>
                <a:latin typeface="Helvetica"/>
              </a:rPr>
              <a:t> </a:t>
            </a:r>
            <a:r>
              <a:rPr kumimoji="1" lang="en-US" altLang="en-US" sz="2000" b="0" i="0" u="none" strike="noStrike" kern="0" cap="none" spc="0" normalizeH="0" baseline="0" noProof="0" dirty="0">
                <a:ln>
                  <a:noFill/>
                </a:ln>
                <a:solidFill>
                  <a:srgbClr val="000000"/>
                </a:solidFill>
                <a:effectLst/>
                <a:uLnTx/>
                <a:uFillTx/>
                <a:latin typeface="Helvetica"/>
              </a:rPr>
              <a:t>is the name of the relation/table</a:t>
            </a:r>
            <a:endParaRPr kumimoji="1" lang="en-US" altLang="en-US" sz="1800" b="0" i="0" u="none" strike="noStrike" kern="0" cap="none" spc="0" normalizeH="0" baseline="0" noProof="0" dirty="0">
              <a:ln>
                <a:noFill/>
              </a:ln>
              <a:solidFill>
                <a:srgbClr val="000000"/>
              </a:solidFill>
              <a:effectLst/>
              <a:uLnTx/>
              <a:uFillTx/>
              <a:latin typeface="Helvetica"/>
            </a:endParaRPr>
          </a:p>
          <a:p>
            <a:pPr marL="742950" marR="0" lvl="1" indent="-285750" algn="l" defTabSz="914400" rtl="0" eaLnBrk="0" fontAlgn="base" latinLnBrk="0" hangingPunct="0">
              <a:lnSpc>
                <a:spcPct val="90000"/>
              </a:lnSpc>
              <a:spcBef>
                <a:spcPct val="35000"/>
              </a:spcBef>
              <a:spcAft>
                <a:spcPct val="0"/>
              </a:spcAft>
              <a:buClr>
                <a:srgbClr val="FF9933"/>
              </a:buClr>
              <a:buSzPct val="80000"/>
              <a:buFont typeface="Monotype Sorts" charset="2"/>
              <a:buChar char="l"/>
              <a:tabLst>
                <a:tab pos="1489075" algn="l"/>
                <a:tab pos="1949450" algn="l"/>
                <a:tab pos="3036888" algn="l"/>
              </a:tabLst>
              <a:defRPr/>
            </a:pPr>
            <a:r>
              <a:rPr kumimoji="1" lang="en-US" altLang="en-US" sz="2000" b="0" i="0" u="none" strike="noStrike" kern="0" cap="none" spc="0" normalizeH="0" baseline="0" noProof="0" dirty="0">
                <a:ln>
                  <a:noFill/>
                </a:ln>
                <a:solidFill>
                  <a:srgbClr val="000000"/>
                </a:solidFill>
                <a:effectLst/>
                <a:uLnTx/>
                <a:uFillTx/>
                <a:latin typeface="Helvetica"/>
              </a:rPr>
              <a:t>each </a:t>
            </a:r>
            <a:r>
              <a:rPr kumimoji="1" lang="en-US" altLang="en-US" sz="2000" b="1" i="1" u="none" strike="noStrike" kern="0" cap="none" spc="0" normalizeH="0" baseline="0" noProof="0" dirty="0">
                <a:ln>
                  <a:noFill/>
                </a:ln>
                <a:solidFill>
                  <a:srgbClr val="CCECFF">
                    <a:lumMod val="25000"/>
                  </a:srgbClr>
                </a:solidFill>
                <a:effectLst/>
                <a:uLnTx/>
                <a:uFillTx/>
                <a:latin typeface="Helvetica"/>
                <a:ea typeface="+mn-ea"/>
                <a:cs typeface="+mn-cs"/>
              </a:rPr>
              <a:t>A</a:t>
            </a:r>
            <a:r>
              <a:rPr kumimoji="1" lang="en-US" altLang="en-US" sz="2000" b="1" i="1" u="none" strike="noStrike" kern="0" cap="none" spc="0" normalizeH="0" baseline="-25000" noProof="0" dirty="0">
                <a:ln>
                  <a:noFill/>
                </a:ln>
                <a:solidFill>
                  <a:srgbClr val="CCECFF">
                    <a:lumMod val="25000"/>
                  </a:srgbClr>
                </a:solidFill>
                <a:effectLst/>
                <a:uLnTx/>
                <a:uFillTx/>
                <a:latin typeface="Helvetica"/>
                <a:ea typeface="+mn-ea"/>
                <a:cs typeface="+mn-cs"/>
              </a:rPr>
              <a:t>i</a:t>
            </a:r>
            <a:r>
              <a:rPr kumimoji="1" lang="en-US" altLang="en-US" sz="2000" b="1" i="1" u="none" strike="noStrike" kern="0" cap="none" spc="0" normalizeH="0" baseline="0" noProof="0" dirty="0">
                <a:ln>
                  <a:noFill/>
                </a:ln>
                <a:solidFill>
                  <a:srgbClr val="CCECFF">
                    <a:lumMod val="25000"/>
                  </a:srgbClr>
                </a:solidFill>
                <a:effectLst/>
                <a:uLnTx/>
                <a:uFillTx/>
                <a:latin typeface="Helvetica"/>
                <a:ea typeface="+mn-ea"/>
                <a:cs typeface="+mn-cs"/>
              </a:rPr>
              <a:t> </a:t>
            </a:r>
            <a:r>
              <a:rPr kumimoji="1" lang="en-US" altLang="en-US" sz="2000" b="0" i="0" u="none" strike="noStrike" kern="0" cap="none" spc="0" normalizeH="0" baseline="0" noProof="0" dirty="0">
                <a:ln>
                  <a:noFill/>
                </a:ln>
                <a:solidFill>
                  <a:srgbClr val="000000"/>
                </a:solidFill>
                <a:effectLst/>
                <a:uLnTx/>
                <a:uFillTx/>
                <a:latin typeface="Helvetica"/>
              </a:rPr>
              <a:t>is an attribute (column) name in the schema of relation </a:t>
            </a:r>
            <a:r>
              <a:rPr kumimoji="1" lang="en-US" altLang="en-US" sz="2000" b="0" i="1" u="none" strike="noStrike" kern="0" cap="none" spc="0" normalizeH="0" baseline="0" noProof="0" dirty="0">
                <a:ln>
                  <a:noFill/>
                </a:ln>
                <a:solidFill>
                  <a:srgbClr val="C00000"/>
                </a:solidFill>
                <a:effectLst/>
                <a:uLnTx/>
                <a:uFillTx/>
                <a:latin typeface="Helvetica"/>
              </a:rPr>
              <a:t>r</a:t>
            </a:r>
            <a:endParaRPr kumimoji="1" lang="en-US" altLang="en-US" sz="1800" b="0" i="1" u="none" strike="noStrike" kern="0" cap="none" spc="0" normalizeH="0" baseline="0" noProof="0" dirty="0">
              <a:ln>
                <a:noFill/>
              </a:ln>
              <a:solidFill>
                <a:srgbClr val="C00000"/>
              </a:solidFill>
              <a:effectLst/>
              <a:uLnTx/>
              <a:uFillTx/>
              <a:latin typeface="Helvetica"/>
            </a:endParaRPr>
          </a:p>
          <a:p>
            <a:pPr marL="742950" marR="0" lvl="1" indent="-285750" algn="l" defTabSz="914400" rtl="0" eaLnBrk="0" fontAlgn="base" latinLnBrk="0" hangingPunct="0">
              <a:lnSpc>
                <a:spcPct val="90000"/>
              </a:lnSpc>
              <a:spcBef>
                <a:spcPct val="35000"/>
              </a:spcBef>
              <a:spcAft>
                <a:spcPct val="0"/>
              </a:spcAft>
              <a:buClr>
                <a:srgbClr val="FF9933"/>
              </a:buClr>
              <a:buSzPct val="80000"/>
              <a:buFont typeface="Monotype Sorts" charset="2"/>
              <a:buChar char="l"/>
              <a:tabLst>
                <a:tab pos="1489075" algn="l"/>
                <a:tab pos="1949450" algn="l"/>
                <a:tab pos="3036888" algn="l"/>
              </a:tabLst>
              <a:defRPr/>
            </a:pPr>
            <a:r>
              <a:rPr kumimoji="1" lang="en-US" altLang="en-US" sz="2000" b="1" i="1" u="none" strike="noStrike" kern="0" cap="none" spc="0" normalizeH="0" baseline="0" noProof="0" dirty="0">
                <a:ln>
                  <a:noFill/>
                </a:ln>
                <a:solidFill>
                  <a:srgbClr val="CC3300">
                    <a:lumMod val="60000"/>
                    <a:lumOff val="40000"/>
                  </a:srgbClr>
                </a:solidFill>
                <a:effectLst/>
                <a:uLnTx/>
                <a:uFillTx/>
                <a:latin typeface="Helvetica"/>
                <a:ea typeface="+mn-ea"/>
                <a:cs typeface="+mn-cs"/>
              </a:rPr>
              <a:t>D</a:t>
            </a:r>
            <a:r>
              <a:rPr kumimoji="1" lang="en-US" altLang="en-US" sz="2000" b="1" i="1" u="none" strike="noStrike" kern="0" cap="none" spc="0" normalizeH="0" baseline="-25000" noProof="0" dirty="0">
                <a:ln>
                  <a:noFill/>
                </a:ln>
                <a:solidFill>
                  <a:srgbClr val="CC3300">
                    <a:lumMod val="60000"/>
                    <a:lumOff val="40000"/>
                  </a:srgbClr>
                </a:solidFill>
                <a:effectLst/>
                <a:uLnTx/>
                <a:uFillTx/>
                <a:latin typeface="Helvetica"/>
                <a:ea typeface="+mn-ea"/>
                <a:cs typeface="+mn-cs"/>
              </a:rPr>
              <a:t>i</a:t>
            </a:r>
            <a:r>
              <a:rPr kumimoji="1" lang="en-US" altLang="en-US" sz="2000" b="1" i="0" u="none" strike="noStrike" kern="0" cap="none" spc="0" normalizeH="0" baseline="0" noProof="0" dirty="0">
                <a:ln>
                  <a:noFill/>
                </a:ln>
                <a:solidFill>
                  <a:srgbClr val="000000"/>
                </a:solidFill>
                <a:effectLst/>
                <a:uLnTx/>
                <a:uFillTx/>
                <a:latin typeface="Helvetica"/>
              </a:rPr>
              <a:t> </a:t>
            </a:r>
            <a:r>
              <a:rPr kumimoji="1" lang="en-US" altLang="en-US" sz="2000" b="0" i="0" u="none" strike="noStrike" kern="0" cap="none" spc="0" normalizeH="0" baseline="0" noProof="0" dirty="0">
                <a:ln>
                  <a:noFill/>
                </a:ln>
                <a:solidFill>
                  <a:srgbClr val="000000"/>
                </a:solidFill>
                <a:effectLst/>
                <a:uLnTx/>
                <a:uFillTx/>
                <a:latin typeface="Helvetica"/>
              </a:rPr>
              <a:t>is the data type of values in the domain of attribute </a:t>
            </a:r>
            <a:r>
              <a:rPr kumimoji="1" lang="en-US" altLang="en-US" sz="2000" b="0" i="1" u="none" strike="noStrike" kern="0" cap="none" spc="0" normalizeH="0" baseline="0" noProof="0" dirty="0">
                <a:ln>
                  <a:noFill/>
                </a:ln>
                <a:solidFill>
                  <a:srgbClr val="CCECFF">
                    <a:lumMod val="25000"/>
                  </a:srgbClr>
                </a:solidFill>
                <a:effectLst/>
                <a:uLnTx/>
                <a:uFillTx/>
                <a:latin typeface="Helvetica"/>
              </a:rPr>
              <a:t>A</a:t>
            </a:r>
            <a:r>
              <a:rPr kumimoji="1" lang="en-US" altLang="en-US" sz="2000" b="0" i="1" u="none" strike="noStrike" kern="0" cap="none" spc="0" normalizeH="0" baseline="-25000" noProof="0" dirty="0">
                <a:ln>
                  <a:noFill/>
                </a:ln>
                <a:solidFill>
                  <a:srgbClr val="CCECFF">
                    <a:lumMod val="25000"/>
                  </a:srgbClr>
                </a:solidFill>
                <a:effectLst/>
                <a:uLnTx/>
                <a:uFillTx/>
                <a:latin typeface="Helvetica"/>
              </a:rPr>
              <a:t>i</a:t>
            </a:r>
            <a:endParaRPr kumimoji="1" lang="en-US" altLang="en-US" sz="1800" b="0" i="0" u="none" strike="noStrike" kern="0" cap="none" spc="0" normalizeH="0" baseline="0" noProof="0" dirty="0">
              <a:ln>
                <a:noFill/>
              </a:ln>
              <a:solidFill>
                <a:srgbClr val="CCECFF">
                  <a:lumMod val="25000"/>
                </a:srgbClr>
              </a:solidFill>
              <a:effectLst/>
              <a:uLnTx/>
              <a:uFillTx/>
              <a:latin typeface="Helvetica"/>
            </a:endParaRPr>
          </a:p>
          <a:p>
            <a:pPr marL="342900" marR="0" lvl="0" indent="-342900" algn="l" defTabSz="914400" rtl="0" eaLnBrk="0" fontAlgn="base" latinLnBrk="0" hangingPunct="0">
              <a:lnSpc>
                <a:spcPct val="90000"/>
              </a:lnSpc>
              <a:spcBef>
                <a:spcPct val="35000"/>
              </a:spcBef>
              <a:spcAft>
                <a:spcPct val="0"/>
              </a:spcAft>
              <a:buClr>
                <a:srgbClr val="CC3300"/>
              </a:buClr>
              <a:buSzPct val="90000"/>
              <a:buFont typeface="Monotype Sorts" charset="2"/>
              <a:buChar char="n"/>
              <a:tabLst>
                <a:tab pos="1489075" algn="l"/>
                <a:tab pos="1949450" algn="l"/>
                <a:tab pos="3036888" algn="l"/>
              </a:tabLst>
              <a:defRPr/>
            </a:pPr>
            <a:r>
              <a:rPr kumimoji="0" lang="en-US" altLang="en-US" sz="2000" b="1" i="0" u="none" strike="noStrike" kern="0" cap="none" spc="0" normalizeH="0" baseline="0" noProof="0" dirty="0">
                <a:ln>
                  <a:noFill/>
                </a:ln>
                <a:solidFill>
                  <a:srgbClr val="000000"/>
                </a:solidFill>
                <a:effectLst/>
                <a:uLnTx/>
                <a:uFillTx/>
                <a:latin typeface="Helvetica"/>
                <a:ea typeface="+mn-ea"/>
                <a:cs typeface="+mn-cs"/>
              </a:rPr>
              <a:t>Example</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a:t>
            </a:r>
            <a:endParaRPr kumimoji="1" lang="en-US" altLang="en-US" sz="1800" b="1"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90000"/>
              </a:lnSpc>
              <a:spcBef>
                <a:spcPct val="35000"/>
              </a:spcBef>
              <a:spcAft>
                <a:spcPct val="0"/>
              </a:spcAft>
              <a:buClr>
                <a:srgbClr val="CC3300"/>
              </a:buClr>
              <a:buSzPct val="90000"/>
              <a:buFont typeface="Monotype Sorts" charset="2"/>
              <a:buNone/>
              <a:tabLst>
                <a:tab pos="1489075" algn="l"/>
                <a:tab pos="1949450" algn="l"/>
                <a:tab pos="3036888" algn="l"/>
              </a:tabLst>
              <a:defRPr/>
            </a:pP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create table</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instructor</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br>
              <a:rPr kumimoji="1" lang="en-US" altLang="en-US" sz="20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ID</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char</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(5),</a:t>
            </a:r>
            <a:br>
              <a:rPr kumimoji="1" lang="en-US" altLang="en-US" sz="20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name           </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varchar</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(20)</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a:t>
            </a:r>
            <a:br>
              <a:rPr kumimoji="1" lang="en-US" altLang="en-US" sz="2000" b="1" i="1" u="none" strike="noStrike" kern="0" cap="none" spc="0" normalizeH="0" baseline="0" noProof="0" dirty="0">
                <a:ln>
                  <a:noFill/>
                </a:ln>
                <a:solidFill>
                  <a:srgbClr val="000000"/>
                </a:solidFill>
                <a:effectLst/>
                <a:uLnTx/>
                <a:uFillTx/>
                <a:latin typeface="Helvetica"/>
                <a:ea typeface="+mn-ea"/>
                <a:cs typeface="+mn-cs"/>
              </a:rPr>
            </a:br>
            <a:r>
              <a:rPr kumimoji="1" lang="en-US" altLang="en-US" sz="2000" b="1" i="1"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dept_name  </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varchar</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(20),</a:t>
            </a:r>
            <a:br>
              <a:rPr kumimoji="1" lang="en-US" altLang="en-US" sz="20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salary</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numeric</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(8,2));</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90000"/>
              </a:lnSpc>
              <a:spcBef>
                <a:spcPct val="35000"/>
              </a:spcBef>
              <a:spcAft>
                <a:spcPct val="0"/>
              </a:spcAft>
              <a:buClr>
                <a:srgbClr val="CC3300"/>
              </a:buClr>
              <a:buSzPct val="90000"/>
              <a:buFont typeface="Monotype Sorts" charset="2"/>
              <a:buChar char="n"/>
              <a:tabLst>
                <a:tab pos="1489075" algn="l"/>
                <a:tab pos="1949450" algn="l"/>
                <a:tab pos="3036888" algn="l"/>
              </a:tabLst>
              <a:defRPr/>
            </a:pP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insert into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instructor  </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values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(‘10211’, ’Smith’, ’Biology’, 66000);</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90000"/>
              </a:lnSpc>
              <a:spcBef>
                <a:spcPct val="35000"/>
              </a:spcBef>
              <a:spcAft>
                <a:spcPct val="0"/>
              </a:spcAft>
              <a:buClr>
                <a:srgbClr val="CC3300"/>
              </a:buClr>
              <a:buSzPct val="90000"/>
              <a:buFont typeface="Monotype Sorts" charset="2"/>
              <a:buChar char="n"/>
              <a:tabLst>
                <a:tab pos="1489075" algn="l"/>
                <a:tab pos="1949450" algn="l"/>
                <a:tab pos="3036888" algn="l"/>
              </a:tabLst>
              <a:defRPr/>
            </a:pP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insert into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instructor  </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values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(‘10211’, </a:t>
            </a:r>
            <a:r>
              <a:rPr kumimoji="1" lang="en-US" altLang="en-US" sz="2000" b="1" i="0" u="none" strike="noStrike" kern="0" cap="none" spc="0" normalizeH="0" baseline="0" noProof="0" dirty="0">
                <a:ln>
                  <a:noFill/>
                </a:ln>
                <a:solidFill>
                  <a:srgbClr val="C00000"/>
                </a:solidFill>
                <a:effectLst/>
                <a:uLnTx/>
                <a:uFillTx/>
                <a:latin typeface="Helvetica"/>
                <a:ea typeface="+mn-ea"/>
                <a:cs typeface="+mn-cs"/>
              </a:rPr>
              <a:t>null</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’Biology’, 66000);</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90000"/>
              </a:lnSpc>
              <a:spcBef>
                <a:spcPct val="35000"/>
              </a:spcBef>
              <a:spcAft>
                <a:spcPct val="0"/>
              </a:spcAft>
              <a:buClr>
                <a:srgbClr val="CC3300"/>
              </a:buClr>
              <a:buSzPct val="90000"/>
              <a:buFont typeface="Monotype Sorts" charset="2"/>
              <a:buNone/>
              <a:tabLst>
                <a:tab pos="1489075" algn="l"/>
                <a:tab pos="1949450" algn="l"/>
                <a:tab pos="3036888" algn="l"/>
              </a:tabLst>
              <a:defRPr/>
            </a:pP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90000"/>
              </a:lnSpc>
              <a:spcBef>
                <a:spcPct val="35000"/>
              </a:spcBef>
              <a:spcAft>
                <a:spcPct val="0"/>
              </a:spcAft>
              <a:buClr>
                <a:srgbClr val="CC3300"/>
              </a:buClr>
              <a:buSzPct val="90000"/>
              <a:buFont typeface="Monotype Sorts" charset="2"/>
              <a:buChar char="n"/>
              <a:tabLst>
                <a:tab pos="1489075" algn="l"/>
                <a:tab pos="1949450" algn="l"/>
                <a:tab pos="3036888" algn="l"/>
              </a:tabLst>
              <a:defRPr/>
            </a:pP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10</a:t>
            </a:fld>
            <a:endParaRPr lang="en-US"/>
          </a:p>
        </p:txBody>
      </p:sp>
    </p:spTree>
    <p:extLst>
      <p:ext uri="{BB962C8B-B14F-4D97-AF65-F5344CB8AC3E}">
        <p14:creationId xmlns:p14="http://schemas.microsoft.com/office/powerpoint/2010/main" val="1659751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024467" y="36172"/>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INTEGRITY CONSTSRAINTS</a:t>
            </a:r>
          </a:p>
        </p:txBody>
      </p:sp>
      <p:sp>
        <p:nvSpPr>
          <p:cNvPr id="5" name="Content Placeholder 2"/>
          <p:cNvSpPr txBox="1">
            <a:spLocks/>
          </p:cNvSpPr>
          <p:nvPr/>
        </p:nvSpPr>
        <p:spPr bwMode="auto">
          <a:xfrm>
            <a:off x="881149" y="889682"/>
            <a:ext cx="10912918" cy="5466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Valid data means –the data which follows certain </a:t>
            </a:r>
            <a:r>
              <a:rPr kumimoji="1" lang="en-US" sz="2000" b="0" i="0" u="none" strike="noStrike" kern="0" cap="none" spc="0" normalizeH="0" baseline="0" noProof="0" dirty="0">
                <a:ln>
                  <a:noFill/>
                </a:ln>
                <a:solidFill>
                  <a:srgbClr val="C00000"/>
                </a:solidFill>
                <a:effectLst/>
                <a:uLnTx/>
                <a:uFillTx/>
                <a:latin typeface="Helvetica"/>
                <a:ea typeface="+mn-ea"/>
                <a:cs typeface="+mn-cs"/>
              </a:rPr>
              <a:t>rules</a:t>
            </a:r>
            <a:r>
              <a:rPr kumimoji="1" lang="en-US" sz="2000" b="1" i="0" u="none" strike="noStrike" kern="0" cap="none" spc="0" normalizeH="0" baseline="0" noProof="0" dirty="0">
                <a:ln>
                  <a:noFill/>
                </a:ln>
                <a:effectLst/>
                <a:uLnTx/>
                <a:uFillTx/>
                <a:latin typeface="Helvetica"/>
                <a:ea typeface="+mn-ea"/>
                <a:cs typeface="+mn-cs"/>
              </a:rPr>
              <a:t>/</a:t>
            </a:r>
            <a:r>
              <a:rPr kumimoji="1" lang="en-US" sz="2000" b="0" i="0" u="none" strike="noStrike" kern="0" cap="none" spc="0" normalizeH="0" baseline="0" noProof="0" dirty="0">
                <a:ln>
                  <a:noFill/>
                </a:ln>
                <a:solidFill>
                  <a:srgbClr val="C00000"/>
                </a:solidFill>
                <a:effectLst/>
                <a:uLnTx/>
                <a:uFillTx/>
                <a:latin typeface="Helvetica"/>
                <a:ea typeface="+mn-ea"/>
                <a:cs typeface="+mn-cs"/>
              </a:rPr>
              <a:t> regulations of real world system</a:t>
            </a:r>
            <a:r>
              <a:rPr kumimoji="1" lang="en-US" sz="2000" b="0" i="0" u="none" strike="noStrike" kern="0" cap="none" spc="0" normalizeH="0" baseline="0" noProof="0" dirty="0">
                <a:ln>
                  <a:noFill/>
                </a:ln>
                <a:solidFill>
                  <a:srgbClr val="000000"/>
                </a:solidFill>
                <a:effectLst/>
                <a:uLnTx/>
                <a:uFillTx/>
                <a:latin typeface="Helvetica"/>
                <a:ea typeface="+mn-ea"/>
                <a:cs typeface="+mn-cs"/>
              </a:rPr>
              <a:t>.</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Therefore designer has to ensure that data entered by user has to be checked against these rules and allowed to </a:t>
            </a:r>
            <a:r>
              <a:rPr kumimoji="1" lang="en-US" sz="2000" i="0" u="none" strike="noStrike" kern="0" cap="none" spc="0" normalizeH="0" baseline="0" noProof="0" dirty="0">
                <a:ln>
                  <a:noFill/>
                </a:ln>
                <a:solidFill>
                  <a:schemeClr val="accent2">
                    <a:lumMod val="75000"/>
                  </a:schemeClr>
                </a:solidFill>
                <a:effectLst/>
                <a:uLnTx/>
                <a:uFillTx/>
                <a:latin typeface="Helvetica"/>
                <a:ea typeface="+mn-ea"/>
                <a:cs typeface="+mn-cs"/>
              </a:rPr>
              <a:t>store if valid</a:t>
            </a:r>
            <a:r>
              <a:rPr kumimoji="1" lang="en-US" sz="2000" b="1" i="0" u="none" strike="noStrike" kern="0" cap="none" spc="0" normalizeH="0" baseline="0" noProof="0" dirty="0">
                <a:ln>
                  <a:noFill/>
                </a:ln>
                <a:solidFill>
                  <a:schemeClr val="accent2">
                    <a:lumMod val="75000"/>
                  </a:schemeClr>
                </a:solidFill>
                <a:effectLst/>
                <a:uLnTx/>
                <a:uFillTx/>
                <a:latin typeface="Helvetica"/>
                <a:ea typeface="+mn-ea"/>
                <a:cs typeface="+mn-cs"/>
              </a:rPr>
              <a:t> </a:t>
            </a:r>
            <a:r>
              <a:rPr kumimoji="1" lang="en-US" sz="2000" b="1" i="0" u="none" strike="noStrike" kern="0" cap="none" spc="0" normalizeH="0" baseline="0" noProof="0" dirty="0">
                <a:ln>
                  <a:noFill/>
                </a:ln>
                <a:solidFill>
                  <a:srgbClr val="000000"/>
                </a:solidFill>
                <a:effectLst/>
                <a:uLnTx/>
                <a:uFillTx/>
                <a:latin typeface="Helvetica"/>
                <a:ea typeface="+mn-ea"/>
                <a:cs typeface="+mn-cs"/>
              </a:rPr>
              <a:t>otherwise </a:t>
            </a:r>
            <a:r>
              <a:rPr kumimoji="1" lang="en-US" sz="2000" b="0" i="0" u="none" strike="noStrike" kern="0" cap="none" spc="0" normalizeH="0" baseline="0" noProof="0" dirty="0">
                <a:ln>
                  <a:noFill/>
                </a:ln>
                <a:solidFill>
                  <a:srgbClr val="000000"/>
                </a:solidFill>
                <a:effectLst/>
                <a:uLnTx/>
                <a:uFillTx/>
                <a:latin typeface="Helvetica"/>
                <a:ea typeface="+mn-ea"/>
                <a:cs typeface="+mn-cs"/>
              </a:rPr>
              <a:t>need to be </a:t>
            </a:r>
            <a:r>
              <a:rPr kumimoji="1" lang="en-US" sz="2000" i="0" u="none" strike="noStrike" kern="0" cap="none" spc="0" normalizeH="0" baseline="0" noProof="0" dirty="0">
                <a:ln>
                  <a:noFill/>
                </a:ln>
                <a:solidFill>
                  <a:schemeClr val="accent2">
                    <a:lumMod val="75000"/>
                  </a:schemeClr>
                </a:solidFill>
                <a:effectLst/>
                <a:uLnTx/>
                <a:uFillTx/>
                <a:latin typeface="Helvetica"/>
                <a:ea typeface="+mn-ea"/>
                <a:cs typeface="+mn-cs"/>
              </a:rPr>
              <a:t>rejected</a:t>
            </a:r>
            <a:r>
              <a:rPr kumimoji="1" lang="en-US" sz="2000" b="1" i="0" u="none" strike="noStrike" kern="0" cap="none" spc="0" normalizeH="0" baseline="0" noProof="0" dirty="0">
                <a:ln>
                  <a:noFill/>
                </a:ln>
                <a:solidFill>
                  <a:srgbClr val="000000"/>
                </a:solidFill>
                <a:effectLst/>
                <a:uLnTx/>
                <a:uFillTx/>
                <a:latin typeface="Helvetica"/>
                <a:ea typeface="+mn-ea"/>
                <a:cs typeface="+mn-cs"/>
              </a:rPr>
              <a:t>.</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Integrity constraints guard against accidental damage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to the database, by ensuring that authorized changes to the database do not result in a loss of data consistency</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a:t>
            </a:r>
            <a:endParaRPr kumimoji="1" 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2000" b="1" i="0" u="none" strike="noStrike" kern="0" cap="none" spc="0" normalizeH="0" baseline="0" noProof="0" dirty="0">
                <a:ln>
                  <a:noFill/>
                </a:ln>
                <a:solidFill>
                  <a:srgbClr val="000000"/>
                </a:solidFill>
                <a:effectLst/>
                <a:uLnTx/>
                <a:uFillTx/>
                <a:latin typeface="Helvetica"/>
                <a:ea typeface="+mn-ea"/>
                <a:cs typeface="+mn-cs"/>
              </a:rPr>
              <a:t>Example: </a:t>
            </a: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1" lang="en-US" sz="1800" b="0" i="0" u="none" strike="noStrike" kern="0" cap="none" spc="0" normalizeH="0" baseline="0" noProof="0" dirty="0">
                <a:ln>
                  <a:noFill/>
                </a:ln>
                <a:solidFill>
                  <a:srgbClr val="000000"/>
                </a:solidFill>
                <a:effectLst/>
                <a:uLnTx/>
                <a:uFillTx/>
                <a:latin typeface="Helvetica"/>
              </a:rPr>
              <a:t>Data in some Column such as </a:t>
            </a:r>
            <a:r>
              <a:rPr kumimoji="1" lang="en-US" sz="1800" b="0" i="1" u="none" strike="noStrike" kern="0" cap="none" spc="0" normalizeH="0" baseline="0" noProof="0" dirty="0">
                <a:ln>
                  <a:noFill/>
                </a:ln>
                <a:solidFill>
                  <a:schemeClr val="accent2">
                    <a:lumMod val="75000"/>
                  </a:schemeClr>
                </a:solidFill>
                <a:effectLst/>
                <a:uLnTx/>
                <a:uFillTx/>
                <a:latin typeface="Helvetica"/>
              </a:rPr>
              <a:t>Phone_Number</a:t>
            </a:r>
            <a:r>
              <a:rPr kumimoji="1" lang="en-US" sz="1800" b="0" i="0" u="none" strike="noStrike" kern="0" cap="none" spc="0" normalizeH="0" baseline="0" noProof="0" dirty="0">
                <a:ln>
                  <a:noFill/>
                </a:ln>
                <a:solidFill>
                  <a:srgbClr val="000000"/>
                </a:solidFill>
                <a:effectLst/>
                <a:uLnTx/>
                <a:uFillTx/>
                <a:latin typeface="Helvetica"/>
              </a:rPr>
              <a:t> is </a:t>
            </a:r>
            <a:r>
              <a:rPr kumimoji="1" lang="en-US" sz="1800" b="1" i="0" u="none" strike="noStrike" kern="0" cap="none" spc="0" normalizeH="0" baseline="0" noProof="0" dirty="0">
                <a:ln>
                  <a:noFill/>
                </a:ln>
                <a:solidFill>
                  <a:srgbClr val="000000"/>
                </a:solidFill>
                <a:effectLst/>
                <a:uLnTx/>
                <a:uFillTx/>
                <a:latin typeface="Helvetica"/>
              </a:rPr>
              <a:t>mandatory </a:t>
            </a:r>
            <a:r>
              <a:rPr kumimoji="1" lang="en-US" sz="1800" i="0" u="none" strike="noStrike" kern="0" cap="none" spc="0" normalizeH="0" baseline="0" noProof="0" dirty="0">
                <a:ln>
                  <a:noFill/>
                </a:ln>
                <a:solidFill>
                  <a:srgbClr val="000000"/>
                </a:solidFill>
                <a:effectLst/>
                <a:uLnTx/>
                <a:uFillTx/>
                <a:latin typeface="Helvetica"/>
              </a:rPr>
              <a:t>fo</a:t>
            </a:r>
            <a:r>
              <a:rPr kumimoji="1" lang="en-US" sz="1800" b="0" i="0" u="none" strike="noStrike" kern="0" cap="none" spc="0" normalizeH="0" baseline="0" noProof="0" dirty="0">
                <a:ln>
                  <a:noFill/>
                </a:ln>
                <a:solidFill>
                  <a:srgbClr val="000000"/>
                </a:solidFill>
                <a:effectLst/>
                <a:uLnTx/>
                <a:uFillTx/>
                <a:latin typeface="Helvetica"/>
              </a:rPr>
              <a:t>r user to enter.</a:t>
            </a: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1" lang="en-US" sz="1800" b="0" i="0" u="none" strike="noStrike" kern="0" cap="none" spc="0" normalizeH="0" baseline="0" noProof="0" dirty="0">
                <a:ln>
                  <a:noFill/>
                </a:ln>
                <a:solidFill>
                  <a:srgbClr val="000000"/>
                </a:solidFill>
                <a:effectLst/>
                <a:uLnTx/>
                <a:uFillTx/>
                <a:latin typeface="Helvetica"/>
              </a:rPr>
              <a:t>Data in some Column such as </a:t>
            </a:r>
            <a:r>
              <a:rPr kumimoji="1" lang="en-US" sz="1800" b="0" i="1" u="none" strike="noStrike" kern="0" cap="none" spc="0" normalizeH="0" baseline="0" noProof="0" dirty="0">
                <a:ln>
                  <a:noFill/>
                </a:ln>
                <a:solidFill>
                  <a:schemeClr val="accent2">
                    <a:lumMod val="75000"/>
                  </a:schemeClr>
                </a:solidFill>
                <a:effectLst/>
                <a:uLnTx/>
                <a:uFillTx/>
                <a:latin typeface="Helvetica"/>
              </a:rPr>
              <a:t>Registration_Number</a:t>
            </a:r>
            <a:r>
              <a:rPr kumimoji="1" lang="en-US" sz="1800" b="0" i="0" u="none" strike="noStrike" kern="0" cap="none" spc="0" normalizeH="0" baseline="0" noProof="0" dirty="0">
                <a:ln>
                  <a:noFill/>
                </a:ln>
                <a:solidFill>
                  <a:schemeClr val="accent2">
                    <a:lumMod val="75000"/>
                  </a:schemeClr>
                </a:solidFill>
                <a:effectLst/>
                <a:uLnTx/>
                <a:uFillTx/>
                <a:latin typeface="Helvetica"/>
              </a:rPr>
              <a:t> </a:t>
            </a:r>
            <a:r>
              <a:rPr kumimoji="1" lang="en-US" sz="1800" b="0" i="0" u="none" strike="noStrike" kern="0" cap="none" spc="0" normalizeH="0" baseline="0" noProof="0" dirty="0">
                <a:ln>
                  <a:noFill/>
                </a:ln>
                <a:solidFill>
                  <a:srgbClr val="000000"/>
                </a:solidFill>
                <a:effectLst/>
                <a:uLnTx/>
                <a:uFillTx/>
                <a:latin typeface="Helvetica"/>
              </a:rPr>
              <a:t>has to be </a:t>
            </a:r>
            <a:r>
              <a:rPr kumimoji="1" lang="en-US" sz="1800" b="1" i="0" u="none" strike="noStrike" kern="0" cap="none" spc="0" normalizeH="0" baseline="0" noProof="0" dirty="0">
                <a:ln>
                  <a:noFill/>
                </a:ln>
                <a:solidFill>
                  <a:srgbClr val="000000"/>
                </a:solidFill>
                <a:effectLst/>
                <a:uLnTx/>
                <a:uFillTx/>
                <a:latin typeface="Helvetica"/>
              </a:rPr>
              <a:t>Unique</a:t>
            </a:r>
            <a:r>
              <a:rPr kumimoji="1" lang="en-US" sz="1800" b="0" i="0" u="none" strike="noStrike" kern="0" cap="none" spc="0" normalizeH="0" baseline="0" noProof="0" dirty="0">
                <a:ln>
                  <a:noFill/>
                </a:ln>
                <a:solidFill>
                  <a:srgbClr val="000000"/>
                </a:solidFill>
                <a:effectLst/>
                <a:uLnTx/>
                <a:uFillTx/>
                <a:latin typeface="Helvetica"/>
              </a:rPr>
              <a:t> ( No duplicated allowed).</a:t>
            </a: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1" lang="en-US" sz="1800" b="0" i="0" u="none" strike="noStrike" kern="0" cap="none" spc="0" normalizeH="0" baseline="0" noProof="0" dirty="0">
                <a:ln>
                  <a:noFill/>
                </a:ln>
                <a:solidFill>
                  <a:srgbClr val="000000"/>
                </a:solidFill>
                <a:effectLst/>
                <a:uLnTx/>
                <a:uFillTx/>
                <a:latin typeface="Helvetica"/>
              </a:rPr>
              <a:t>Data in some Column such as </a:t>
            </a:r>
            <a:r>
              <a:rPr kumimoji="1" lang="en-US" sz="1800" b="0" i="1" u="none" strike="noStrike" kern="0" cap="none" spc="0" normalizeH="0" baseline="0" noProof="0" dirty="0">
                <a:ln>
                  <a:noFill/>
                </a:ln>
                <a:solidFill>
                  <a:schemeClr val="accent2">
                    <a:lumMod val="75000"/>
                  </a:schemeClr>
                </a:solidFill>
                <a:effectLst/>
                <a:uLnTx/>
                <a:uFillTx/>
                <a:latin typeface="Helvetica"/>
              </a:rPr>
              <a:t>Registration_Number</a:t>
            </a:r>
            <a:r>
              <a:rPr kumimoji="1" lang="en-US" sz="1800" b="0" i="0" u="none" strike="noStrike" kern="0" cap="none" spc="0" normalizeH="0" baseline="0" noProof="0" dirty="0">
                <a:ln>
                  <a:noFill/>
                </a:ln>
                <a:solidFill>
                  <a:srgbClr val="000000"/>
                </a:solidFill>
                <a:effectLst/>
                <a:uLnTx/>
                <a:uFillTx/>
                <a:latin typeface="Helvetica"/>
              </a:rPr>
              <a:t> is used </a:t>
            </a:r>
            <a:r>
              <a:rPr kumimoji="1" lang="en-US" sz="1800" b="1" i="0" u="none" strike="noStrike" kern="0" cap="none" spc="0" normalizeH="0" baseline="0" noProof="0" dirty="0">
                <a:ln>
                  <a:noFill/>
                </a:ln>
                <a:solidFill>
                  <a:srgbClr val="000000"/>
                </a:solidFill>
                <a:effectLst/>
                <a:uLnTx/>
                <a:uFillTx/>
                <a:latin typeface="Helvetica"/>
              </a:rPr>
              <a:t>to identify every student </a:t>
            </a:r>
            <a:r>
              <a:rPr kumimoji="1" lang="en-US" sz="1800" b="0" i="0" u="none" strike="noStrike" kern="0" cap="none" spc="0" normalizeH="0" baseline="0" noProof="0" dirty="0">
                <a:ln>
                  <a:noFill/>
                </a:ln>
                <a:solidFill>
                  <a:srgbClr val="000000"/>
                </a:solidFill>
                <a:effectLst/>
                <a:uLnTx/>
                <a:uFillTx/>
                <a:latin typeface="Helvetica"/>
              </a:rPr>
              <a:t>distinctly.</a:t>
            </a: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1" lang="en-US" sz="1800" b="1" i="0" u="none" strike="noStrike" kern="0" cap="none" spc="0" normalizeH="0" baseline="0" noProof="0" dirty="0">
                <a:ln>
                  <a:noFill/>
                </a:ln>
                <a:solidFill>
                  <a:srgbClr val="000000"/>
                </a:solidFill>
                <a:effectLst/>
                <a:uLnTx/>
                <a:uFillTx/>
                <a:latin typeface="Helvetica"/>
              </a:rPr>
              <a:t>Valid range of  Data </a:t>
            </a:r>
            <a:r>
              <a:rPr kumimoji="1" lang="en-US" sz="1800" b="0" i="0" u="none" strike="noStrike" kern="0" cap="none" spc="0" normalizeH="0" baseline="0" noProof="0" dirty="0">
                <a:ln>
                  <a:noFill/>
                </a:ln>
                <a:solidFill>
                  <a:srgbClr val="000000"/>
                </a:solidFill>
                <a:effectLst/>
                <a:uLnTx/>
                <a:uFillTx/>
                <a:latin typeface="Helvetica"/>
              </a:rPr>
              <a:t>for some Column such as </a:t>
            </a:r>
            <a:r>
              <a:rPr kumimoji="1" lang="en-US" sz="1800" b="0" i="1" u="none" strike="noStrike" kern="0" cap="none" spc="0" normalizeH="0" baseline="0" noProof="0" dirty="0">
                <a:ln>
                  <a:noFill/>
                </a:ln>
                <a:solidFill>
                  <a:schemeClr val="accent2">
                    <a:lumMod val="75000"/>
                  </a:schemeClr>
                </a:solidFill>
                <a:effectLst/>
                <a:uLnTx/>
                <a:uFillTx/>
                <a:latin typeface="Helvetica"/>
              </a:rPr>
              <a:t>Under_Gradate</a:t>
            </a:r>
            <a:r>
              <a:rPr kumimoji="1" lang="en-US" sz="1800" b="0" i="0" u="none" strike="noStrike" kern="0" cap="none" spc="0" normalizeH="0" baseline="0" noProof="0" dirty="0">
                <a:ln>
                  <a:noFill/>
                </a:ln>
                <a:solidFill>
                  <a:srgbClr val="000000"/>
                </a:solidFill>
                <a:effectLst/>
                <a:uLnTx/>
                <a:uFillTx/>
                <a:latin typeface="Helvetica"/>
              </a:rPr>
              <a:t> is  BSc, B.Tech. BE.</a:t>
            </a: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1" lang="en-US" altLang="en-US" sz="1800" b="0" i="0" u="none" strike="noStrike" kern="0" cap="none" spc="0" normalizeH="0" baseline="0" noProof="0" dirty="0">
                <a:ln>
                  <a:noFill/>
                </a:ln>
                <a:solidFill>
                  <a:srgbClr val="000000"/>
                </a:solidFill>
                <a:effectLst/>
                <a:uLnTx/>
                <a:uFillTx/>
                <a:latin typeface="Helvetica"/>
              </a:rPr>
              <a:t>A SB account must have a </a:t>
            </a:r>
            <a:r>
              <a:rPr kumimoji="1" lang="en-US" altLang="en-US" sz="1800" i="0" u="none" strike="noStrike" kern="0" cap="none" spc="0" normalizeH="0" baseline="0" noProof="0" dirty="0">
                <a:ln>
                  <a:noFill/>
                </a:ln>
                <a:solidFill>
                  <a:schemeClr val="accent2">
                    <a:lumMod val="75000"/>
                  </a:schemeClr>
                </a:solidFill>
                <a:effectLst/>
                <a:uLnTx/>
                <a:uFillTx/>
                <a:latin typeface="Helvetica"/>
              </a:rPr>
              <a:t>balance</a:t>
            </a:r>
            <a:r>
              <a:rPr kumimoji="1" lang="en-US" altLang="en-US" sz="1800" b="1" i="0" u="none" strike="noStrike" kern="0" cap="none" spc="0" normalizeH="0" baseline="0" noProof="0" dirty="0">
                <a:ln>
                  <a:noFill/>
                </a:ln>
                <a:solidFill>
                  <a:srgbClr val="000000"/>
                </a:solidFill>
                <a:effectLst/>
                <a:uLnTx/>
                <a:uFillTx/>
                <a:latin typeface="Helvetica"/>
              </a:rPr>
              <a:t> greater than 1000/-</a:t>
            </a: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endParaRPr kumimoji="1" lang="en-US" sz="1800" b="0" i="1" u="none" strike="noStrike" kern="0" cap="none" spc="0" normalizeH="0" baseline="0" noProof="0" dirty="0">
              <a:ln>
                <a:noFill/>
              </a:ln>
              <a:solidFill>
                <a:srgbClr val="000000"/>
              </a:solidFill>
              <a:effectLst/>
              <a:uLnTx/>
              <a:uFillTx/>
              <a:latin typeface="Helvetica"/>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endParaRPr kumimoji="1" lang="en-US" sz="1800" b="0" i="0" u="none" strike="noStrike" kern="0" cap="none" spc="0" normalizeH="0" baseline="0" noProof="0" dirty="0">
              <a:ln>
                <a:noFill/>
              </a:ln>
              <a:solidFill>
                <a:srgbClr val="000000"/>
              </a:solidFill>
              <a:effectLst/>
              <a:uLnTx/>
              <a:uFillTx/>
              <a:latin typeface="Helvetica"/>
              <a:ea typeface="+mn-ea"/>
              <a:cs typeface="+mn-cs"/>
            </a:endParaRP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11</a:t>
            </a:fld>
            <a:endParaRPr lang="en-US"/>
          </a:p>
        </p:txBody>
      </p:sp>
    </p:spTree>
    <p:extLst>
      <p:ext uri="{BB962C8B-B14F-4D97-AF65-F5344CB8AC3E}">
        <p14:creationId xmlns:p14="http://schemas.microsoft.com/office/powerpoint/2010/main" val="20957624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TYPE of CONSTSRINTS</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5" name="Content Placeholder 2"/>
          <p:cNvSpPr txBox="1">
            <a:spLocks/>
          </p:cNvSpPr>
          <p:nvPr/>
        </p:nvSpPr>
        <p:spPr bwMode="auto">
          <a:xfrm>
            <a:off x="827314" y="850900"/>
            <a:ext cx="10966753" cy="51530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2100" b="1" i="0" u="none" strike="noStrike" kern="0" cap="none" spc="0" normalizeH="0" baseline="0" noProof="0" dirty="0">
                <a:ln>
                  <a:noFill/>
                </a:ln>
                <a:solidFill>
                  <a:srgbClr val="000000"/>
                </a:solidFill>
                <a:effectLst/>
                <a:uLnTx/>
                <a:uFillTx/>
                <a:latin typeface="Helvetica"/>
              </a:rPr>
              <a:t>Rule/Constraints</a:t>
            </a:r>
            <a:r>
              <a:rPr kumimoji="1" lang="en-US" sz="2100" b="0" i="0" u="none" strike="noStrike" kern="0" cap="none" spc="0" normalizeH="0" baseline="0" noProof="0" dirty="0">
                <a:ln>
                  <a:noFill/>
                </a:ln>
                <a:solidFill>
                  <a:srgbClr val="000000"/>
                </a:solidFill>
                <a:effectLst/>
                <a:uLnTx/>
                <a:uFillTx/>
                <a:latin typeface="Helvetica"/>
              </a:rPr>
              <a:t> can be imposed on </a:t>
            </a:r>
            <a:r>
              <a:rPr kumimoji="1" lang="en-US" sz="2100" b="1" i="0" u="none" strike="noStrike" kern="0" cap="none" spc="0" normalizeH="0" baseline="0" noProof="0" dirty="0">
                <a:ln>
                  <a:noFill/>
                </a:ln>
                <a:solidFill>
                  <a:srgbClr val="000000"/>
                </a:solidFill>
                <a:effectLst/>
                <a:uLnTx/>
                <a:uFillTx/>
                <a:latin typeface="Helvetica"/>
              </a:rPr>
              <a:t>single column </a:t>
            </a:r>
            <a:r>
              <a:rPr kumimoji="1" lang="en-US" sz="2100" b="0" i="0" u="none" strike="noStrike" kern="0" cap="none" spc="0" normalizeH="0" baseline="0" noProof="0" dirty="0">
                <a:ln>
                  <a:noFill/>
                </a:ln>
                <a:solidFill>
                  <a:srgbClr val="000000"/>
                </a:solidFill>
                <a:effectLst/>
                <a:uLnTx/>
                <a:uFillTx/>
                <a:latin typeface="Helvetica"/>
              </a:rPr>
              <a:t>or </a:t>
            </a:r>
            <a:r>
              <a:rPr kumimoji="1" lang="en-US" sz="2100" b="1" i="0" u="none" strike="noStrike" kern="0" cap="none" spc="0" normalizeH="0" baseline="0" noProof="0" dirty="0">
                <a:ln>
                  <a:noFill/>
                </a:ln>
                <a:solidFill>
                  <a:srgbClr val="000000"/>
                </a:solidFill>
                <a:effectLst/>
                <a:uLnTx/>
                <a:uFillTx/>
                <a:latin typeface="Helvetica"/>
              </a:rPr>
              <a:t>combination of columns</a:t>
            </a:r>
            <a:r>
              <a:rPr kumimoji="1" lang="en-US" sz="2100" b="0" i="0" u="none" strike="noStrike" kern="0" cap="none" spc="0" normalizeH="0" baseline="0" noProof="0" dirty="0">
                <a:ln>
                  <a:noFill/>
                </a:ln>
                <a:solidFill>
                  <a:srgbClr val="000000"/>
                </a:solidFill>
                <a:effectLst/>
                <a:uLnTx/>
                <a:uFillTx/>
                <a:latin typeface="Helvetica"/>
              </a:rPr>
              <a:t>.</a:t>
            </a:r>
          </a:p>
          <a:p>
            <a:pPr marL="742950" marR="0" lvl="1" indent="-285750" algn="l" defTabSz="914400" rtl="0" eaLnBrk="0" fontAlgn="base" latinLnBrk="0" hangingPunct="0">
              <a:lnSpc>
                <a:spcPct val="150000"/>
              </a:lnSpc>
              <a:spcBef>
                <a:spcPct val="35000"/>
              </a:spcBef>
              <a:spcAft>
                <a:spcPct val="0"/>
              </a:spcAft>
              <a:buClr>
                <a:srgbClr val="FF9933"/>
              </a:buClr>
              <a:buSzPct val="80000"/>
              <a:buFont typeface="Monotype Sorts" charset="2"/>
              <a:buChar char="l"/>
              <a:tabLst/>
              <a:defRPr/>
            </a:pPr>
            <a:r>
              <a:rPr kumimoji="1" lang="en-US" sz="2100" b="0" i="0" u="none" strike="noStrike" kern="0" cap="none" spc="0" normalizeH="0" baseline="0" noProof="0" dirty="0">
                <a:ln>
                  <a:noFill/>
                </a:ln>
                <a:solidFill>
                  <a:srgbClr val="C00000"/>
                </a:solidFill>
                <a:effectLst/>
                <a:uLnTx/>
                <a:uFillTx/>
                <a:latin typeface="Helvetica"/>
              </a:rPr>
              <a:t>Column-level Constraints</a:t>
            </a:r>
            <a:r>
              <a:rPr kumimoji="1" lang="en-US" sz="2100" b="0" i="0" u="none" strike="noStrike" kern="0" cap="none" spc="0" normalizeH="0" baseline="0" noProof="0" dirty="0">
                <a:ln>
                  <a:noFill/>
                </a:ln>
                <a:solidFill>
                  <a:srgbClr val="000000"/>
                </a:solidFill>
                <a:effectLst/>
                <a:uLnTx/>
                <a:uFillTx/>
                <a:latin typeface="Helvetica"/>
              </a:rPr>
              <a:t>- Imposed on </a:t>
            </a:r>
            <a:r>
              <a:rPr kumimoji="1" lang="en-US" sz="2100" b="1" i="0" u="none" strike="noStrike" kern="0" cap="none" spc="0" normalizeH="0" baseline="0" noProof="0" dirty="0">
                <a:ln>
                  <a:noFill/>
                </a:ln>
                <a:solidFill>
                  <a:srgbClr val="000000"/>
                </a:solidFill>
                <a:effectLst/>
                <a:uLnTx/>
                <a:uFillTx/>
                <a:latin typeface="Helvetica"/>
              </a:rPr>
              <a:t>Single Column. Defined along with Column</a:t>
            </a:r>
            <a:endParaRPr kumimoji="1" lang="en-US" sz="2100" b="0" i="0" u="none" strike="noStrike" kern="0" cap="none" spc="0" normalizeH="0" baseline="0" noProof="0" dirty="0">
              <a:ln>
                <a:noFill/>
              </a:ln>
              <a:solidFill>
                <a:srgbClr val="000000"/>
              </a:solidFill>
              <a:effectLst/>
              <a:uLnTx/>
              <a:uFillTx/>
              <a:latin typeface="Helvetica"/>
            </a:endParaRPr>
          </a:p>
          <a:p>
            <a:pPr marL="742950" marR="0" lvl="1" indent="-285750" algn="l" defTabSz="914400" rtl="0" eaLnBrk="0" fontAlgn="base" latinLnBrk="0" hangingPunct="0">
              <a:lnSpc>
                <a:spcPct val="150000"/>
              </a:lnSpc>
              <a:spcBef>
                <a:spcPct val="35000"/>
              </a:spcBef>
              <a:spcAft>
                <a:spcPct val="0"/>
              </a:spcAft>
              <a:buClr>
                <a:srgbClr val="FF9933"/>
              </a:buClr>
              <a:buSzPct val="80000"/>
              <a:buFont typeface="Monotype Sorts" charset="2"/>
              <a:buChar char="l"/>
              <a:tabLst/>
              <a:defRPr/>
            </a:pPr>
            <a:r>
              <a:rPr kumimoji="1" lang="en-US" sz="2100" b="0" i="0" u="none" strike="noStrike" kern="0" cap="none" spc="0" normalizeH="0" baseline="0" noProof="0" dirty="0">
                <a:ln>
                  <a:noFill/>
                </a:ln>
                <a:solidFill>
                  <a:srgbClr val="C00000"/>
                </a:solidFill>
                <a:effectLst/>
                <a:uLnTx/>
                <a:uFillTx/>
                <a:latin typeface="Helvetica"/>
              </a:rPr>
              <a:t>Table Level Constraint.- </a:t>
            </a:r>
            <a:r>
              <a:rPr kumimoji="1" lang="en-US" sz="2100" b="0" i="0" u="none" strike="noStrike" kern="0" cap="none" spc="0" normalizeH="0" baseline="0" noProof="0" dirty="0">
                <a:ln>
                  <a:noFill/>
                </a:ln>
                <a:solidFill>
                  <a:srgbClr val="000000"/>
                </a:solidFill>
                <a:effectLst/>
                <a:uLnTx/>
                <a:uFillTx/>
                <a:latin typeface="Helvetica"/>
              </a:rPr>
              <a:t>Defined at the end after defining all the columns.</a:t>
            </a:r>
          </a:p>
          <a:p>
            <a:pPr marL="1085850" marR="0" lvl="2" indent="-228600" algn="l" defTabSz="914400" rtl="0" eaLnBrk="0" fontAlgn="base" latinLnBrk="0" hangingPunct="0">
              <a:lnSpc>
                <a:spcPct val="150000"/>
              </a:lnSpc>
              <a:spcBef>
                <a:spcPct val="35000"/>
              </a:spcBef>
              <a:spcAft>
                <a:spcPct val="0"/>
              </a:spcAft>
              <a:buClr>
                <a:srgbClr val="33CC33"/>
              </a:buClr>
              <a:buSzPct val="75000"/>
              <a:buFont typeface="Webdings" panose="05030102010509060703" pitchFamily="18" charset="2"/>
              <a:buChar char="4"/>
              <a:tabLst/>
              <a:defRPr/>
            </a:pPr>
            <a:r>
              <a:rPr kumimoji="1" lang="en-US" sz="2000" b="1" i="0" u="none" strike="noStrike" kern="0" cap="none" spc="0" normalizeH="0" baseline="0" noProof="0" dirty="0">
                <a:ln>
                  <a:noFill/>
                </a:ln>
                <a:solidFill>
                  <a:srgbClr val="000000"/>
                </a:solidFill>
                <a:effectLst/>
                <a:uLnTx/>
                <a:uFillTx/>
                <a:latin typeface="Helvetica"/>
              </a:rPr>
              <a:t>Multi-level Column</a:t>
            </a:r>
            <a:r>
              <a:rPr kumimoji="1" lang="en-US" sz="2000" b="0" i="0" u="none" strike="noStrike" kern="0" cap="none" spc="0" normalizeH="0" baseline="0" noProof="0" dirty="0">
                <a:ln>
                  <a:noFill/>
                </a:ln>
                <a:solidFill>
                  <a:srgbClr val="000000"/>
                </a:solidFill>
                <a:effectLst/>
                <a:uLnTx/>
                <a:uFillTx/>
                <a:latin typeface="Helvetica"/>
              </a:rPr>
              <a:t>.</a:t>
            </a:r>
          </a:p>
          <a:p>
            <a:pPr marL="1428750" marR="0" lvl="3" indent="-228600" algn="l" defTabSz="914400" rtl="0" eaLnBrk="0" fontAlgn="base" latinLnBrk="0" hangingPunct="0">
              <a:lnSpc>
                <a:spcPct val="150000"/>
              </a:lnSpc>
              <a:spcBef>
                <a:spcPct val="35000"/>
              </a:spcBef>
              <a:spcAft>
                <a:spcPct val="0"/>
              </a:spcAft>
              <a:buClr>
                <a:srgbClr val="FF9900"/>
              </a:buClr>
              <a:buSzTx/>
              <a:buFont typeface="Times New Roman" panose="02020603050405020304" pitchFamily="18" charset="0"/>
              <a:buChar char="–"/>
              <a:tabLst/>
              <a:defRPr/>
            </a:pPr>
            <a:r>
              <a:rPr kumimoji="1" lang="en-US" sz="2000" b="1" i="0" u="none" strike="noStrike" kern="0" cap="none" spc="0" normalizeH="0" baseline="0" noProof="0" dirty="0">
                <a:ln>
                  <a:noFill/>
                </a:ln>
                <a:solidFill>
                  <a:srgbClr val="000000"/>
                </a:solidFill>
                <a:effectLst/>
                <a:uLnTx/>
                <a:uFillTx/>
                <a:latin typeface="Helvetica"/>
              </a:rPr>
              <a:t>Primary key </a:t>
            </a:r>
            <a:r>
              <a:rPr kumimoji="1" lang="en-US" sz="2000" b="0" i="0" u="none" strike="noStrike" kern="0" cap="none" spc="0" normalizeH="0" baseline="0" noProof="0" dirty="0">
                <a:ln>
                  <a:noFill/>
                </a:ln>
                <a:solidFill>
                  <a:srgbClr val="000000"/>
                </a:solidFill>
                <a:effectLst/>
                <a:uLnTx/>
                <a:uFillTx/>
                <a:latin typeface="Helvetica"/>
              </a:rPr>
              <a:t>imposed on combination of columns- (</a:t>
            </a:r>
            <a:r>
              <a:rPr lang="en-US" sz="2000" kern="0" dirty="0">
                <a:solidFill>
                  <a:srgbClr val="000099"/>
                </a:solidFill>
                <a:latin typeface="Helvetica"/>
              </a:rPr>
              <a:t>Name,F.name</a:t>
            </a:r>
            <a:r>
              <a:rPr kumimoji="1" lang="en-US" sz="2000" b="0" i="0" u="none" strike="noStrike" kern="0" cap="none" spc="0" normalizeH="0" baseline="0" noProof="0" dirty="0">
                <a:ln>
                  <a:noFill/>
                </a:ln>
                <a:solidFill>
                  <a:srgbClr val="000000"/>
                </a:solidFill>
                <a:effectLst/>
                <a:uLnTx/>
                <a:uFillTx/>
                <a:latin typeface="Helvetica"/>
              </a:rPr>
              <a:t>,</a:t>
            </a:r>
            <a:r>
              <a:rPr lang="en-US" sz="2000" kern="0" dirty="0">
                <a:solidFill>
                  <a:srgbClr val="000099"/>
                </a:solidFill>
                <a:latin typeface="Helvetica"/>
              </a:rPr>
              <a:t>Surname</a:t>
            </a:r>
            <a:r>
              <a:rPr kumimoji="1" lang="en-US" sz="2000" b="0" i="0" u="none" strike="noStrike" kern="0" cap="none" spc="0" normalizeH="0" baseline="0" noProof="0" dirty="0">
                <a:ln>
                  <a:noFill/>
                </a:ln>
                <a:solidFill>
                  <a:srgbClr val="000000"/>
                </a:solidFill>
                <a:effectLst/>
                <a:uLnTx/>
                <a:uFillTx/>
                <a:latin typeface="Helvetica"/>
              </a:rPr>
              <a:t>)</a:t>
            </a:r>
          </a:p>
          <a:p>
            <a:pPr marL="1085850" marR="0" lvl="2" indent="-228600" algn="l" defTabSz="914400" rtl="0" eaLnBrk="0" fontAlgn="base" latinLnBrk="0" hangingPunct="0">
              <a:lnSpc>
                <a:spcPct val="150000"/>
              </a:lnSpc>
              <a:spcBef>
                <a:spcPct val="35000"/>
              </a:spcBef>
              <a:spcAft>
                <a:spcPct val="0"/>
              </a:spcAft>
              <a:buClr>
                <a:srgbClr val="33CC33"/>
              </a:buClr>
              <a:buSzPct val="75000"/>
              <a:buFont typeface="Webdings" panose="05030102010509060703" pitchFamily="18" charset="2"/>
              <a:buChar char="4"/>
              <a:tabLst/>
              <a:defRPr/>
            </a:pPr>
            <a:r>
              <a:rPr kumimoji="1" lang="en-US" sz="2000" b="1" i="0" u="none" strike="noStrike" kern="0" cap="none" spc="0" normalizeH="0" baseline="0" noProof="0" dirty="0">
                <a:ln>
                  <a:noFill/>
                </a:ln>
                <a:solidFill>
                  <a:srgbClr val="000000"/>
                </a:solidFill>
                <a:effectLst/>
                <a:uLnTx/>
                <a:uFillTx/>
                <a:latin typeface="Helvetica"/>
              </a:rPr>
              <a:t>Constraint imposed on a column that reference another column </a:t>
            </a:r>
            <a:r>
              <a:rPr kumimoji="1" lang="en-US" sz="2000" b="0" i="0" u="none" strike="noStrike" kern="0" cap="none" spc="0" normalizeH="0" baseline="0" noProof="0" dirty="0">
                <a:ln>
                  <a:noFill/>
                </a:ln>
                <a:solidFill>
                  <a:srgbClr val="000000"/>
                </a:solidFill>
                <a:effectLst/>
                <a:uLnTx/>
                <a:uFillTx/>
                <a:latin typeface="Helvetica"/>
              </a:rPr>
              <a:t>in the constraint.</a:t>
            </a:r>
          </a:p>
          <a:p>
            <a:pPr marL="1428750" marR="0" lvl="3" indent="-228600" algn="l" defTabSz="914400" rtl="0" eaLnBrk="0" fontAlgn="base" latinLnBrk="0" hangingPunct="0">
              <a:lnSpc>
                <a:spcPct val="150000"/>
              </a:lnSpc>
              <a:spcBef>
                <a:spcPct val="35000"/>
              </a:spcBef>
              <a:spcAft>
                <a:spcPct val="0"/>
              </a:spcAft>
              <a:buClr>
                <a:srgbClr val="FF9900"/>
              </a:buClr>
              <a:buSzTx/>
              <a:buFont typeface="Times New Roman" panose="02020603050405020304" pitchFamily="18" charset="0"/>
              <a:buChar char="–"/>
              <a:tabLst/>
              <a:defRPr/>
            </a:pPr>
            <a:r>
              <a:rPr kumimoji="1" lang="en-US" sz="2000" b="0" i="0" u="none" strike="noStrike" kern="0" cap="none" spc="0" normalizeH="0" baseline="0" noProof="0" dirty="0">
                <a:ln>
                  <a:noFill/>
                </a:ln>
                <a:solidFill>
                  <a:srgbClr val="000000"/>
                </a:solidFill>
                <a:effectLst/>
                <a:uLnTx/>
                <a:uFillTx/>
                <a:latin typeface="Helvetica"/>
              </a:rPr>
              <a:t>Assume that are two columns in the table say- </a:t>
            </a:r>
            <a:r>
              <a:rPr lang="en-US" sz="2000" kern="0" dirty="0">
                <a:solidFill>
                  <a:srgbClr val="000099"/>
                </a:solidFill>
                <a:latin typeface="Helvetica"/>
              </a:rPr>
              <a:t>Date_of_Birth </a:t>
            </a:r>
            <a:r>
              <a:rPr kumimoji="1" lang="en-US" sz="2000" b="0" i="0" u="none" strike="noStrike" kern="0" cap="none" spc="0" normalizeH="0" baseline="0" noProof="0" dirty="0">
                <a:ln>
                  <a:noFill/>
                </a:ln>
                <a:solidFill>
                  <a:srgbClr val="000000"/>
                </a:solidFill>
                <a:effectLst/>
                <a:uLnTx/>
                <a:uFillTx/>
                <a:latin typeface="Helvetica"/>
              </a:rPr>
              <a:t> and </a:t>
            </a:r>
            <a:r>
              <a:rPr lang="en-US" sz="2000" kern="0" dirty="0">
                <a:solidFill>
                  <a:srgbClr val="000099"/>
                </a:solidFill>
                <a:latin typeface="Helvetica"/>
              </a:rPr>
              <a:t>Date_of_Join.</a:t>
            </a:r>
          </a:p>
          <a:p>
            <a:pPr marL="1428750" marR="0" lvl="3" indent="-228600" algn="l" defTabSz="914400" rtl="0" eaLnBrk="0" fontAlgn="base" latinLnBrk="0" hangingPunct="0">
              <a:lnSpc>
                <a:spcPct val="150000"/>
              </a:lnSpc>
              <a:spcBef>
                <a:spcPct val="35000"/>
              </a:spcBef>
              <a:spcAft>
                <a:spcPct val="0"/>
              </a:spcAft>
              <a:buClr>
                <a:srgbClr val="FF9900"/>
              </a:buClr>
              <a:buSzTx/>
              <a:buFont typeface="Times New Roman" panose="02020603050405020304" pitchFamily="18" charset="0"/>
              <a:buChar char="–"/>
              <a:tabLst/>
              <a:defRPr/>
            </a:pPr>
            <a:r>
              <a:rPr kumimoji="1" lang="en-US" sz="2000" b="0" i="0" u="none" strike="noStrike" kern="0" cap="none" spc="0" normalizeH="0" baseline="0" noProof="0" dirty="0">
                <a:ln>
                  <a:noFill/>
                </a:ln>
                <a:solidFill>
                  <a:srgbClr val="000000"/>
                </a:solidFill>
                <a:effectLst/>
                <a:uLnTx/>
                <a:uFillTx/>
                <a:latin typeface="Helvetica"/>
              </a:rPr>
              <a:t>We want to impose condition(constraint) on Date_of_Join that </a:t>
            </a:r>
          </a:p>
          <a:p>
            <a:pPr marL="1200150" marR="0" lvl="3" indent="0" algn="l" defTabSz="914400" rtl="0" eaLnBrk="0" fontAlgn="base" latinLnBrk="0" hangingPunct="0">
              <a:lnSpc>
                <a:spcPct val="150000"/>
              </a:lnSpc>
              <a:spcBef>
                <a:spcPct val="35000"/>
              </a:spcBef>
              <a:spcAft>
                <a:spcPct val="0"/>
              </a:spcAft>
              <a:buClr>
                <a:srgbClr val="FF9900"/>
              </a:buClr>
              <a:buSzTx/>
              <a:buFont typeface="Times New Roman" panose="02020603050405020304" pitchFamily="18" charset="0"/>
              <a:buNone/>
              <a:tabLst/>
              <a:defRPr/>
            </a:pPr>
            <a:r>
              <a:rPr kumimoji="1" lang="en-US" sz="2000" b="0" i="0" u="none" strike="noStrike" kern="0" cap="none" spc="0" normalizeH="0" baseline="0" noProof="0" dirty="0">
                <a:ln>
                  <a:noFill/>
                </a:ln>
                <a:solidFill>
                  <a:srgbClr val="000000"/>
                </a:solidFill>
                <a:effectLst/>
                <a:uLnTx/>
                <a:uFillTx/>
                <a:latin typeface="Helvetica"/>
              </a:rPr>
              <a:t>                   </a:t>
            </a:r>
            <a:r>
              <a:rPr lang="en-US" sz="2000" kern="0" dirty="0">
                <a:solidFill>
                  <a:srgbClr val="000099"/>
                </a:solidFill>
                <a:latin typeface="Helvetica"/>
              </a:rPr>
              <a:t>Date_of_Join</a:t>
            </a:r>
            <a:r>
              <a:rPr kumimoji="1" lang="en-US" sz="2000" b="0" i="0" u="none" strike="noStrike" kern="0" cap="none" spc="0" normalizeH="0" baseline="0" noProof="0" dirty="0">
                <a:ln>
                  <a:noFill/>
                </a:ln>
                <a:solidFill>
                  <a:srgbClr val="0070C0"/>
                </a:solidFill>
                <a:effectLst/>
                <a:uLnTx/>
                <a:uFillTx/>
                <a:latin typeface="Helvetica"/>
              </a:rPr>
              <a:t>  </a:t>
            </a:r>
            <a:r>
              <a:rPr kumimoji="1" lang="en-US" sz="2000" b="1" i="0" u="none" strike="noStrike" kern="0" cap="none" spc="0" normalizeH="0" baseline="0" noProof="0" dirty="0">
                <a:ln>
                  <a:noFill/>
                </a:ln>
                <a:solidFill>
                  <a:srgbClr val="FF0000"/>
                </a:solidFill>
                <a:effectLst/>
                <a:uLnTx/>
                <a:uFillTx/>
                <a:latin typeface="Helvetica"/>
              </a:rPr>
              <a:t>&gt;</a:t>
            </a:r>
            <a:r>
              <a:rPr kumimoji="1" lang="en-US" sz="2000" b="1" i="0" u="none" strike="noStrike" kern="0" cap="none" spc="0" normalizeH="0" baseline="0" noProof="0" dirty="0">
                <a:ln>
                  <a:noFill/>
                </a:ln>
                <a:solidFill>
                  <a:srgbClr val="0070C0"/>
                </a:solidFill>
                <a:effectLst/>
                <a:uLnTx/>
                <a:uFillTx/>
                <a:latin typeface="Helvetica"/>
              </a:rPr>
              <a:t> </a:t>
            </a:r>
            <a:r>
              <a:rPr lang="en-US" sz="2000" kern="0" dirty="0">
                <a:solidFill>
                  <a:srgbClr val="000099"/>
                </a:solidFill>
                <a:latin typeface="Helvetica"/>
              </a:rPr>
              <a:t>Date_of_Birth</a:t>
            </a:r>
            <a:r>
              <a:rPr kumimoji="1" lang="en-US" sz="2000" b="0" i="0" u="none" strike="noStrike" kern="0" cap="none" spc="0" normalizeH="0" baseline="0" noProof="0" dirty="0">
                <a:ln>
                  <a:noFill/>
                </a:ln>
                <a:solidFill>
                  <a:srgbClr val="000000"/>
                </a:solidFill>
                <a:effectLst/>
                <a:uLnTx/>
                <a:uFillTx/>
                <a:latin typeface="Helvetica"/>
              </a:rPr>
              <a:t>.</a:t>
            </a: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12</a:t>
            </a:fld>
            <a:endParaRPr lang="en-US"/>
          </a:p>
        </p:txBody>
      </p:sp>
    </p:spTree>
    <p:extLst>
      <p:ext uri="{BB962C8B-B14F-4D97-AF65-F5344CB8AC3E}">
        <p14:creationId xmlns:p14="http://schemas.microsoft.com/office/powerpoint/2010/main" val="755851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2078038" y="846138"/>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Integrity Constraints in Create Table</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6" name="Rectangle 3"/>
          <p:cNvSpPr txBox="1">
            <a:spLocks noChangeArrowheads="1"/>
          </p:cNvSpPr>
          <p:nvPr/>
        </p:nvSpPr>
        <p:spPr bwMode="auto">
          <a:xfrm>
            <a:off x="2897188" y="2443957"/>
            <a:ext cx="6638925" cy="2470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not null -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primary key</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A</a:t>
            </a:r>
            <a:r>
              <a:rPr kumimoji="1" lang="en-US" altLang="en-US" sz="2000" b="0" i="0" u="none" strike="noStrike" kern="0" cap="none" spc="0" normalizeH="0" baseline="-25000" noProof="0" dirty="0">
                <a:ln>
                  <a:noFill/>
                </a:ln>
                <a:solidFill>
                  <a:srgbClr val="000000"/>
                </a:solidFill>
                <a:effectLst/>
                <a:uLnTx/>
                <a:uFillTx/>
                <a:latin typeface="Helvetica"/>
                <a:ea typeface="+mn-ea"/>
                <a:cs typeface="+mn-cs"/>
              </a:rPr>
              <a:t>1</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A</a:t>
            </a:r>
            <a:r>
              <a:rPr kumimoji="1" lang="en-US" altLang="en-US" sz="2000" b="0" i="1" u="none" strike="noStrike" kern="0" cap="none" spc="0" normalizeH="0" baseline="-25000" noProof="0" dirty="0">
                <a:ln>
                  <a:noFill/>
                </a:ln>
                <a:solidFill>
                  <a:srgbClr val="000000"/>
                </a:solidFill>
                <a:effectLst/>
                <a:uLnTx/>
                <a:uFillTx/>
                <a:latin typeface="Helvetica"/>
                <a:ea typeface="+mn-ea"/>
                <a:cs typeface="+mn-cs"/>
              </a:rPr>
              <a:t>n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foreign key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A</a:t>
            </a:r>
            <a:r>
              <a:rPr kumimoji="1" lang="en-US" altLang="en-US" sz="2000" b="0" i="0" u="none" strike="noStrike" kern="0" cap="none" spc="0" normalizeH="0" baseline="-25000" noProof="0" dirty="0">
                <a:ln>
                  <a:noFill/>
                </a:ln>
                <a:solidFill>
                  <a:srgbClr val="000000"/>
                </a:solidFill>
                <a:effectLst/>
                <a:uLnTx/>
                <a:uFillTx/>
                <a:latin typeface="Helvetica"/>
                <a:ea typeface="+mn-ea"/>
                <a:cs typeface="+mn-cs"/>
              </a:rPr>
              <a:t>m</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A</a:t>
            </a:r>
            <a:r>
              <a:rPr kumimoji="1" lang="en-US" altLang="en-US" sz="2000" b="0" i="1" u="none" strike="noStrike" kern="0" cap="none" spc="0" normalizeH="0" baseline="-25000" noProof="0" dirty="0">
                <a:ln>
                  <a:noFill/>
                </a:ln>
                <a:solidFill>
                  <a:srgbClr val="000000"/>
                </a:solidFill>
                <a:effectLst/>
                <a:uLnTx/>
                <a:uFillTx/>
                <a:latin typeface="Helvetica"/>
                <a:ea typeface="+mn-ea"/>
                <a:cs typeface="+mn-cs"/>
              </a:rPr>
              <a:t>n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references </a:t>
            </a:r>
            <a:r>
              <a:rPr kumimoji="1" lang="en-US" altLang="en-US" sz="2000" b="0" i="1" u="none" strike="noStrike" kern="0" cap="none" spc="0" normalizeH="0" baseline="0" noProof="0" dirty="0">
                <a:ln>
                  <a:noFill/>
                </a:ln>
                <a:solidFill>
                  <a:srgbClr val="000000"/>
                </a:solidFill>
                <a:effectLst/>
                <a:uLnTx/>
                <a:uFillTx/>
                <a:latin typeface="Helvetica"/>
                <a:ea typeface="+mn-ea"/>
                <a:cs typeface="+mn-cs"/>
              </a:rPr>
              <a:t>r</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lang="en-US" altLang="en-US" sz="2000" b="1" kern="0" noProof="0" dirty="0">
                <a:solidFill>
                  <a:srgbClr val="000000"/>
                </a:solidFill>
                <a:latin typeface="Helvetica"/>
              </a:rPr>
              <a:t>Unique</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altLang="en-US" sz="2000" b="1" u="none" strike="noStrike" kern="0" cap="none" spc="0" normalizeH="0" baseline="0" dirty="0">
                <a:ln>
                  <a:noFill/>
                </a:ln>
                <a:solidFill>
                  <a:srgbClr val="000000"/>
                </a:solidFill>
                <a:effectLst/>
                <a:uLnTx/>
                <a:uFillTx/>
                <a:latin typeface="Helvetica"/>
              </a:rPr>
              <a:t>Check</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lang="en-US" altLang="en-US" sz="2000" b="1" kern="0" noProof="0" dirty="0">
                <a:solidFill>
                  <a:srgbClr val="000000"/>
                </a:solidFill>
                <a:latin typeface="Helvetica"/>
              </a:rPr>
              <a:t>Default</a:t>
            </a:r>
            <a:endParaRPr kumimoji="1" lang="en-US" altLang="en-US" sz="1800" b="1" u="none" strike="noStrike" kern="0" cap="none" spc="0" normalizeH="0" baseline="0" noProof="0" dirty="0">
              <a:ln>
                <a:noFill/>
              </a:ln>
              <a:solidFill>
                <a:srgbClr val="000000"/>
              </a:solidFill>
              <a:effectLst/>
              <a:uLnTx/>
              <a:uFillTx/>
              <a:latin typeface="Helvetica"/>
            </a:endParaRPr>
          </a:p>
        </p:txBody>
      </p:sp>
      <p:sp>
        <p:nvSpPr>
          <p:cNvPr id="7" name="Rectangle 6"/>
          <p:cNvSpPr/>
          <p:nvPr/>
        </p:nvSpPr>
        <p:spPr>
          <a:xfrm>
            <a:off x="2397126" y="1818521"/>
            <a:ext cx="6516849" cy="400110"/>
          </a:xfrm>
          <a:prstGeom prst="rect">
            <a:avLst/>
          </a:prstGeom>
        </p:spPr>
        <p:txBody>
          <a:bodyPr wrap="none">
            <a:spAutoFit/>
          </a:bodyPr>
          <a:lstStyle/>
          <a:p>
            <a:r>
              <a:rPr kumimoji="1" lang="en-US" sz="2000" dirty="0">
                <a:solidFill>
                  <a:srgbClr val="000000"/>
                </a:solidFill>
                <a:latin typeface="Helvetica" panose="020B0604020202020204" pitchFamily="34" charset="0"/>
              </a:rPr>
              <a:t>SQL supports a number of different integrity constraints.</a:t>
            </a: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13</a:t>
            </a:fld>
            <a:endParaRPr lang="en-US"/>
          </a:p>
        </p:txBody>
      </p:sp>
    </p:spTree>
    <p:extLst>
      <p:ext uri="{BB962C8B-B14F-4D97-AF65-F5344CB8AC3E}">
        <p14:creationId xmlns:p14="http://schemas.microsoft.com/office/powerpoint/2010/main" val="2455139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NOT NULL</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3" name="Content Placeholder 2"/>
          <p:cNvSpPr txBox="1">
            <a:spLocks/>
          </p:cNvSpPr>
          <p:nvPr/>
        </p:nvSpPr>
        <p:spPr bwMode="auto">
          <a:xfrm>
            <a:off x="1024467" y="832532"/>
            <a:ext cx="10215033"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NULL is special kind of value applicable to any domain(datatype).</a:t>
            </a: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endParaRPr kumimoji="1" lang="en-US" sz="600" b="0" i="0" u="none" strike="noStrike" kern="0" cap="none" spc="0" normalizeH="0" baseline="0" noProof="0" dirty="0">
              <a:ln>
                <a:noFill/>
              </a:ln>
              <a:solidFill>
                <a:srgbClr val="000000"/>
              </a:solidFill>
              <a:effectLst/>
              <a:uLnTx/>
              <a:uFillTx/>
              <a:latin typeface="Helvetica"/>
              <a:ea typeface="+mn-ea"/>
              <a:cs typeface="+mn-cs"/>
            </a:endParaRPr>
          </a:p>
          <a:p>
            <a:pPr marL="742950" marR="0" lvl="1" indent="-285750" algn="l" defTabSz="914400" rtl="0" eaLnBrk="0" fontAlgn="base" latinLnBrk="0" hangingPunct="0">
              <a:lnSpc>
                <a:spcPct val="120000"/>
              </a:lnSpc>
              <a:spcBef>
                <a:spcPct val="35000"/>
              </a:spcBef>
              <a:spcAft>
                <a:spcPct val="0"/>
              </a:spcAft>
              <a:buClr>
                <a:srgbClr val="FF9933"/>
              </a:buClr>
              <a:buSzPct val="80000"/>
              <a:buFont typeface="Monotype Sorts" charset="2"/>
              <a:buChar char="l"/>
              <a:tabLst/>
              <a:defRPr/>
            </a:pPr>
            <a:r>
              <a:rPr kumimoji="1" lang="en-US" sz="1800" b="1" i="0" u="none" strike="noStrike" kern="0" cap="none" spc="0" normalizeH="0" baseline="0" noProof="0" dirty="0">
                <a:ln>
                  <a:noFill/>
                </a:ln>
                <a:solidFill>
                  <a:srgbClr val="000000"/>
                </a:solidFill>
                <a:effectLst/>
                <a:uLnTx/>
                <a:uFillTx/>
                <a:latin typeface="Helvetica"/>
              </a:rPr>
              <a:t>Note</a:t>
            </a:r>
            <a:r>
              <a:rPr kumimoji="1" lang="en-US" sz="1800" b="0" i="0" u="none" strike="noStrike" kern="0" cap="none" spc="0" normalizeH="0" baseline="0" noProof="0" dirty="0">
                <a:ln>
                  <a:noFill/>
                </a:ln>
                <a:solidFill>
                  <a:srgbClr val="000000"/>
                </a:solidFill>
                <a:effectLst/>
                <a:uLnTx/>
                <a:uFillTx/>
                <a:latin typeface="Helvetica"/>
              </a:rPr>
              <a:t>: NULL is </a:t>
            </a:r>
            <a:r>
              <a:rPr kumimoji="1" lang="en-US" sz="1800" b="1" i="0" u="none" strike="noStrike" kern="0" cap="none" spc="0" normalizeH="0" baseline="0" noProof="0" dirty="0">
                <a:ln>
                  <a:noFill/>
                </a:ln>
                <a:solidFill>
                  <a:srgbClr val="000000"/>
                </a:solidFill>
                <a:effectLst/>
                <a:uLnTx/>
                <a:uFillTx/>
                <a:latin typeface="Helvetica"/>
              </a:rPr>
              <a:t>not equivalent </a:t>
            </a:r>
            <a:r>
              <a:rPr kumimoji="1" lang="en-US" sz="1800" b="0" i="0" u="none" strike="noStrike" kern="0" cap="none" spc="0" normalizeH="0" baseline="0" noProof="0" dirty="0">
                <a:ln>
                  <a:noFill/>
                </a:ln>
                <a:solidFill>
                  <a:srgbClr val="000000"/>
                </a:solidFill>
                <a:effectLst/>
                <a:uLnTx/>
                <a:uFillTx/>
                <a:latin typeface="Helvetica"/>
              </a:rPr>
              <a:t>to </a:t>
            </a:r>
            <a:r>
              <a:rPr kumimoji="1" lang="en-US" sz="2400" b="1" i="0" u="none" strike="noStrike" kern="0" cap="none" spc="0" normalizeH="0" baseline="0" noProof="0" dirty="0">
                <a:ln>
                  <a:noFill/>
                </a:ln>
                <a:solidFill>
                  <a:srgbClr val="C00000"/>
                </a:solidFill>
                <a:effectLst/>
                <a:uLnTx/>
                <a:uFillTx/>
                <a:latin typeface="Helvetica"/>
              </a:rPr>
              <a:t>''</a:t>
            </a:r>
            <a:r>
              <a:rPr kumimoji="1" lang="en-US" sz="1800" b="0" i="0" u="none" strike="noStrike" kern="0" cap="none" spc="0" normalizeH="0" baseline="0" noProof="0" dirty="0">
                <a:ln>
                  <a:noFill/>
                </a:ln>
                <a:solidFill>
                  <a:srgbClr val="000000"/>
                </a:solidFill>
                <a:effectLst/>
                <a:uLnTx/>
                <a:uFillTx/>
                <a:latin typeface="Helvetica"/>
              </a:rPr>
              <a:t> or  </a:t>
            </a:r>
            <a:r>
              <a:rPr kumimoji="1" lang="en-US" sz="2000" b="1" i="0" u="none" strike="noStrike" kern="0" cap="none" spc="0" normalizeH="0" baseline="0" noProof="0" dirty="0">
                <a:ln>
                  <a:noFill/>
                </a:ln>
                <a:solidFill>
                  <a:srgbClr val="CCECFF">
                    <a:lumMod val="25000"/>
                  </a:srgbClr>
                </a:solidFill>
                <a:effectLst/>
                <a:uLnTx/>
                <a:uFillTx/>
                <a:latin typeface="Helvetica"/>
              </a:rPr>
              <a:t>'   '</a:t>
            </a: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In</a:t>
            </a:r>
            <a:r>
              <a:rPr kumimoji="1" lang="en-US" sz="2000" b="0" i="0" u="none" strike="noStrike" kern="0" cap="none" spc="0" normalizeH="0" baseline="0" noProof="0" dirty="0">
                <a:ln>
                  <a:noFill/>
                </a:ln>
                <a:solidFill>
                  <a:srgbClr val="CCECFF">
                    <a:lumMod val="25000"/>
                  </a:srgbClr>
                </a:solidFill>
                <a:effectLst/>
                <a:uLnTx/>
                <a:uFillTx/>
                <a:latin typeface="Helvetica"/>
                <a:ea typeface="+mn-ea"/>
                <a:cs typeface="+mn-cs"/>
              </a:rPr>
              <a:t> </a:t>
            </a:r>
            <a:r>
              <a:rPr kumimoji="1" lang="en-US" sz="1800" b="0" i="0" u="none" strike="noStrike" kern="0" cap="none" spc="0" normalizeH="0" baseline="0" noProof="0" dirty="0">
                <a:ln>
                  <a:noFill/>
                </a:ln>
                <a:solidFill>
                  <a:srgbClr val="000000"/>
                </a:solidFill>
                <a:effectLst/>
                <a:uLnTx/>
                <a:uFillTx/>
                <a:latin typeface="Helvetica"/>
                <a:ea typeface="+mn-ea"/>
                <a:cs typeface="+mn-cs"/>
              </a:rPr>
              <a:t>some cases, value to some column is </a:t>
            </a:r>
            <a:r>
              <a:rPr kumimoji="1" lang="en-US" sz="1800" b="0" i="0" u="none" strike="noStrike" kern="0" cap="none" spc="0" normalizeH="0" baseline="0" noProof="0" dirty="0">
                <a:ln>
                  <a:noFill/>
                </a:ln>
                <a:solidFill>
                  <a:srgbClr val="C00000"/>
                </a:solidFill>
                <a:effectLst/>
                <a:uLnTx/>
                <a:uFillTx/>
                <a:latin typeface="Helvetica"/>
                <a:ea typeface="+mn-ea"/>
                <a:cs typeface="+mn-cs"/>
              </a:rPr>
              <a:t>mandatory to enter</a:t>
            </a:r>
            <a:r>
              <a:rPr kumimoji="1" lang="en-US" sz="1800" b="0" i="0" u="none" strike="noStrike" kern="0" cap="none" spc="0" normalizeH="0" baseline="0" noProof="0" dirty="0">
                <a:ln>
                  <a:noFill/>
                </a:ln>
                <a:solidFill>
                  <a:srgbClr val="000000"/>
                </a:solidFill>
                <a:effectLst/>
                <a:uLnTx/>
                <a:uFillTx/>
                <a:latin typeface="Helvetica"/>
                <a:ea typeface="+mn-ea"/>
                <a:cs typeface="+mn-cs"/>
              </a:rPr>
              <a:t>. </a:t>
            </a: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In other words we want to </a:t>
            </a:r>
            <a:r>
              <a:rPr kumimoji="1" lang="en-US" sz="1800" b="0" i="0" u="none" strike="noStrike" kern="0" cap="none" spc="0" normalizeH="0" baseline="0" noProof="0" dirty="0">
                <a:ln>
                  <a:noFill/>
                </a:ln>
                <a:solidFill>
                  <a:srgbClr val="C00000"/>
                </a:solidFill>
                <a:effectLst/>
                <a:uLnTx/>
                <a:uFillTx/>
                <a:latin typeface="Helvetica"/>
                <a:ea typeface="+mn-ea"/>
                <a:cs typeface="+mn-cs"/>
              </a:rPr>
              <a:t>force the user to enter </a:t>
            </a:r>
            <a:r>
              <a:rPr kumimoji="1" lang="en-US" sz="1800" b="0" i="0" u="none" strike="noStrike" kern="0" cap="none" spc="0" normalizeH="0" baseline="0" noProof="0" dirty="0">
                <a:ln>
                  <a:noFill/>
                </a:ln>
                <a:solidFill>
                  <a:srgbClr val="000000"/>
                </a:solidFill>
                <a:effectLst/>
                <a:uLnTx/>
                <a:uFillTx/>
                <a:latin typeface="Helvetica"/>
                <a:ea typeface="+mn-ea"/>
                <a:cs typeface="+mn-cs"/>
              </a:rPr>
              <a:t>some value to the column.</a:t>
            </a:r>
          </a:p>
          <a:p>
            <a:pPr marL="0" marR="0" lvl="0" indent="0" algn="l" defTabSz="914400" rtl="0" eaLnBrk="0" fontAlgn="base" latinLnBrk="0" hangingPunct="0">
              <a:lnSpc>
                <a:spcPct val="120000"/>
              </a:lnSpc>
              <a:spcBef>
                <a:spcPct val="35000"/>
              </a:spcBef>
              <a:spcAft>
                <a:spcPct val="0"/>
              </a:spcAft>
              <a:buClr>
                <a:srgbClr val="CC3300"/>
              </a:buClr>
              <a:buSzPct val="90000"/>
              <a:buFont typeface="Monotype Sorts" charset="2"/>
              <a:buNone/>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Example: </a:t>
            </a:r>
            <a:r>
              <a:rPr kumimoji="1" lang="en-US" sz="1800" b="0" i="0" u="none" strike="noStrike" kern="0" cap="none" spc="0" normalizeH="0" baseline="0" noProof="0" dirty="0">
                <a:ln>
                  <a:noFill/>
                </a:ln>
                <a:solidFill>
                  <a:srgbClr val="000000"/>
                </a:solidFill>
                <a:effectLst/>
                <a:uLnTx/>
                <a:uFillTx/>
                <a:latin typeface="Helvetica"/>
                <a:ea typeface="+mn-ea"/>
                <a:cs typeface="+mn-cs"/>
              </a:rPr>
              <a:t>Assume that the table Instructor considered in previous slide, we want make user to enter some values, can’t be left null vales.</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defRPr/>
            </a:pPr>
            <a:endParaRPr kumimoji="1" lang="en-US" sz="500" b="0" i="0" u="none" strike="noStrike" kern="0" cap="none" spc="0" normalizeH="0" baseline="0" noProof="0" dirty="0">
              <a:ln>
                <a:noFill/>
              </a:ln>
              <a:solidFill>
                <a:srgbClr val="000000"/>
              </a:solidFill>
              <a:effectLst/>
              <a:uLnTx/>
              <a:uFillTx/>
              <a:latin typeface="Helvetica"/>
              <a:ea typeface="+mn-ea"/>
              <a:cs typeface="+mn-cs"/>
            </a:endParaRPr>
          </a:p>
          <a:p>
            <a:pPr marL="0" marR="0" lvl="0" indent="0" algn="l" defTabSz="914400" rtl="0" eaLnBrk="0" fontAlgn="base" latinLnBrk="0" hangingPunct="0">
              <a:lnSpc>
                <a:spcPct val="150000"/>
              </a:lnSpc>
              <a:spcBef>
                <a:spcPct val="35000"/>
              </a:spcBef>
              <a:spcAft>
                <a:spcPct val="0"/>
              </a:spcAft>
              <a:buClr>
                <a:srgbClr val="CC3300"/>
              </a:buClr>
              <a:buSzPct val="90000"/>
              <a:buFont typeface="Monotype Sorts" charset="2"/>
              <a:buNone/>
              <a:tabLst/>
              <a:defRPr/>
            </a:pP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create table</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instructor</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br>
              <a:rPr kumimoji="1" lang="en-US" altLang="en-US" sz="18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ID</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char</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(5),</a:t>
            </a:r>
            <a:br>
              <a:rPr kumimoji="1" lang="en-US" altLang="en-US" sz="18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name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varchar</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(20) </a:t>
            </a:r>
            <a:r>
              <a:rPr kumimoji="1" lang="en-US" altLang="en-US" sz="1800" b="0" i="0" u="none" strike="noStrike" kern="0" cap="none" spc="0" normalizeH="0" baseline="0" noProof="0" dirty="0">
                <a:ln>
                  <a:noFill/>
                </a:ln>
                <a:solidFill>
                  <a:srgbClr val="C00000"/>
                </a:solidFill>
                <a:effectLst/>
                <a:uLnTx/>
                <a:uFillTx/>
                <a:latin typeface="Helvetica"/>
                <a:ea typeface="+mn-ea"/>
                <a:cs typeface="+mn-cs"/>
              </a:rPr>
              <a:t>NOT NULL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1" i="1"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dept_name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varchar</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(20),</a:t>
            </a:r>
            <a:br>
              <a:rPr kumimoji="1" lang="en-US" altLang="en-US" sz="18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salary</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numeric</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(8,2) );</a:t>
            </a:r>
          </a:p>
          <a:p>
            <a:pPr marL="0" marR="0" lvl="0" indent="0" algn="l" defTabSz="914400" rtl="0" eaLnBrk="0" fontAlgn="base" latinLnBrk="0" hangingPunct="0">
              <a:lnSpc>
                <a:spcPct val="150000"/>
              </a:lnSpc>
              <a:spcBef>
                <a:spcPct val="35000"/>
              </a:spcBef>
              <a:spcAft>
                <a:spcPct val="0"/>
              </a:spcAft>
              <a:buClr>
                <a:srgbClr val="CC3300"/>
              </a:buClr>
              <a:buSzPct val="90000"/>
              <a:buFont typeface="Monotype Sorts" charset="2"/>
              <a:buNone/>
              <a:tabLst/>
              <a:defRPr/>
            </a:pPr>
            <a:endParaRPr kumimoji="1" lang="en-US" altLang="en-US" sz="7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90000"/>
              </a:lnSpc>
              <a:spcBef>
                <a:spcPct val="35000"/>
              </a:spcBef>
              <a:spcAft>
                <a:spcPct val="0"/>
              </a:spcAft>
              <a:buClr>
                <a:srgbClr val="CC3300"/>
              </a:buClr>
              <a:buSzPct val="90000"/>
              <a:buFont typeface="Monotype Sorts" charset="2"/>
              <a:buChar char="n"/>
              <a:tabLst>
                <a:tab pos="1489075" algn="l"/>
                <a:tab pos="1949450" algn="l"/>
                <a:tab pos="3036888" algn="l"/>
              </a:tabLst>
              <a:defRPr/>
            </a:pP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insert into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instructor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values </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(‘10211’, ’Smith’, ’Biology’, 66000);</a:t>
            </a:r>
          </a:p>
          <a:p>
            <a:pPr marL="342900" marR="0" lvl="0" indent="-342900" algn="l" defTabSz="914400" rtl="0" eaLnBrk="0" fontAlgn="base" latinLnBrk="0" hangingPunct="0">
              <a:lnSpc>
                <a:spcPct val="90000"/>
              </a:lnSpc>
              <a:spcBef>
                <a:spcPct val="35000"/>
              </a:spcBef>
              <a:spcAft>
                <a:spcPct val="0"/>
              </a:spcAft>
              <a:buClr>
                <a:srgbClr val="CC3300"/>
              </a:buClr>
              <a:buSzPct val="90000"/>
              <a:buFont typeface="Monotype Sorts" charset="2"/>
              <a:buChar char="n"/>
              <a:tabLst>
                <a:tab pos="1489075" algn="l"/>
                <a:tab pos="1949450" algn="l"/>
                <a:tab pos="3036888" algn="l"/>
              </a:tabLst>
              <a:defRPr/>
            </a:pP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insert into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instructor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values </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(‘10211’, </a:t>
            </a:r>
            <a:r>
              <a:rPr kumimoji="1" lang="en-US" altLang="en-US" sz="1800" b="1" i="0" u="none" strike="noStrike" kern="0" cap="none" spc="0" normalizeH="0" baseline="0" noProof="0" dirty="0">
                <a:ln>
                  <a:noFill/>
                </a:ln>
                <a:solidFill>
                  <a:srgbClr val="C00000"/>
                </a:solidFill>
                <a:effectLst/>
                <a:uLnTx/>
                <a:uFillTx/>
                <a:latin typeface="Helvetica"/>
                <a:ea typeface="+mn-ea"/>
                <a:cs typeface="+mn-cs"/>
              </a:rPr>
              <a:t>null</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’Biology’, 66000);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1" i="0" u="none" strike="noStrike" kern="0" cap="none" spc="0" normalizeH="0" baseline="0" noProof="0" dirty="0">
                <a:ln>
                  <a:noFill/>
                </a:ln>
                <a:solidFill>
                  <a:srgbClr val="C00000"/>
                </a:solidFill>
                <a:effectLst/>
                <a:uLnTx/>
                <a:uFillTx/>
                <a:latin typeface="Helvetica"/>
                <a:ea typeface="+mn-ea"/>
                <a:cs typeface="+mn-cs"/>
              </a:rPr>
              <a:t>GIVES ERROR</a:t>
            </a:r>
          </a:p>
          <a:p>
            <a:pPr marL="0" marR="0" lvl="0" indent="0" algn="l" defTabSz="914400" rtl="0" eaLnBrk="0" fontAlgn="base" latinLnBrk="0" hangingPunct="0">
              <a:lnSpc>
                <a:spcPct val="90000"/>
              </a:lnSpc>
              <a:spcBef>
                <a:spcPct val="35000"/>
              </a:spcBef>
              <a:spcAft>
                <a:spcPct val="0"/>
              </a:spcAft>
              <a:buClr>
                <a:srgbClr val="CC3300"/>
              </a:buClr>
              <a:buSzPct val="90000"/>
              <a:buNone/>
              <a:tabLst>
                <a:tab pos="1489075" algn="l"/>
                <a:tab pos="1949450" algn="l"/>
                <a:tab pos="3036888" algn="l"/>
              </a:tabLst>
              <a:defRPr/>
            </a:pPr>
            <a:r>
              <a:rPr lang="en-US" altLang="en-US" b="1" kern="0" dirty="0">
                <a:solidFill>
                  <a:srgbClr val="C00000"/>
                </a:solidFill>
                <a:latin typeface="Helvetica"/>
              </a:rPr>
              <a:t>* </a:t>
            </a:r>
            <a:r>
              <a:rPr lang="en-US" altLang="en-US" sz="1600" kern="0" dirty="0">
                <a:solidFill>
                  <a:srgbClr val="002060"/>
                </a:solidFill>
                <a:latin typeface="Helvetica"/>
              </a:rPr>
              <a:t>Insert commands are discussed in detail later.</a:t>
            </a:r>
            <a:endParaRPr kumimoji="1" lang="en-US" altLang="en-US" sz="1600" i="0" u="none" strike="noStrike" kern="0" cap="none" spc="0" normalizeH="0" baseline="0" noProof="0" dirty="0">
              <a:ln>
                <a:noFill/>
              </a:ln>
              <a:solidFill>
                <a:srgbClr val="002060"/>
              </a:solidFill>
              <a:effectLst/>
              <a:uLnTx/>
              <a:uFillTx/>
              <a:latin typeface="Helvetica"/>
            </a:endParaRPr>
          </a:p>
          <a:p>
            <a:pPr marL="0" marR="0" lvl="0" indent="0" algn="l" defTabSz="914400" rtl="0" eaLnBrk="0" fontAlgn="base" latinLnBrk="0" hangingPunct="0">
              <a:lnSpc>
                <a:spcPct val="150000"/>
              </a:lnSpc>
              <a:spcBef>
                <a:spcPct val="35000"/>
              </a:spcBef>
              <a:spcAft>
                <a:spcPct val="0"/>
              </a:spcAft>
              <a:buClr>
                <a:srgbClr val="CC3300"/>
              </a:buClr>
              <a:buSzPct val="90000"/>
              <a:buFont typeface="Monotype Sorts" charset="2"/>
              <a:buNone/>
              <a:tabLst/>
              <a:defRPr/>
            </a:pP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 </a:t>
            </a:r>
          </a:p>
        </p:txBody>
      </p:sp>
      <p:sp>
        <p:nvSpPr>
          <p:cNvPr id="4" name="Footer Placeholder 3"/>
          <p:cNvSpPr>
            <a:spLocks noGrp="1"/>
          </p:cNvSpPr>
          <p:nvPr>
            <p:ph type="ftr" sz="quarter" idx="11"/>
          </p:nvPr>
        </p:nvSpPr>
        <p:spPr>
          <a:xfrm>
            <a:off x="4038600" y="6487826"/>
            <a:ext cx="4114800" cy="365125"/>
          </a:xfrm>
        </p:spPr>
        <p:txBody>
          <a:bodyPr/>
          <a:lstStyle/>
          <a:p>
            <a:r>
              <a:rPr lang="en-US" dirty="0"/>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14</a:t>
            </a:fld>
            <a:endParaRPr lang="en-US" dirty="0"/>
          </a:p>
        </p:txBody>
      </p:sp>
    </p:spTree>
    <p:extLst>
      <p:ext uri="{BB962C8B-B14F-4D97-AF65-F5344CB8AC3E}">
        <p14:creationId xmlns:p14="http://schemas.microsoft.com/office/powerpoint/2010/main" val="1174192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PRIMARY KEY</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3" name="Content Placeholder 2"/>
          <p:cNvSpPr txBox="1">
            <a:spLocks/>
          </p:cNvSpPr>
          <p:nvPr/>
        </p:nvSpPr>
        <p:spPr bwMode="auto">
          <a:xfrm>
            <a:off x="1024467" y="772417"/>
            <a:ext cx="10215033" cy="4106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Identifies every tuple(record/row) in the table uniquely.</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primary key </a:t>
            </a:r>
            <a:r>
              <a:rPr kumimoji="1" lang="en-US" sz="1800" b="1" i="0" u="none" strike="noStrike" kern="0" cap="none" spc="0" normalizeH="0" baseline="0" noProof="0" dirty="0">
                <a:ln>
                  <a:noFill/>
                </a:ln>
                <a:solidFill>
                  <a:srgbClr val="C00000"/>
                </a:solidFill>
                <a:effectLst/>
                <a:uLnTx/>
                <a:uFillTx/>
                <a:latin typeface="Helvetica"/>
                <a:ea typeface="+mn-ea"/>
                <a:cs typeface="+mn-cs"/>
              </a:rPr>
              <a:t>(</a:t>
            </a:r>
            <a:r>
              <a:rPr kumimoji="1" lang="en-US" sz="1800" b="1" i="1" u="none" strike="noStrike" kern="0" cap="none" spc="0" normalizeH="0" baseline="0" noProof="0" dirty="0">
                <a:ln>
                  <a:noFill/>
                </a:ln>
                <a:solidFill>
                  <a:srgbClr val="C00000"/>
                </a:solidFill>
                <a:effectLst/>
                <a:uLnTx/>
                <a:uFillTx/>
                <a:latin typeface="Helvetica"/>
                <a:ea typeface="+mn-ea"/>
                <a:cs typeface="+mn-cs"/>
              </a:rPr>
              <a:t>A</a:t>
            </a:r>
            <a:r>
              <a:rPr kumimoji="1" lang="en-US" sz="1800" b="1" i="1" u="none" strike="noStrike" kern="0" cap="none" spc="0" normalizeH="0" baseline="-25000" noProof="0" dirty="0">
                <a:ln>
                  <a:noFill/>
                </a:ln>
                <a:solidFill>
                  <a:srgbClr val="C00000"/>
                </a:solidFill>
                <a:effectLst/>
                <a:uLnTx/>
                <a:uFillTx/>
                <a:latin typeface="Helvetica"/>
                <a:ea typeface="+mn-ea"/>
                <a:cs typeface="+mn-cs"/>
              </a:rPr>
              <a:t>j</a:t>
            </a:r>
            <a:r>
              <a:rPr kumimoji="1" lang="en-US" sz="1800" b="1" i="0" u="none" strike="noStrike" kern="0" cap="none" spc="0" normalizeH="0" baseline="-25000" noProof="0" dirty="0">
                <a:ln>
                  <a:noFill/>
                </a:ln>
                <a:solidFill>
                  <a:srgbClr val="C00000"/>
                </a:solidFill>
                <a:effectLst/>
                <a:uLnTx/>
                <a:uFillTx/>
                <a:latin typeface="Helvetica"/>
                <a:ea typeface="+mn-ea"/>
                <a:cs typeface="+mn-cs"/>
              </a:rPr>
              <a:t>1</a:t>
            </a:r>
            <a:r>
              <a:rPr kumimoji="1" lang="en-US" sz="1800" b="1" i="1" u="none" strike="noStrike" kern="0" cap="none" spc="0" normalizeH="0" baseline="0" noProof="0" dirty="0">
                <a:ln>
                  <a:noFill/>
                </a:ln>
                <a:solidFill>
                  <a:srgbClr val="C00000"/>
                </a:solidFill>
                <a:effectLst/>
                <a:uLnTx/>
                <a:uFillTx/>
                <a:latin typeface="Helvetica"/>
                <a:ea typeface="+mn-ea"/>
                <a:cs typeface="+mn-cs"/>
              </a:rPr>
              <a:t>, A</a:t>
            </a:r>
            <a:r>
              <a:rPr kumimoji="1" lang="en-US" sz="1800" b="1" i="1" u="none" strike="noStrike" kern="0" cap="none" spc="0" normalizeH="0" baseline="-25000" noProof="0" dirty="0">
                <a:ln>
                  <a:noFill/>
                </a:ln>
                <a:solidFill>
                  <a:srgbClr val="C00000"/>
                </a:solidFill>
                <a:effectLst/>
                <a:uLnTx/>
                <a:uFillTx/>
                <a:latin typeface="Helvetica"/>
                <a:ea typeface="+mn-ea"/>
                <a:cs typeface="+mn-cs"/>
              </a:rPr>
              <a:t>j</a:t>
            </a:r>
            <a:r>
              <a:rPr kumimoji="1" lang="en-US" sz="1800" b="1" i="0" u="none" strike="noStrike" kern="0" cap="none" spc="0" normalizeH="0" baseline="-25000" noProof="0" dirty="0">
                <a:ln>
                  <a:noFill/>
                </a:ln>
                <a:solidFill>
                  <a:srgbClr val="C00000"/>
                </a:solidFill>
                <a:effectLst/>
                <a:uLnTx/>
                <a:uFillTx/>
                <a:latin typeface="Helvetica"/>
                <a:ea typeface="+mn-ea"/>
                <a:cs typeface="+mn-cs"/>
              </a:rPr>
              <a:t>2</a:t>
            </a:r>
            <a:r>
              <a:rPr kumimoji="1" lang="en-US" sz="1800" b="1" i="1" u="none" strike="noStrike" kern="0" cap="none" spc="0" normalizeH="0" baseline="0" noProof="0" dirty="0">
                <a:ln>
                  <a:noFill/>
                </a:ln>
                <a:solidFill>
                  <a:srgbClr val="C00000"/>
                </a:solidFill>
                <a:effectLst/>
                <a:uLnTx/>
                <a:uFillTx/>
                <a:latin typeface="Helvetica"/>
                <a:ea typeface="+mn-ea"/>
                <a:cs typeface="+mn-cs"/>
              </a:rPr>
              <a:t>, . . . , </a:t>
            </a:r>
            <a:r>
              <a:rPr kumimoji="1" lang="en-US" sz="1800" b="1" i="1" u="none" strike="noStrike" kern="0" cap="none" spc="0" normalizeH="0" baseline="0" noProof="0" dirty="0" err="1">
                <a:ln>
                  <a:noFill/>
                </a:ln>
                <a:solidFill>
                  <a:srgbClr val="C00000"/>
                </a:solidFill>
                <a:effectLst/>
                <a:uLnTx/>
                <a:uFillTx/>
                <a:latin typeface="Helvetica"/>
                <a:ea typeface="+mn-ea"/>
                <a:cs typeface="+mn-cs"/>
              </a:rPr>
              <a:t>A</a:t>
            </a:r>
            <a:r>
              <a:rPr kumimoji="1" lang="en-US" sz="1800" b="1" i="1" u="none" strike="noStrike" kern="0" cap="none" spc="0" normalizeH="0" baseline="-25000" noProof="0" dirty="0" err="1">
                <a:ln>
                  <a:noFill/>
                </a:ln>
                <a:solidFill>
                  <a:srgbClr val="C00000"/>
                </a:solidFill>
                <a:effectLst/>
                <a:uLnTx/>
                <a:uFillTx/>
                <a:latin typeface="Helvetica"/>
                <a:ea typeface="+mn-ea"/>
                <a:cs typeface="+mn-cs"/>
              </a:rPr>
              <a:t>jm</a:t>
            </a:r>
            <a:r>
              <a:rPr kumimoji="1" lang="en-US" sz="1800" b="1" i="1" u="none" strike="noStrike" kern="0" cap="none" spc="0" normalizeH="0" baseline="0" noProof="0" dirty="0">
                <a:ln>
                  <a:noFill/>
                </a:ln>
                <a:solidFill>
                  <a:srgbClr val="C00000"/>
                </a:solidFill>
                <a:effectLst/>
                <a:uLnTx/>
                <a:uFillTx/>
                <a:latin typeface="Helvetica"/>
                <a:ea typeface="+mn-ea"/>
                <a:cs typeface="+mn-cs"/>
              </a:rPr>
              <a:t> </a:t>
            </a:r>
            <a:r>
              <a:rPr kumimoji="1" lang="en-US" sz="1800" b="1" i="0" u="none" strike="noStrike" kern="0" cap="none" spc="0" normalizeH="0" baseline="0" noProof="0" dirty="0">
                <a:ln>
                  <a:noFill/>
                </a:ln>
                <a:solidFill>
                  <a:srgbClr val="C00000"/>
                </a:solidFill>
                <a:effectLst/>
                <a:uLnTx/>
                <a:uFillTx/>
                <a:latin typeface="Helvetica"/>
                <a:ea typeface="+mn-ea"/>
                <a:cs typeface="+mn-cs"/>
              </a:rPr>
              <a:t>)</a:t>
            </a: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1" lang="en-US" sz="1800" b="0" i="0" u="none" strike="noStrike" kern="0" cap="none" spc="0" normalizeH="0" baseline="0" noProof="0" dirty="0">
                <a:ln>
                  <a:noFill/>
                </a:ln>
                <a:solidFill>
                  <a:srgbClr val="000000"/>
                </a:solidFill>
                <a:effectLst/>
                <a:uLnTx/>
                <a:uFillTx/>
                <a:latin typeface="Helvetica"/>
              </a:rPr>
              <a:t>Where </a:t>
            </a:r>
            <a:r>
              <a:rPr kumimoji="1" lang="en-US" sz="1800" b="0" i="1" u="none" strike="noStrike" kern="0" cap="none" spc="0" normalizeH="0" baseline="0" noProof="0" dirty="0">
                <a:ln>
                  <a:noFill/>
                </a:ln>
                <a:solidFill>
                  <a:srgbClr val="C00000"/>
                </a:solidFill>
                <a:effectLst/>
                <a:uLnTx/>
                <a:uFillTx/>
                <a:latin typeface="Helvetica"/>
              </a:rPr>
              <a:t>A</a:t>
            </a:r>
            <a:r>
              <a:rPr kumimoji="1" lang="en-US" sz="1800" b="1" i="1" u="none" strike="noStrike" kern="0" cap="none" spc="0" normalizeH="0" baseline="-25000" noProof="0" dirty="0">
                <a:ln>
                  <a:noFill/>
                </a:ln>
                <a:solidFill>
                  <a:srgbClr val="C00000"/>
                </a:solidFill>
                <a:effectLst/>
                <a:uLnTx/>
                <a:uFillTx/>
                <a:latin typeface="Helvetica"/>
              </a:rPr>
              <a:t>j</a:t>
            </a:r>
            <a:r>
              <a:rPr kumimoji="1" lang="en-US" sz="1800" b="1" i="0" u="none" strike="noStrike" kern="0" cap="none" spc="0" normalizeH="0" baseline="-25000" noProof="0" dirty="0">
                <a:ln>
                  <a:noFill/>
                </a:ln>
                <a:solidFill>
                  <a:srgbClr val="C00000"/>
                </a:solidFill>
                <a:effectLst/>
                <a:uLnTx/>
                <a:uFillTx/>
                <a:latin typeface="Helvetica"/>
              </a:rPr>
              <a:t>1</a:t>
            </a:r>
            <a:r>
              <a:rPr kumimoji="1" lang="en-US" sz="1800" b="1" i="1" u="none" strike="noStrike" kern="0" cap="none" spc="0" normalizeH="0" baseline="0" noProof="0" dirty="0">
                <a:ln>
                  <a:noFill/>
                </a:ln>
                <a:solidFill>
                  <a:srgbClr val="C00000"/>
                </a:solidFill>
                <a:effectLst/>
                <a:uLnTx/>
                <a:uFillTx/>
                <a:latin typeface="Helvetica"/>
              </a:rPr>
              <a:t>,</a:t>
            </a:r>
            <a:r>
              <a:rPr kumimoji="1" lang="en-US" sz="1800" b="0" i="1" u="none" strike="noStrike" kern="0" cap="none" spc="0" normalizeH="0" baseline="0" noProof="0" dirty="0">
                <a:ln>
                  <a:noFill/>
                </a:ln>
                <a:solidFill>
                  <a:srgbClr val="C00000"/>
                </a:solidFill>
                <a:effectLst/>
                <a:uLnTx/>
                <a:uFillTx/>
                <a:latin typeface="Helvetica"/>
              </a:rPr>
              <a:t> A</a:t>
            </a:r>
            <a:r>
              <a:rPr kumimoji="1" lang="en-US" sz="1800" b="1" i="1" u="none" strike="noStrike" kern="0" cap="none" spc="0" normalizeH="0" baseline="-25000" noProof="0" dirty="0">
                <a:ln>
                  <a:noFill/>
                </a:ln>
                <a:solidFill>
                  <a:srgbClr val="C00000"/>
                </a:solidFill>
                <a:effectLst/>
                <a:uLnTx/>
                <a:uFillTx/>
                <a:latin typeface="Helvetica"/>
              </a:rPr>
              <a:t>j</a:t>
            </a:r>
            <a:r>
              <a:rPr kumimoji="1" lang="en-US" sz="1800" b="1" i="0" u="none" strike="noStrike" kern="0" cap="none" spc="0" normalizeH="0" baseline="-25000" noProof="0" dirty="0">
                <a:ln>
                  <a:noFill/>
                </a:ln>
                <a:solidFill>
                  <a:srgbClr val="C00000"/>
                </a:solidFill>
                <a:effectLst/>
                <a:uLnTx/>
                <a:uFillTx/>
                <a:latin typeface="Helvetica"/>
              </a:rPr>
              <a:t>2</a:t>
            </a:r>
            <a:r>
              <a:rPr kumimoji="1" lang="en-US" sz="1800" b="1" i="1" u="none" strike="noStrike" kern="0" cap="none" spc="0" normalizeH="0" baseline="0" noProof="0" dirty="0">
                <a:ln>
                  <a:noFill/>
                </a:ln>
                <a:solidFill>
                  <a:srgbClr val="C00000"/>
                </a:solidFill>
                <a:effectLst/>
                <a:uLnTx/>
                <a:uFillTx/>
                <a:latin typeface="Helvetica"/>
              </a:rPr>
              <a:t>,</a:t>
            </a:r>
            <a:r>
              <a:rPr kumimoji="1" lang="en-US" sz="1800" b="0" i="1" u="none" strike="noStrike" kern="0" cap="none" spc="0" normalizeH="0" baseline="0" noProof="0" dirty="0">
                <a:ln>
                  <a:noFill/>
                </a:ln>
                <a:solidFill>
                  <a:srgbClr val="C00000"/>
                </a:solidFill>
                <a:effectLst/>
                <a:uLnTx/>
                <a:uFillTx/>
                <a:latin typeface="Helvetica"/>
              </a:rPr>
              <a:t> </a:t>
            </a:r>
            <a:r>
              <a:rPr kumimoji="1" lang="en-US" sz="1800" b="1" i="1" u="none" strike="noStrike" kern="0" cap="none" spc="0" normalizeH="0" baseline="0" noProof="0" dirty="0">
                <a:ln>
                  <a:noFill/>
                </a:ln>
                <a:solidFill>
                  <a:srgbClr val="C00000"/>
                </a:solidFill>
                <a:effectLst/>
                <a:uLnTx/>
                <a:uFillTx/>
                <a:latin typeface="Helvetica"/>
              </a:rPr>
              <a:t>. . . ,</a:t>
            </a:r>
            <a:r>
              <a:rPr kumimoji="1" lang="en-US" sz="1800" b="0" i="1" u="none" strike="noStrike" kern="0" cap="none" spc="0" normalizeH="0" baseline="0" noProof="0" dirty="0">
                <a:ln>
                  <a:noFill/>
                </a:ln>
                <a:solidFill>
                  <a:srgbClr val="C00000"/>
                </a:solidFill>
                <a:effectLst/>
                <a:uLnTx/>
                <a:uFillTx/>
                <a:latin typeface="Helvetica"/>
              </a:rPr>
              <a:t> </a:t>
            </a:r>
            <a:r>
              <a:rPr kumimoji="1" lang="en-US" sz="1800" b="0" i="1" u="none" strike="noStrike" kern="0" cap="none" spc="0" normalizeH="0" baseline="0" noProof="0" dirty="0" err="1">
                <a:ln>
                  <a:noFill/>
                </a:ln>
                <a:solidFill>
                  <a:srgbClr val="C00000"/>
                </a:solidFill>
                <a:effectLst/>
                <a:uLnTx/>
                <a:uFillTx/>
                <a:latin typeface="Helvetica"/>
              </a:rPr>
              <a:t>A</a:t>
            </a:r>
            <a:r>
              <a:rPr kumimoji="1" lang="en-US" sz="1800" b="1" i="1" u="none" strike="noStrike" kern="0" cap="none" spc="0" normalizeH="0" baseline="-25000" noProof="0" dirty="0" err="1">
                <a:ln>
                  <a:noFill/>
                </a:ln>
                <a:solidFill>
                  <a:srgbClr val="C00000"/>
                </a:solidFill>
                <a:effectLst/>
                <a:uLnTx/>
                <a:uFillTx/>
                <a:latin typeface="Helvetica"/>
              </a:rPr>
              <a:t>jm</a:t>
            </a:r>
            <a:r>
              <a:rPr kumimoji="1" lang="en-US" sz="1800" b="0" i="1" u="none" strike="noStrike" kern="0" cap="none" spc="0" normalizeH="0" baseline="0" noProof="0" dirty="0">
                <a:ln>
                  <a:noFill/>
                </a:ln>
                <a:solidFill>
                  <a:srgbClr val="C00000"/>
                </a:solidFill>
                <a:effectLst/>
                <a:uLnTx/>
                <a:uFillTx/>
                <a:latin typeface="Helvetica"/>
              </a:rPr>
              <a:t>  </a:t>
            </a:r>
            <a:r>
              <a:rPr kumimoji="1" lang="en-US" sz="1800" b="0" i="0" u="none" strike="noStrike" kern="0" cap="none" spc="0" normalizeH="0" baseline="0" noProof="0" dirty="0">
                <a:ln>
                  <a:noFill/>
                </a:ln>
                <a:solidFill>
                  <a:srgbClr val="000000"/>
                </a:solidFill>
                <a:effectLst/>
                <a:uLnTx/>
                <a:uFillTx/>
                <a:latin typeface="Helvetica"/>
              </a:rPr>
              <a:t>are the set of attributes in the table used to form a primary key.</a:t>
            </a: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1" lang="en-US" sz="1800" b="0" i="1" u="none" strike="noStrike" kern="0" cap="none" spc="0" normalizeH="0" baseline="0" noProof="0" dirty="0">
                <a:ln>
                  <a:noFill/>
                </a:ln>
                <a:solidFill>
                  <a:srgbClr val="000000"/>
                </a:solidFill>
                <a:effectLst/>
                <a:uLnTx/>
                <a:uFillTx/>
                <a:latin typeface="Helvetica"/>
              </a:rPr>
              <a:t>A</a:t>
            </a:r>
            <a:r>
              <a:rPr kumimoji="1" lang="en-US" sz="1800" b="1" i="1" u="none" strike="noStrike" kern="0" cap="none" spc="0" normalizeH="0" baseline="-25000" noProof="0" dirty="0">
                <a:ln>
                  <a:noFill/>
                </a:ln>
                <a:solidFill>
                  <a:srgbClr val="000000"/>
                </a:solidFill>
                <a:effectLst/>
                <a:uLnTx/>
                <a:uFillTx/>
                <a:latin typeface="Helvetica"/>
              </a:rPr>
              <a:t>j</a:t>
            </a:r>
            <a:r>
              <a:rPr kumimoji="1" lang="en-US" sz="1800" b="1" i="0" u="none" strike="noStrike" kern="0" cap="none" spc="0" normalizeH="0" baseline="-25000" noProof="0" dirty="0">
                <a:ln>
                  <a:noFill/>
                </a:ln>
                <a:solidFill>
                  <a:srgbClr val="000000"/>
                </a:solidFill>
                <a:effectLst/>
                <a:uLnTx/>
                <a:uFillTx/>
                <a:latin typeface="Helvetica"/>
              </a:rPr>
              <a:t>1</a:t>
            </a:r>
            <a:r>
              <a:rPr kumimoji="1" lang="en-US" sz="1800" b="1" i="1" u="none" strike="noStrike" kern="0" cap="none" spc="0" normalizeH="0" baseline="0" noProof="0" dirty="0">
                <a:ln>
                  <a:noFill/>
                </a:ln>
                <a:solidFill>
                  <a:srgbClr val="000000"/>
                </a:solidFill>
                <a:effectLst/>
                <a:uLnTx/>
                <a:uFillTx/>
                <a:latin typeface="Helvetica"/>
              </a:rPr>
              <a:t>,</a:t>
            </a:r>
            <a:r>
              <a:rPr kumimoji="1" lang="en-US" sz="1800" b="0" i="1" u="none" strike="noStrike" kern="0" cap="none" spc="0" normalizeH="0" baseline="0" noProof="0" dirty="0">
                <a:ln>
                  <a:noFill/>
                </a:ln>
                <a:solidFill>
                  <a:srgbClr val="000000"/>
                </a:solidFill>
                <a:effectLst/>
                <a:uLnTx/>
                <a:uFillTx/>
                <a:latin typeface="Helvetica"/>
              </a:rPr>
              <a:t> A</a:t>
            </a:r>
            <a:r>
              <a:rPr kumimoji="1" lang="en-US" sz="1800" b="1" i="1" u="none" strike="noStrike" kern="0" cap="none" spc="0" normalizeH="0" baseline="-25000" noProof="0" dirty="0">
                <a:ln>
                  <a:noFill/>
                </a:ln>
                <a:solidFill>
                  <a:srgbClr val="000000"/>
                </a:solidFill>
                <a:effectLst/>
                <a:uLnTx/>
                <a:uFillTx/>
                <a:latin typeface="Helvetica"/>
              </a:rPr>
              <a:t>j</a:t>
            </a:r>
            <a:r>
              <a:rPr kumimoji="1" lang="en-US" sz="1800" b="1" i="0" u="none" strike="noStrike" kern="0" cap="none" spc="0" normalizeH="0" baseline="-25000" noProof="0" dirty="0">
                <a:ln>
                  <a:noFill/>
                </a:ln>
                <a:solidFill>
                  <a:srgbClr val="000000"/>
                </a:solidFill>
                <a:effectLst/>
                <a:uLnTx/>
                <a:uFillTx/>
                <a:latin typeface="Helvetica"/>
              </a:rPr>
              <a:t>2</a:t>
            </a:r>
            <a:r>
              <a:rPr kumimoji="1" lang="en-US" sz="1800" b="1" i="1" u="none" strike="noStrike" kern="0" cap="none" spc="0" normalizeH="0" baseline="0" noProof="0" dirty="0">
                <a:ln>
                  <a:noFill/>
                </a:ln>
                <a:solidFill>
                  <a:srgbClr val="000000"/>
                </a:solidFill>
                <a:effectLst/>
                <a:uLnTx/>
                <a:uFillTx/>
                <a:latin typeface="Helvetica"/>
              </a:rPr>
              <a:t>,</a:t>
            </a:r>
            <a:r>
              <a:rPr kumimoji="1" lang="en-US" sz="1800" b="0" i="1" u="none" strike="noStrike" kern="0" cap="none" spc="0" normalizeH="0" baseline="0" noProof="0" dirty="0">
                <a:ln>
                  <a:noFill/>
                </a:ln>
                <a:solidFill>
                  <a:srgbClr val="000000"/>
                </a:solidFill>
                <a:effectLst/>
                <a:uLnTx/>
                <a:uFillTx/>
                <a:latin typeface="Helvetica"/>
              </a:rPr>
              <a:t> </a:t>
            </a:r>
            <a:r>
              <a:rPr kumimoji="1" lang="en-US" sz="1800" b="1" i="1" u="none" strike="noStrike" kern="0" cap="none" spc="0" normalizeH="0" baseline="0" noProof="0" dirty="0">
                <a:ln>
                  <a:noFill/>
                </a:ln>
                <a:solidFill>
                  <a:srgbClr val="000000"/>
                </a:solidFill>
                <a:effectLst/>
                <a:uLnTx/>
                <a:uFillTx/>
                <a:latin typeface="Helvetica"/>
              </a:rPr>
              <a:t>. . . ,</a:t>
            </a:r>
            <a:r>
              <a:rPr kumimoji="1" lang="en-US" sz="1800" b="0" i="1" u="none" strike="noStrike" kern="0" cap="none" spc="0" normalizeH="0" baseline="0" noProof="0" dirty="0">
                <a:ln>
                  <a:noFill/>
                </a:ln>
                <a:solidFill>
                  <a:srgbClr val="000000"/>
                </a:solidFill>
                <a:effectLst/>
                <a:uLnTx/>
                <a:uFillTx/>
                <a:latin typeface="Helvetica"/>
              </a:rPr>
              <a:t> </a:t>
            </a:r>
            <a:r>
              <a:rPr kumimoji="1" lang="en-US" sz="1800" b="0" i="1" u="none" strike="noStrike" kern="0" cap="none" spc="0" normalizeH="0" baseline="0" noProof="0" dirty="0" err="1">
                <a:ln>
                  <a:noFill/>
                </a:ln>
                <a:solidFill>
                  <a:srgbClr val="000000"/>
                </a:solidFill>
                <a:effectLst/>
                <a:uLnTx/>
                <a:uFillTx/>
                <a:latin typeface="Helvetica"/>
              </a:rPr>
              <a:t>A</a:t>
            </a:r>
            <a:r>
              <a:rPr kumimoji="1" lang="en-US" sz="1800" b="1" i="1" u="none" strike="noStrike" kern="0" cap="none" spc="0" normalizeH="0" baseline="-25000" noProof="0" dirty="0" err="1">
                <a:ln>
                  <a:noFill/>
                </a:ln>
                <a:solidFill>
                  <a:srgbClr val="000000"/>
                </a:solidFill>
                <a:effectLst/>
                <a:uLnTx/>
                <a:uFillTx/>
                <a:latin typeface="Helvetica"/>
              </a:rPr>
              <a:t>jm</a:t>
            </a:r>
            <a:r>
              <a:rPr kumimoji="1" lang="en-US" sz="1800" b="1" i="1" u="none" strike="noStrike" kern="0" cap="none" spc="0" normalizeH="0" baseline="-25000" noProof="0" dirty="0">
                <a:ln>
                  <a:noFill/>
                </a:ln>
                <a:solidFill>
                  <a:srgbClr val="000000"/>
                </a:solidFill>
                <a:effectLst/>
                <a:uLnTx/>
                <a:uFillTx/>
                <a:latin typeface="Helvetica"/>
              </a:rPr>
              <a:t>  </a:t>
            </a:r>
            <a:r>
              <a:rPr kumimoji="1" lang="en-US" sz="1800" b="0" i="0" u="none" strike="noStrike" kern="0" cap="none" spc="0" normalizeH="0" baseline="0" noProof="0" dirty="0">
                <a:ln>
                  <a:noFill/>
                </a:ln>
                <a:solidFill>
                  <a:srgbClr val="000000"/>
                </a:solidFill>
                <a:effectLst/>
                <a:uLnTx/>
                <a:uFillTx/>
                <a:latin typeface="Helvetica"/>
              </a:rPr>
              <a:t>are  said to be components of primary key.</a:t>
            </a:r>
          </a:p>
          <a:p>
            <a:pPr marL="68580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1" lang="en-US" sz="1800" b="0" i="0" u="none" strike="noStrike" kern="0" cap="none" spc="0" normalizeH="0" baseline="0" noProof="0" dirty="0">
                <a:ln>
                  <a:noFill/>
                </a:ln>
                <a:solidFill>
                  <a:srgbClr val="000000"/>
                </a:solidFill>
                <a:effectLst/>
                <a:uLnTx/>
                <a:uFillTx/>
                <a:latin typeface="Helvetica"/>
              </a:rPr>
              <a:t>Primary key may be imposed on a </a:t>
            </a:r>
            <a:r>
              <a:rPr kumimoji="1" lang="en-US" sz="1800" b="0" i="0" u="none" strike="noStrike" kern="0" cap="none" spc="0" normalizeH="0" baseline="0" noProof="0" dirty="0">
                <a:ln>
                  <a:noFill/>
                </a:ln>
                <a:solidFill>
                  <a:srgbClr val="C00000"/>
                </a:solidFill>
                <a:effectLst/>
                <a:uLnTx/>
                <a:uFillTx/>
                <a:latin typeface="Helvetica"/>
              </a:rPr>
              <a:t>single attribute </a:t>
            </a:r>
            <a:r>
              <a:rPr kumimoji="1" lang="en-US" sz="1800" b="1" i="0" u="none" strike="noStrike" kern="0" cap="none" spc="0" normalizeH="0" baseline="0" noProof="0" dirty="0">
                <a:ln>
                  <a:noFill/>
                </a:ln>
                <a:solidFill>
                  <a:srgbClr val="000000"/>
                </a:solidFill>
                <a:effectLst/>
                <a:uLnTx/>
                <a:uFillTx/>
                <a:latin typeface="Helvetica"/>
              </a:rPr>
              <a:t>or</a:t>
            </a:r>
            <a:r>
              <a:rPr kumimoji="1" lang="en-US" sz="1800" b="0" i="0" u="none" strike="noStrike" kern="0" cap="none" spc="0" normalizeH="0" baseline="0" noProof="0" dirty="0">
                <a:ln>
                  <a:noFill/>
                </a:ln>
                <a:solidFill>
                  <a:srgbClr val="000000"/>
                </a:solidFill>
                <a:effectLst/>
                <a:uLnTx/>
                <a:uFillTx/>
                <a:latin typeface="Helvetica"/>
              </a:rPr>
              <a:t> </a:t>
            </a:r>
            <a:r>
              <a:rPr kumimoji="1" lang="en-US" sz="1800" b="0" i="0" u="none" strike="noStrike" kern="0" cap="none" spc="0" normalizeH="0" baseline="0" noProof="0" dirty="0">
                <a:ln>
                  <a:noFill/>
                </a:ln>
                <a:solidFill>
                  <a:srgbClr val="C00000"/>
                </a:solidFill>
                <a:effectLst/>
                <a:uLnTx/>
                <a:uFillTx/>
                <a:latin typeface="Helvetica"/>
              </a:rPr>
              <a:t>multiple attributes </a:t>
            </a:r>
            <a:r>
              <a:rPr kumimoji="1" lang="en-US" sz="1800" b="0" i="0" u="none" strike="noStrike" kern="0" cap="none" spc="0" normalizeH="0" baseline="0" noProof="0" dirty="0">
                <a:ln>
                  <a:noFill/>
                </a:ln>
                <a:solidFill>
                  <a:srgbClr val="000000"/>
                </a:solidFill>
                <a:effectLst/>
                <a:uLnTx/>
                <a:uFillTx/>
                <a:latin typeface="Helvetica"/>
              </a:rPr>
              <a:t>of the table.</a:t>
            </a:r>
          </a:p>
          <a:p>
            <a:pPr marL="28575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There can be </a:t>
            </a:r>
            <a:r>
              <a:rPr kumimoji="1" lang="en-US" sz="1800" b="1" i="0" u="sng" strike="noStrike" kern="0" cap="none" spc="0" normalizeH="0" baseline="0" noProof="0" dirty="0">
                <a:ln>
                  <a:noFill/>
                </a:ln>
                <a:solidFill>
                  <a:srgbClr val="000000"/>
                </a:solidFill>
                <a:effectLst/>
                <a:uLnTx/>
                <a:uFillTx/>
                <a:latin typeface="Helvetica"/>
                <a:ea typeface="+mn-ea"/>
                <a:cs typeface="+mn-cs"/>
              </a:rPr>
              <a:t>ONLY ONE PRIMARY </a:t>
            </a:r>
            <a:r>
              <a:rPr kumimoji="1" lang="en-US" sz="1800" b="0" i="0" u="none" strike="noStrike" kern="0" cap="none" spc="0" normalizeH="0" baseline="0" noProof="0" dirty="0">
                <a:ln>
                  <a:noFill/>
                </a:ln>
                <a:solidFill>
                  <a:srgbClr val="000000"/>
                </a:solidFill>
                <a:effectLst/>
                <a:uLnTx/>
                <a:uFillTx/>
                <a:latin typeface="Helvetica"/>
                <a:ea typeface="+mn-ea"/>
                <a:cs typeface="+mn-cs"/>
              </a:rPr>
              <a:t>key for a table.</a:t>
            </a:r>
          </a:p>
          <a:p>
            <a:pPr marL="28575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1" i="0" u="none" strike="noStrike" kern="0" cap="none" spc="0" normalizeH="0" baseline="0" noProof="0" dirty="0">
                <a:ln>
                  <a:noFill/>
                </a:ln>
                <a:solidFill>
                  <a:schemeClr val="accent2">
                    <a:lumMod val="75000"/>
                  </a:schemeClr>
                </a:solidFill>
                <a:effectLst/>
                <a:uLnTx/>
                <a:uFillTx/>
                <a:latin typeface="Helvetica"/>
                <a:ea typeface="+mn-ea"/>
                <a:cs typeface="+mn-cs"/>
              </a:rPr>
              <a:t>Properties</a:t>
            </a:r>
            <a:r>
              <a:rPr kumimoji="1" lang="en-US" sz="1800" b="0" i="0" u="none" strike="noStrike" kern="0" cap="none" spc="0" normalizeH="0" baseline="0" noProof="0" dirty="0">
                <a:ln>
                  <a:noFill/>
                </a:ln>
                <a:solidFill>
                  <a:srgbClr val="000000"/>
                </a:solidFill>
                <a:effectLst/>
                <a:uLnTx/>
                <a:uFillTx/>
                <a:latin typeface="Helvetica"/>
                <a:ea typeface="+mn-ea"/>
                <a:cs typeface="+mn-cs"/>
              </a:rPr>
              <a:t>:</a:t>
            </a:r>
          </a:p>
          <a:p>
            <a:pPr marL="68580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1" lang="en-US" sz="1800" b="0" i="0" u="none" strike="noStrike" kern="0" cap="none" spc="0" normalizeH="0" baseline="0" noProof="0" dirty="0">
                <a:ln>
                  <a:noFill/>
                </a:ln>
                <a:solidFill>
                  <a:srgbClr val="000000"/>
                </a:solidFill>
                <a:effectLst/>
                <a:uLnTx/>
                <a:uFillTx/>
                <a:latin typeface="Helvetica"/>
              </a:rPr>
              <a:t>NO component of primary key can be NULL.</a:t>
            </a:r>
          </a:p>
          <a:p>
            <a:pPr marL="68580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1" lang="en-US" sz="1800" b="0" i="0" u="none" strike="noStrike" kern="0" cap="none" spc="0" normalizeH="0" baseline="0" noProof="0" dirty="0">
                <a:ln>
                  <a:noFill/>
                </a:ln>
                <a:solidFill>
                  <a:srgbClr val="000000"/>
                </a:solidFill>
                <a:effectLst/>
                <a:uLnTx/>
                <a:uFillTx/>
                <a:latin typeface="Helvetica"/>
              </a:rPr>
              <a:t>Values to the columns must be Unique( Duplicate values can’t be entered to a column)</a:t>
            </a:r>
          </a:p>
        </p:txBody>
      </p:sp>
      <p:sp>
        <p:nvSpPr>
          <p:cNvPr id="4" name="Rectangle 3"/>
          <p:cNvSpPr/>
          <p:nvPr/>
        </p:nvSpPr>
        <p:spPr>
          <a:xfrm>
            <a:off x="1959429" y="4257917"/>
            <a:ext cx="7315199" cy="2606867"/>
          </a:xfrm>
          <a:prstGeom prst="rect">
            <a:avLst/>
          </a:prstGeom>
        </p:spPr>
        <p:txBody>
          <a:bodyPr wrap="square">
            <a:spAutoFit/>
          </a:bodyPr>
          <a:lstStyle/>
          <a:p>
            <a:r>
              <a:rPr kumimoji="1" lang="en-US" altLang="en-US" b="1" dirty="0">
                <a:solidFill>
                  <a:srgbClr val="000000"/>
                </a:solidFill>
                <a:latin typeface="Helvetica"/>
              </a:rPr>
              <a:t>Example: </a:t>
            </a:r>
            <a:r>
              <a:rPr lang="en-US" altLang="en-US" dirty="0">
                <a:solidFill>
                  <a:srgbClr val="000000"/>
                </a:solidFill>
                <a:latin typeface="Helvetica"/>
              </a:rPr>
              <a:t>Declare</a:t>
            </a:r>
            <a:r>
              <a:rPr lang="en-US" altLang="en-US" sz="1600" dirty="0">
                <a:solidFill>
                  <a:srgbClr val="000000"/>
                </a:solidFill>
                <a:latin typeface="Helvetica"/>
              </a:rPr>
              <a:t> </a:t>
            </a:r>
            <a:r>
              <a:rPr lang="en-US" altLang="en-US" i="1" dirty="0">
                <a:solidFill>
                  <a:srgbClr val="000000"/>
                </a:solidFill>
                <a:latin typeface="Helvetica"/>
              </a:rPr>
              <a:t>ID</a:t>
            </a:r>
            <a:r>
              <a:rPr lang="en-US" altLang="en-US" sz="1600" dirty="0">
                <a:solidFill>
                  <a:srgbClr val="000000"/>
                </a:solidFill>
                <a:latin typeface="Helvetica"/>
              </a:rPr>
              <a:t> </a:t>
            </a:r>
            <a:r>
              <a:rPr lang="en-US" altLang="en-US" dirty="0">
                <a:solidFill>
                  <a:srgbClr val="000000"/>
                </a:solidFill>
                <a:latin typeface="Helvetica"/>
              </a:rPr>
              <a:t>as the primary key for</a:t>
            </a:r>
            <a:r>
              <a:rPr lang="en-US" altLang="en-US" sz="1600" dirty="0">
                <a:solidFill>
                  <a:srgbClr val="000000"/>
                </a:solidFill>
                <a:latin typeface="Helvetica"/>
              </a:rPr>
              <a:t> </a:t>
            </a:r>
            <a:r>
              <a:rPr lang="en-US" altLang="en-US" sz="1600" i="1" dirty="0">
                <a:solidFill>
                  <a:srgbClr val="000000"/>
                </a:solidFill>
                <a:latin typeface="Helvetica"/>
              </a:rPr>
              <a:t>instructor</a:t>
            </a:r>
          </a:p>
          <a:p>
            <a:endParaRPr kumimoji="1" lang="en-US" altLang="en-US" sz="1100" b="1" dirty="0">
              <a:solidFill>
                <a:srgbClr val="000000"/>
              </a:solidFill>
              <a:latin typeface="Helvetica"/>
            </a:endParaRPr>
          </a:p>
          <a:p>
            <a:pPr>
              <a:lnSpc>
                <a:spcPct val="120000"/>
              </a:lnSpc>
            </a:pPr>
            <a:r>
              <a:rPr kumimoji="1" lang="en-US" altLang="en-US" b="1" dirty="0">
                <a:solidFill>
                  <a:srgbClr val="000000"/>
                </a:solidFill>
                <a:latin typeface="Helvetica"/>
              </a:rPr>
              <a:t>create table</a:t>
            </a:r>
            <a:r>
              <a:rPr kumimoji="1" lang="en-US" altLang="en-US" dirty="0">
                <a:solidFill>
                  <a:srgbClr val="000000"/>
                </a:solidFill>
                <a:latin typeface="Helvetica"/>
              </a:rPr>
              <a:t> </a:t>
            </a:r>
            <a:r>
              <a:rPr kumimoji="1" lang="en-US" altLang="en-US" i="1" dirty="0">
                <a:solidFill>
                  <a:srgbClr val="000000"/>
                </a:solidFill>
                <a:latin typeface="Helvetica"/>
              </a:rPr>
              <a:t>instructor</a:t>
            </a:r>
            <a:r>
              <a:rPr kumimoji="1" lang="en-US" altLang="en-US" dirty="0">
                <a:solidFill>
                  <a:srgbClr val="000000"/>
                </a:solidFill>
                <a:latin typeface="Helvetica"/>
              </a:rPr>
              <a:t> </a:t>
            </a:r>
            <a:r>
              <a:rPr kumimoji="1" lang="en-US" altLang="en-US" sz="2000" dirty="0">
                <a:solidFill>
                  <a:srgbClr val="C00000"/>
                </a:solidFill>
                <a:latin typeface="Helvetica"/>
              </a:rPr>
              <a:t>(</a:t>
            </a:r>
            <a:br>
              <a:rPr kumimoji="1" lang="en-US" altLang="en-US" dirty="0">
                <a:solidFill>
                  <a:srgbClr val="000000"/>
                </a:solidFill>
                <a:latin typeface="Helvetica"/>
              </a:rPr>
            </a:br>
            <a:r>
              <a:rPr kumimoji="1" lang="en-US" altLang="en-US" dirty="0">
                <a:solidFill>
                  <a:srgbClr val="000000"/>
                </a:solidFill>
                <a:latin typeface="Helvetica"/>
              </a:rPr>
              <a:t>                             </a:t>
            </a:r>
            <a:r>
              <a:rPr kumimoji="1" lang="en-US" altLang="en-US" i="1" dirty="0">
                <a:solidFill>
                  <a:srgbClr val="000000"/>
                </a:solidFill>
                <a:latin typeface="Helvetica"/>
              </a:rPr>
              <a:t>ID</a:t>
            </a:r>
            <a:r>
              <a:rPr kumimoji="1" lang="en-US" altLang="en-US" dirty="0">
                <a:solidFill>
                  <a:srgbClr val="000000"/>
                </a:solidFill>
                <a:latin typeface="Helvetica"/>
              </a:rPr>
              <a:t>                </a:t>
            </a:r>
            <a:r>
              <a:rPr kumimoji="1" lang="en-US" altLang="en-US" b="1" dirty="0">
                <a:solidFill>
                  <a:srgbClr val="000000"/>
                </a:solidFill>
                <a:latin typeface="Helvetica"/>
              </a:rPr>
              <a:t>char</a:t>
            </a:r>
            <a:r>
              <a:rPr kumimoji="1" lang="en-US" altLang="en-US" dirty="0">
                <a:solidFill>
                  <a:srgbClr val="000000"/>
                </a:solidFill>
                <a:latin typeface="Helvetica"/>
              </a:rPr>
              <a:t>(5) </a:t>
            </a:r>
            <a:r>
              <a:rPr kumimoji="1" lang="en-US" altLang="en-US" b="1" dirty="0">
                <a:solidFill>
                  <a:srgbClr val="C00000"/>
                </a:solidFill>
                <a:latin typeface="Helvetica"/>
              </a:rPr>
              <a:t>PRIMARY KEY</a:t>
            </a:r>
            <a:br>
              <a:rPr kumimoji="1" lang="en-US" altLang="en-US" dirty="0">
                <a:solidFill>
                  <a:srgbClr val="000000"/>
                </a:solidFill>
                <a:latin typeface="Helvetica"/>
              </a:rPr>
            </a:br>
            <a:r>
              <a:rPr kumimoji="1" lang="en-US" altLang="en-US" dirty="0">
                <a:solidFill>
                  <a:srgbClr val="000000"/>
                </a:solidFill>
                <a:latin typeface="Helvetica"/>
              </a:rPr>
              <a:t>                             </a:t>
            </a:r>
            <a:r>
              <a:rPr kumimoji="1" lang="en-US" altLang="en-US" i="1" dirty="0">
                <a:solidFill>
                  <a:srgbClr val="000000"/>
                </a:solidFill>
                <a:latin typeface="Helvetica"/>
              </a:rPr>
              <a:t>name           </a:t>
            </a:r>
            <a:r>
              <a:rPr kumimoji="1" lang="en-US" altLang="en-US" b="1" dirty="0">
                <a:solidFill>
                  <a:srgbClr val="000000"/>
                </a:solidFill>
                <a:latin typeface="Helvetica"/>
              </a:rPr>
              <a:t>varchar</a:t>
            </a:r>
            <a:r>
              <a:rPr kumimoji="1" lang="en-US" altLang="en-US" dirty="0">
                <a:solidFill>
                  <a:srgbClr val="000000"/>
                </a:solidFill>
                <a:latin typeface="Helvetica"/>
              </a:rPr>
              <a:t>(20) </a:t>
            </a:r>
            <a:r>
              <a:rPr kumimoji="1" lang="en-US" altLang="en-US" b="1" dirty="0">
                <a:solidFill>
                  <a:srgbClr val="000000"/>
                </a:solidFill>
                <a:latin typeface="Helvetica"/>
              </a:rPr>
              <a:t>not null,</a:t>
            </a:r>
            <a:br>
              <a:rPr kumimoji="1" lang="en-US" altLang="en-US" b="1" i="1" dirty="0">
                <a:solidFill>
                  <a:srgbClr val="000000"/>
                </a:solidFill>
                <a:latin typeface="Helvetica"/>
              </a:rPr>
            </a:br>
            <a:r>
              <a:rPr kumimoji="1" lang="en-US" altLang="en-US" b="1" i="1" dirty="0">
                <a:solidFill>
                  <a:srgbClr val="000000"/>
                </a:solidFill>
                <a:latin typeface="Helvetica"/>
              </a:rPr>
              <a:t>                             </a:t>
            </a:r>
            <a:r>
              <a:rPr kumimoji="1" lang="en-US" altLang="en-US" i="1" dirty="0">
                <a:solidFill>
                  <a:srgbClr val="000000"/>
                </a:solidFill>
                <a:latin typeface="Helvetica"/>
              </a:rPr>
              <a:t>dept_name  </a:t>
            </a:r>
            <a:r>
              <a:rPr kumimoji="1" lang="en-US" altLang="en-US" b="1" dirty="0">
                <a:solidFill>
                  <a:srgbClr val="000000"/>
                </a:solidFill>
                <a:latin typeface="Helvetica"/>
              </a:rPr>
              <a:t>varchar</a:t>
            </a:r>
            <a:r>
              <a:rPr kumimoji="1" lang="en-US" altLang="en-US" dirty="0">
                <a:solidFill>
                  <a:srgbClr val="000000"/>
                </a:solidFill>
                <a:latin typeface="Helvetica"/>
              </a:rPr>
              <a:t>(20),</a:t>
            </a:r>
            <a:br>
              <a:rPr kumimoji="1" lang="en-US" altLang="en-US" dirty="0">
                <a:solidFill>
                  <a:srgbClr val="000000"/>
                </a:solidFill>
                <a:latin typeface="Helvetica"/>
              </a:rPr>
            </a:br>
            <a:r>
              <a:rPr kumimoji="1" lang="en-US" altLang="en-US" dirty="0">
                <a:solidFill>
                  <a:srgbClr val="000000"/>
                </a:solidFill>
                <a:latin typeface="Helvetica"/>
              </a:rPr>
              <a:t>                             </a:t>
            </a:r>
            <a:r>
              <a:rPr kumimoji="1" lang="en-US" altLang="en-US" i="1" dirty="0">
                <a:solidFill>
                  <a:srgbClr val="000000"/>
                </a:solidFill>
                <a:latin typeface="Helvetica"/>
              </a:rPr>
              <a:t>salary</a:t>
            </a:r>
            <a:r>
              <a:rPr kumimoji="1" lang="en-US" altLang="en-US" dirty="0">
                <a:solidFill>
                  <a:srgbClr val="000000"/>
                </a:solidFill>
                <a:latin typeface="Helvetica"/>
              </a:rPr>
              <a:t>           </a:t>
            </a:r>
            <a:r>
              <a:rPr kumimoji="1" lang="en-US" altLang="en-US" b="1" dirty="0">
                <a:solidFill>
                  <a:srgbClr val="000000"/>
                </a:solidFill>
                <a:latin typeface="Helvetica"/>
              </a:rPr>
              <a:t>numeric</a:t>
            </a:r>
            <a:r>
              <a:rPr kumimoji="1" lang="en-US" altLang="en-US" dirty="0">
                <a:solidFill>
                  <a:srgbClr val="000000"/>
                </a:solidFill>
                <a:latin typeface="Helvetica"/>
              </a:rPr>
              <a:t>(8,2)</a:t>
            </a:r>
            <a:r>
              <a:rPr kumimoji="1" lang="en-US" altLang="en-US" sz="2000" dirty="0">
                <a:solidFill>
                  <a:srgbClr val="C00000"/>
                </a:solidFill>
                <a:latin typeface="Helvetica"/>
              </a:rPr>
              <a:t>)</a:t>
            </a:r>
            <a:r>
              <a:rPr kumimoji="1" lang="en-US" altLang="en-US" dirty="0">
                <a:solidFill>
                  <a:srgbClr val="000000"/>
                </a:solidFill>
                <a:latin typeface="Helvetica"/>
              </a:rPr>
              <a:t>;</a:t>
            </a:r>
            <a:br>
              <a:rPr kumimoji="1" lang="en-US" altLang="en-US" dirty="0">
                <a:solidFill>
                  <a:srgbClr val="000000"/>
                </a:solidFill>
                <a:latin typeface="Helvetica"/>
              </a:rPr>
            </a:br>
            <a:endParaRPr lang="en-US" dirty="0">
              <a:solidFill>
                <a:srgbClr val="000000"/>
              </a:solidFill>
              <a:latin typeface="Helvetica"/>
            </a:endParaRPr>
          </a:p>
        </p:txBody>
      </p:sp>
      <p:sp>
        <p:nvSpPr>
          <p:cNvPr id="5" name="Footer Placeholder 4"/>
          <p:cNvSpPr>
            <a:spLocks noGrp="1"/>
          </p:cNvSpPr>
          <p:nvPr>
            <p:ph type="ftr" sz="quarter" idx="11"/>
          </p:nvPr>
        </p:nvSpPr>
        <p:spPr/>
        <p:txBody>
          <a:bodyPr/>
          <a:lstStyle/>
          <a:p>
            <a:r>
              <a:rPr lang="en-US"/>
              <a:t>SQL</a:t>
            </a:r>
          </a:p>
        </p:txBody>
      </p:sp>
      <p:sp>
        <p:nvSpPr>
          <p:cNvPr id="6" name="Slide Number Placeholder 5"/>
          <p:cNvSpPr>
            <a:spLocks noGrp="1"/>
          </p:cNvSpPr>
          <p:nvPr>
            <p:ph type="sldNum" sz="quarter" idx="12"/>
          </p:nvPr>
        </p:nvSpPr>
        <p:spPr/>
        <p:txBody>
          <a:bodyPr/>
          <a:lstStyle/>
          <a:p>
            <a:fld id="{03576695-DB63-4967-AFBB-46E84EF49106}" type="slidenum">
              <a:rPr lang="en-US" smtClean="0"/>
              <a:t>15</a:t>
            </a:fld>
            <a:endParaRPr lang="en-US"/>
          </a:p>
        </p:txBody>
      </p:sp>
    </p:spTree>
    <p:extLst>
      <p:ext uri="{BB962C8B-B14F-4D97-AF65-F5344CB8AC3E}">
        <p14:creationId xmlns:p14="http://schemas.microsoft.com/office/powerpoint/2010/main" val="40945722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PRIMARY KEY-Table Level</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5" name="Content Placeholder 2"/>
          <p:cNvSpPr txBox="1">
            <a:spLocks/>
          </p:cNvSpPr>
          <p:nvPr/>
        </p:nvSpPr>
        <p:spPr bwMode="auto">
          <a:xfrm>
            <a:off x="1024467" y="876074"/>
            <a:ext cx="10769600"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Example</a:t>
            </a:r>
            <a:r>
              <a:rPr kumimoji="1" lang="en-US" sz="1800" b="0" i="0" u="none" strike="noStrike" kern="0" cap="none" spc="0" normalizeH="0" baseline="0" noProof="0" dirty="0">
                <a:ln>
                  <a:noFill/>
                </a:ln>
                <a:solidFill>
                  <a:srgbClr val="000000"/>
                </a:solidFill>
                <a:effectLst/>
                <a:uLnTx/>
                <a:uFillTx/>
                <a:latin typeface="Helvetica"/>
                <a:ea typeface="+mn-ea"/>
                <a:cs typeface="+mn-cs"/>
              </a:rPr>
              <a:t>: Create a table Enrollment containing fields –</a:t>
            </a:r>
            <a:r>
              <a:rPr kumimoji="1" lang="en-US" sz="1800" b="1" i="0" u="none" strike="noStrike" kern="0" cap="none" spc="0" normalizeH="0" baseline="0" noProof="0" dirty="0">
                <a:ln>
                  <a:noFill/>
                </a:ln>
                <a:solidFill>
                  <a:srgbClr val="000000"/>
                </a:solidFill>
                <a:effectLst/>
                <a:uLnTx/>
                <a:uFillTx/>
                <a:latin typeface="Helvetica"/>
                <a:ea typeface="+mn-ea"/>
                <a:cs typeface="+mn-cs"/>
              </a:rPr>
              <a:t>SID –</a:t>
            </a:r>
            <a:r>
              <a:rPr kumimoji="1" lang="en-US" sz="1800" b="0" i="0" u="none" strike="noStrike" kern="0" cap="none" spc="0" normalizeH="0" baseline="0" noProof="0" dirty="0">
                <a:ln>
                  <a:noFill/>
                </a:ln>
                <a:solidFill>
                  <a:srgbClr val="000000"/>
                </a:solidFill>
                <a:effectLst/>
                <a:uLnTx/>
                <a:uFillTx/>
                <a:latin typeface="Helvetica"/>
                <a:ea typeface="+mn-ea"/>
                <a:cs typeface="+mn-cs"/>
              </a:rPr>
              <a:t>student ID </a:t>
            </a:r>
            <a:r>
              <a:rPr kumimoji="1" lang="en-US" sz="1800" b="1" i="0" u="none" strike="noStrike" kern="0" cap="none" spc="0" normalizeH="0" baseline="0" noProof="0" dirty="0">
                <a:ln>
                  <a:noFill/>
                </a:ln>
                <a:solidFill>
                  <a:srgbClr val="000000"/>
                </a:solidFill>
                <a:effectLst/>
                <a:uLnTx/>
                <a:uFillTx/>
                <a:latin typeface="Helvetica"/>
                <a:ea typeface="+mn-ea"/>
                <a:cs typeface="+mn-cs"/>
              </a:rPr>
              <a:t>, </a:t>
            </a:r>
            <a:r>
              <a:rPr kumimoji="1" lang="en-US" sz="1800" b="1" i="0" u="none" strike="noStrike" kern="0" cap="none" spc="0" normalizeH="0" baseline="0" noProof="0" dirty="0" err="1">
                <a:ln>
                  <a:noFill/>
                </a:ln>
                <a:solidFill>
                  <a:srgbClr val="000000"/>
                </a:solidFill>
                <a:effectLst/>
                <a:uLnTx/>
                <a:uFillTx/>
                <a:latin typeface="Helvetica"/>
                <a:ea typeface="+mn-ea"/>
                <a:cs typeface="+mn-cs"/>
              </a:rPr>
              <a:t>CNo</a:t>
            </a:r>
            <a:r>
              <a:rPr kumimoji="1" lang="en-US" sz="1800" b="1" i="0" u="none" strike="noStrike" kern="0" cap="none" spc="0" normalizeH="0" baseline="0" noProof="0" dirty="0">
                <a:ln>
                  <a:noFill/>
                </a:ln>
                <a:solidFill>
                  <a:srgbClr val="000000"/>
                </a:solidFill>
                <a:effectLst/>
                <a:uLnTx/>
                <a:uFillTx/>
                <a:latin typeface="Helvetica"/>
                <a:ea typeface="+mn-ea"/>
                <a:cs typeface="+mn-cs"/>
              </a:rPr>
              <a:t>-</a:t>
            </a:r>
            <a:r>
              <a:rPr kumimoji="1" lang="en-US" sz="1800" b="0" i="0" u="none" strike="noStrike" kern="0" cap="none" spc="0" normalizeH="0" baseline="0" noProof="0" dirty="0">
                <a:ln>
                  <a:noFill/>
                </a:ln>
                <a:solidFill>
                  <a:srgbClr val="000000"/>
                </a:solidFill>
                <a:effectLst/>
                <a:uLnTx/>
                <a:uFillTx/>
                <a:latin typeface="Helvetica"/>
                <a:ea typeface="+mn-ea"/>
                <a:cs typeface="+mn-cs"/>
              </a:rPr>
              <a:t>Course Number</a:t>
            </a:r>
            <a:r>
              <a:rPr kumimoji="1" lang="en-US" sz="1800" b="1" i="0" u="none" strike="noStrike" kern="0" cap="none" spc="0" normalizeH="0" baseline="0" noProof="0" dirty="0">
                <a:ln>
                  <a:noFill/>
                </a:ln>
                <a:solidFill>
                  <a:srgbClr val="000000"/>
                </a:solidFill>
                <a:effectLst/>
                <a:uLnTx/>
                <a:uFillTx/>
                <a:latin typeface="Helvetica"/>
                <a:ea typeface="+mn-ea"/>
                <a:cs typeface="+mn-cs"/>
              </a:rPr>
              <a:t> and Year – </a:t>
            </a:r>
            <a:r>
              <a:rPr kumimoji="1" lang="en-US" sz="1800" b="0" i="0" u="none" strike="noStrike" kern="0" cap="none" spc="0" normalizeH="0" baseline="0" noProof="0" dirty="0">
                <a:ln>
                  <a:noFill/>
                </a:ln>
                <a:solidFill>
                  <a:srgbClr val="000000"/>
                </a:solidFill>
                <a:effectLst/>
                <a:uLnTx/>
                <a:uFillTx/>
                <a:latin typeface="Helvetica"/>
                <a:ea typeface="+mn-ea"/>
                <a:cs typeface="+mn-cs"/>
              </a:rPr>
              <a:t>Joining Year to the Course.</a:t>
            </a: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Condition to be imposed that – We want to identify a student Uniquely who enrolled to a Course on a Particular year. Therefore combination of SID,CNO and YEAR has to be Unique and can’t be Null. </a:t>
            </a: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Therefore we need to impose Primary Key on SID,CNO and YEAR .</a:t>
            </a: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Since Constraint is on multiple column, it has to be defined as Table level Constraints.</a:t>
            </a:r>
          </a:p>
          <a:p>
            <a:pPr marL="742950" marR="0" lvl="2" indent="0" algn="l" defTabSz="914400" rtl="0" eaLnBrk="0" fontAlgn="base" latinLnBrk="0" hangingPunct="0">
              <a:lnSpc>
                <a:spcPct val="100000"/>
              </a:lnSpc>
              <a:spcBef>
                <a:spcPct val="35000"/>
              </a:spcBef>
              <a:spcAft>
                <a:spcPct val="0"/>
              </a:spcAft>
              <a:buClr>
                <a:srgbClr val="33CC33"/>
              </a:buClr>
              <a:buSzPct val="75000"/>
              <a:buFont typeface="Webdings" panose="05030102010509060703" pitchFamily="18" charset="2"/>
              <a:buNone/>
              <a:tabLst/>
              <a:defRPr/>
            </a:pPr>
            <a:r>
              <a:rPr kumimoji="1" lang="en-US" sz="1800" b="1" i="0" u="none" strike="noStrike" kern="0" cap="none" spc="0" normalizeH="0" baseline="0" noProof="0" dirty="0">
                <a:ln>
                  <a:noFill/>
                </a:ln>
                <a:solidFill>
                  <a:srgbClr val="000000"/>
                </a:solidFill>
                <a:effectLst/>
                <a:uLnTx/>
                <a:uFillTx/>
                <a:latin typeface="Helvetica"/>
              </a:rPr>
              <a:t>CREATE TABLE Enrollment </a:t>
            </a:r>
            <a:endParaRPr kumimoji="1" lang="en-US" sz="1800" b="0" i="0" u="none" strike="noStrike" kern="0" cap="none" spc="0" normalizeH="0" baseline="0" noProof="0" dirty="0">
              <a:ln>
                <a:noFill/>
              </a:ln>
              <a:solidFill>
                <a:srgbClr val="000000"/>
              </a:solidFill>
              <a:effectLst/>
              <a:uLnTx/>
              <a:uFillTx/>
              <a:latin typeface="Helvetica"/>
            </a:endParaRPr>
          </a:p>
          <a:p>
            <a:pPr marL="742950" marR="0" lvl="2" indent="0" algn="l" defTabSz="914400" rtl="0" eaLnBrk="0" fontAlgn="base" latinLnBrk="0" hangingPunct="0">
              <a:lnSpc>
                <a:spcPct val="100000"/>
              </a:lnSpc>
              <a:spcBef>
                <a:spcPct val="35000"/>
              </a:spcBef>
              <a:spcAft>
                <a:spcPct val="0"/>
              </a:spcAft>
              <a:buClr>
                <a:srgbClr val="33CC33"/>
              </a:buClr>
              <a:buSzPct val="75000"/>
              <a:buFont typeface="Webdings" panose="05030102010509060703" pitchFamily="18" charset="2"/>
              <a:buNone/>
              <a:tabLst/>
              <a:defRPr/>
            </a:pPr>
            <a:r>
              <a:rPr kumimoji="1" lang="en-US" sz="2000" b="1" i="0" u="none" strike="noStrike" kern="0" cap="none" spc="0" normalizeH="0" baseline="0" noProof="0" dirty="0">
                <a:ln>
                  <a:noFill/>
                </a:ln>
                <a:solidFill>
                  <a:srgbClr val="000000"/>
                </a:solidFill>
                <a:effectLst/>
                <a:uLnTx/>
                <a:uFillTx/>
                <a:latin typeface="Helvetica"/>
              </a:rPr>
              <a:t>(</a:t>
            </a:r>
            <a:r>
              <a:rPr kumimoji="1" lang="en-US" sz="1800" b="1" i="0" u="none" strike="noStrike" kern="0" cap="none" spc="0" normalizeH="0" baseline="0" noProof="0" dirty="0">
                <a:ln>
                  <a:noFill/>
                </a:ln>
                <a:solidFill>
                  <a:srgbClr val="000000"/>
                </a:solidFill>
                <a:effectLst/>
                <a:uLnTx/>
                <a:uFillTx/>
                <a:latin typeface="Helvetica"/>
              </a:rPr>
              <a:t>SID char(9) NOT NULL, </a:t>
            </a:r>
            <a:endParaRPr kumimoji="1" lang="en-US" sz="1800" b="0" i="0" u="none" strike="noStrike" kern="0" cap="none" spc="0" normalizeH="0" baseline="0" noProof="0" dirty="0">
              <a:ln>
                <a:noFill/>
              </a:ln>
              <a:solidFill>
                <a:srgbClr val="000000"/>
              </a:solidFill>
              <a:effectLst/>
              <a:uLnTx/>
              <a:uFillTx/>
              <a:latin typeface="Helvetica"/>
            </a:endParaRPr>
          </a:p>
          <a:p>
            <a:pPr marL="742950" marR="0" lvl="2" indent="0" algn="l" defTabSz="914400" rtl="0" eaLnBrk="0" fontAlgn="base" latinLnBrk="0" hangingPunct="0">
              <a:lnSpc>
                <a:spcPct val="100000"/>
              </a:lnSpc>
              <a:spcBef>
                <a:spcPct val="35000"/>
              </a:spcBef>
              <a:spcAft>
                <a:spcPct val="0"/>
              </a:spcAft>
              <a:buClr>
                <a:srgbClr val="33CC33"/>
              </a:buClr>
              <a:buSzPct val="75000"/>
              <a:buFont typeface="Webdings" panose="05030102010509060703" pitchFamily="18" charset="2"/>
              <a:buNone/>
              <a:tabLst/>
              <a:defRPr/>
            </a:pPr>
            <a:r>
              <a:rPr kumimoji="1" lang="en-US" sz="1800" b="1" i="0" u="none" strike="noStrike" kern="0" cap="none" spc="0" normalizeH="0" baseline="0" noProof="0" dirty="0">
                <a:ln>
                  <a:noFill/>
                </a:ln>
                <a:solidFill>
                  <a:srgbClr val="000000"/>
                </a:solidFill>
                <a:effectLst/>
                <a:uLnTx/>
                <a:uFillTx/>
                <a:latin typeface="Helvetica"/>
              </a:rPr>
              <a:t>CNO varchar2(7) NOT NULL, </a:t>
            </a:r>
            <a:endParaRPr kumimoji="1" lang="en-US" sz="1800" b="0" i="0" u="none" strike="noStrike" kern="0" cap="none" spc="0" normalizeH="0" baseline="0" noProof="0" dirty="0">
              <a:ln>
                <a:noFill/>
              </a:ln>
              <a:solidFill>
                <a:srgbClr val="000000"/>
              </a:solidFill>
              <a:effectLst/>
              <a:uLnTx/>
              <a:uFillTx/>
              <a:latin typeface="Helvetica"/>
            </a:endParaRPr>
          </a:p>
          <a:p>
            <a:pPr marL="742950" marR="0" lvl="2" indent="0" algn="l" defTabSz="914400" rtl="0" eaLnBrk="0" fontAlgn="base" latinLnBrk="0" hangingPunct="0">
              <a:lnSpc>
                <a:spcPct val="100000"/>
              </a:lnSpc>
              <a:spcBef>
                <a:spcPct val="35000"/>
              </a:spcBef>
              <a:spcAft>
                <a:spcPct val="0"/>
              </a:spcAft>
              <a:buClr>
                <a:srgbClr val="33CC33"/>
              </a:buClr>
              <a:buSzPct val="75000"/>
              <a:buFont typeface="Webdings" panose="05030102010509060703" pitchFamily="18" charset="2"/>
              <a:buNone/>
              <a:tabLst/>
              <a:defRPr/>
            </a:pPr>
            <a:r>
              <a:rPr kumimoji="1" lang="en-US" sz="1800" b="1" i="0" u="none" strike="noStrike" kern="0" cap="none" spc="0" normalizeH="0" baseline="0" noProof="0" dirty="0">
                <a:ln>
                  <a:noFill/>
                </a:ln>
                <a:solidFill>
                  <a:srgbClr val="000000"/>
                </a:solidFill>
                <a:effectLst/>
                <a:uLnTx/>
                <a:uFillTx/>
                <a:latin typeface="Helvetica"/>
              </a:rPr>
              <a:t>Year number(2) NOT NULL, </a:t>
            </a:r>
            <a:endParaRPr kumimoji="1" lang="en-US" sz="1800" b="0" i="0" u="none" strike="noStrike" kern="0" cap="none" spc="0" normalizeH="0" baseline="0" noProof="0" dirty="0">
              <a:ln>
                <a:noFill/>
              </a:ln>
              <a:solidFill>
                <a:srgbClr val="000000"/>
              </a:solidFill>
              <a:effectLst/>
              <a:uLnTx/>
              <a:uFillTx/>
              <a:latin typeface="Helvetica"/>
            </a:endParaRPr>
          </a:p>
          <a:p>
            <a:pPr marL="742950" marR="0" lvl="2" indent="0" algn="l" defTabSz="914400" rtl="0" eaLnBrk="0" fontAlgn="base" latinLnBrk="0" hangingPunct="0">
              <a:lnSpc>
                <a:spcPct val="100000"/>
              </a:lnSpc>
              <a:spcBef>
                <a:spcPct val="35000"/>
              </a:spcBef>
              <a:spcAft>
                <a:spcPct val="0"/>
              </a:spcAft>
              <a:buClr>
                <a:srgbClr val="33CC33"/>
              </a:buClr>
              <a:buSzPct val="75000"/>
              <a:buFont typeface="Webdings" panose="05030102010509060703" pitchFamily="18" charset="2"/>
              <a:buNone/>
              <a:tabLst/>
              <a:defRPr/>
            </a:pPr>
            <a:r>
              <a:rPr kumimoji="1" lang="en-US" sz="1800" b="1" i="0" u="none" strike="noStrike" kern="0" cap="none" spc="0" normalizeH="0" baseline="0" noProof="0" dirty="0">
                <a:ln>
                  <a:noFill/>
                </a:ln>
                <a:solidFill>
                  <a:srgbClr val="000000"/>
                </a:solidFill>
                <a:effectLst/>
                <a:uLnTx/>
                <a:uFillTx/>
                <a:latin typeface="Helvetica"/>
              </a:rPr>
              <a:t>Grade char(2), </a:t>
            </a:r>
            <a:endParaRPr kumimoji="1" lang="en-US" sz="1800" b="0" i="0" u="none" strike="noStrike" kern="0" cap="none" spc="0" normalizeH="0" baseline="0" noProof="0" dirty="0">
              <a:ln>
                <a:noFill/>
              </a:ln>
              <a:solidFill>
                <a:srgbClr val="000000"/>
              </a:solidFill>
              <a:effectLst/>
              <a:uLnTx/>
              <a:uFillTx/>
              <a:latin typeface="Helvetica"/>
            </a:endParaRPr>
          </a:p>
          <a:p>
            <a:pPr marL="742950" marR="0" lvl="2" indent="0" algn="l" defTabSz="914400" rtl="0" eaLnBrk="0" fontAlgn="base" latinLnBrk="0" hangingPunct="0">
              <a:lnSpc>
                <a:spcPct val="100000"/>
              </a:lnSpc>
              <a:spcBef>
                <a:spcPct val="35000"/>
              </a:spcBef>
              <a:spcAft>
                <a:spcPct val="0"/>
              </a:spcAft>
              <a:buClr>
                <a:srgbClr val="33CC33"/>
              </a:buClr>
              <a:buSzPct val="75000"/>
              <a:buFont typeface="Webdings" panose="05030102010509060703" pitchFamily="18" charset="2"/>
              <a:buNone/>
              <a:tabLst/>
              <a:defRPr/>
            </a:pPr>
            <a:r>
              <a:rPr kumimoji="1" lang="en-US" sz="1800" b="1" i="0" u="none" strike="noStrike" kern="0" cap="none" spc="0" normalizeH="0" baseline="0" noProof="0" dirty="0">
                <a:ln>
                  <a:noFill/>
                </a:ln>
                <a:solidFill>
                  <a:srgbClr val="C00000"/>
                </a:solidFill>
                <a:effectLst/>
                <a:uLnTx/>
                <a:uFillTx/>
                <a:latin typeface="Helvetica"/>
              </a:rPr>
              <a:t>PRIMARY KEY (SID, CNO, Year)</a:t>
            </a:r>
            <a:r>
              <a:rPr kumimoji="1" lang="en-US" sz="2000" b="1" i="0" u="none" strike="noStrike" kern="0" cap="none" spc="0" normalizeH="0" baseline="0" noProof="0" dirty="0">
                <a:ln>
                  <a:noFill/>
                </a:ln>
                <a:solidFill>
                  <a:srgbClr val="000000"/>
                </a:solidFill>
                <a:effectLst/>
                <a:uLnTx/>
                <a:uFillTx/>
                <a:latin typeface="Helvetica"/>
              </a:rPr>
              <a:t>)</a:t>
            </a:r>
            <a:r>
              <a:rPr kumimoji="1" lang="en-US" sz="1800" b="1" i="0" u="none" strike="noStrike" kern="0" cap="none" spc="0" normalizeH="0" baseline="0" noProof="0" dirty="0">
                <a:ln>
                  <a:noFill/>
                </a:ln>
                <a:solidFill>
                  <a:srgbClr val="000000"/>
                </a:solidFill>
                <a:effectLst/>
                <a:uLnTx/>
                <a:uFillTx/>
                <a:latin typeface="Helvetica"/>
              </a:rPr>
              <a:t>;         Note: </a:t>
            </a:r>
            <a:r>
              <a:rPr kumimoji="1" lang="en-US" sz="1800" b="0" i="0" u="none" strike="noStrike" kern="0" cap="none" spc="0" normalizeH="0" baseline="0" noProof="0" dirty="0">
                <a:ln>
                  <a:noFill/>
                </a:ln>
                <a:solidFill>
                  <a:srgbClr val="000000"/>
                </a:solidFill>
                <a:effectLst/>
                <a:uLnTx/>
                <a:uFillTx/>
                <a:latin typeface="Helvetica"/>
              </a:rPr>
              <a:t>primary key defined after defining all the columns</a:t>
            </a: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16</a:t>
            </a:fld>
            <a:endParaRPr lang="en-US"/>
          </a:p>
        </p:txBody>
      </p:sp>
    </p:spTree>
    <p:extLst>
      <p:ext uri="{BB962C8B-B14F-4D97-AF65-F5344CB8AC3E}">
        <p14:creationId xmlns:p14="http://schemas.microsoft.com/office/powerpoint/2010/main" val="34076553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bwMode="auto">
          <a:xfrm>
            <a:off x="1024467" y="-37698"/>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FOREIGN KEY</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7" name="Content Placeholder 2"/>
          <p:cNvSpPr txBox="1">
            <a:spLocks/>
          </p:cNvSpPr>
          <p:nvPr/>
        </p:nvSpPr>
        <p:spPr bwMode="auto">
          <a:xfrm>
            <a:off x="1024467" y="571902"/>
            <a:ext cx="10596726" cy="1504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foreign key (</a:t>
            </a:r>
            <a:r>
              <a:rPr kumimoji="1" lang="en-US" sz="1800" b="1" i="0" u="none" strike="noStrike" kern="0" cap="none" spc="0" normalizeH="0" baseline="0" noProof="0" dirty="0">
                <a:ln>
                  <a:noFill/>
                </a:ln>
                <a:solidFill>
                  <a:srgbClr val="FF0066"/>
                </a:solidFill>
                <a:effectLst/>
                <a:uLnTx/>
                <a:uFillTx/>
                <a:latin typeface="Helvetica"/>
                <a:ea typeface="+mn-ea"/>
                <a:cs typeface="+mn-cs"/>
              </a:rPr>
              <a:t>A</a:t>
            </a:r>
            <a:r>
              <a:rPr kumimoji="1" lang="en-US" sz="1800" b="1" i="0" u="none" strike="noStrike" kern="0" cap="none" spc="0" normalizeH="0" baseline="-25000" noProof="0" dirty="0">
                <a:ln>
                  <a:noFill/>
                </a:ln>
                <a:solidFill>
                  <a:srgbClr val="FF0066"/>
                </a:solidFill>
                <a:effectLst/>
                <a:uLnTx/>
                <a:uFillTx/>
                <a:latin typeface="Helvetica"/>
                <a:ea typeface="+mn-ea"/>
                <a:cs typeface="+mn-cs"/>
              </a:rPr>
              <a:t>k1</a:t>
            </a:r>
            <a:r>
              <a:rPr kumimoji="1" lang="en-US" sz="1800" b="1" i="0" u="none" strike="noStrike" kern="0" cap="none" spc="0" normalizeH="0" baseline="0" noProof="0" dirty="0">
                <a:ln>
                  <a:noFill/>
                </a:ln>
                <a:solidFill>
                  <a:srgbClr val="FF0066"/>
                </a:solidFill>
                <a:effectLst/>
                <a:uLnTx/>
                <a:uFillTx/>
                <a:latin typeface="Helvetica"/>
                <a:ea typeface="+mn-ea"/>
                <a:cs typeface="+mn-cs"/>
              </a:rPr>
              <a:t> , A</a:t>
            </a:r>
            <a:r>
              <a:rPr kumimoji="1" lang="en-US" sz="1800" b="1" i="0" u="none" strike="noStrike" kern="0" cap="none" spc="0" normalizeH="0" baseline="-25000" noProof="0" dirty="0">
                <a:ln>
                  <a:noFill/>
                </a:ln>
                <a:solidFill>
                  <a:srgbClr val="FF0066"/>
                </a:solidFill>
                <a:effectLst/>
                <a:uLnTx/>
                <a:uFillTx/>
                <a:latin typeface="Helvetica"/>
                <a:ea typeface="+mn-ea"/>
                <a:cs typeface="+mn-cs"/>
              </a:rPr>
              <a:t>k2</a:t>
            </a:r>
            <a:r>
              <a:rPr kumimoji="1" lang="en-US" sz="1800" b="1" i="0" u="none" strike="noStrike" kern="0" cap="none" spc="0" normalizeH="0" baseline="0" noProof="0" dirty="0">
                <a:ln>
                  <a:noFill/>
                </a:ln>
                <a:solidFill>
                  <a:srgbClr val="FF0066"/>
                </a:solidFill>
                <a:effectLst/>
                <a:uLnTx/>
                <a:uFillTx/>
                <a:latin typeface="Helvetica"/>
                <a:ea typeface="+mn-ea"/>
                <a:cs typeface="+mn-cs"/>
              </a:rPr>
              <a:t>, </a:t>
            </a:r>
            <a:r>
              <a:rPr kumimoji="1" lang="en-US" sz="1800" b="1" i="0" u="none" strike="noStrike" kern="0" cap="none" spc="0" normalizeH="0" baseline="0" noProof="0" dirty="0">
                <a:ln>
                  <a:noFill/>
                </a:ln>
                <a:effectLst/>
                <a:uLnTx/>
                <a:uFillTx/>
                <a:latin typeface="Helvetica"/>
                <a:ea typeface="+mn-ea"/>
                <a:cs typeface="+mn-cs"/>
              </a:rPr>
              <a:t>. . . </a:t>
            </a:r>
            <a:r>
              <a:rPr kumimoji="1" lang="en-US" sz="1800" b="1" i="0" u="none" strike="noStrike" kern="0" cap="none" spc="0" normalizeH="0" baseline="0" noProof="0" dirty="0">
                <a:ln>
                  <a:noFill/>
                </a:ln>
                <a:solidFill>
                  <a:srgbClr val="FF0066"/>
                </a:solidFill>
                <a:effectLst/>
                <a:uLnTx/>
                <a:uFillTx/>
                <a:latin typeface="Helvetica"/>
                <a:ea typeface="+mn-ea"/>
                <a:cs typeface="+mn-cs"/>
              </a:rPr>
              <a:t>, </a:t>
            </a:r>
            <a:r>
              <a:rPr kumimoji="1" lang="en-US" sz="1800" b="1" i="0" u="none" strike="noStrike" kern="0" cap="none" spc="0" normalizeH="0" baseline="0" noProof="0" dirty="0" err="1">
                <a:ln>
                  <a:noFill/>
                </a:ln>
                <a:solidFill>
                  <a:srgbClr val="FF0066"/>
                </a:solidFill>
                <a:effectLst/>
                <a:uLnTx/>
                <a:uFillTx/>
                <a:latin typeface="Helvetica"/>
                <a:ea typeface="+mn-ea"/>
                <a:cs typeface="+mn-cs"/>
              </a:rPr>
              <a:t>A</a:t>
            </a:r>
            <a:r>
              <a:rPr kumimoji="1" lang="en-US" sz="1800" b="1" i="0" u="none" strike="noStrike" kern="0" cap="none" spc="0" normalizeH="0" baseline="-25000" noProof="0" dirty="0" err="1">
                <a:ln>
                  <a:noFill/>
                </a:ln>
                <a:solidFill>
                  <a:srgbClr val="FF0066"/>
                </a:solidFill>
                <a:effectLst/>
                <a:uLnTx/>
                <a:uFillTx/>
                <a:latin typeface="Helvetica"/>
                <a:ea typeface="+mn-ea"/>
                <a:cs typeface="+mn-cs"/>
              </a:rPr>
              <a:t>kn</a:t>
            </a:r>
            <a:r>
              <a:rPr kumimoji="1" lang="en-US" sz="1800" b="1" i="0" u="none" strike="noStrike" kern="0" cap="none" spc="0" normalizeH="0" baseline="0" noProof="0" dirty="0">
                <a:ln>
                  <a:noFill/>
                </a:ln>
                <a:solidFill>
                  <a:srgbClr val="FF0066"/>
                </a:solidFill>
                <a:effectLst/>
                <a:uLnTx/>
                <a:uFillTx/>
                <a:latin typeface="Helvetica"/>
                <a:ea typeface="+mn-ea"/>
                <a:cs typeface="+mn-cs"/>
              </a:rPr>
              <a:t> </a:t>
            </a:r>
            <a:r>
              <a:rPr kumimoji="1" lang="en-US" sz="1800" b="1" i="0" u="none" strike="noStrike" kern="0" cap="none" spc="0" normalizeH="0" baseline="0" noProof="0" dirty="0">
                <a:ln>
                  <a:noFill/>
                </a:ln>
                <a:solidFill>
                  <a:srgbClr val="000000"/>
                </a:solidFill>
                <a:effectLst/>
                <a:uLnTx/>
                <a:uFillTx/>
                <a:latin typeface="Helvetica"/>
                <a:ea typeface="+mn-ea"/>
                <a:cs typeface="+mn-cs"/>
              </a:rPr>
              <a:t>) references </a:t>
            </a:r>
            <a:r>
              <a:rPr kumimoji="1" lang="en-US" sz="1800" b="1" i="0" u="none" strike="noStrike" kern="0" cap="none" spc="0" normalizeH="0" baseline="0" noProof="0" dirty="0">
                <a:ln>
                  <a:noFill/>
                </a:ln>
                <a:solidFill>
                  <a:srgbClr val="0070C0"/>
                </a:solidFill>
                <a:effectLst/>
                <a:uLnTx/>
                <a:uFillTx/>
                <a:latin typeface="Helvetica"/>
                <a:ea typeface="+mn-ea"/>
                <a:cs typeface="+mn-cs"/>
              </a:rPr>
              <a:t>s</a:t>
            </a:r>
            <a:r>
              <a:rPr kumimoji="1" lang="en-US" sz="1800" b="0" i="0" u="none" strike="noStrike" kern="0" cap="none" spc="0" normalizeH="0" baseline="0" noProof="0" dirty="0">
                <a:ln>
                  <a:noFill/>
                </a:ln>
                <a:solidFill>
                  <a:srgbClr val="000000"/>
                </a:solidFill>
                <a:effectLst/>
                <a:uLnTx/>
                <a:uFillTx/>
                <a:latin typeface="Helvetica"/>
                <a:ea typeface="+mn-ea"/>
                <a:cs typeface="+mn-cs"/>
              </a:rPr>
              <a:t>: The foreign key  in a relation </a:t>
            </a:r>
            <a:r>
              <a:rPr kumimoji="1" lang="en-US" sz="1800" b="1" i="0" u="none" strike="noStrike" kern="0" cap="none" spc="0" normalizeH="0" baseline="0" noProof="0" dirty="0">
                <a:ln>
                  <a:noFill/>
                </a:ln>
                <a:solidFill>
                  <a:srgbClr val="FF0000"/>
                </a:solidFill>
                <a:effectLst/>
                <a:uLnTx/>
                <a:uFillTx/>
                <a:latin typeface="Helvetica"/>
                <a:ea typeface="+mn-ea"/>
                <a:cs typeface="+mn-cs"/>
              </a:rPr>
              <a:t>r</a:t>
            </a:r>
            <a:r>
              <a:rPr kumimoji="1" lang="en-US" sz="1800" b="1" i="0" u="none" strike="noStrike" kern="0" cap="none" spc="0" normalizeH="0" baseline="0" noProof="0" dirty="0">
                <a:ln>
                  <a:noFill/>
                </a:ln>
                <a:solidFill>
                  <a:srgbClr val="000000"/>
                </a:solidFill>
                <a:effectLst/>
                <a:uLnTx/>
                <a:uFillTx/>
                <a:latin typeface="Helvetica"/>
                <a:ea typeface="+mn-ea"/>
                <a:cs typeface="+mn-cs"/>
              </a:rPr>
              <a:t> </a:t>
            </a:r>
            <a:r>
              <a:rPr kumimoji="1" lang="en-US" sz="1800" b="0" i="0" u="none" strike="noStrike" kern="0" cap="none" spc="0" normalizeH="0" baseline="0" noProof="0" dirty="0">
                <a:ln>
                  <a:noFill/>
                </a:ln>
                <a:solidFill>
                  <a:srgbClr val="000000"/>
                </a:solidFill>
                <a:effectLst/>
                <a:uLnTx/>
                <a:uFillTx/>
                <a:latin typeface="Helvetica"/>
                <a:ea typeface="+mn-ea"/>
                <a:cs typeface="+mn-cs"/>
              </a:rPr>
              <a:t>specification says that the values of attributes </a:t>
            </a:r>
            <a:r>
              <a:rPr kumimoji="1" lang="en-US" sz="1800" b="1" i="0" u="none" strike="noStrike" kern="0" cap="none" spc="0" normalizeH="0" baseline="0" noProof="0" dirty="0">
                <a:ln>
                  <a:noFill/>
                </a:ln>
                <a:solidFill>
                  <a:srgbClr val="000000"/>
                </a:solidFill>
                <a:effectLst/>
                <a:uLnTx/>
                <a:uFillTx/>
                <a:latin typeface="Helvetica"/>
                <a:ea typeface="+mn-ea"/>
                <a:cs typeface="+mn-cs"/>
              </a:rPr>
              <a:t>(</a:t>
            </a:r>
            <a:r>
              <a:rPr kumimoji="1" lang="en-US" sz="1800" b="1" i="0" u="none" strike="noStrike" kern="0" cap="none" spc="0" normalizeH="0" baseline="0" noProof="0" dirty="0">
                <a:ln>
                  <a:noFill/>
                </a:ln>
                <a:solidFill>
                  <a:srgbClr val="FF0000"/>
                </a:solidFill>
                <a:effectLst/>
                <a:uLnTx/>
                <a:uFillTx/>
                <a:latin typeface="Helvetica"/>
                <a:ea typeface="+mn-ea"/>
                <a:cs typeface="+mn-cs"/>
              </a:rPr>
              <a:t>A</a:t>
            </a:r>
            <a:r>
              <a:rPr kumimoji="1" lang="en-US" sz="1800" b="1" i="0" u="none" strike="noStrike" kern="0" cap="none" spc="0" normalizeH="0" baseline="-25000" noProof="0" dirty="0">
                <a:ln>
                  <a:noFill/>
                </a:ln>
                <a:solidFill>
                  <a:srgbClr val="FF0000"/>
                </a:solidFill>
                <a:effectLst/>
                <a:uLnTx/>
                <a:uFillTx/>
                <a:latin typeface="Helvetica"/>
                <a:ea typeface="+mn-ea"/>
                <a:cs typeface="+mn-cs"/>
              </a:rPr>
              <a:t>k1</a:t>
            </a:r>
            <a:r>
              <a:rPr kumimoji="1" lang="en-US" sz="1800" b="1" i="0" u="none" strike="noStrike" kern="0" cap="none" spc="0" normalizeH="0" baseline="0" noProof="0" dirty="0">
                <a:ln>
                  <a:noFill/>
                </a:ln>
                <a:solidFill>
                  <a:srgbClr val="FF0000"/>
                </a:solidFill>
                <a:effectLst/>
                <a:uLnTx/>
                <a:uFillTx/>
                <a:latin typeface="Helvetica"/>
                <a:ea typeface="+mn-ea"/>
                <a:cs typeface="+mn-cs"/>
              </a:rPr>
              <a:t> </a:t>
            </a:r>
            <a:r>
              <a:rPr kumimoji="1" lang="en-US" sz="1800" b="1" i="0" u="none" strike="noStrike" kern="0" cap="none" spc="0" normalizeH="0" baseline="0" noProof="0" dirty="0">
                <a:ln>
                  <a:noFill/>
                </a:ln>
                <a:effectLst/>
                <a:uLnTx/>
                <a:uFillTx/>
                <a:latin typeface="Helvetica"/>
                <a:ea typeface="+mn-ea"/>
                <a:cs typeface="+mn-cs"/>
              </a:rPr>
              <a:t>,</a:t>
            </a:r>
            <a:r>
              <a:rPr kumimoji="1" lang="en-US" sz="1800" b="1" i="0" u="none" strike="noStrike" kern="0" cap="none" spc="0" normalizeH="0" baseline="0" noProof="0" dirty="0">
                <a:ln>
                  <a:noFill/>
                </a:ln>
                <a:solidFill>
                  <a:srgbClr val="FF0000"/>
                </a:solidFill>
                <a:effectLst/>
                <a:uLnTx/>
                <a:uFillTx/>
                <a:latin typeface="Helvetica"/>
                <a:ea typeface="+mn-ea"/>
                <a:cs typeface="+mn-cs"/>
              </a:rPr>
              <a:t> A</a:t>
            </a:r>
            <a:r>
              <a:rPr kumimoji="1" lang="en-US" sz="1800" b="1" i="0" u="none" strike="noStrike" kern="0" cap="none" spc="0" normalizeH="0" baseline="-25000" noProof="0" dirty="0">
                <a:ln>
                  <a:noFill/>
                </a:ln>
                <a:solidFill>
                  <a:srgbClr val="FF0000"/>
                </a:solidFill>
                <a:effectLst/>
                <a:uLnTx/>
                <a:uFillTx/>
                <a:latin typeface="Helvetica"/>
                <a:ea typeface="+mn-ea"/>
                <a:cs typeface="+mn-cs"/>
              </a:rPr>
              <a:t>k2</a:t>
            </a:r>
            <a:r>
              <a:rPr kumimoji="1" lang="en-US" sz="1800" b="1" i="0" u="none" strike="noStrike" kern="0" cap="none" spc="0" normalizeH="0" baseline="0" noProof="0" dirty="0">
                <a:ln>
                  <a:noFill/>
                </a:ln>
                <a:effectLst/>
                <a:uLnTx/>
                <a:uFillTx/>
                <a:latin typeface="Helvetica"/>
                <a:ea typeface="+mn-ea"/>
                <a:cs typeface="+mn-cs"/>
              </a:rPr>
              <a:t>, . . . , </a:t>
            </a:r>
            <a:r>
              <a:rPr kumimoji="1" lang="en-US" sz="1800" b="1" i="0" u="none" strike="noStrike" kern="0" cap="none" spc="0" normalizeH="0" baseline="0" noProof="0" dirty="0" err="1">
                <a:ln>
                  <a:noFill/>
                </a:ln>
                <a:solidFill>
                  <a:srgbClr val="FF0000"/>
                </a:solidFill>
                <a:effectLst/>
                <a:uLnTx/>
                <a:uFillTx/>
                <a:latin typeface="Helvetica"/>
                <a:ea typeface="+mn-ea"/>
                <a:cs typeface="+mn-cs"/>
              </a:rPr>
              <a:t>A</a:t>
            </a:r>
            <a:r>
              <a:rPr kumimoji="1" lang="en-US" sz="1800" b="1" i="0" u="none" strike="noStrike" kern="0" cap="none" spc="0" normalizeH="0" baseline="-25000" noProof="0" dirty="0" err="1">
                <a:ln>
                  <a:noFill/>
                </a:ln>
                <a:solidFill>
                  <a:srgbClr val="FF0000"/>
                </a:solidFill>
                <a:effectLst/>
                <a:uLnTx/>
                <a:uFillTx/>
                <a:latin typeface="Helvetica"/>
                <a:ea typeface="+mn-ea"/>
                <a:cs typeface="+mn-cs"/>
              </a:rPr>
              <a:t>kn</a:t>
            </a:r>
            <a:r>
              <a:rPr kumimoji="1" lang="en-US" sz="1800" b="1" i="0" u="none" strike="noStrike" kern="0" cap="none" spc="0" normalizeH="0" baseline="0" noProof="0" dirty="0">
                <a:ln>
                  <a:noFill/>
                </a:ln>
                <a:solidFill>
                  <a:srgbClr val="FF0000"/>
                </a:solidFill>
                <a:effectLst/>
                <a:uLnTx/>
                <a:uFillTx/>
                <a:latin typeface="Helvetica"/>
                <a:ea typeface="+mn-ea"/>
                <a:cs typeface="+mn-cs"/>
              </a:rPr>
              <a:t> </a:t>
            </a:r>
            <a:r>
              <a:rPr kumimoji="1" lang="en-US" sz="1800" b="1" i="0" u="none" strike="noStrike" kern="0" cap="none" spc="0" normalizeH="0" baseline="0" noProof="0" dirty="0">
                <a:ln>
                  <a:noFill/>
                </a:ln>
                <a:solidFill>
                  <a:srgbClr val="000000"/>
                </a:solidFill>
                <a:effectLst/>
                <a:uLnTx/>
                <a:uFillTx/>
                <a:latin typeface="Helvetica"/>
                <a:ea typeface="+mn-ea"/>
                <a:cs typeface="+mn-cs"/>
              </a:rPr>
              <a:t>)</a:t>
            </a:r>
            <a:r>
              <a:rPr kumimoji="1" lang="en-US" sz="1800" b="0" i="0" u="none" strike="noStrike" kern="0" cap="none" spc="0" normalizeH="0" baseline="0" noProof="0" dirty="0">
                <a:ln>
                  <a:noFill/>
                </a:ln>
                <a:solidFill>
                  <a:srgbClr val="000000"/>
                </a:solidFill>
                <a:effectLst/>
                <a:uLnTx/>
                <a:uFillTx/>
                <a:latin typeface="Helvetica"/>
                <a:ea typeface="+mn-ea"/>
                <a:cs typeface="+mn-cs"/>
              </a:rPr>
              <a:t> for any tuple in the relation </a:t>
            </a:r>
            <a:r>
              <a:rPr kumimoji="1" lang="en-US" sz="1800" b="1" i="0" u="none" strike="noStrike" kern="0" cap="none" spc="0" normalizeH="0" baseline="0" noProof="0" dirty="0">
                <a:ln>
                  <a:noFill/>
                </a:ln>
                <a:solidFill>
                  <a:srgbClr val="FF0000"/>
                </a:solidFill>
                <a:effectLst/>
                <a:uLnTx/>
                <a:uFillTx/>
                <a:latin typeface="Helvetica"/>
                <a:ea typeface="+mn-ea"/>
                <a:cs typeface="+mn-cs"/>
              </a:rPr>
              <a:t>r</a:t>
            </a:r>
            <a:r>
              <a:rPr kumimoji="1" lang="en-US" sz="1800" b="1" i="0" u="none" strike="noStrike" kern="0" cap="none" spc="0" normalizeH="0" baseline="0" noProof="0" dirty="0">
                <a:ln>
                  <a:noFill/>
                </a:ln>
                <a:solidFill>
                  <a:srgbClr val="000000"/>
                </a:solidFill>
                <a:effectLst/>
                <a:uLnTx/>
                <a:uFillTx/>
                <a:latin typeface="Helvetica"/>
                <a:ea typeface="+mn-ea"/>
                <a:cs typeface="+mn-cs"/>
              </a:rPr>
              <a:t> </a:t>
            </a:r>
            <a:r>
              <a:rPr kumimoji="1" lang="en-US" sz="1800" b="0" i="0" u="none" strike="noStrike" kern="0" cap="none" spc="0" normalizeH="0" baseline="0" noProof="0" dirty="0">
                <a:ln>
                  <a:noFill/>
                </a:ln>
                <a:solidFill>
                  <a:srgbClr val="000000"/>
                </a:solidFill>
                <a:effectLst/>
                <a:uLnTx/>
                <a:uFillTx/>
                <a:latin typeface="Helvetica"/>
                <a:ea typeface="+mn-ea"/>
                <a:cs typeface="+mn-cs"/>
              </a:rPr>
              <a:t>must correspond to values of the primary key attributes of some tuple in relation </a:t>
            </a:r>
            <a:r>
              <a:rPr kumimoji="1" lang="en-US" sz="1800" b="1" i="0" u="none" strike="noStrike" kern="0" cap="none" spc="0" normalizeH="0" baseline="0" noProof="0" dirty="0">
                <a:ln>
                  <a:noFill/>
                </a:ln>
                <a:solidFill>
                  <a:srgbClr val="0070C0"/>
                </a:solidFill>
                <a:effectLst/>
                <a:uLnTx/>
                <a:uFillTx/>
                <a:latin typeface="Helvetica"/>
                <a:ea typeface="+mn-ea"/>
                <a:cs typeface="+mn-cs"/>
              </a:rPr>
              <a:t>s</a:t>
            </a:r>
            <a:r>
              <a:rPr kumimoji="1" lang="en-US" sz="1800" b="0" i="0" u="none" strike="noStrike" kern="0" cap="none" spc="0" normalizeH="0" baseline="0" noProof="0" dirty="0">
                <a:ln>
                  <a:noFill/>
                </a:ln>
                <a:solidFill>
                  <a:srgbClr val="000000"/>
                </a:solidFill>
                <a:effectLst/>
                <a:uLnTx/>
                <a:uFillTx/>
                <a:latin typeface="Helvetica"/>
                <a:ea typeface="+mn-ea"/>
                <a:cs typeface="+mn-cs"/>
              </a:rPr>
              <a:t>.</a:t>
            </a:r>
          </a:p>
        </p:txBody>
      </p:sp>
      <p:pic>
        <p:nvPicPr>
          <p:cNvPr id="8" name="Picture 7"/>
          <p:cNvPicPr>
            <a:picLocks noChangeAspect="1"/>
          </p:cNvPicPr>
          <p:nvPr/>
        </p:nvPicPr>
        <p:blipFill>
          <a:blip r:embed="rId3">
            <a:lum bright="-20000" contrast="40000"/>
          </a:blip>
          <a:stretch>
            <a:fillRect/>
          </a:stretch>
        </p:blipFill>
        <p:spPr>
          <a:xfrm>
            <a:off x="1463040" y="1764018"/>
            <a:ext cx="9306560" cy="3157928"/>
          </a:xfrm>
          <a:prstGeom prst="rect">
            <a:avLst/>
          </a:prstGeom>
        </p:spPr>
      </p:pic>
      <p:sp>
        <p:nvSpPr>
          <p:cNvPr id="9" name="Rectangle 8"/>
          <p:cNvSpPr/>
          <p:nvPr/>
        </p:nvSpPr>
        <p:spPr>
          <a:xfrm>
            <a:off x="554567" y="5070764"/>
            <a:ext cx="11239500" cy="1772793"/>
          </a:xfrm>
          <a:prstGeom prst="rect">
            <a:avLst/>
          </a:prstGeom>
        </p:spPr>
        <p:txBody>
          <a:bodyPr wrap="square">
            <a:spAutoFit/>
          </a:bodyPr>
          <a:lstStyle/>
          <a:p>
            <a:pPr>
              <a:lnSpc>
                <a:spcPct val="140000"/>
              </a:lnSpc>
            </a:pPr>
            <a:r>
              <a:rPr lang="en-US" dirty="0">
                <a:solidFill>
                  <a:srgbClr val="000000"/>
                </a:solidFill>
                <a:latin typeface="Helvetica"/>
              </a:rPr>
              <a:t>Enrollment can be done to only to those who are student, therefore SID column in Enrollment can have only values which are present in SID in Student table. </a:t>
            </a:r>
          </a:p>
          <a:p>
            <a:pPr>
              <a:lnSpc>
                <a:spcPct val="140000"/>
              </a:lnSpc>
            </a:pPr>
            <a:r>
              <a:rPr lang="en-US" dirty="0">
                <a:solidFill>
                  <a:srgbClr val="000000"/>
                </a:solidFill>
                <a:latin typeface="Helvetica"/>
              </a:rPr>
              <a:t>This condition is imposed by defining </a:t>
            </a:r>
            <a:r>
              <a:rPr lang="en-US" b="1" dirty="0">
                <a:solidFill>
                  <a:srgbClr val="000000"/>
                </a:solidFill>
                <a:latin typeface="Helvetica"/>
              </a:rPr>
              <a:t>SID in Enrollment as Foreign key referencing Students</a:t>
            </a:r>
          </a:p>
          <a:p>
            <a:pPr algn="ctr">
              <a:lnSpc>
                <a:spcPct val="140000"/>
              </a:lnSpc>
            </a:pPr>
            <a:r>
              <a:rPr lang="en-US" b="1" dirty="0">
                <a:solidFill>
                  <a:srgbClr val="000000"/>
                </a:solidFill>
                <a:latin typeface="Helvetica"/>
              </a:rPr>
              <a:t> </a:t>
            </a:r>
            <a:r>
              <a:rPr lang="en-US" sz="2400" b="1" dirty="0">
                <a:solidFill>
                  <a:srgbClr val="C00000"/>
                </a:solidFill>
                <a:latin typeface="Helvetica"/>
              </a:rPr>
              <a:t>This is known as Referential Integrity Constraint</a:t>
            </a:r>
            <a:endParaRPr lang="en-US" b="1" dirty="0">
              <a:solidFill>
                <a:srgbClr val="C00000"/>
              </a:solidFill>
              <a:latin typeface="Helvetica"/>
            </a:endParaRP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17</a:t>
            </a:fld>
            <a:endParaRPr lang="en-US"/>
          </a:p>
        </p:txBody>
      </p:sp>
    </p:spTree>
    <p:extLst>
      <p:ext uri="{BB962C8B-B14F-4D97-AF65-F5344CB8AC3E}">
        <p14:creationId xmlns:p14="http://schemas.microsoft.com/office/powerpoint/2010/main" val="4110768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024467" y="0"/>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Referential Integrity Constraint</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5" name="Rectangle 3"/>
          <p:cNvSpPr txBox="1">
            <a:spLocks noChangeArrowheads="1"/>
          </p:cNvSpPr>
          <p:nvPr/>
        </p:nvSpPr>
        <p:spPr bwMode="auto">
          <a:xfrm>
            <a:off x="858213" y="609600"/>
            <a:ext cx="10496973" cy="2698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20000"/>
              </a:lnSpc>
              <a:spcBef>
                <a:spcPts val="600"/>
              </a:spcBef>
              <a:spcAft>
                <a:spcPct val="0"/>
              </a:spcAft>
              <a:buClr>
                <a:srgbClr val="CC3300"/>
              </a:buClr>
              <a:buSzPct val="90000"/>
              <a:buFont typeface="Monotype Sorts" charset="2"/>
              <a:buChar char="n"/>
              <a:tabLst/>
              <a:defRPr/>
            </a:pPr>
            <a:r>
              <a:rPr kumimoji="1" lang="en-US" altLang="en-US" sz="2000" b="0" i="0" u="none" strike="noStrike" kern="0" cap="none" spc="0" normalizeH="0" baseline="0" noProof="0">
                <a:ln>
                  <a:noFill/>
                </a:ln>
                <a:solidFill>
                  <a:srgbClr val="000000"/>
                </a:solidFill>
                <a:effectLst/>
                <a:uLnTx/>
                <a:uFillTx/>
                <a:latin typeface="Helvetica"/>
                <a:ea typeface="+mn-ea"/>
                <a:cs typeface="+mn-cs"/>
              </a:rPr>
              <a:t>Ensures that a value that appears in one relation for a given set of attributes also appears for a certain set of attributes in another relation.</a:t>
            </a:r>
            <a:endParaRPr kumimoji="1" lang="en-US" altLang="en-US" sz="1800" b="0" i="0" u="none" strike="noStrike" kern="0" cap="none" spc="0" normalizeH="0" baseline="0" noProof="0">
              <a:ln>
                <a:noFill/>
              </a:ln>
              <a:solidFill>
                <a:srgbClr val="000000"/>
              </a:solidFill>
              <a:effectLst/>
              <a:uLnTx/>
              <a:uFillTx/>
              <a:latin typeface="Helvetica"/>
              <a:ea typeface="+mn-ea"/>
              <a:cs typeface="+mn-cs"/>
            </a:endParaRPr>
          </a:p>
          <a:p>
            <a:pPr marL="742950" marR="0" lvl="1" indent="-285750" algn="l" defTabSz="914400" rtl="0" eaLnBrk="0" fontAlgn="base" latinLnBrk="0" hangingPunct="0">
              <a:lnSpc>
                <a:spcPct val="120000"/>
              </a:lnSpc>
              <a:spcBef>
                <a:spcPts val="600"/>
              </a:spcBef>
              <a:spcAft>
                <a:spcPct val="0"/>
              </a:spcAft>
              <a:buClr>
                <a:srgbClr val="FF9933"/>
              </a:buClr>
              <a:buSzPct val="80000"/>
              <a:buFont typeface="Monotype Sorts" charset="2"/>
              <a:buChar char="l"/>
              <a:tabLst/>
              <a:defRPr/>
            </a:pPr>
            <a:r>
              <a:rPr kumimoji="1" lang="en-US" altLang="en-US" sz="2000" b="1" i="0" u="none" strike="noStrike" kern="0" cap="none" spc="0" normalizeH="0" baseline="0" noProof="0">
                <a:ln>
                  <a:noFill/>
                </a:ln>
                <a:solidFill>
                  <a:srgbClr val="000000"/>
                </a:solidFill>
                <a:effectLst/>
                <a:uLnTx/>
                <a:uFillTx/>
                <a:latin typeface="Helvetica"/>
              </a:rPr>
              <a:t>Example:  </a:t>
            </a:r>
            <a:r>
              <a:rPr kumimoji="1" lang="en-US" altLang="en-US" sz="1800" b="0" i="0" u="none" strike="noStrike" kern="0" cap="none" spc="0" normalizeH="0" baseline="0" noProof="0">
                <a:ln>
                  <a:noFill/>
                </a:ln>
                <a:solidFill>
                  <a:srgbClr val="000000"/>
                </a:solidFill>
                <a:effectLst/>
                <a:uLnTx/>
                <a:uFillTx/>
                <a:latin typeface="Helvetica"/>
              </a:rPr>
              <a:t>If “</a:t>
            </a:r>
            <a:r>
              <a:rPr kumimoji="1" lang="en-US" altLang="en-US" sz="1800" b="0" i="0" u="none" strike="noStrike" kern="0" cap="none" spc="0" normalizeH="0" baseline="0" noProof="0">
                <a:ln>
                  <a:noFill/>
                </a:ln>
                <a:solidFill>
                  <a:srgbClr val="C00000"/>
                </a:solidFill>
                <a:effectLst/>
                <a:uLnTx/>
                <a:uFillTx/>
                <a:latin typeface="Helvetica"/>
              </a:rPr>
              <a:t>S101</a:t>
            </a:r>
            <a:r>
              <a:rPr kumimoji="1" lang="en-US" altLang="en-US" sz="1800" b="0" i="0" u="none" strike="noStrike" kern="0" cap="none" spc="0" normalizeH="0" baseline="0" noProof="0">
                <a:ln>
                  <a:noFill/>
                </a:ln>
                <a:solidFill>
                  <a:srgbClr val="000000"/>
                </a:solidFill>
                <a:effectLst/>
                <a:uLnTx/>
                <a:uFillTx/>
                <a:latin typeface="Helvetica"/>
              </a:rPr>
              <a:t>” is a </a:t>
            </a:r>
            <a:r>
              <a:rPr kumimoji="1" lang="en-US" altLang="en-US" sz="1800" b="0" i="0" u="none" strike="noStrike" kern="0" cap="none" spc="0" normalizeH="0" baseline="0" noProof="0">
                <a:ln>
                  <a:noFill/>
                </a:ln>
                <a:solidFill>
                  <a:srgbClr val="C00000"/>
                </a:solidFill>
                <a:effectLst/>
                <a:uLnTx/>
                <a:uFillTx/>
                <a:latin typeface="Helvetica"/>
              </a:rPr>
              <a:t>Student Id </a:t>
            </a:r>
            <a:r>
              <a:rPr kumimoji="1" lang="en-US" altLang="en-US" sz="1800" b="0" i="0" u="none" strike="noStrike" kern="0" cap="none" spc="0" normalizeH="0" baseline="0" noProof="0">
                <a:ln>
                  <a:noFill/>
                </a:ln>
                <a:solidFill>
                  <a:srgbClr val="000000"/>
                </a:solidFill>
                <a:effectLst/>
                <a:uLnTx/>
                <a:uFillTx/>
                <a:latin typeface="Helvetica"/>
              </a:rPr>
              <a:t>appearing in one of the tuples in the </a:t>
            </a:r>
            <a:r>
              <a:rPr kumimoji="1" lang="en-US" altLang="en-US" sz="1800" b="0" i="1" u="none" strike="noStrike" kern="0" cap="none" spc="0" normalizeH="0" baseline="0" noProof="0">
                <a:ln>
                  <a:noFill/>
                </a:ln>
                <a:solidFill>
                  <a:srgbClr val="C00000"/>
                </a:solidFill>
                <a:effectLst/>
                <a:uLnTx/>
                <a:uFillTx/>
                <a:latin typeface="Helvetica"/>
              </a:rPr>
              <a:t>Enrollment</a:t>
            </a:r>
            <a:r>
              <a:rPr kumimoji="1" lang="en-US" altLang="en-US" sz="1800" b="0" i="1" u="none" strike="noStrike" kern="0" cap="none" spc="0" normalizeH="0" baseline="0" noProof="0">
                <a:ln>
                  <a:noFill/>
                </a:ln>
                <a:solidFill>
                  <a:srgbClr val="000000"/>
                </a:solidFill>
                <a:effectLst/>
                <a:uLnTx/>
                <a:uFillTx/>
                <a:latin typeface="Helvetica"/>
              </a:rPr>
              <a:t> </a:t>
            </a:r>
            <a:r>
              <a:rPr kumimoji="1" lang="en-US" altLang="en-US" sz="1800" b="0" i="0" u="none" strike="noStrike" kern="0" cap="none" spc="0" normalizeH="0" baseline="0" noProof="0">
                <a:ln>
                  <a:noFill/>
                </a:ln>
                <a:solidFill>
                  <a:srgbClr val="000000"/>
                </a:solidFill>
                <a:effectLst/>
                <a:uLnTx/>
                <a:uFillTx/>
                <a:latin typeface="Helvetica"/>
              </a:rPr>
              <a:t>relation, then there exists a tuple in the </a:t>
            </a:r>
            <a:r>
              <a:rPr kumimoji="1" lang="en-US" altLang="en-US" sz="1800" b="0" i="1" u="none" strike="noStrike" kern="0" cap="none" spc="0" normalizeH="0" baseline="0" noProof="0">
                <a:ln>
                  <a:noFill/>
                </a:ln>
                <a:solidFill>
                  <a:srgbClr val="C00000"/>
                </a:solidFill>
                <a:effectLst/>
                <a:uLnTx/>
                <a:uFillTx/>
                <a:latin typeface="Helvetica"/>
              </a:rPr>
              <a:t>Students</a:t>
            </a:r>
            <a:r>
              <a:rPr kumimoji="1" lang="en-US" altLang="en-US" sz="1800" b="0" i="0" u="none" strike="noStrike" kern="0" cap="none" spc="0" normalizeH="0" baseline="0" noProof="0">
                <a:ln>
                  <a:noFill/>
                </a:ln>
                <a:solidFill>
                  <a:srgbClr val="000000"/>
                </a:solidFill>
                <a:effectLst/>
                <a:uLnTx/>
                <a:uFillTx/>
                <a:latin typeface="Helvetica"/>
              </a:rPr>
              <a:t> relation for “</a:t>
            </a:r>
            <a:r>
              <a:rPr kumimoji="1" lang="en-US" altLang="en-US" sz="1800" b="0" i="0" u="none" strike="noStrike" kern="0" cap="none" spc="0" normalizeH="0" baseline="0" noProof="0">
                <a:ln>
                  <a:noFill/>
                </a:ln>
                <a:solidFill>
                  <a:srgbClr val="C00000"/>
                </a:solidFill>
                <a:effectLst/>
                <a:uLnTx/>
                <a:uFillTx/>
                <a:latin typeface="Helvetica"/>
              </a:rPr>
              <a:t>S101</a:t>
            </a:r>
            <a:r>
              <a:rPr kumimoji="1" lang="en-US" altLang="en-US" sz="1800" b="0" i="0" u="none" strike="noStrike" kern="0" cap="none" spc="0" normalizeH="0" baseline="0" noProof="0">
                <a:ln>
                  <a:noFill/>
                </a:ln>
                <a:solidFill>
                  <a:srgbClr val="000000"/>
                </a:solidFill>
                <a:effectLst/>
                <a:uLnTx/>
                <a:uFillTx/>
                <a:latin typeface="Helvetica"/>
              </a:rPr>
              <a:t>”.</a:t>
            </a:r>
            <a:endParaRPr kumimoji="1" lang="en-US" altLang="en-US" sz="1600" b="0" i="0" u="none" strike="noStrike" kern="0" cap="none" spc="0" normalizeH="0" baseline="0" noProof="0">
              <a:ln>
                <a:noFill/>
              </a:ln>
              <a:solidFill>
                <a:srgbClr val="000000"/>
              </a:solidFill>
              <a:effectLst/>
              <a:uLnTx/>
              <a:uFillTx/>
              <a:latin typeface="Helvetica"/>
            </a:endParaRPr>
          </a:p>
          <a:p>
            <a:pPr marL="342900" marR="0" lvl="0" indent="-342900" algn="l" defTabSz="914400" rtl="0" eaLnBrk="0" fontAlgn="base" latinLnBrk="0" hangingPunct="0">
              <a:lnSpc>
                <a:spcPct val="120000"/>
              </a:lnSpc>
              <a:spcBef>
                <a:spcPts val="600"/>
              </a:spcBef>
              <a:spcAft>
                <a:spcPct val="0"/>
              </a:spcAft>
              <a:buClr>
                <a:srgbClr val="CC3300"/>
              </a:buClr>
              <a:buSzPct val="90000"/>
              <a:buFont typeface="Monotype Sorts" charset="2"/>
              <a:buChar char="n"/>
              <a:tabLst/>
              <a:defRPr/>
            </a:pPr>
            <a:r>
              <a:rPr kumimoji="1" lang="en-US" altLang="en-US" sz="2000" b="0" i="0" u="none" strike="noStrike" kern="0" cap="none" spc="0" normalizeH="0" baseline="0" noProof="0">
                <a:ln>
                  <a:noFill/>
                </a:ln>
                <a:solidFill>
                  <a:srgbClr val="000000"/>
                </a:solidFill>
                <a:effectLst/>
                <a:uLnTx/>
                <a:uFillTx/>
                <a:latin typeface="Helvetica"/>
                <a:ea typeface="+mn-ea"/>
                <a:cs typeface="+mn-cs"/>
              </a:rPr>
              <a:t>Let </a:t>
            </a:r>
            <a:r>
              <a:rPr kumimoji="1" lang="en-US" altLang="en-US" sz="2000" b="1" i="0" u="none" strike="noStrike" kern="0" cap="none" spc="0" normalizeH="0" baseline="0" noProof="0">
                <a:ln>
                  <a:noFill/>
                </a:ln>
                <a:solidFill>
                  <a:srgbClr val="000000"/>
                </a:solidFill>
                <a:effectLst/>
                <a:uLnTx/>
                <a:uFillTx/>
                <a:latin typeface="Helvetica"/>
                <a:ea typeface="+mn-ea"/>
                <a:cs typeface="+mn-cs"/>
              </a:rPr>
              <a:t>A </a:t>
            </a:r>
            <a:r>
              <a:rPr kumimoji="1" lang="en-US" altLang="en-US" sz="2000" b="0" i="0" u="none" strike="noStrike" kern="0" cap="none" spc="0" normalizeH="0" baseline="0" noProof="0">
                <a:ln>
                  <a:noFill/>
                </a:ln>
                <a:solidFill>
                  <a:srgbClr val="000000"/>
                </a:solidFill>
                <a:effectLst/>
                <a:uLnTx/>
                <a:uFillTx/>
                <a:latin typeface="Helvetica"/>
                <a:ea typeface="+mn-ea"/>
                <a:cs typeface="+mn-cs"/>
              </a:rPr>
              <a:t>be a </a:t>
            </a:r>
            <a:r>
              <a:rPr kumimoji="1" lang="en-US" altLang="en-US" sz="2000" b="1" i="0" u="none" strike="noStrike" kern="0" cap="none" spc="0" normalizeH="0" baseline="0" noProof="0">
                <a:ln>
                  <a:noFill/>
                </a:ln>
                <a:solidFill>
                  <a:srgbClr val="000000"/>
                </a:solidFill>
                <a:effectLst/>
                <a:uLnTx/>
                <a:uFillTx/>
                <a:latin typeface="Helvetica"/>
                <a:ea typeface="+mn-ea"/>
                <a:cs typeface="+mn-cs"/>
              </a:rPr>
              <a:t>set of attributes</a:t>
            </a:r>
            <a:r>
              <a:rPr kumimoji="1" lang="en-US" altLang="en-US" sz="2000" b="0" i="0" u="none" strike="noStrike" kern="0" cap="none" spc="0" normalizeH="0" baseline="0" noProof="0">
                <a:ln>
                  <a:noFill/>
                </a:ln>
                <a:solidFill>
                  <a:srgbClr val="000000"/>
                </a:solidFill>
                <a:effectLst/>
                <a:uLnTx/>
                <a:uFillTx/>
                <a:latin typeface="Helvetica"/>
                <a:ea typeface="+mn-ea"/>
                <a:cs typeface="+mn-cs"/>
              </a:rPr>
              <a:t>.  Let </a:t>
            </a:r>
            <a:r>
              <a:rPr kumimoji="1" lang="en-US" altLang="en-US" sz="2000" b="1" i="0" u="none" strike="noStrike" kern="0" cap="none" spc="0" normalizeH="0" baseline="0" noProof="0">
                <a:ln>
                  <a:noFill/>
                </a:ln>
                <a:solidFill>
                  <a:srgbClr val="000000"/>
                </a:solidFill>
                <a:effectLst/>
                <a:uLnTx/>
                <a:uFillTx/>
                <a:latin typeface="Helvetica"/>
                <a:ea typeface="+mn-ea"/>
                <a:cs typeface="+mn-cs"/>
              </a:rPr>
              <a:t>R</a:t>
            </a:r>
            <a:r>
              <a:rPr kumimoji="1" lang="en-US" altLang="en-US" sz="2000" b="0" i="0" u="none" strike="noStrike" kern="0" cap="none" spc="0" normalizeH="0" baseline="0" noProof="0">
                <a:ln>
                  <a:noFill/>
                </a:ln>
                <a:solidFill>
                  <a:srgbClr val="000000"/>
                </a:solidFill>
                <a:effectLst/>
                <a:uLnTx/>
                <a:uFillTx/>
                <a:latin typeface="Helvetica"/>
                <a:ea typeface="+mn-ea"/>
                <a:cs typeface="+mn-cs"/>
              </a:rPr>
              <a:t> and </a:t>
            </a:r>
            <a:r>
              <a:rPr kumimoji="1" lang="en-US" altLang="en-US" sz="2000" b="1" i="0" u="none" strike="noStrike" kern="0" cap="none" spc="0" normalizeH="0" baseline="0" noProof="0">
                <a:ln>
                  <a:noFill/>
                </a:ln>
                <a:solidFill>
                  <a:srgbClr val="000000"/>
                </a:solidFill>
                <a:effectLst/>
                <a:uLnTx/>
                <a:uFillTx/>
                <a:latin typeface="Helvetica"/>
                <a:ea typeface="+mn-ea"/>
                <a:cs typeface="+mn-cs"/>
              </a:rPr>
              <a:t>S</a:t>
            </a:r>
            <a:r>
              <a:rPr kumimoji="1" lang="en-US" altLang="en-US" sz="2000" b="0" i="0" u="none" strike="noStrike" kern="0" cap="none" spc="0" normalizeH="0" baseline="0" noProof="0">
                <a:ln>
                  <a:noFill/>
                </a:ln>
                <a:solidFill>
                  <a:srgbClr val="000000"/>
                </a:solidFill>
                <a:effectLst/>
                <a:uLnTx/>
                <a:uFillTx/>
                <a:latin typeface="Helvetica"/>
                <a:ea typeface="+mn-ea"/>
                <a:cs typeface="+mn-cs"/>
              </a:rPr>
              <a:t> be two relations that contain attributes A and where </a:t>
            </a:r>
            <a:r>
              <a:rPr kumimoji="1" lang="en-US" altLang="en-US" sz="2000" b="1" i="0" u="none" strike="noStrike" kern="0" cap="none" spc="0" normalizeH="0" baseline="0" noProof="0">
                <a:ln>
                  <a:noFill/>
                </a:ln>
                <a:solidFill>
                  <a:srgbClr val="000000"/>
                </a:solidFill>
                <a:effectLst/>
                <a:uLnTx/>
                <a:uFillTx/>
                <a:latin typeface="Helvetica"/>
                <a:ea typeface="+mn-ea"/>
                <a:cs typeface="+mn-cs"/>
              </a:rPr>
              <a:t>A</a:t>
            </a:r>
            <a:r>
              <a:rPr kumimoji="1" lang="en-US" altLang="en-US" sz="2000" b="0" i="0" u="none" strike="noStrike" kern="0" cap="none" spc="0" normalizeH="0" baseline="0" noProof="0">
                <a:ln>
                  <a:noFill/>
                </a:ln>
                <a:solidFill>
                  <a:srgbClr val="000000"/>
                </a:solidFill>
                <a:effectLst/>
                <a:uLnTx/>
                <a:uFillTx/>
                <a:latin typeface="Helvetica"/>
                <a:ea typeface="+mn-ea"/>
                <a:cs typeface="+mn-cs"/>
              </a:rPr>
              <a:t> is the </a:t>
            </a:r>
            <a:r>
              <a:rPr kumimoji="1" lang="en-US" altLang="en-US" sz="2000" b="1" i="0" u="none" strike="noStrike" kern="0" cap="none" spc="0" normalizeH="0" baseline="0" noProof="0">
                <a:ln>
                  <a:noFill/>
                </a:ln>
                <a:solidFill>
                  <a:srgbClr val="000000"/>
                </a:solidFill>
                <a:effectLst/>
                <a:uLnTx/>
                <a:uFillTx/>
                <a:latin typeface="Helvetica"/>
                <a:ea typeface="+mn-ea"/>
                <a:cs typeface="+mn-cs"/>
              </a:rPr>
              <a:t>primary key of S</a:t>
            </a:r>
            <a:r>
              <a:rPr kumimoji="1" lang="en-US" altLang="en-US" sz="2000" b="0" i="0" u="none" strike="noStrike" kern="0" cap="none" spc="0" normalizeH="0" baseline="0" noProof="0">
                <a:ln>
                  <a:noFill/>
                </a:ln>
                <a:solidFill>
                  <a:srgbClr val="000000"/>
                </a:solidFill>
                <a:effectLst/>
                <a:uLnTx/>
                <a:uFillTx/>
                <a:latin typeface="Helvetica"/>
                <a:ea typeface="+mn-ea"/>
                <a:cs typeface="+mn-cs"/>
              </a:rPr>
              <a:t>. </a:t>
            </a:r>
            <a:r>
              <a:rPr kumimoji="1" lang="en-US" altLang="en-US" sz="2000" b="1" i="0" u="none" strike="noStrike" kern="0" cap="none" spc="0" normalizeH="0" baseline="0" noProof="0">
                <a:ln>
                  <a:noFill/>
                </a:ln>
                <a:solidFill>
                  <a:srgbClr val="000000"/>
                </a:solidFill>
                <a:effectLst/>
                <a:uLnTx/>
                <a:uFillTx/>
                <a:latin typeface="Helvetica"/>
                <a:ea typeface="+mn-ea"/>
                <a:cs typeface="+mn-cs"/>
              </a:rPr>
              <a:t>A</a:t>
            </a:r>
            <a:r>
              <a:rPr kumimoji="1" lang="en-US" altLang="en-US" sz="2000" b="0" i="0" u="none" strike="noStrike" kern="0" cap="none" spc="0" normalizeH="0" baseline="0" noProof="0">
                <a:ln>
                  <a:noFill/>
                </a:ln>
                <a:solidFill>
                  <a:srgbClr val="000000"/>
                </a:solidFill>
                <a:effectLst/>
                <a:uLnTx/>
                <a:uFillTx/>
                <a:latin typeface="Helvetica"/>
                <a:ea typeface="+mn-ea"/>
                <a:cs typeface="+mn-cs"/>
              </a:rPr>
              <a:t> is said to be a  </a:t>
            </a:r>
            <a:r>
              <a:rPr kumimoji="1" lang="en-US" altLang="en-US" sz="2000" b="1" i="0" u="none" strike="noStrike" kern="0" cap="none" spc="0" normalizeH="0" baseline="0" noProof="0">
                <a:ln>
                  <a:noFill/>
                </a:ln>
                <a:solidFill>
                  <a:srgbClr val="000099"/>
                </a:solidFill>
                <a:effectLst/>
                <a:uLnTx/>
                <a:uFillTx/>
                <a:latin typeface="Helvetica"/>
                <a:ea typeface="+mn-ea"/>
                <a:cs typeface="+mn-cs"/>
              </a:rPr>
              <a:t>foreign key</a:t>
            </a:r>
            <a:r>
              <a:rPr kumimoji="1" lang="en-US" altLang="en-US" sz="2000" b="0" i="0" u="none" strike="noStrike" kern="0" cap="none" spc="0" normalizeH="0" baseline="0" noProof="0">
                <a:ln>
                  <a:noFill/>
                </a:ln>
                <a:solidFill>
                  <a:srgbClr val="000000"/>
                </a:solidFill>
                <a:effectLst/>
                <a:uLnTx/>
                <a:uFillTx/>
                <a:latin typeface="Helvetica"/>
                <a:ea typeface="+mn-ea"/>
                <a:cs typeface="+mn-cs"/>
              </a:rPr>
              <a:t> </a:t>
            </a:r>
            <a:r>
              <a:rPr kumimoji="1" lang="en-US" altLang="en-US" sz="2000" b="1" i="0" u="none" strike="noStrike" kern="0" cap="none" spc="0" normalizeH="0" baseline="0" noProof="0">
                <a:ln>
                  <a:noFill/>
                </a:ln>
                <a:solidFill>
                  <a:srgbClr val="000000"/>
                </a:solidFill>
                <a:effectLst/>
                <a:uLnTx/>
                <a:uFillTx/>
                <a:latin typeface="Helvetica"/>
                <a:ea typeface="+mn-ea"/>
                <a:cs typeface="+mn-cs"/>
              </a:rPr>
              <a:t>of R</a:t>
            </a:r>
            <a:r>
              <a:rPr kumimoji="1" lang="en-US" altLang="en-US" sz="2000" b="0" i="0" u="none" strike="noStrike" kern="0" cap="none" spc="0" normalizeH="0" baseline="0" noProof="0">
                <a:ln>
                  <a:noFill/>
                </a:ln>
                <a:solidFill>
                  <a:srgbClr val="000000"/>
                </a:solidFill>
                <a:effectLst/>
                <a:uLnTx/>
                <a:uFillTx/>
                <a:latin typeface="Helvetica"/>
                <a:ea typeface="+mn-ea"/>
                <a:cs typeface="+mn-cs"/>
              </a:rPr>
              <a:t> if for any </a:t>
            </a:r>
            <a:r>
              <a:rPr kumimoji="1" lang="en-US" altLang="en-US" sz="2000" b="1" i="0" u="none" strike="noStrike" kern="0" cap="none" spc="0" normalizeH="0" baseline="0" noProof="0">
                <a:ln>
                  <a:noFill/>
                </a:ln>
                <a:solidFill>
                  <a:srgbClr val="000000"/>
                </a:solidFill>
                <a:effectLst/>
                <a:uLnTx/>
                <a:uFillTx/>
                <a:latin typeface="Helvetica"/>
                <a:ea typeface="+mn-ea"/>
                <a:cs typeface="+mn-cs"/>
              </a:rPr>
              <a:t>values of A appearing in R </a:t>
            </a:r>
            <a:r>
              <a:rPr kumimoji="1" lang="en-US" altLang="en-US" sz="2000" b="0" i="0" u="none" strike="noStrike" kern="0" cap="none" spc="0" normalizeH="0" baseline="0" noProof="0">
                <a:ln>
                  <a:noFill/>
                </a:ln>
                <a:solidFill>
                  <a:srgbClr val="000000"/>
                </a:solidFill>
                <a:effectLst/>
                <a:uLnTx/>
                <a:uFillTx/>
                <a:latin typeface="Helvetica"/>
                <a:ea typeface="+mn-ea"/>
                <a:cs typeface="+mn-cs"/>
              </a:rPr>
              <a:t>these values </a:t>
            </a:r>
            <a:r>
              <a:rPr kumimoji="1" lang="en-US" altLang="en-US" sz="2000" b="1" i="0" u="none" strike="noStrike" kern="0" cap="none" spc="0" normalizeH="0" baseline="0" noProof="0">
                <a:ln>
                  <a:noFill/>
                </a:ln>
                <a:solidFill>
                  <a:srgbClr val="000000"/>
                </a:solidFill>
                <a:effectLst/>
                <a:uLnTx/>
                <a:uFillTx/>
                <a:latin typeface="Helvetica"/>
                <a:ea typeface="+mn-ea"/>
                <a:cs typeface="+mn-cs"/>
              </a:rPr>
              <a:t>also appear in S</a:t>
            </a:r>
            <a:r>
              <a:rPr kumimoji="1" lang="en-US" altLang="en-US" sz="2000" b="0" i="0" u="none" strike="noStrike" kern="0" cap="none" spc="0" normalizeH="0" baseline="0" noProof="0">
                <a:ln>
                  <a:noFill/>
                </a:ln>
                <a:solidFill>
                  <a:srgbClr val="000000"/>
                </a:solidFill>
                <a:effectLst/>
                <a:uLnTx/>
                <a:uFillTx/>
                <a:latin typeface="Helvetica"/>
                <a:ea typeface="+mn-ea"/>
                <a:cs typeface="+mn-cs"/>
              </a:rPr>
              <a:t>.</a:t>
            </a: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p:txBody>
      </p:sp>
      <p:pic>
        <p:nvPicPr>
          <p:cNvPr id="6" name="Picture 5"/>
          <p:cNvPicPr>
            <a:picLocks noChangeAspect="1"/>
          </p:cNvPicPr>
          <p:nvPr/>
        </p:nvPicPr>
        <p:blipFill>
          <a:blip r:embed="rId2"/>
          <a:stretch>
            <a:fillRect/>
          </a:stretch>
        </p:blipFill>
        <p:spPr>
          <a:xfrm>
            <a:off x="1368444" y="3394543"/>
            <a:ext cx="9476509" cy="2450920"/>
          </a:xfrm>
          <a:prstGeom prst="rect">
            <a:avLst/>
          </a:prstGeom>
        </p:spPr>
      </p:pic>
      <p:sp>
        <p:nvSpPr>
          <p:cNvPr id="7" name="Rectangle 6"/>
          <p:cNvSpPr/>
          <p:nvPr/>
        </p:nvSpPr>
        <p:spPr>
          <a:xfrm>
            <a:off x="858213" y="5845463"/>
            <a:ext cx="10099839" cy="646331"/>
          </a:xfrm>
          <a:prstGeom prst="rect">
            <a:avLst/>
          </a:prstGeom>
        </p:spPr>
        <p:txBody>
          <a:bodyPr wrap="square">
            <a:spAutoFit/>
          </a:bodyPr>
          <a:lstStyle/>
          <a:p>
            <a:r>
              <a:rPr lang="en-US" altLang="en-US" b="1" dirty="0">
                <a:solidFill>
                  <a:srgbClr val="C00000"/>
                </a:solidFill>
                <a:latin typeface="Times New Roman" panose="02020603050405020304" pitchFamily="18" charset="0"/>
              </a:rPr>
              <a:t>Note: </a:t>
            </a:r>
            <a:r>
              <a:rPr lang="en-US" altLang="en-US" dirty="0">
                <a:solidFill>
                  <a:srgbClr val="000000"/>
                </a:solidFill>
                <a:latin typeface="Times New Roman" panose="02020603050405020304" pitchFamily="18" charset="0"/>
              </a:rPr>
              <a:t>In relation </a:t>
            </a:r>
            <a:r>
              <a:rPr lang="en-US" altLang="en-US" b="1" dirty="0">
                <a:solidFill>
                  <a:srgbClr val="000000"/>
                </a:solidFill>
                <a:latin typeface="Times New Roman" panose="02020603050405020304" pitchFamily="18" charset="0"/>
              </a:rPr>
              <a:t>R</a:t>
            </a:r>
            <a:r>
              <a:rPr lang="en-US" altLang="en-US" dirty="0">
                <a:solidFill>
                  <a:srgbClr val="000000"/>
                </a:solidFill>
                <a:latin typeface="Times New Roman" panose="02020603050405020304" pitchFamily="18" charset="0"/>
              </a:rPr>
              <a:t>, attribute </a:t>
            </a:r>
            <a:r>
              <a:rPr lang="en-US" altLang="en-US" b="1" dirty="0">
                <a:solidFill>
                  <a:srgbClr val="000000"/>
                </a:solidFill>
                <a:latin typeface="Times New Roman" panose="02020603050405020304" pitchFamily="18" charset="0"/>
              </a:rPr>
              <a:t>A</a:t>
            </a:r>
            <a:r>
              <a:rPr lang="en-US" altLang="en-US" dirty="0">
                <a:solidFill>
                  <a:srgbClr val="000000"/>
                </a:solidFill>
                <a:latin typeface="Times New Roman" panose="02020603050405020304" pitchFamily="18" charset="0"/>
              </a:rPr>
              <a:t> can’t contain a value which is not existing in attribute </a:t>
            </a:r>
            <a:r>
              <a:rPr lang="en-US" altLang="en-US" b="1" dirty="0">
                <a:solidFill>
                  <a:srgbClr val="000000"/>
                </a:solidFill>
                <a:latin typeface="Times New Roman" panose="02020603050405020304" pitchFamily="18" charset="0"/>
              </a:rPr>
              <a:t>A</a:t>
            </a:r>
            <a:r>
              <a:rPr lang="en-US" altLang="en-US" dirty="0">
                <a:solidFill>
                  <a:srgbClr val="000000"/>
                </a:solidFill>
                <a:latin typeface="Times New Roman" panose="02020603050405020304" pitchFamily="18" charset="0"/>
              </a:rPr>
              <a:t> of relation </a:t>
            </a:r>
            <a:r>
              <a:rPr lang="en-US" altLang="en-US" b="1" dirty="0">
                <a:solidFill>
                  <a:srgbClr val="000000"/>
                </a:solidFill>
                <a:latin typeface="Times New Roman" panose="02020603050405020304" pitchFamily="18" charset="0"/>
              </a:rPr>
              <a:t>S</a:t>
            </a:r>
            <a:r>
              <a:rPr lang="en-US" altLang="en-US" dirty="0">
                <a:solidFill>
                  <a:srgbClr val="000000"/>
                </a:solidFill>
                <a:latin typeface="Times New Roman" panose="02020603050405020304" pitchFamily="18" charset="0"/>
              </a:rPr>
              <a:t>.</a:t>
            </a:r>
          </a:p>
          <a:p>
            <a:r>
              <a:rPr lang="en-US" altLang="en-US" dirty="0">
                <a:solidFill>
                  <a:srgbClr val="000000"/>
                </a:solidFill>
                <a:latin typeface="Times New Roman" panose="02020603050405020304" pitchFamily="18" charset="0"/>
              </a:rPr>
              <a:t>In the example above , at this instance </a:t>
            </a:r>
            <a:r>
              <a:rPr lang="en-US" altLang="en-US" b="1" dirty="0">
                <a:solidFill>
                  <a:srgbClr val="000000"/>
                </a:solidFill>
                <a:latin typeface="Times New Roman" panose="02020603050405020304" pitchFamily="18" charset="0"/>
              </a:rPr>
              <a:t>A</a:t>
            </a:r>
            <a:r>
              <a:rPr lang="en-US" altLang="en-US" dirty="0">
                <a:solidFill>
                  <a:srgbClr val="000000"/>
                </a:solidFill>
                <a:latin typeface="Times New Roman" panose="02020603050405020304" pitchFamily="18" charset="0"/>
              </a:rPr>
              <a:t> in </a:t>
            </a:r>
            <a:r>
              <a:rPr lang="en-US" altLang="en-US" b="1" dirty="0">
                <a:solidFill>
                  <a:srgbClr val="000000"/>
                </a:solidFill>
                <a:latin typeface="Times New Roman" panose="02020603050405020304" pitchFamily="18" charset="0"/>
              </a:rPr>
              <a:t>R</a:t>
            </a:r>
            <a:r>
              <a:rPr lang="en-US" altLang="en-US" dirty="0">
                <a:solidFill>
                  <a:srgbClr val="000000"/>
                </a:solidFill>
                <a:latin typeface="Times New Roman" panose="02020603050405020304" pitchFamily="18" charset="0"/>
              </a:rPr>
              <a:t> can’t have a value </a:t>
            </a:r>
            <a:r>
              <a:rPr lang="en-US" altLang="en-US" b="1" dirty="0">
                <a:solidFill>
                  <a:srgbClr val="000000"/>
                </a:solidFill>
                <a:latin typeface="Times New Roman" panose="02020603050405020304" pitchFamily="18" charset="0"/>
              </a:rPr>
              <a:t>a6</a:t>
            </a:r>
            <a:r>
              <a:rPr lang="en-US" altLang="en-US" dirty="0">
                <a:solidFill>
                  <a:srgbClr val="000000"/>
                </a:solidFill>
                <a:latin typeface="Times New Roman" panose="02020603050405020304" pitchFamily="18" charset="0"/>
              </a:rPr>
              <a:t> or </a:t>
            </a:r>
            <a:r>
              <a:rPr lang="en-US" altLang="en-US" b="1" dirty="0">
                <a:solidFill>
                  <a:srgbClr val="000000"/>
                </a:solidFill>
                <a:latin typeface="Times New Roman" panose="02020603050405020304" pitchFamily="18" charset="0"/>
              </a:rPr>
              <a:t>a7</a:t>
            </a:r>
            <a:r>
              <a:rPr lang="en-US" altLang="en-US" dirty="0">
                <a:solidFill>
                  <a:srgbClr val="000000"/>
                </a:solidFill>
                <a:latin typeface="Times New Roman" panose="02020603050405020304" pitchFamily="18" charset="0"/>
              </a:rPr>
              <a:t> etc.</a:t>
            </a: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18</a:t>
            </a:fld>
            <a:endParaRPr lang="en-US"/>
          </a:p>
        </p:txBody>
      </p:sp>
    </p:spTree>
    <p:extLst>
      <p:ext uri="{BB962C8B-B14F-4D97-AF65-F5344CB8AC3E}">
        <p14:creationId xmlns:p14="http://schemas.microsoft.com/office/powerpoint/2010/main" val="3264387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1024467" y="830551"/>
            <a:ext cx="10215033" cy="5584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Example:   </a:t>
            </a:r>
          </a:p>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We have to create </a:t>
            </a:r>
            <a:r>
              <a:rPr kumimoji="1" lang="en-US" sz="2000" b="1" i="0" u="none" strike="noStrike" kern="0" cap="none" spc="0" normalizeH="0" baseline="0" noProof="0" dirty="0">
                <a:ln>
                  <a:noFill/>
                </a:ln>
                <a:solidFill>
                  <a:srgbClr val="000000"/>
                </a:solidFill>
                <a:effectLst/>
                <a:uLnTx/>
                <a:uFillTx/>
                <a:latin typeface="Helvetica"/>
                <a:ea typeface="+mn-ea"/>
                <a:cs typeface="+mn-cs"/>
              </a:rPr>
              <a:t>Parent Tables </a:t>
            </a:r>
            <a:r>
              <a:rPr kumimoji="1" lang="en-US" sz="2000" b="0" i="0" u="none" strike="noStrike" kern="0" cap="none" spc="0" normalizeH="0" baseline="0" noProof="0" dirty="0">
                <a:ln>
                  <a:noFill/>
                </a:ln>
                <a:solidFill>
                  <a:srgbClr val="000000"/>
                </a:solidFill>
                <a:effectLst/>
                <a:uLnTx/>
                <a:uFillTx/>
                <a:latin typeface="Helvetica"/>
                <a:ea typeface="+mn-ea"/>
                <a:cs typeface="+mn-cs"/>
              </a:rPr>
              <a:t>First. </a:t>
            </a:r>
          </a:p>
          <a:p>
            <a:pPr marL="742950" marR="0" lvl="1" indent="-285750" algn="l" defTabSz="914400" rtl="0" eaLnBrk="0" fontAlgn="base" latinLnBrk="0" hangingPunct="0">
              <a:lnSpc>
                <a:spcPct val="120000"/>
              </a:lnSpc>
              <a:spcBef>
                <a:spcPct val="35000"/>
              </a:spcBef>
              <a:spcAft>
                <a:spcPct val="0"/>
              </a:spcAft>
              <a:buClr>
                <a:srgbClr val="FF9933"/>
              </a:buClr>
              <a:buSzPct val="80000"/>
              <a:buFont typeface="Monotype Sorts" charset="2"/>
              <a:buChar char="l"/>
              <a:tabLst/>
              <a:defRPr/>
            </a:pPr>
            <a:r>
              <a:rPr kumimoji="1" lang="en-US" sz="2000" b="0" i="0" u="none" strike="noStrike" kern="0" cap="none" spc="0" normalizeH="0" baseline="0" noProof="0" dirty="0">
                <a:ln>
                  <a:noFill/>
                </a:ln>
                <a:solidFill>
                  <a:srgbClr val="000000"/>
                </a:solidFill>
                <a:effectLst/>
                <a:uLnTx/>
                <a:uFillTx/>
                <a:latin typeface="Helvetica"/>
              </a:rPr>
              <a:t>CREATE TABLE </a:t>
            </a:r>
            <a:r>
              <a:rPr kumimoji="1" lang="en-US" sz="2000" b="1" i="0" u="none" strike="noStrike" kern="0" cap="none" spc="0" normalizeH="0" baseline="0" noProof="0" dirty="0">
                <a:ln>
                  <a:noFill/>
                </a:ln>
                <a:solidFill>
                  <a:srgbClr val="000000"/>
                </a:solidFill>
                <a:effectLst/>
                <a:uLnTx/>
                <a:uFillTx/>
                <a:latin typeface="Helvetica"/>
              </a:rPr>
              <a:t>Students</a:t>
            </a:r>
            <a:r>
              <a:rPr kumimoji="1" lang="en-US" sz="2000" b="0" i="0" u="none" strike="noStrike" kern="0" cap="none" spc="0" normalizeH="0" baseline="0" noProof="0" dirty="0">
                <a:ln>
                  <a:noFill/>
                </a:ln>
                <a:solidFill>
                  <a:srgbClr val="000000"/>
                </a:solidFill>
                <a:effectLst/>
                <a:uLnTx/>
                <a:uFillTx/>
                <a:latin typeface="Helvetica"/>
              </a:rPr>
              <a:t> (SID char (9) PRIMARY KEY , Name varchar2(25)    not null, Age integer); </a:t>
            </a:r>
          </a:p>
          <a:p>
            <a:pPr marL="742950" marR="0" lvl="1" indent="-285750" algn="l" defTabSz="914400" rtl="0" eaLnBrk="0" fontAlgn="base" latinLnBrk="0" hangingPunct="0">
              <a:lnSpc>
                <a:spcPct val="120000"/>
              </a:lnSpc>
              <a:spcBef>
                <a:spcPct val="35000"/>
              </a:spcBef>
              <a:spcAft>
                <a:spcPct val="0"/>
              </a:spcAft>
              <a:buClr>
                <a:srgbClr val="FF9933"/>
              </a:buClr>
              <a:buSzPct val="80000"/>
              <a:buFont typeface="Monotype Sorts" charset="2"/>
              <a:buChar char="l"/>
              <a:tabLst/>
              <a:defRPr/>
            </a:pPr>
            <a:endParaRPr kumimoji="1" lang="en-US" sz="500" b="0" i="0" u="none" strike="noStrike" kern="0" cap="none" spc="0" normalizeH="0" baseline="0" noProof="0" dirty="0">
              <a:ln>
                <a:noFill/>
              </a:ln>
              <a:solidFill>
                <a:srgbClr val="000000"/>
              </a:solidFill>
              <a:effectLst/>
              <a:uLnTx/>
              <a:uFillTx/>
              <a:latin typeface="Helvetica"/>
            </a:endParaRPr>
          </a:p>
          <a:p>
            <a:pPr marL="742950" marR="0" lvl="1" indent="-285750" algn="l" defTabSz="914400" rtl="0" eaLnBrk="0" fontAlgn="base" latinLnBrk="0" hangingPunct="0">
              <a:lnSpc>
                <a:spcPct val="120000"/>
              </a:lnSpc>
              <a:spcBef>
                <a:spcPct val="35000"/>
              </a:spcBef>
              <a:spcAft>
                <a:spcPct val="0"/>
              </a:spcAft>
              <a:buClr>
                <a:srgbClr val="FF9933"/>
              </a:buClr>
              <a:buSzPct val="80000"/>
              <a:buFont typeface="Monotype Sorts" charset="2"/>
              <a:buChar char="l"/>
              <a:tabLst/>
              <a:defRPr/>
            </a:pPr>
            <a:r>
              <a:rPr kumimoji="1" lang="en-US" sz="2000" b="0" i="0" u="none" strike="noStrike" kern="0" cap="none" spc="0" normalizeH="0" baseline="0" noProof="0" dirty="0">
                <a:ln>
                  <a:noFill/>
                </a:ln>
                <a:solidFill>
                  <a:srgbClr val="000000"/>
                </a:solidFill>
                <a:effectLst/>
                <a:uLnTx/>
                <a:uFillTx/>
                <a:latin typeface="Helvetica"/>
              </a:rPr>
              <a:t>CREATE TABLE </a:t>
            </a:r>
            <a:r>
              <a:rPr kumimoji="1" lang="en-US" sz="2000" b="1" i="0" u="none" strike="noStrike" kern="0" cap="none" spc="0" normalizeH="0" baseline="0" noProof="0" dirty="0">
                <a:ln>
                  <a:noFill/>
                </a:ln>
                <a:solidFill>
                  <a:srgbClr val="000000"/>
                </a:solidFill>
                <a:effectLst/>
                <a:uLnTx/>
                <a:uFillTx/>
                <a:latin typeface="Helvetica"/>
              </a:rPr>
              <a:t>Courses</a:t>
            </a:r>
            <a:r>
              <a:rPr kumimoji="1" lang="en-US" sz="2000" b="0" i="0" u="none" strike="noStrike" kern="0" cap="none" spc="0" normalizeH="0" baseline="0" noProof="0" dirty="0">
                <a:ln>
                  <a:noFill/>
                </a:ln>
                <a:solidFill>
                  <a:srgbClr val="000000"/>
                </a:solidFill>
                <a:effectLst/>
                <a:uLnTx/>
                <a:uFillTx/>
                <a:latin typeface="Helvetica"/>
              </a:rPr>
              <a:t> (CID varchar2 (9) UNIQUE , </a:t>
            </a:r>
            <a:r>
              <a:rPr kumimoji="1" lang="en-US" sz="2000" b="0" i="0" u="none" strike="noStrike" kern="0" cap="none" spc="0" normalizeH="0" baseline="0" noProof="0" dirty="0" err="1">
                <a:ln>
                  <a:noFill/>
                </a:ln>
                <a:solidFill>
                  <a:srgbClr val="000000"/>
                </a:solidFill>
                <a:effectLst/>
                <a:uLnTx/>
                <a:uFillTx/>
                <a:latin typeface="Helvetica"/>
              </a:rPr>
              <a:t>C_Name</a:t>
            </a:r>
            <a:r>
              <a:rPr kumimoji="1" lang="en-US" sz="2000" b="0" i="0" u="none" strike="noStrike" kern="0" cap="none" spc="0" normalizeH="0" baseline="0" noProof="0" dirty="0">
                <a:ln>
                  <a:noFill/>
                </a:ln>
                <a:solidFill>
                  <a:srgbClr val="000000"/>
                </a:solidFill>
                <a:effectLst/>
                <a:uLnTx/>
                <a:uFillTx/>
                <a:latin typeface="Helvetica"/>
              </a:rPr>
              <a:t> varchar2(25)   not null, Credits number(2), Duration Number(2)); </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2000" b="1" i="0" u="none" strike="noStrike" kern="0" cap="none" spc="0" normalizeH="0" baseline="0" noProof="0" dirty="0">
                <a:ln>
                  <a:noFill/>
                </a:ln>
                <a:solidFill>
                  <a:srgbClr val="000000"/>
                </a:solidFill>
                <a:effectLst/>
                <a:uLnTx/>
                <a:uFillTx/>
                <a:latin typeface="Helvetica"/>
                <a:ea typeface="+mn-ea"/>
                <a:cs typeface="+mn-cs"/>
              </a:rPr>
              <a:t>After Creating Parent Table/s, create Child tables</a:t>
            </a:r>
          </a:p>
          <a:p>
            <a:pPr marL="685800" marR="0" lvl="1" indent="-285750" algn="l" defTabSz="914400" rtl="0" eaLnBrk="0" fontAlgn="base" latinLnBrk="0" hangingPunct="0">
              <a:lnSpc>
                <a:spcPct val="100000"/>
              </a:lnSpc>
              <a:spcBef>
                <a:spcPts val="1200"/>
              </a:spcBef>
              <a:spcAft>
                <a:spcPct val="0"/>
              </a:spcAft>
              <a:buClr>
                <a:srgbClr val="FF9933"/>
              </a:buClr>
              <a:buSzPct val="80000"/>
              <a:buFont typeface="Monotype Sorts" charset="2"/>
              <a:buChar char="l"/>
              <a:tabLst/>
              <a:defRPr/>
            </a:pPr>
            <a:r>
              <a:rPr kumimoji="1" lang="en-US" sz="1800" b="1" i="0" u="none" strike="noStrike" kern="0" cap="none" spc="0" normalizeH="0" baseline="0" noProof="0" dirty="0">
                <a:ln>
                  <a:noFill/>
                </a:ln>
                <a:solidFill>
                  <a:srgbClr val="000000"/>
                </a:solidFill>
                <a:effectLst/>
                <a:uLnTx/>
                <a:uFillTx/>
                <a:latin typeface="Helvetica"/>
              </a:rPr>
              <a:t>CREATE TABLE </a:t>
            </a:r>
            <a:r>
              <a:rPr kumimoji="1" lang="en-US" sz="1800" b="0" i="0" u="none" strike="noStrike" kern="0" cap="none" spc="0" normalizeH="0" baseline="0" noProof="0" dirty="0">
                <a:ln>
                  <a:noFill/>
                </a:ln>
                <a:solidFill>
                  <a:srgbClr val="000000"/>
                </a:solidFill>
                <a:effectLst/>
                <a:uLnTx/>
                <a:uFillTx/>
                <a:latin typeface="Helvetica"/>
              </a:rPr>
              <a:t>Enrollment </a:t>
            </a:r>
          </a:p>
          <a:p>
            <a:pPr marL="400050" marR="0" lvl="1" indent="0" algn="l" defTabSz="914400" rtl="0" eaLnBrk="0" fontAlgn="base" latinLnBrk="0" hangingPunct="0">
              <a:lnSpc>
                <a:spcPct val="100000"/>
              </a:lnSpc>
              <a:spcBef>
                <a:spcPct val="35000"/>
              </a:spcBef>
              <a:spcAft>
                <a:spcPct val="0"/>
              </a:spcAft>
              <a:buClr>
                <a:srgbClr val="FF9933"/>
              </a:buClr>
              <a:buSzPct val="80000"/>
              <a:buFont typeface="Monotype Sorts" charset="2"/>
              <a:buNone/>
              <a:tabLst/>
              <a:defRPr/>
            </a:pPr>
            <a:r>
              <a:rPr kumimoji="1" lang="en-US" sz="1800" b="1" i="0" u="none" strike="noStrike" kern="0" cap="none" spc="0" normalizeH="0" baseline="0" noProof="0" dirty="0">
                <a:ln>
                  <a:noFill/>
                </a:ln>
                <a:solidFill>
                  <a:srgbClr val="000000"/>
                </a:solidFill>
                <a:effectLst/>
                <a:uLnTx/>
                <a:uFillTx/>
                <a:latin typeface="Helvetica"/>
              </a:rPr>
              <a:t>   </a:t>
            </a:r>
            <a:r>
              <a:rPr kumimoji="1" lang="en-US" sz="2300" b="1" i="0" u="none" strike="noStrike" kern="0" cap="none" spc="0" normalizeH="0" baseline="0" noProof="0" dirty="0">
                <a:ln>
                  <a:noFill/>
                </a:ln>
                <a:solidFill>
                  <a:srgbClr val="FF0000"/>
                </a:solidFill>
                <a:effectLst/>
                <a:uLnTx/>
                <a:uFillTx/>
                <a:latin typeface="Helvetica"/>
              </a:rPr>
              <a:t> ( </a:t>
            </a:r>
            <a:r>
              <a:rPr kumimoji="1" lang="en-US" sz="1800" b="0" i="0" u="none" strike="noStrike" kern="0" cap="none" spc="0" normalizeH="0" baseline="0" noProof="0" dirty="0">
                <a:ln>
                  <a:noFill/>
                </a:ln>
                <a:solidFill>
                  <a:srgbClr val="000000"/>
                </a:solidFill>
                <a:effectLst/>
                <a:uLnTx/>
                <a:uFillTx/>
                <a:latin typeface="Helvetica"/>
              </a:rPr>
              <a:t>SID char (9)</a:t>
            </a:r>
            <a:r>
              <a:rPr kumimoji="1" lang="en-US" sz="1800" b="1" i="0" u="none" strike="noStrike" kern="0" cap="none" spc="0" normalizeH="0" baseline="0" noProof="0" dirty="0">
                <a:ln>
                  <a:noFill/>
                </a:ln>
                <a:solidFill>
                  <a:srgbClr val="000000"/>
                </a:solidFill>
                <a:effectLst/>
                <a:uLnTx/>
                <a:uFillTx/>
                <a:latin typeface="Helvetica"/>
              </a:rPr>
              <a:t> NOT NULL </a:t>
            </a:r>
            <a:r>
              <a:rPr kumimoji="1" lang="en-US" sz="1800" b="1" i="0" u="none" strike="noStrike" kern="0" cap="none" spc="0" normalizeH="0" baseline="0" noProof="0" dirty="0">
                <a:ln>
                  <a:noFill/>
                </a:ln>
                <a:solidFill>
                  <a:srgbClr val="C00000"/>
                </a:solidFill>
                <a:effectLst/>
                <a:uLnTx/>
                <a:uFillTx/>
                <a:latin typeface="Helvetica"/>
              </a:rPr>
              <a:t>References Students</a:t>
            </a:r>
            <a:r>
              <a:rPr kumimoji="1" lang="en-US" sz="1800" b="1" i="0" u="none" strike="noStrike" kern="0" cap="none" spc="0" normalizeH="0" baseline="0" noProof="0" dirty="0">
                <a:ln>
                  <a:noFill/>
                </a:ln>
                <a:solidFill>
                  <a:srgbClr val="000000"/>
                </a:solidFill>
                <a:effectLst/>
                <a:uLnTx/>
                <a:uFillTx/>
                <a:latin typeface="Helvetica"/>
              </a:rPr>
              <a:t>, </a:t>
            </a:r>
            <a:endParaRPr kumimoji="1" lang="en-US" sz="1800" b="0" i="0" u="none" strike="noStrike" kern="0" cap="none" spc="0" normalizeH="0" baseline="0" noProof="0" dirty="0">
              <a:ln>
                <a:noFill/>
              </a:ln>
              <a:solidFill>
                <a:srgbClr val="000000"/>
              </a:solidFill>
              <a:effectLst/>
              <a:uLnTx/>
              <a:uFillTx/>
              <a:latin typeface="Helvetica"/>
            </a:endParaRPr>
          </a:p>
          <a:p>
            <a:pPr marL="400050" marR="0" lvl="1" indent="0" algn="l" defTabSz="914400" rtl="0" eaLnBrk="0" fontAlgn="base" latinLnBrk="0" hangingPunct="0">
              <a:lnSpc>
                <a:spcPct val="100000"/>
              </a:lnSpc>
              <a:spcBef>
                <a:spcPct val="35000"/>
              </a:spcBef>
              <a:spcAft>
                <a:spcPct val="0"/>
              </a:spcAft>
              <a:buClr>
                <a:srgbClr val="FF9933"/>
              </a:buClr>
              <a:buSzPct val="80000"/>
              <a:buFont typeface="Monotype Sorts" charset="2"/>
              <a:buNone/>
              <a:tabLst/>
              <a:defRPr/>
            </a:pPr>
            <a:r>
              <a:rPr kumimoji="1" lang="en-US" sz="1800" b="1" i="0" u="none" strike="noStrike" kern="0" cap="none" spc="0" normalizeH="0" baseline="0" noProof="0" dirty="0">
                <a:ln>
                  <a:noFill/>
                </a:ln>
                <a:solidFill>
                  <a:srgbClr val="000000"/>
                </a:solidFill>
                <a:effectLst/>
                <a:uLnTx/>
                <a:uFillTx/>
                <a:latin typeface="Helvetica"/>
              </a:rPr>
              <a:t>     </a:t>
            </a:r>
            <a:r>
              <a:rPr kumimoji="1" lang="en-US" sz="1800" b="0" i="0" u="none" strike="noStrike" kern="0" cap="none" spc="0" normalizeH="0" baseline="0" noProof="0" dirty="0" err="1">
                <a:ln>
                  <a:noFill/>
                </a:ln>
                <a:solidFill>
                  <a:srgbClr val="000000"/>
                </a:solidFill>
                <a:effectLst/>
                <a:uLnTx/>
                <a:uFillTx/>
                <a:latin typeface="Helvetica"/>
              </a:rPr>
              <a:t>CNo</a:t>
            </a:r>
            <a:r>
              <a:rPr kumimoji="1" lang="en-US" sz="1800" b="0" i="0" u="none" strike="noStrike" kern="0" cap="none" spc="0" normalizeH="0" baseline="0" noProof="0" dirty="0">
                <a:ln>
                  <a:noFill/>
                </a:ln>
                <a:solidFill>
                  <a:srgbClr val="000000"/>
                </a:solidFill>
                <a:effectLst/>
                <a:uLnTx/>
                <a:uFillTx/>
                <a:latin typeface="Helvetica"/>
              </a:rPr>
              <a:t> varchar2 </a:t>
            </a:r>
            <a:r>
              <a:rPr kumimoji="1" lang="en-US" sz="1800" b="1" i="0" u="none" strike="noStrike" kern="0" cap="none" spc="0" normalizeH="0" baseline="0" noProof="0" dirty="0">
                <a:ln>
                  <a:noFill/>
                </a:ln>
                <a:solidFill>
                  <a:srgbClr val="000000"/>
                </a:solidFill>
                <a:effectLst/>
                <a:uLnTx/>
                <a:uFillTx/>
                <a:latin typeface="Helvetica"/>
              </a:rPr>
              <a:t>(9) </a:t>
            </a:r>
            <a:r>
              <a:rPr kumimoji="1" lang="en-US" sz="1800" b="1" i="0" u="none" strike="noStrike" kern="0" cap="none" spc="0" normalizeH="0" baseline="0" noProof="0" dirty="0">
                <a:ln>
                  <a:noFill/>
                </a:ln>
                <a:solidFill>
                  <a:srgbClr val="C00000"/>
                </a:solidFill>
                <a:effectLst/>
                <a:uLnTx/>
                <a:uFillTx/>
                <a:latin typeface="Helvetica"/>
              </a:rPr>
              <a:t>References Courses(CID)</a:t>
            </a:r>
            <a:r>
              <a:rPr kumimoji="1" lang="en-US" sz="1800" b="1" i="0" u="none" strike="noStrike" kern="0" cap="none" spc="0" normalizeH="0" baseline="0" noProof="0" dirty="0">
                <a:ln>
                  <a:noFill/>
                </a:ln>
                <a:solidFill>
                  <a:srgbClr val="000000"/>
                </a:solidFill>
                <a:effectLst/>
                <a:uLnTx/>
                <a:uFillTx/>
                <a:latin typeface="Helvetica"/>
              </a:rPr>
              <a:t>, </a:t>
            </a:r>
            <a:endParaRPr kumimoji="1" lang="en-US" sz="1800" b="0" i="0" u="none" strike="noStrike" kern="0" cap="none" spc="0" normalizeH="0" baseline="0" noProof="0" dirty="0">
              <a:ln>
                <a:noFill/>
              </a:ln>
              <a:solidFill>
                <a:srgbClr val="000000"/>
              </a:solidFill>
              <a:effectLst/>
              <a:uLnTx/>
              <a:uFillTx/>
              <a:latin typeface="Helvetica"/>
            </a:endParaRPr>
          </a:p>
          <a:p>
            <a:pPr marL="400050" marR="0" lvl="1" indent="0" algn="l" defTabSz="914400" rtl="0" eaLnBrk="0" fontAlgn="base" latinLnBrk="0" hangingPunct="0">
              <a:lnSpc>
                <a:spcPct val="100000"/>
              </a:lnSpc>
              <a:spcBef>
                <a:spcPct val="35000"/>
              </a:spcBef>
              <a:spcAft>
                <a:spcPct val="0"/>
              </a:spcAft>
              <a:buClr>
                <a:srgbClr val="FF9933"/>
              </a:buClr>
              <a:buSzPct val="80000"/>
              <a:buFont typeface="Monotype Sorts" charset="2"/>
              <a:buNone/>
              <a:tabLst/>
              <a:defRPr/>
            </a:pPr>
            <a:r>
              <a:rPr kumimoji="1" lang="en-US" sz="1800" b="1" i="0" u="none" strike="noStrike" kern="0" cap="none" spc="0" normalizeH="0" baseline="0" noProof="0" dirty="0">
                <a:ln>
                  <a:noFill/>
                </a:ln>
                <a:solidFill>
                  <a:srgbClr val="000000"/>
                </a:solidFill>
                <a:effectLst/>
                <a:uLnTx/>
                <a:uFillTx/>
                <a:latin typeface="Helvetica"/>
              </a:rPr>
              <a:t>     </a:t>
            </a:r>
            <a:r>
              <a:rPr kumimoji="1" lang="en-US" sz="1800" b="0" i="0" u="none" strike="noStrike" kern="0" cap="none" spc="0" normalizeH="0" baseline="0" noProof="0" dirty="0">
                <a:ln>
                  <a:noFill/>
                </a:ln>
                <a:solidFill>
                  <a:srgbClr val="000000"/>
                </a:solidFill>
                <a:effectLst/>
                <a:uLnTx/>
                <a:uFillTx/>
                <a:latin typeface="Helvetica"/>
              </a:rPr>
              <a:t>Year number (2)</a:t>
            </a:r>
            <a:r>
              <a:rPr kumimoji="1" lang="en-US" sz="1800" b="1" i="0" u="none" strike="noStrike" kern="0" cap="none" spc="0" normalizeH="0" baseline="0" noProof="0" dirty="0">
                <a:ln>
                  <a:noFill/>
                </a:ln>
                <a:solidFill>
                  <a:srgbClr val="000000"/>
                </a:solidFill>
                <a:effectLst/>
                <a:uLnTx/>
                <a:uFillTx/>
                <a:latin typeface="Helvetica"/>
              </a:rPr>
              <a:t> not null, </a:t>
            </a:r>
            <a:endParaRPr kumimoji="1" lang="en-US" sz="1800" b="0" i="0" u="none" strike="noStrike" kern="0" cap="none" spc="0" normalizeH="0" baseline="0" noProof="0" dirty="0">
              <a:ln>
                <a:noFill/>
              </a:ln>
              <a:solidFill>
                <a:srgbClr val="000000"/>
              </a:solidFill>
              <a:effectLst/>
              <a:uLnTx/>
              <a:uFillTx/>
              <a:latin typeface="Helvetica"/>
            </a:endParaRPr>
          </a:p>
          <a:p>
            <a:pPr marL="400050" marR="0" lvl="1" indent="0" algn="l" defTabSz="914400" rtl="0" eaLnBrk="0" fontAlgn="base" latinLnBrk="0" hangingPunct="0">
              <a:lnSpc>
                <a:spcPct val="100000"/>
              </a:lnSpc>
              <a:spcBef>
                <a:spcPct val="35000"/>
              </a:spcBef>
              <a:spcAft>
                <a:spcPct val="0"/>
              </a:spcAft>
              <a:buClr>
                <a:srgbClr val="FF9933"/>
              </a:buClr>
              <a:buSzPct val="80000"/>
              <a:buFont typeface="Monotype Sorts" charset="2"/>
              <a:buNone/>
              <a:tabLst/>
              <a:defRPr/>
            </a:pPr>
            <a:r>
              <a:rPr kumimoji="1" lang="en-US" sz="1800" b="1" i="0" u="none" strike="noStrike" kern="0" cap="none" spc="0" normalizeH="0" baseline="0" noProof="0" dirty="0">
                <a:ln>
                  <a:noFill/>
                </a:ln>
                <a:solidFill>
                  <a:srgbClr val="000000"/>
                </a:solidFill>
                <a:effectLst/>
                <a:uLnTx/>
                <a:uFillTx/>
                <a:latin typeface="Helvetica"/>
              </a:rPr>
              <a:t>    Grade char (2),   Primary key (</a:t>
            </a:r>
            <a:r>
              <a:rPr kumimoji="1" lang="en-US" sz="1800" b="0" i="0" u="none" strike="noStrike" kern="0" cap="none" spc="0" normalizeH="0" baseline="0" noProof="0" dirty="0">
                <a:ln>
                  <a:noFill/>
                </a:ln>
                <a:solidFill>
                  <a:srgbClr val="000000"/>
                </a:solidFill>
                <a:effectLst/>
                <a:uLnTx/>
                <a:uFillTx/>
                <a:latin typeface="Helvetica"/>
              </a:rPr>
              <a:t>SID, CNO, Year</a:t>
            </a:r>
            <a:r>
              <a:rPr kumimoji="1" lang="en-US" sz="1800" b="1" i="0" u="none" strike="noStrike" kern="0" cap="none" spc="0" normalizeH="0" baseline="0" noProof="0" dirty="0">
                <a:ln>
                  <a:noFill/>
                </a:ln>
                <a:solidFill>
                  <a:srgbClr val="000000"/>
                </a:solidFill>
                <a:effectLst/>
                <a:uLnTx/>
                <a:uFillTx/>
                <a:latin typeface="Helvetica"/>
              </a:rPr>
              <a:t>) </a:t>
            </a:r>
            <a:r>
              <a:rPr kumimoji="1" lang="en-US" sz="2300" b="1" i="0" u="none" strike="noStrike" kern="0" cap="none" spc="0" normalizeH="0" baseline="0" noProof="0" dirty="0">
                <a:ln>
                  <a:noFill/>
                </a:ln>
                <a:solidFill>
                  <a:srgbClr val="FF0000"/>
                </a:solidFill>
                <a:effectLst/>
                <a:uLnTx/>
                <a:uFillTx/>
                <a:latin typeface="Helvetica"/>
              </a:rPr>
              <a:t>)</a:t>
            </a:r>
            <a:r>
              <a:rPr kumimoji="1" lang="en-US" sz="1800" b="0" i="0" u="none" strike="noStrike" kern="0" cap="none" spc="0" normalizeH="0" baseline="0" noProof="0" dirty="0">
                <a:ln>
                  <a:noFill/>
                </a:ln>
                <a:solidFill>
                  <a:srgbClr val="000000"/>
                </a:solidFill>
                <a:effectLst/>
                <a:uLnTx/>
                <a:uFillTx/>
                <a:latin typeface="Helvetica"/>
              </a:rPr>
              <a:t>; </a:t>
            </a:r>
          </a:p>
        </p:txBody>
      </p:sp>
      <p:sp>
        <p:nvSpPr>
          <p:cNvPr id="3" name="Title 1"/>
          <p:cNvSpPr txBox="1">
            <a:spLocks/>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..FOREIGN KEY    column-level</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19</a:t>
            </a:fld>
            <a:endParaRPr lang="en-US"/>
          </a:p>
        </p:txBody>
      </p:sp>
    </p:spTree>
    <p:extLst>
      <p:ext uri="{BB962C8B-B14F-4D97-AF65-F5344CB8AC3E}">
        <p14:creationId xmlns:p14="http://schemas.microsoft.com/office/powerpoint/2010/main" val="2558695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p:cNvSpPr txBox="1">
            <a:spLocks/>
          </p:cNvSpPr>
          <p:nvPr/>
        </p:nvSpPr>
        <p:spPr bwMode="auto">
          <a:xfrm>
            <a:off x="1024467" y="716731"/>
            <a:ext cx="10215033" cy="5584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Example: </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endParaRPr kumimoji="1" lang="en-US" sz="1800" b="1"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               </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endParaRPr kumimoji="1" lang="en-US" sz="1800" b="1"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endParaRPr kumimoji="1" lang="en-US" sz="1800" b="1"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endParaRPr kumimoji="1" lang="en-US" sz="1800" b="1"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Parent(Master) Table</a:t>
            </a:r>
            <a:r>
              <a:rPr kumimoji="1" lang="en-US" sz="1800" b="0" i="0" u="none" strike="noStrike" kern="0" cap="none" spc="0" normalizeH="0" baseline="0" noProof="0" dirty="0">
                <a:ln>
                  <a:noFill/>
                </a:ln>
                <a:solidFill>
                  <a:srgbClr val="000000"/>
                </a:solidFill>
                <a:effectLst/>
                <a:uLnTx/>
                <a:uFillTx/>
                <a:latin typeface="Helvetica"/>
                <a:ea typeface="+mn-ea"/>
                <a:cs typeface="+mn-cs"/>
              </a:rPr>
              <a:t>:</a:t>
            </a:r>
          </a:p>
          <a:p>
            <a:pPr marL="742950" marR="0" lvl="2" indent="0" algn="l" defTabSz="914400" rtl="0" eaLnBrk="0" fontAlgn="base" latinLnBrk="0" hangingPunct="0">
              <a:lnSpc>
                <a:spcPct val="114000"/>
              </a:lnSpc>
              <a:spcBef>
                <a:spcPts val="600"/>
              </a:spcBef>
              <a:spcAft>
                <a:spcPct val="0"/>
              </a:spcAft>
              <a:buClr>
                <a:srgbClr val="33CC33"/>
              </a:buClr>
              <a:buSzPct val="75000"/>
              <a:buFont typeface="Webdings" panose="05030102010509060703" pitchFamily="18" charset="2"/>
              <a:buNone/>
              <a:tabLst/>
              <a:defRPr/>
            </a:pPr>
            <a:r>
              <a:rPr kumimoji="1" lang="en-US" sz="1800" b="1" i="0" u="none" strike="noStrike" kern="0" cap="none" spc="0" normalizeH="0" baseline="0" noProof="0" dirty="0">
                <a:ln>
                  <a:noFill/>
                </a:ln>
                <a:solidFill>
                  <a:srgbClr val="000000"/>
                </a:solidFill>
                <a:effectLst/>
                <a:uLnTx/>
                <a:uFillTx/>
                <a:latin typeface="Helvetica"/>
              </a:rPr>
              <a:t>CREATE TABLE  Items</a:t>
            </a:r>
            <a:r>
              <a:rPr kumimoji="1" lang="en-US" sz="1800" b="1" i="0" u="none" strike="noStrike" kern="0" cap="none" spc="0" normalizeH="0" baseline="0" noProof="0" dirty="0">
                <a:ln>
                  <a:noFill/>
                </a:ln>
                <a:solidFill>
                  <a:srgbClr val="C00000"/>
                </a:solidFill>
                <a:effectLst/>
                <a:uLnTx/>
                <a:uFillTx/>
                <a:latin typeface="Helvetica"/>
              </a:rPr>
              <a:t>(</a:t>
            </a:r>
            <a:r>
              <a:rPr kumimoji="1" lang="en-US" sz="1800" b="1" i="0" u="none" strike="noStrike" kern="0" cap="none" spc="0" normalizeH="0" baseline="0" noProof="0" dirty="0">
                <a:ln>
                  <a:noFill/>
                </a:ln>
                <a:solidFill>
                  <a:srgbClr val="000000"/>
                </a:solidFill>
                <a:effectLst/>
                <a:uLnTx/>
                <a:uFillTx/>
                <a:latin typeface="Helvetica"/>
              </a:rPr>
              <a:t> </a:t>
            </a:r>
            <a:r>
              <a:rPr kumimoji="1" lang="en-US" sz="1800" b="0" i="0" u="none" strike="noStrike" kern="0" cap="none" spc="0" normalizeH="0" baseline="0" noProof="0" dirty="0" err="1">
                <a:ln>
                  <a:noFill/>
                </a:ln>
                <a:solidFill>
                  <a:srgbClr val="000000"/>
                </a:solidFill>
                <a:effectLst/>
                <a:uLnTx/>
                <a:uFillTx/>
                <a:latin typeface="Helvetica"/>
              </a:rPr>
              <a:t>Item_name</a:t>
            </a:r>
            <a:r>
              <a:rPr kumimoji="1" lang="en-US" sz="1800" b="0" i="0" u="none" strike="noStrike" kern="0" cap="none" spc="0" normalizeH="0" baseline="0" noProof="0" dirty="0">
                <a:ln>
                  <a:noFill/>
                </a:ln>
                <a:solidFill>
                  <a:srgbClr val="000000"/>
                </a:solidFill>
                <a:effectLst/>
                <a:uLnTx/>
                <a:uFillTx/>
                <a:latin typeface="Helvetica"/>
              </a:rPr>
              <a:t> varchar2(10), </a:t>
            </a:r>
            <a:r>
              <a:rPr kumimoji="1" lang="en-US" sz="1800" b="0" i="0" u="none" strike="noStrike" kern="0" cap="none" spc="0" normalizeH="0" baseline="0" noProof="0" dirty="0" err="1">
                <a:ln>
                  <a:noFill/>
                </a:ln>
                <a:solidFill>
                  <a:srgbClr val="000000"/>
                </a:solidFill>
                <a:effectLst/>
                <a:uLnTx/>
                <a:uFillTx/>
                <a:latin typeface="Helvetica"/>
              </a:rPr>
              <a:t>Comp_name</a:t>
            </a:r>
            <a:r>
              <a:rPr kumimoji="1" lang="en-US" sz="1800" b="0" i="0" u="none" strike="noStrike" kern="0" cap="none" spc="0" normalizeH="0" baseline="0" noProof="0" dirty="0">
                <a:ln>
                  <a:noFill/>
                </a:ln>
                <a:solidFill>
                  <a:srgbClr val="000000"/>
                </a:solidFill>
                <a:effectLst/>
                <a:uLnTx/>
                <a:uFillTx/>
                <a:latin typeface="Helvetica"/>
              </a:rPr>
              <a:t> varchar2(10), </a:t>
            </a:r>
          </a:p>
          <a:p>
            <a:pPr marL="742950" marR="0" lvl="2" indent="0" algn="l" defTabSz="914400" rtl="0" eaLnBrk="0" fontAlgn="base" latinLnBrk="0" hangingPunct="0">
              <a:lnSpc>
                <a:spcPct val="114000"/>
              </a:lnSpc>
              <a:spcBef>
                <a:spcPts val="600"/>
              </a:spcBef>
              <a:spcAft>
                <a:spcPct val="0"/>
              </a:spcAft>
              <a:buClr>
                <a:srgbClr val="33CC33"/>
              </a:buClr>
              <a:buSzPct val="75000"/>
              <a:buFont typeface="Webdings" panose="05030102010509060703" pitchFamily="18" charset="2"/>
              <a:buNone/>
              <a:tabLst/>
              <a:defRPr/>
            </a:pPr>
            <a:r>
              <a:rPr kumimoji="1" lang="en-US" sz="1800" b="0" i="0" u="none" strike="noStrike" kern="0" cap="none" spc="0" normalizeH="0" baseline="0" noProof="0" dirty="0">
                <a:ln>
                  <a:noFill/>
                </a:ln>
                <a:solidFill>
                  <a:srgbClr val="000000"/>
                </a:solidFill>
                <a:effectLst/>
                <a:uLnTx/>
                <a:uFillTx/>
                <a:latin typeface="Helvetica"/>
              </a:rPr>
              <a:t>Price Number(3), </a:t>
            </a:r>
          </a:p>
          <a:p>
            <a:pPr marL="742950" marR="0" lvl="2" indent="0" algn="l" defTabSz="914400" rtl="0" eaLnBrk="0" fontAlgn="base" latinLnBrk="0" hangingPunct="0">
              <a:lnSpc>
                <a:spcPct val="114000"/>
              </a:lnSpc>
              <a:spcBef>
                <a:spcPts val="600"/>
              </a:spcBef>
              <a:spcAft>
                <a:spcPts val="600"/>
              </a:spcAft>
              <a:buClr>
                <a:srgbClr val="33CC33"/>
              </a:buClr>
              <a:buSzPct val="75000"/>
              <a:buFont typeface="Webdings" panose="05030102010509060703" pitchFamily="18" charset="2"/>
              <a:buNone/>
              <a:tabLst/>
              <a:defRPr/>
            </a:pPr>
            <a:r>
              <a:rPr kumimoji="1" lang="en-US" sz="1800" b="1" i="0" u="none" strike="noStrike" kern="0" cap="none" spc="0" normalizeH="0" baseline="0" noProof="0" dirty="0">
                <a:ln>
                  <a:noFill/>
                </a:ln>
                <a:solidFill>
                  <a:srgbClr val="C00000"/>
                </a:solidFill>
                <a:effectLst/>
                <a:uLnTx/>
                <a:uFillTx/>
                <a:latin typeface="Helvetica"/>
              </a:rPr>
              <a:t>PRIMARY KEY</a:t>
            </a:r>
            <a:r>
              <a:rPr kumimoji="1" lang="en-US" sz="1800" b="0" i="0" u="none" strike="noStrike" kern="0" cap="none" spc="0" normalizeH="0" baseline="0" noProof="0" dirty="0">
                <a:ln>
                  <a:noFill/>
                </a:ln>
                <a:solidFill>
                  <a:srgbClr val="C00000"/>
                </a:solidFill>
                <a:effectLst/>
                <a:uLnTx/>
                <a:uFillTx/>
                <a:latin typeface="Helvetica"/>
              </a:rPr>
              <a:t> </a:t>
            </a:r>
            <a:r>
              <a:rPr kumimoji="1" lang="en-US" sz="1800" b="0" i="0" u="none" strike="noStrike" kern="0" cap="none" spc="0" normalizeH="0" baseline="0" noProof="0" dirty="0">
                <a:ln>
                  <a:noFill/>
                </a:ln>
                <a:solidFill>
                  <a:srgbClr val="000000"/>
                </a:solidFill>
                <a:effectLst/>
                <a:uLnTx/>
                <a:uFillTx/>
                <a:latin typeface="Helvetica"/>
              </a:rPr>
              <a:t>(</a:t>
            </a:r>
            <a:r>
              <a:rPr kumimoji="1" lang="en-US" sz="1800" b="0" i="0" u="none" strike="noStrike" kern="0" cap="none" spc="0" normalizeH="0" baseline="0" noProof="0" dirty="0" err="1">
                <a:ln>
                  <a:noFill/>
                </a:ln>
                <a:solidFill>
                  <a:srgbClr val="000000"/>
                </a:solidFill>
                <a:effectLst/>
                <a:uLnTx/>
                <a:uFillTx/>
                <a:latin typeface="Helvetica"/>
              </a:rPr>
              <a:t>Item_name,Comp_name</a:t>
            </a:r>
            <a:r>
              <a:rPr kumimoji="1" lang="en-US" sz="1800" b="0" i="0" u="none" strike="noStrike" kern="0" cap="none" spc="0" normalizeH="0" baseline="0" noProof="0" dirty="0">
                <a:ln>
                  <a:noFill/>
                </a:ln>
                <a:solidFill>
                  <a:srgbClr val="000000"/>
                </a:solidFill>
                <a:effectLst/>
                <a:uLnTx/>
                <a:uFillTx/>
                <a:latin typeface="Helvetica"/>
              </a:rPr>
              <a:t>) </a:t>
            </a:r>
            <a:r>
              <a:rPr kumimoji="1" lang="en-US" sz="1800" b="1" i="0" u="none" strike="noStrike" kern="0" cap="none" spc="0" normalizeH="0" baseline="0" noProof="0" dirty="0">
                <a:ln>
                  <a:noFill/>
                </a:ln>
                <a:solidFill>
                  <a:srgbClr val="C00000"/>
                </a:solidFill>
                <a:effectLst/>
                <a:uLnTx/>
                <a:uFillTx/>
                <a:latin typeface="Helvetica"/>
              </a:rPr>
              <a:t>)</a:t>
            </a:r>
            <a:r>
              <a:rPr kumimoji="1" lang="en-US" sz="1800" b="1" i="0" u="none" strike="noStrike" kern="0" cap="none" spc="0" normalizeH="0" baseline="0" noProof="0" dirty="0">
                <a:ln>
                  <a:noFill/>
                </a:ln>
                <a:solidFill>
                  <a:srgbClr val="000000"/>
                </a:solidFill>
                <a:effectLst/>
                <a:uLnTx/>
                <a:uFillTx/>
                <a:latin typeface="Helvetica"/>
              </a:rPr>
              <a:t>;</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Child(Detail) Table</a:t>
            </a:r>
          </a:p>
          <a:p>
            <a:pPr marL="742950" marR="0" lvl="2" indent="0" algn="l" defTabSz="914400" rtl="0" eaLnBrk="0" fontAlgn="base" latinLnBrk="0" hangingPunct="0">
              <a:lnSpc>
                <a:spcPct val="114000"/>
              </a:lnSpc>
              <a:spcBef>
                <a:spcPct val="35000"/>
              </a:spcBef>
              <a:spcAft>
                <a:spcPct val="0"/>
              </a:spcAft>
              <a:buClr>
                <a:srgbClr val="33CC33"/>
              </a:buClr>
              <a:buSzPct val="75000"/>
              <a:buFont typeface="Webdings" panose="05030102010509060703" pitchFamily="18" charset="2"/>
              <a:buNone/>
              <a:tabLst/>
              <a:defRPr/>
            </a:pPr>
            <a:r>
              <a:rPr kumimoji="1" lang="en-US" sz="1800" b="1" i="0" u="none" strike="noStrike" kern="0" cap="none" spc="0" normalizeH="0" baseline="0" noProof="0" dirty="0">
                <a:ln>
                  <a:noFill/>
                </a:ln>
                <a:solidFill>
                  <a:srgbClr val="000000"/>
                </a:solidFill>
                <a:effectLst/>
                <a:uLnTx/>
                <a:uFillTx/>
                <a:latin typeface="Helvetica"/>
              </a:rPr>
              <a:t>CREATE TABLE  Transactions</a:t>
            </a:r>
            <a:r>
              <a:rPr kumimoji="1" lang="en-US" sz="1800" b="1" i="0" u="none" strike="noStrike" kern="0" cap="none" spc="0" normalizeH="0" baseline="0" noProof="0" dirty="0">
                <a:ln>
                  <a:noFill/>
                </a:ln>
                <a:solidFill>
                  <a:srgbClr val="C00000"/>
                </a:solidFill>
                <a:effectLst/>
                <a:uLnTx/>
                <a:uFillTx/>
                <a:latin typeface="Helvetica"/>
              </a:rPr>
              <a:t>(</a:t>
            </a:r>
            <a:r>
              <a:rPr kumimoji="1" lang="en-US" sz="1800" b="1" i="0" u="none" strike="noStrike" kern="0" cap="none" spc="0" normalizeH="0" baseline="0" noProof="0" dirty="0">
                <a:ln>
                  <a:noFill/>
                </a:ln>
                <a:solidFill>
                  <a:srgbClr val="000000"/>
                </a:solidFill>
                <a:effectLst/>
                <a:uLnTx/>
                <a:uFillTx/>
                <a:latin typeface="Helvetica"/>
              </a:rPr>
              <a:t> </a:t>
            </a:r>
            <a:r>
              <a:rPr kumimoji="1" lang="en-US" sz="1800" b="0" i="0" u="none" strike="noStrike" kern="0" cap="none" spc="0" normalizeH="0" baseline="0" noProof="0" dirty="0" err="1">
                <a:ln>
                  <a:noFill/>
                </a:ln>
                <a:solidFill>
                  <a:srgbClr val="000000"/>
                </a:solidFill>
                <a:effectLst/>
                <a:uLnTx/>
                <a:uFillTx/>
                <a:latin typeface="Helvetica"/>
              </a:rPr>
              <a:t>It_name</a:t>
            </a:r>
            <a:r>
              <a:rPr kumimoji="1" lang="en-US" sz="1800" b="0" i="0" u="none" strike="noStrike" kern="0" cap="none" spc="0" normalizeH="0" baseline="0" noProof="0" dirty="0">
                <a:ln>
                  <a:noFill/>
                </a:ln>
                <a:solidFill>
                  <a:srgbClr val="000000"/>
                </a:solidFill>
                <a:effectLst/>
                <a:uLnTx/>
                <a:uFillTx/>
                <a:latin typeface="Helvetica"/>
              </a:rPr>
              <a:t> varchar2(10), </a:t>
            </a:r>
            <a:r>
              <a:rPr kumimoji="1" lang="en-US" sz="1800" b="0" i="0" u="none" strike="noStrike" kern="0" cap="none" spc="0" normalizeH="0" baseline="0" noProof="0" dirty="0" err="1">
                <a:ln>
                  <a:noFill/>
                </a:ln>
                <a:solidFill>
                  <a:srgbClr val="000000"/>
                </a:solidFill>
                <a:effectLst/>
                <a:uLnTx/>
                <a:uFillTx/>
                <a:latin typeface="Helvetica"/>
              </a:rPr>
              <a:t>Comp_name</a:t>
            </a:r>
            <a:r>
              <a:rPr kumimoji="1" lang="en-US" sz="1800" b="0" i="0" u="none" strike="noStrike" kern="0" cap="none" spc="0" normalizeH="0" baseline="0" noProof="0" dirty="0">
                <a:ln>
                  <a:noFill/>
                </a:ln>
                <a:solidFill>
                  <a:srgbClr val="000000"/>
                </a:solidFill>
                <a:effectLst/>
                <a:uLnTx/>
                <a:uFillTx/>
                <a:latin typeface="Helvetica"/>
              </a:rPr>
              <a:t> varchar2(10),</a:t>
            </a:r>
          </a:p>
          <a:p>
            <a:pPr marL="742950" marR="0" lvl="2" indent="0" algn="l" defTabSz="914400" rtl="0" eaLnBrk="0" fontAlgn="base" latinLnBrk="0" hangingPunct="0">
              <a:lnSpc>
                <a:spcPct val="114000"/>
              </a:lnSpc>
              <a:spcBef>
                <a:spcPct val="35000"/>
              </a:spcBef>
              <a:spcAft>
                <a:spcPct val="0"/>
              </a:spcAft>
              <a:buClr>
                <a:srgbClr val="33CC33"/>
              </a:buClr>
              <a:buSzPct val="75000"/>
              <a:buFont typeface="Webdings" panose="05030102010509060703" pitchFamily="18" charset="2"/>
              <a:buNone/>
              <a:tabLst/>
              <a:defRPr/>
            </a:pPr>
            <a:r>
              <a:rPr kumimoji="1" lang="en-US" sz="1800" b="0" i="0" u="none" strike="noStrike" kern="0" cap="none" spc="0" normalizeH="0" baseline="0" noProof="0" dirty="0" err="1">
                <a:ln>
                  <a:noFill/>
                </a:ln>
                <a:solidFill>
                  <a:srgbClr val="000000"/>
                </a:solidFill>
                <a:effectLst/>
                <a:uLnTx/>
                <a:uFillTx/>
                <a:latin typeface="Helvetica"/>
              </a:rPr>
              <a:t>Tr_Date</a:t>
            </a:r>
            <a:r>
              <a:rPr kumimoji="1" lang="en-US" sz="1800" b="0" i="0" u="none" strike="noStrike" kern="0" cap="none" spc="0" normalizeH="0" baseline="0" noProof="0" dirty="0">
                <a:ln>
                  <a:noFill/>
                </a:ln>
                <a:solidFill>
                  <a:srgbClr val="000000"/>
                </a:solidFill>
                <a:effectLst/>
                <a:uLnTx/>
                <a:uFillTx/>
                <a:latin typeface="Helvetica"/>
              </a:rPr>
              <a:t> date, </a:t>
            </a:r>
            <a:r>
              <a:rPr kumimoji="1" lang="en-US" sz="1800" b="0" i="0" u="none" strike="noStrike" kern="0" cap="none" spc="0" normalizeH="0" baseline="0" noProof="0" dirty="0" err="1">
                <a:ln>
                  <a:noFill/>
                </a:ln>
                <a:solidFill>
                  <a:srgbClr val="000000"/>
                </a:solidFill>
                <a:effectLst/>
                <a:uLnTx/>
                <a:uFillTx/>
                <a:latin typeface="Helvetica"/>
              </a:rPr>
              <a:t>Qty</a:t>
            </a:r>
            <a:r>
              <a:rPr kumimoji="1" lang="en-US" sz="1800" b="0" i="0" u="none" strike="noStrike" kern="0" cap="none" spc="0" normalizeH="0" baseline="0" noProof="0" dirty="0">
                <a:ln>
                  <a:noFill/>
                </a:ln>
                <a:solidFill>
                  <a:srgbClr val="000000"/>
                </a:solidFill>
                <a:effectLst/>
                <a:uLnTx/>
                <a:uFillTx/>
                <a:latin typeface="Helvetica"/>
              </a:rPr>
              <a:t> Number(3), </a:t>
            </a:r>
          </a:p>
          <a:p>
            <a:pPr marL="742950" marR="0" lvl="2" indent="0" algn="l" defTabSz="914400" rtl="0" eaLnBrk="0" fontAlgn="base" latinLnBrk="0" hangingPunct="0">
              <a:lnSpc>
                <a:spcPct val="114000"/>
              </a:lnSpc>
              <a:spcBef>
                <a:spcPct val="35000"/>
              </a:spcBef>
              <a:spcAft>
                <a:spcPct val="0"/>
              </a:spcAft>
              <a:buClr>
                <a:srgbClr val="33CC33"/>
              </a:buClr>
              <a:buSzPct val="75000"/>
              <a:buFont typeface="Webdings" panose="05030102010509060703" pitchFamily="18" charset="2"/>
              <a:buNone/>
              <a:tabLst/>
              <a:defRPr/>
            </a:pPr>
            <a:r>
              <a:rPr kumimoji="1" lang="en-US" sz="1800" b="1" i="0" u="none" strike="noStrike" kern="0" cap="none" spc="0" normalizeH="0" baseline="0" noProof="0" dirty="0">
                <a:ln>
                  <a:noFill/>
                </a:ln>
                <a:solidFill>
                  <a:srgbClr val="C00000"/>
                </a:solidFill>
                <a:effectLst/>
                <a:uLnTx/>
                <a:uFillTx/>
                <a:latin typeface="Helvetica"/>
              </a:rPr>
              <a:t>FOREIGN KEY</a:t>
            </a:r>
            <a:r>
              <a:rPr kumimoji="1" lang="en-US" sz="1800" b="0" i="0" u="none" strike="noStrike" kern="0" cap="none" spc="0" normalizeH="0" baseline="0" noProof="0" dirty="0">
                <a:ln>
                  <a:noFill/>
                </a:ln>
                <a:solidFill>
                  <a:srgbClr val="000000"/>
                </a:solidFill>
                <a:effectLst/>
                <a:uLnTx/>
                <a:uFillTx/>
                <a:latin typeface="Helvetica"/>
              </a:rPr>
              <a:t>(</a:t>
            </a:r>
            <a:r>
              <a:rPr kumimoji="1" lang="en-US" sz="1800" b="0" i="0" u="none" strike="noStrike" kern="0" cap="none" spc="0" normalizeH="0" baseline="0" noProof="0" dirty="0" err="1">
                <a:ln>
                  <a:noFill/>
                </a:ln>
                <a:solidFill>
                  <a:srgbClr val="000000"/>
                </a:solidFill>
                <a:effectLst/>
                <a:uLnTx/>
                <a:uFillTx/>
                <a:latin typeface="Helvetica"/>
              </a:rPr>
              <a:t>It_name,Comp_name</a:t>
            </a:r>
            <a:r>
              <a:rPr kumimoji="1" lang="en-US" sz="1800" b="0" i="0" u="none" strike="noStrike" kern="0" cap="none" spc="0" normalizeH="0" baseline="0" noProof="0" dirty="0">
                <a:ln>
                  <a:noFill/>
                </a:ln>
                <a:solidFill>
                  <a:srgbClr val="000000"/>
                </a:solidFill>
                <a:effectLst/>
                <a:uLnTx/>
                <a:uFillTx/>
                <a:latin typeface="Helvetica"/>
              </a:rPr>
              <a:t>) </a:t>
            </a:r>
            <a:r>
              <a:rPr kumimoji="1" lang="en-US" sz="1800" b="1" i="0" u="none" strike="noStrike" kern="0" cap="none" spc="0" normalizeH="0" baseline="0" noProof="0" dirty="0">
                <a:ln>
                  <a:noFill/>
                </a:ln>
                <a:solidFill>
                  <a:srgbClr val="000000"/>
                </a:solidFill>
                <a:effectLst/>
                <a:uLnTx/>
                <a:uFillTx/>
                <a:latin typeface="Helvetica"/>
              </a:rPr>
              <a:t>REFERENCES</a:t>
            </a:r>
            <a:r>
              <a:rPr kumimoji="1" lang="en-US" sz="1800" b="0" i="0" u="none" strike="noStrike" kern="0" cap="none" spc="0" normalizeH="0" baseline="0" noProof="0" dirty="0">
                <a:ln>
                  <a:noFill/>
                </a:ln>
                <a:solidFill>
                  <a:srgbClr val="000000"/>
                </a:solidFill>
                <a:effectLst/>
                <a:uLnTx/>
                <a:uFillTx/>
                <a:latin typeface="Helvetica"/>
              </a:rPr>
              <a:t> Items</a:t>
            </a:r>
            <a:r>
              <a:rPr kumimoji="1" lang="en-US" sz="1800" b="1" i="0" u="none" strike="noStrike" kern="0" cap="none" spc="0" normalizeH="0" baseline="0" noProof="0" dirty="0">
                <a:ln>
                  <a:noFill/>
                </a:ln>
                <a:solidFill>
                  <a:srgbClr val="C00000"/>
                </a:solidFill>
                <a:effectLst/>
                <a:uLnTx/>
                <a:uFillTx/>
                <a:latin typeface="Helvetica"/>
              </a:rPr>
              <a:t>)</a:t>
            </a:r>
            <a:r>
              <a:rPr kumimoji="1" lang="en-US" sz="1800" b="0" i="0" u="none" strike="noStrike" kern="0" cap="none" spc="0" normalizeH="0" baseline="0" noProof="0" dirty="0">
                <a:ln>
                  <a:noFill/>
                </a:ln>
                <a:solidFill>
                  <a:srgbClr val="000000"/>
                </a:solidFill>
                <a:effectLst/>
                <a:uLnTx/>
                <a:uFillTx/>
                <a:latin typeface="Helvetica"/>
              </a:rPr>
              <a:t>;</a:t>
            </a:r>
          </a:p>
        </p:txBody>
      </p:sp>
      <p:sp>
        <p:nvSpPr>
          <p:cNvPr id="6" name="Title 1"/>
          <p:cNvSpPr txBox="1">
            <a:spLocks/>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..FOREIGN KEY    table-level</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pic>
        <p:nvPicPr>
          <p:cNvPr id="7" name="Picture 6"/>
          <p:cNvPicPr>
            <a:picLocks noChangeAspect="1"/>
          </p:cNvPicPr>
          <p:nvPr/>
        </p:nvPicPr>
        <p:blipFill>
          <a:blip r:embed="rId2"/>
          <a:stretch>
            <a:fillRect/>
          </a:stretch>
        </p:blipFill>
        <p:spPr>
          <a:xfrm>
            <a:off x="2877028" y="727075"/>
            <a:ext cx="7064478" cy="2296344"/>
          </a:xfrm>
          <a:prstGeom prst="rect">
            <a:avLst/>
          </a:prstGeom>
        </p:spPr>
      </p:pic>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20</a:t>
            </a:fld>
            <a:endParaRPr lang="en-US"/>
          </a:p>
        </p:txBody>
      </p:sp>
    </p:spTree>
    <p:extLst>
      <p:ext uri="{BB962C8B-B14F-4D97-AF65-F5344CB8AC3E}">
        <p14:creationId xmlns:p14="http://schemas.microsoft.com/office/powerpoint/2010/main" val="30231371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1085850" y="727075"/>
            <a:ext cx="10215033" cy="541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20000"/>
              </a:lnSpc>
              <a:spcBef>
                <a:spcPct val="35000"/>
              </a:spcBef>
              <a:spcAft>
                <a:spcPct val="0"/>
              </a:spcAft>
              <a:buClr>
                <a:srgbClr val="CC3300"/>
              </a:buClr>
              <a:buSzPct val="90000"/>
              <a:buFont typeface="Monotype Sorts" charset="2"/>
              <a:buChar char="n"/>
              <a:tabLst/>
              <a:defRPr/>
            </a:pPr>
            <a:r>
              <a:rPr kumimoji="1" lang="en-US" sz="2000" b="1" i="0" u="none" strike="noStrike" kern="0" cap="none" spc="0" normalizeH="0" baseline="0" noProof="0" dirty="0">
                <a:ln>
                  <a:noFill/>
                </a:ln>
                <a:solidFill>
                  <a:srgbClr val="000000"/>
                </a:solidFill>
                <a:effectLst/>
                <a:uLnTx/>
                <a:uFillTx/>
                <a:latin typeface="Helvetica"/>
                <a:ea typeface="+mn-ea"/>
                <a:cs typeface="+mn-cs"/>
              </a:rPr>
              <a:t>Properties: </a:t>
            </a:r>
            <a:endParaRPr kumimoji="1" lang="en-US" sz="2000" b="0" i="0" u="none" strike="noStrike" kern="0" cap="none" spc="0" normalizeH="0" baseline="0" noProof="0" dirty="0">
              <a:ln>
                <a:noFill/>
              </a:ln>
              <a:solidFill>
                <a:srgbClr val="000000"/>
              </a:solidFill>
              <a:effectLst/>
              <a:uLnTx/>
              <a:uFillTx/>
              <a:latin typeface="Helvetica"/>
              <a:ea typeface="+mn-ea"/>
              <a:cs typeface="+mn-cs"/>
            </a:endParaRPr>
          </a:p>
          <a:p>
            <a:pPr marL="742950" marR="0" lvl="1" indent="-285750" algn="l" defTabSz="914400" rtl="0" eaLnBrk="0" fontAlgn="base" latinLnBrk="0" hangingPunct="0">
              <a:lnSpc>
                <a:spcPct val="120000"/>
              </a:lnSpc>
              <a:spcBef>
                <a:spcPct val="35000"/>
              </a:spcBef>
              <a:spcAft>
                <a:spcPct val="0"/>
              </a:spcAft>
              <a:buClr>
                <a:srgbClr val="FF9933"/>
              </a:buClr>
              <a:buSzPct val="80000"/>
              <a:buFont typeface="Monotype Sorts" charset="2"/>
              <a:buChar char="l"/>
              <a:tabLst/>
              <a:defRPr/>
            </a:pPr>
            <a:r>
              <a:rPr kumimoji="1" lang="en-US" sz="2000" b="0" i="0" u="none" strike="noStrike" kern="0" cap="none" spc="0" normalizeH="0" baseline="0" noProof="0" dirty="0">
                <a:ln>
                  <a:noFill/>
                </a:ln>
                <a:solidFill>
                  <a:srgbClr val="000000"/>
                </a:solidFill>
                <a:effectLst/>
                <a:uLnTx/>
                <a:uFillTx/>
                <a:latin typeface="Helvetica"/>
              </a:rPr>
              <a:t>A Foreign key can contain- </a:t>
            </a:r>
          </a:p>
          <a:p>
            <a:pPr marL="1085850" marR="0" lvl="2" indent="-228600" algn="l" defTabSz="914400" rtl="0" eaLnBrk="0" fontAlgn="base" latinLnBrk="0" hangingPunct="0">
              <a:lnSpc>
                <a:spcPct val="120000"/>
              </a:lnSpc>
              <a:spcBef>
                <a:spcPct val="35000"/>
              </a:spcBef>
              <a:spcAft>
                <a:spcPct val="0"/>
              </a:spcAft>
              <a:buClr>
                <a:srgbClr val="33CC33"/>
              </a:buClr>
              <a:buSzPct val="75000"/>
              <a:buFont typeface="Webdings" panose="05030102010509060703" pitchFamily="18" charset="2"/>
              <a:buChar char="4"/>
              <a:tabLst/>
              <a:defRPr/>
            </a:pPr>
            <a:r>
              <a:rPr kumimoji="1" lang="en-US" sz="2000" b="0" i="0" u="none" strike="noStrike" kern="0" cap="none" spc="0" normalizeH="0" baseline="0" noProof="0" dirty="0">
                <a:ln>
                  <a:noFill/>
                </a:ln>
                <a:solidFill>
                  <a:srgbClr val="000000"/>
                </a:solidFill>
                <a:effectLst/>
                <a:uLnTx/>
                <a:uFillTx/>
                <a:latin typeface="Helvetica"/>
              </a:rPr>
              <a:t>Only values present in the corresponding </a:t>
            </a:r>
            <a:r>
              <a:rPr kumimoji="1" lang="en-US" sz="2000" b="0" i="0" u="none" strike="noStrike" kern="0" cap="none" spc="0" normalizeH="0" baseline="0" noProof="0" dirty="0">
                <a:ln>
                  <a:noFill/>
                </a:ln>
                <a:solidFill>
                  <a:srgbClr val="C00000"/>
                </a:solidFill>
                <a:effectLst/>
                <a:uLnTx/>
                <a:uFillTx/>
                <a:latin typeface="Helvetica"/>
              </a:rPr>
              <a:t>Parent Column</a:t>
            </a:r>
            <a:r>
              <a:rPr kumimoji="1" lang="en-US" sz="2000" b="0" i="0" u="none" strike="noStrike" kern="0" cap="none" spc="0" normalizeH="0" baseline="0" noProof="0" dirty="0">
                <a:ln>
                  <a:noFill/>
                </a:ln>
                <a:solidFill>
                  <a:srgbClr val="000000"/>
                </a:solidFill>
                <a:effectLst/>
                <a:uLnTx/>
                <a:uFillTx/>
                <a:latin typeface="Helvetica"/>
              </a:rPr>
              <a:t>. </a:t>
            </a:r>
          </a:p>
          <a:p>
            <a:pPr marL="1085850" marR="0" lvl="2" indent="-228600" algn="l" defTabSz="914400" rtl="0" eaLnBrk="0" fontAlgn="base" latinLnBrk="0" hangingPunct="0">
              <a:lnSpc>
                <a:spcPct val="120000"/>
              </a:lnSpc>
              <a:spcBef>
                <a:spcPct val="35000"/>
              </a:spcBef>
              <a:spcAft>
                <a:spcPct val="0"/>
              </a:spcAft>
              <a:buClr>
                <a:srgbClr val="33CC33"/>
              </a:buClr>
              <a:buSzPct val="75000"/>
              <a:buFont typeface="Webdings" panose="05030102010509060703" pitchFamily="18" charset="2"/>
              <a:buChar char="4"/>
              <a:tabLst/>
              <a:defRPr/>
            </a:pPr>
            <a:r>
              <a:rPr kumimoji="1" lang="en-US" sz="2000" b="0" i="0" u="none" strike="noStrike" kern="0" cap="none" spc="0" normalizeH="0" baseline="0" noProof="0" dirty="0">
                <a:ln>
                  <a:noFill/>
                </a:ln>
                <a:solidFill>
                  <a:srgbClr val="000000"/>
                </a:solidFill>
                <a:effectLst/>
                <a:uLnTx/>
                <a:uFillTx/>
                <a:latin typeface="Helvetica"/>
              </a:rPr>
              <a:t>NULL values, provided Foreign key is not defined with additional NOT NULL constraints. </a:t>
            </a:r>
          </a:p>
          <a:p>
            <a:pPr marL="742950" marR="0" lvl="1" indent="-285750" algn="l" defTabSz="914400" rtl="0" eaLnBrk="0" fontAlgn="base" latinLnBrk="0" hangingPunct="0">
              <a:lnSpc>
                <a:spcPct val="120000"/>
              </a:lnSpc>
              <a:spcBef>
                <a:spcPct val="35000"/>
              </a:spcBef>
              <a:spcAft>
                <a:spcPct val="0"/>
              </a:spcAft>
              <a:buClr>
                <a:srgbClr val="FF9933"/>
              </a:buClr>
              <a:buSzPct val="80000"/>
              <a:buFont typeface="Monotype Sorts" charset="2"/>
              <a:buChar char="l"/>
              <a:tabLst/>
              <a:defRPr/>
            </a:pPr>
            <a:r>
              <a:rPr kumimoji="1" lang="en-US" sz="2000" b="0" i="0" u="none" strike="noStrike" kern="0" cap="none" spc="0" normalizeH="0" baseline="0" noProof="0" dirty="0">
                <a:ln>
                  <a:noFill/>
                </a:ln>
                <a:solidFill>
                  <a:srgbClr val="000000"/>
                </a:solidFill>
                <a:effectLst/>
                <a:uLnTx/>
                <a:uFillTx/>
                <a:latin typeface="Helvetica"/>
              </a:rPr>
              <a:t>Foreign key column can reference to any column (parent column) </a:t>
            </a:r>
            <a:r>
              <a:rPr kumimoji="1" lang="en-US" sz="2000" b="1" i="0" u="none" strike="noStrike" kern="0" cap="none" spc="0" normalizeH="0" baseline="0" noProof="0" dirty="0">
                <a:ln>
                  <a:noFill/>
                </a:ln>
                <a:solidFill>
                  <a:srgbClr val="000000"/>
                </a:solidFill>
                <a:effectLst/>
                <a:uLnTx/>
                <a:uFillTx/>
                <a:latin typeface="Helvetica"/>
              </a:rPr>
              <a:t>whose data type, width is same</a:t>
            </a:r>
            <a:r>
              <a:rPr kumimoji="1" lang="en-US" sz="2000" b="0" i="0" u="none" strike="noStrike" kern="0" cap="none" spc="0" normalizeH="0" baseline="0" noProof="0" dirty="0">
                <a:ln>
                  <a:noFill/>
                </a:ln>
                <a:solidFill>
                  <a:srgbClr val="000000"/>
                </a:solidFill>
                <a:effectLst/>
                <a:uLnTx/>
                <a:uFillTx/>
                <a:latin typeface="Helvetica"/>
              </a:rPr>
              <a:t> and </a:t>
            </a:r>
            <a:r>
              <a:rPr kumimoji="1" lang="en-US" sz="2000" b="1" i="0" u="none" strike="noStrike" kern="0" cap="none" spc="0" normalizeH="0" baseline="0" noProof="0" dirty="0">
                <a:ln>
                  <a:noFill/>
                </a:ln>
                <a:solidFill>
                  <a:srgbClr val="000000"/>
                </a:solidFill>
                <a:effectLst/>
                <a:uLnTx/>
                <a:uFillTx/>
                <a:latin typeface="Helvetica"/>
              </a:rPr>
              <a:t>Parent column </a:t>
            </a:r>
            <a:r>
              <a:rPr kumimoji="1" lang="en-US" sz="2000" b="0" i="0" u="none" strike="noStrike" kern="0" cap="none" spc="0" normalizeH="0" baseline="0" noProof="0" dirty="0">
                <a:ln>
                  <a:noFill/>
                </a:ln>
                <a:solidFill>
                  <a:srgbClr val="000000"/>
                </a:solidFill>
                <a:effectLst/>
                <a:uLnTx/>
                <a:uFillTx/>
                <a:latin typeface="Helvetica"/>
              </a:rPr>
              <a:t>has to be defined </a:t>
            </a:r>
            <a:r>
              <a:rPr kumimoji="1" lang="en-US" sz="2000" b="1" i="0" u="none" strike="noStrike" kern="0" cap="none" spc="0" normalizeH="0" baseline="0" noProof="0" dirty="0">
                <a:ln>
                  <a:noFill/>
                </a:ln>
                <a:solidFill>
                  <a:srgbClr val="000000"/>
                </a:solidFill>
                <a:effectLst/>
                <a:uLnTx/>
                <a:uFillTx/>
                <a:latin typeface="Helvetica"/>
              </a:rPr>
              <a:t>with </a:t>
            </a:r>
            <a:r>
              <a:rPr kumimoji="1" lang="en-US" sz="2000" b="1" i="0" u="none" strike="noStrike" kern="0" cap="none" spc="0" normalizeH="0" baseline="0" noProof="0" dirty="0">
                <a:ln>
                  <a:noFill/>
                </a:ln>
                <a:solidFill>
                  <a:srgbClr val="C00000"/>
                </a:solidFill>
                <a:effectLst/>
                <a:uLnTx/>
                <a:uFillTx/>
                <a:latin typeface="Helvetica"/>
              </a:rPr>
              <a:t>Primary key </a:t>
            </a:r>
            <a:r>
              <a:rPr kumimoji="1" lang="en-US" sz="2000" b="1" i="0" u="none" strike="noStrike" kern="0" cap="none" spc="0" normalizeH="0" baseline="0" noProof="0" dirty="0">
                <a:ln>
                  <a:noFill/>
                </a:ln>
                <a:solidFill>
                  <a:srgbClr val="000000"/>
                </a:solidFill>
                <a:effectLst/>
                <a:uLnTx/>
                <a:uFillTx/>
                <a:latin typeface="Helvetica"/>
              </a:rPr>
              <a:t>or </a:t>
            </a:r>
            <a:r>
              <a:rPr kumimoji="1" lang="en-US" sz="2000" b="1" i="0" u="none" strike="noStrike" kern="0" cap="none" spc="0" normalizeH="0" baseline="0" noProof="0" dirty="0">
                <a:ln>
                  <a:noFill/>
                </a:ln>
                <a:solidFill>
                  <a:srgbClr val="C00000"/>
                </a:solidFill>
                <a:effectLst/>
                <a:uLnTx/>
                <a:uFillTx/>
                <a:latin typeface="Helvetica"/>
              </a:rPr>
              <a:t>Unique constraint</a:t>
            </a:r>
            <a:r>
              <a:rPr kumimoji="1" lang="en-US" sz="2000" b="0" i="0" u="none" strike="noStrike" kern="0" cap="none" spc="0" normalizeH="0" baseline="0" noProof="0" dirty="0">
                <a:ln>
                  <a:noFill/>
                </a:ln>
                <a:solidFill>
                  <a:srgbClr val="000000"/>
                </a:solidFill>
                <a:effectLst/>
                <a:uLnTx/>
                <a:uFillTx/>
                <a:latin typeface="Helvetica"/>
              </a:rPr>
              <a:t>. </a:t>
            </a:r>
          </a:p>
          <a:p>
            <a:pPr marL="742950" marR="0" lvl="1" indent="-285750" algn="l" defTabSz="914400" rtl="0" eaLnBrk="0" fontAlgn="base" latinLnBrk="0" hangingPunct="0">
              <a:lnSpc>
                <a:spcPct val="120000"/>
              </a:lnSpc>
              <a:spcBef>
                <a:spcPct val="35000"/>
              </a:spcBef>
              <a:spcAft>
                <a:spcPct val="0"/>
              </a:spcAft>
              <a:buClr>
                <a:srgbClr val="FF9933"/>
              </a:buClr>
              <a:buSzPct val="80000"/>
              <a:buFont typeface="Monotype Sorts" charset="2"/>
              <a:buChar char="l"/>
              <a:tabLst/>
              <a:defRPr/>
            </a:pPr>
            <a:r>
              <a:rPr kumimoji="1" lang="en-US" sz="2000" b="0" i="0" u="none" strike="noStrike" kern="0" cap="none" spc="0" normalizeH="0" baseline="0" noProof="0" dirty="0">
                <a:ln>
                  <a:noFill/>
                </a:ln>
                <a:solidFill>
                  <a:srgbClr val="000000"/>
                </a:solidFill>
                <a:effectLst/>
                <a:uLnTx/>
                <a:uFillTx/>
                <a:latin typeface="Helvetica"/>
              </a:rPr>
              <a:t>A </a:t>
            </a:r>
            <a:r>
              <a:rPr kumimoji="1" lang="en-US" sz="2000" b="1" i="0" u="none" strike="noStrike" kern="0" cap="none" spc="0" normalizeH="0" baseline="0" noProof="0" dirty="0">
                <a:ln>
                  <a:noFill/>
                </a:ln>
                <a:solidFill>
                  <a:srgbClr val="C00000"/>
                </a:solidFill>
                <a:effectLst/>
                <a:uLnTx/>
                <a:uFillTx/>
                <a:latin typeface="Helvetica"/>
              </a:rPr>
              <a:t>Parent Column has to exist before creation of Child Column</a:t>
            </a:r>
            <a:r>
              <a:rPr kumimoji="1" lang="en-US" sz="2000" b="1" i="0" u="none" strike="noStrike" kern="0" cap="none" spc="0" normalizeH="0" baseline="0" noProof="0" dirty="0">
                <a:ln>
                  <a:noFill/>
                </a:ln>
                <a:solidFill>
                  <a:srgbClr val="000000"/>
                </a:solidFill>
                <a:effectLst/>
                <a:uLnTx/>
                <a:uFillTx/>
                <a:latin typeface="Helvetica"/>
              </a:rPr>
              <a:t> </a:t>
            </a:r>
            <a:r>
              <a:rPr kumimoji="1" lang="en-US" sz="2000" b="0" i="0" u="none" strike="noStrike" kern="0" cap="none" spc="0" normalizeH="0" baseline="0" noProof="0" dirty="0">
                <a:ln>
                  <a:noFill/>
                </a:ln>
                <a:solidFill>
                  <a:srgbClr val="000000"/>
                </a:solidFill>
                <a:effectLst/>
                <a:uLnTx/>
                <a:uFillTx/>
                <a:latin typeface="Helvetica"/>
              </a:rPr>
              <a:t>with Foreign key Constraint. </a:t>
            </a:r>
          </a:p>
          <a:p>
            <a:pPr marL="742950" marR="0" lvl="1" indent="-285750" algn="l" defTabSz="914400" rtl="0" eaLnBrk="0" fontAlgn="base" latinLnBrk="0" hangingPunct="0">
              <a:lnSpc>
                <a:spcPct val="120000"/>
              </a:lnSpc>
              <a:spcBef>
                <a:spcPct val="35000"/>
              </a:spcBef>
              <a:spcAft>
                <a:spcPct val="0"/>
              </a:spcAft>
              <a:buClr>
                <a:srgbClr val="FF9933"/>
              </a:buClr>
              <a:buSzPct val="80000"/>
              <a:buFont typeface="Monotype Sorts" charset="2"/>
              <a:buChar char="l"/>
              <a:tabLst/>
              <a:defRPr/>
            </a:pPr>
            <a:endParaRPr kumimoji="1" lang="en-US" sz="2000" b="0" i="0" u="none" strike="noStrike" kern="0" cap="none" spc="0" normalizeH="0" baseline="0" noProof="0" dirty="0">
              <a:ln>
                <a:noFill/>
              </a:ln>
              <a:solidFill>
                <a:srgbClr val="000000"/>
              </a:solidFill>
              <a:effectLst/>
              <a:uLnTx/>
              <a:uFillTx/>
              <a:latin typeface="Helvetica"/>
            </a:endParaRP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endParaRPr kumimoji="1" lang="en-US" sz="2000" b="0" i="0" u="none" strike="noStrike" kern="0" cap="none" spc="0" normalizeH="0" baseline="0" noProof="0" dirty="0">
              <a:ln>
                <a:noFill/>
              </a:ln>
              <a:solidFill>
                <a:srgbClr val="000000"/>
              </a:solidFill>
              <a:effectLst/>
              <a:uLnTx/>
              <a:uFillTx/>
              <a:latin typeface="Helvetica"/>
            </a:endParaRP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endParaRPr kumimoji="1" lang="en-US" sz="2000" b="0" i="0" u="none" strike="noStrike" kern="0" cap="none" spc="0" normalizeH="0" baseline="0" noProof="0" dirty="0">
              <a:ln>
                <a:noFill/>
              </a:ln>
              <a:solidFill>
                <a:srgbClr val="000000"/>
              </a:solidFill>
              <a:effectLst/>
              <a:uLnTx/>
              <a:uFillTx/>
              <a:latin typeface="Helvetica"/>
            </a:endParaRP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endParaRPr kumimoji="1" lang="en-US" sz="2000" b="0" i="0" u="none" strike="noStrike" kern="0" cap="none" spc="0" normalizeH="0" baseline="0" noProof="0" dirty="0">
              <a:ln>
                <a:noFill/>
              </a:ln>
              <a:solidFill>
                <a:srgbClr val="000000"/>
              </a:solidFill>
              <a:effectLst/>
              <a:uLnTx/>
              <a:uFillTx/>
              <a:latin typeface="Helvetica"/>
            </a:endParaRP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endParaRPr kumimoji="1" lang="en-US" sz="2000" b="0" i="0" u="none" strike="noStrike" kern="0" cap="none" spc="0" normalizeH="0" baseline="0" noProof="0" dirty="0">
              <a:ln>
                <a:noFill/>
              </a:ln>
              <a:solidFill>
                <a:srgbClr val="000000"/>
              </a:solidFill>
              <a:effectLst/>
              <a:uLnTx/>
              <a:uFillTx/>
              <a:latin typeface="Helvetica"/>
            </a:endParaRPr>
          </a:p>
        </p:txBody>
      </p:sp>
      <p:sp>
        <p:nvSpPr>
          <p:cNvPr id="3" name="Title 1"/>
          <p:cNvSpPr txBox="1">
            <a:spLocks/>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..FOREIGN KEY</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4" name="Rectangle 3"/>
          <p:cNvSpPr/>
          <p:nvPr/>
        </p:nvSpPr>
        <p:spPr>
          <a:xfrm>
            <a:off x="1810636" y="5032476"/>
            <a:ext cx="8765459" cy="1338828"/>
          </a:xfrm>
          <a:prstGeom prst="rect">
            <a:avLst/>
          </a:prstGeom>
        </p:spPr>
        <p:txBody>
          <a:bodyPr wrap="square">
            <a:spAutoFit/>
          </a:bodyPr>
          <a:lstStyle/>
          <a:p>
            <a:pPr algn="ctr">
              <a:lnSpc>
                <a:spcPct val="150000"/>
              </a:lnSpc>
            </a:pPr>
            <a:r>
              <a:rPr lang="en-US" b="1" i="1" dirty="0">
                <a:solidFill>
                  <a:srgbClr val="E2F4FF">
                    <a:lumMod val="25000"/>
                  </a:srgbClr>
                </a:solidFill>
                <a:latin typeface="Helvetica"/>
              </a:rPr>
              <a:t>Restrictions: </a:t>
            </a:r>
            <a:r>
              <a:rPr lang="en-US" b="1" i="1" dirty="0">
                <a:solidFill>
                  <a:srgbClr val="000000"/>
                </a:solidFill>
                <a:latin typeface="Helvetica"/>
              </a:rPr>
              <a:t>Any </a:t>
            </a:r>
            <a:r>
              <a:rPr lang="en-US" b="1" i="1" spc="20" dirty="0">
                <a:solidFill>
                  <a:srgbClr val="FF0000"/>
                </a:solidFill>
                <a:latin typeface="Helvetica"/>
              </a:rPr>
              <a:t>UPDATE</a:t>
            </a:r>
            <a:r>
              <a:rPr lang="en-US" b="1" i="1" spc="20" dirty="0">
                <a:solidFill>
                  <a:srgbClr val="000000"/>
                </a:solidFill>
                <a:latin typeface="Helvetica"/>
              </a:rPr>
              <a:t>/</a:t>
            </a:r>
            <a:r>
              <a:rPr lang="en-US" b="1" i="1" spc="20" dirty="0">
                <a:solidFill>
                  <a:srgbClr val="FF0000"/>
                </a:solidFill>
                <a:latin typeface="Helvetica"/>
              </a:rPr>
              <a:t>INSERT</a:t>
            </a:r>
            <a:r>
              <a:rPr lang="en-US" b="1" i="1" spc="20" dirty="0">
                <a:solidFill>
                  <a:srgbClr val="000000"/>
                </a:solidFill>
                <a:latin typeface="Helvetica"/>
              </a:rPr>
              <a:t>/</a:t>
            </a:r>
            <a:r>
              <a:rPr lang="en-US" b="1" i="1" spc="20" dirty="0">
                <a:solidFill>
                  <a:srgbClr val="FF0000"/>
                </a:solidFill>
                <a:latin typeface="Helvetica"/>
              </a:rPr>
              <a:t>DELETE</a:t>
            </a:r>
            <a:r>
              <a:rPr lang="en-US" b="1" i="1" dirty="0">
                <a:solidFill>
                  <a:srgbClr val="FF0000"/>
                </a:solidFill>
                <a:latin typeface="Helvetica"/>
              </a:rPr>
              <a:t> </a:t>
            </a:r>
            <a:r>
              <a:rPr lang="en-US" b="1" i="1" dirty="0">
                <a:solidFill>
                  <a:srgbClr val="000000"/>
                </a:solidFill>
                <a:latin typeface="Helvetica"/>
              </a:rPr>
              <a:t>of Records </a:t>
            </a:r>
            <a:r>
              <a:rPr lang="en-US" b="1" i="1" dirty="0">
                <a:solidFill>
                  <a:srgbClr val="FF0000"/>
                </a:solidFill>
                <a:latin typeface="Helvetica"/>
              </a:rPr>
              <a:t>, </a:t>
            </a:r>
            <a:r>
              <a:rPr lang="en-US" b="1" i="1" spc="20" dirty="0">
                <a:solidFill>
                  <a:srgbClr val="FF0000"/>
                </a:solidFill>
                <a:latin typeface="Helvetica"/>
              </a:rPr>
              <a:t>ALTER</a:t>
            </a:r>
            <a:r>
              <a:rPr lang="en-US" b="1" i="1" dirty="0">
                <a:solidFill>
                  <a:srgbClr val="FF0000"/>
                </a:solidFill>
                <a:latin typeface="Helvetica"/>
              </a:rPr>
              <a:t> </a:t>
            </a:r>
            <a:r>
              <a:rPr lang="en-US" b="1" i="1" dirty="0">
                <a:solidFill>
                  <a:srgbClr val="000000"/>
                </a:solidFill>
                <a:latin typeface="Helvetica"/>
              </a:rPr>
              <a:t>or</a:t>
            </a:r>
            <a:r>
              <a:rPr lang="en-US" b="1" i="1" dirty="0">
                <a:solidFill>
                  <a:srgbClr val="FF0000"/>
                </a:solidFill>
                <a:latin typeface="Helvetica"/>
              </a:rPr>
              <a:t> </a:t>
            </a:r>
            <a:r>
              <a:rPr lang="en-US" b="1" i="1" spc="20" dirty="0">
                <a:solidFill>
                  <a:srgbClr val="FF0000"/>
                </a:solidFill>
                <a:latin typeface="Helvetica"/>
              </a:rPr>
              <a:t>DROP</a:t>
            </a:r>
            <a:r>
              <a:rPr lang="en-US" b="1" i="1" dirty="0">
                <a:solidFill>
                  <a:srgbClr val="FF0000"/>
                </a:solidFill>
                <a:latin typeface="Helvetica"/>
              </a:rPr>
              <a:t> </a:t>
            </a:r>
            <a:r>
              <a:rPr lang="en-US" b="1" i="1" u="sng" dirty="0">
                <a:solidFill>
                  <a:srgbClr val="000000"/>
                </a:solidFill>
                <a:latin typeface="Helvetica"/>
              </a:rPr>
              <a:t>Operation</a:t>
            </a:r>
            <a:r>
              <a:rPr lang="en-US" b="1" i="1" dirty="0">
                <a:solidFill>
                  <a:srgbClr val="000000"/>
                </a:solidFill>
                <a:latin typeface="Helvetica"/>
              </a:rPr>
              <a:t> that Violates any of the above properties is  restricted and hence </a:t>
            </a:r>
            <a:r>
              <a:rPr lang="en-US" b="1" i="1" u="sng" dirty="0">
                <a:solidFill>
                  <a:srgbClr val="000000"/>
                </a:solidFill>
                <a:latin typeface="Helvetica"/>
              </a:rPr>
              <a:t>Rejected by the Database System.</a:t>
            </a:r>
          </a:p>
        </p:txBody>
      </p:sp>
      <p:sp>
        <p:nvSpPr>
          <p:cNvPr id="5" name="Footer Placeholder 4"/>
          <p:cNvSpPr>
            <a:spLocks noGrp="1"/>
          </p:cNvSpPr>
          <p:nvPr>
            <p:ph type="ftr" sz="quarter" idx="11"/>
          </p:nvPr>
        </p:nvSpPr>
        <p:spPr/>
        <p:txBody>
          <a:bodyPr/>
          <a:lstStyle/>
          <a:p>
            <a:r>
              <a:rPr lang="en-US"/>
              <a:t>SQL</a:t>
            </a:r>
          </a:p>
        </p:txBody>
      </p:sp>
      <p:sp>
        <p:nvSpPr>
          <p:cNvPr id="6" name="Slide Number Placeholder 5"/>
          <p:cNvSpPr>
            <a:spLocks noGrp="1"/>
          </p:cNvSpPr>
          <p:nvPr>
            <p:ph type="sldNum" sz="quarter" idx="12"/>
          </p:nvPr>
        </p:nvSpPr>
        <p:spPr/>
        <p:txBody>
          <a:bodyPr/>
          <a:lstStyle/>
          <a:p>
            <a:fld id="{03576695-DB63-4967-AFBB-46E84EF49106}" type="slidenum">
              <a:rPr lang="en-US" smtClean="0"/>
              <a:t>21</a:t>
            </a:fld>
            <a:endParaRPr lang="en-US"/>
          </a:p>
        </p:txBody>
      </p:sp>
    </p:spTree>
    <p:extLst>
      <p:ext uri="{BB962C8B-B14F-4D97-AF65-F5344CB8AC3E}">
        <p14:creationId xmlns:p14="http://schemas.microsoft.com/office/powerpoint/2010/main" val="30335198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BB7C9FC-5CA2-420F-870D-DF6E80DB0D3F}"/>
              </a:ext>
            </a:extLst>
          </p:cNvPr>
          <p:cNvSpPr>
            <a:spLocks noGrp="1"/>
          </p:cNvSpPr>
          <p:nvPr>
            <p:ph type="ftr" sz="quarter" idx="11"/>
          </p:nvPr>
        </p:nvSpPr>
        <p:spPr/>
        <p:txBody>
          <a:bodyPr/>
          <a:lstStyle/>
          <a:p>
            <a:r>
              <a:rPr lang="en-US"/>
              <a:t>SQL</a:t>
            </a:r>
          </a:p>
        </p:txBody>
      </p:sp>
      <p:sp>
        <p:nvSpPr>
          <p:cNvPr id="5" name="Slide Number Placeholder 4">
            <a:extLst>
              <a:ext uri="{FF2B5EF4-FFF2-40B4-BE49-F238E27FC236}">
                <a16:creationId xmlns:a16="http://schemas.microsoft.com/office/drawing/2014/main" id="{3A1AC809-0DED-4288-BE6B-D92FF2ED7E1B}"/>
              </a:ext>
            </a:extLst>
          </p:cNvPr>
          <p:cNvSpPr>
            <a:spLocks noGrp="1"/>
          </p:cNvSpPr>
          <p:nvPr>
            <p:ph type="sldNum" sz="quarter" idx="12"/>
          </p:nvPr>
        </p:nvSpPr>
        <p:spPr/>
        <p:txBody>
          <a:bodyPr/>
          <a:lstStyle/>
          <a:p>
            <a:fld id="{03576695-DB63-4967-AFBB-46E84EF49106}" type="slidenum">
              <a:rPr lang="en-US" smtClean="0"/>
              <a:t>22</a:t>
            </a:fld>
            <a:endParaRPr lang="en-US"/>
          </a:p>
        </p:txBody>
      </p:sp>
      <p:pic>
        <p:nvPicPr>
          <p:cNvPr id="6" name="Picture 5">
            <a:extLst>
              <a:ext uri="{FF2B5EF4-FFF2-40B4-BE49-F238E27FC236}">
                <a16:creationId xmlns:a16="http://schemas.microsoft.com/office/drawing/2014/main" id="{6D93FF97-E0DA-402E-A77C-ABB6EE06F849}"/>
              </a:ext>
            </a:extLst>
          </p:cNvPr>
          <p:cNvPicPr>
            <a:picLocks noChangeAspect="1"/>
          </p:cNvPicPr>
          <p:nvPr/>
        </p:nvPicPr>
        <p:blipFill>
          <a:blip r:embed="rId3"/>
          <a:stretch>
            <a:fillRect/>
          </a:stretch>
        </p:blipFill>
        <p:spPr>
          <a:xfrm>
            <a:off x="2586078" y="1767464"/>
            <a:ext cx="7547271" cy="2738735"/>
          </a:xfrm>
          <a:prstGeom prst="rect">
            <a:avLst/>
          </a:prstGeom>
        </p:spPr>
      </p:pic>
      <p:sp>
        <p:nvSpPr>
          <p:cNvPr id="7" name="Rectangle 6">
            <a:extLst>
              <a:ext uri="{FF2B5EF4-FFF2-40B4-BE49-F238E27FC236}">
                <a16:creationId xmlns:a16="http://schemas.microsoft.com/office/drawing/2014/main" id="{1564720F-6A67-4906-B790-D2FBE9A873DF}"/>
              </a:ext>
            </a:extLst>
          </p:cNvPr>
          <p:cNvSpPr/>
          <p:nvPr/>
        </p:nvSpPr>
        <p:spPr>
          <a:xfrm>
            <a:off x="4846542" y="288391"/>
            <a:ext cx="2300694" cy="523220"/>
          </a:xfrm>
          <a:prstGeom prst="rect">
            <a:avLst/>
          </a:prstGeom>
        </p:spPr>
        <p:txBody>
          <a:bodyPr wrap="none">
            <a:spAutoFit/>
          </a:bodyPr>
          <a:lstStyle/>
          <a:p>
            <a:r>
              <a:rPr lang="en-IN" sz="2800" b="1" dirty="0">
                <a:solidFill>
                  <a:srgbClr val="C00000"/>
                </a:solidFill>
              </a:rPr>
              <a:t>Sample Tables</a:t>
            </a:r>
          </a:p>
        </p:txBody>
      </p:sp>
    </p:spTree>
    <p:extLst>
      <p:ext uri="{BB962C8B-B14F-4D97-AF65-F5344CB8AC3E}">
        <p14:creationId xmlns:p14="http://schemas.microsoft.com/office/powerpoint/2010/main" val="23913858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bwMode="auto">
          <a:xfrm>
            <a:off x="838200" y="3884202"/>
            <a:ext cx="11039714" cy="2654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INSERT INTO EMP VALUES(105,’Rajesh’,’</a:t>
            </a:r>
            <a:r>
              <a:rPr kumimoji="1" lang="en-US" sz="1800" b="1" i="0" u="none" strike="noStrike" kern="0" cap="none" spc="0" normalizeH="0" baseline="0" noProof="0" dirty="0">
                <a:ln>
                  <a:noFill/>
                </a:ln>
                <a:solidFill>
                  <a:srgbClr val="000000"/>
                </a:solidFill>
                <a:effectLst/>
                <a:uLnTx/>
                <a:uFillTx/>
                <a:latin typeface="Helvetica"/>
                <a:ea typeface="+mn-ea"/>
                <a:cs typeface="+mn-cs"/>
              </a:rPr>
              <a:t>D4’</a:t>
            </a:r>
            <a:r>
              <a:rPr kumimoji="1" lang="en-US" sz="1800" b="0" i="0" u="none" strike="noStrike" kern="0" cap="none" spc="0" normalizeH="0" baseline="0" noProof="0" dirty="0">
                <a:ln>
                  <a:noFill/>
                </a:ln>
                <a:solidFill>
                  <a:srgbClr val="000000"/>
                </a:solidFill>
                <a:effectLst/>
                <a:uLnTx/>
                <a:uFillTx/>
                <a:latin typeface="Helvetica"/>
                <a:ea typeface="+mn-ea"/>
                <a:cs typeface="+mn-cs"/>
              </a:rPr>
              <a:t>); is </a:t>
            </a:r>
            <a:r>
              <a:rPr kumimoji="1" lang="en-US" sz="1800" b="0" i="0" u="none" strike="noStrike" kern="0" cap="none" spc="0" normalizeH="0" baseline="0" noProof="0" dirty="0">
                <a:ln>
                  <a:noFill/>
                </a:ln>
                <a:solidFill>
                  <a:srgbClr val="C00000"/>
                </a:solidFill>
                <a:effectLst/>
                <a:uLnTx/>
                <a:uFillTx/>
                <a:latin typeface="Helvetica"/>
                <a:ea typeface="+mn-ea"/>
                <a:cs typeface="+mn-cs"/>
              </a:rPr>
              <a:t>Rejected</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endParaRPr kumimoji="1" lang="en-US" sz="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600" b="1" i="0" u="none" strike="noStrike" kern="0" cap="none" spc="0" normalizeH="0" baseline="0" noProof="0" dirty="0">
                <a:ln>
                  <a:noFill/>
                </a:ln>
                <a:solidFill>
                  <a:srgbClr val="000000"/>
                </a:solidFill>
                <a:effectLst/>
                <a:uLnTx/>
                <a:uFillTx/>
                <a:latin typeface="Helvetica"/>
                <a:ea typeface="+mn-ea"/>
                <a:cs typeface="+mn-cs"/>
              </a:rPr>
              <a:t>To execute above INSERT command, execute in following Order</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INSERT INTO DEPT VALUES(‘D4’,’Physics’,125678);             </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Note</a:t>
            </a:r>
            <a:r>
              <a:rPr kumimoji="1" lang="en-US" sz="1800" b="0" i="0" u="none" strike="noStrike" kern="0" cap="none" spc="0" normalizeH="0" baseline="0" noProof="0" dirty="0">
                <a:ln>
                  <a:noFill/>
                </a:ln>
                <a:solidFill>
                  <a:srgbClr val="000000"/>
                </a:solidFill>
                <a:effectLst/>
                <a:uLnTx/>
                <a:uFillTx/>
                <a:latin typeface="Helvetica"/>
                <a:ea typeface="+mn-ea"/>
                <a:cs typeface="+mn-cs"/>
              </a:rPr>
              <a:t>-Parent record with parent column value D4 is added to DEPARTMENT and now we can add child Employee record with D4(child column value) department</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INSERT INTO EMP VALUES(105,’Rajesh’,’</a:t>
            </a:r>
            <a:r>
              <a:rPr kumimoji="1" lang="en-US" sz="1800" b="1" i="0" u="none" strike="noStrike" kern="0" cap="none" spc="0" normalizeH="0" baseline="0" noProof="0" dirty="0">
                <a:ln>
                  <a:noFill/>
                </a:ln>
                <a:solidFill>
                  <a:srgbClr val="000000"/>
                </a:solidFill>
                <a:effectLst/>
                <a:uLnTx/>
                <a:uFillTx/>
                <a:latin typeface="Helvetica"/>
                <a:ea typeface="+mn-ea"/>
                <a:cs typeface="+mn-cs"/>
              </a:rPr>
              <a:t>D4’</a:t>
            </a:r>
            <a:r>
              <a:rPr kumimoji="1" lang="en-US" sz="1800" b="0" i="0" u="none" strike="noStrike" kern="0" cap="none" spc="0" normalizeH="0" baseline="0" noProof="0" dirty="0">
                <a:ln>
                  <a:noFill/>
                </a:ln>
                <a:solidFill>
                  <a:srgbClr val="000000"/>
                </a:solidFill>
                <a:effectLst/>
                <a:uLnTx/>
                <a:uFillTx/>
                <a:latin typeface="Helvetica"/>
                <a:ea typeface="+mn-ea"/>
                <a:cs typeface="+mn-cs"/>
              </a:rPr>
              <a:t>);  Now it is Accepted.</a:t>
            </a:r>
          </a:p>
        </p:txBody>
      </p:sp>
      <p:sp>
        <p:nvSpPr>
          <p:cNvPr id="5" name="Title 1"/>
          <p:cNvSpPr txBox="1">
            <a:spLocks/>
          </p:cNvSpPr>
          <p:nvPr/>
        </p:nvSpPr>
        <p:spPr bwMode="auto">
          <a:xfrm>
            <a:off x="1024467" y="0"/>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..FOREIGN KEY – I</a:t>
            </a:r>
            <a:r>
              <a:rPr kumimoji="1" lang="en-US" sz="2800" b="0" i="0" u="none" strike="noStrike" kern="0" cap="none" spc="0" normalizeH="0" baseline="0" noProof="0" dirty="0">
                <a:ln>
                  <a:noFill/>
                </a:ln>
                <a:solidFill>
                  <a:srgbClr val="C00000"/>
                </a:solidFill>
                <a:effectLst>
                  <a:outerShdw blurRad="38100" dist="38100" dir="2700000" algn="tl">
                    <a:srgbClr val="C0C0C0"/>
                  </a:outerShdw>
                </a:effectLst>
                <a:uLnTx/>
                <a:uFillTx/>
                <a:latin typeface="Helvetica"/>
                <a:ea typeface="+mj-ea"/>
                <a:cs typeface="+mj-cs"/>
              </a:rPr>
              <a:t>NSERT Restrictions</a:t>
            </a: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  </a:t>
            </a:r>
          </a:p>
        </p:txBody>
      </p:sp>
      <p:pic>
        <p:nvPicPr>
          <p:cNvPr id="6" name="Picture 5"/>
          <p:cNvPicPr>
            <a:picLocks noChangeAspect="1"/>
          </p:cNvPicPr>
          <p:nvPr/>
        </p:nvPicPr>
        <p:blipFill>
          <a:blip r:embed="rId3"/>
          <a:stretch>
            <a:fillRect/>
          </a:stretch>
        </p:blipFill>
        <p:spPr>
          <a:xfrm>
            <a:off x="2566219" y="653335"/>
            <a:ext cx="5522350" cy="2003937"/>
          </a:xfrm>
          <a:prstGeom prst="rect">
            <a:avLst/>
          </a:prstGeom>
        </p:spPr>
      </p:pic>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23</a:t>
            </a:fld>
            <a:endParaRPr lang="en-US"/>
          </a:p>
        </p:txBody>
      </p:sp>
      <p:pic>
        <p:nvPicPr>
          <p:cNvPr id="7" name="Picture 6"/>
          <p:cNvPicPr>
            <a:picLocks noChangeAspect="1"/>
          </p:cNvPicPr>
          <p:nvPr/>
        </p:nvPicPr>
        <p:blipFill>
          <a:blip r:embed="rId4"/>
          <a:stretch>
            <a:fillRect/>
          </a:stretch>
        </p:blipFill>
        <p:spPr>
          <a:xfrm>
            <a:off x="7643813" y="2303105"/>
            <a:ext cx="4548188" cy="1590675"/>
          </a:xfrm>
          <a:prstGeom prst="rect">
            <a:avLst/>
          </a:prstGeom>
        </p:spPr>
      </p:pic>
    </p:spTree>
    <p:extLst>
      <p:ext uri="{BB962C8B-B14F-4D97-AF65-F5344CB8AC3E}">
        <p14:creationId xmlns:p14="http://schemas.microsoft.com/office/powerpoint/2010/main" val="2625830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754353" y="2792447"/>
            <a:ext cx="11039714" cy="306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600" b="1" i="0" u="none" strike="noStrike" kern="0" cap="none" spc="0" normalizeH="0" baseline="0" noProof="0" dirty="0">
                <a:ln>
                  <a:noFill/>
                </a:ln>
                <a:solidFill>
                  <a:srgbClr val="000000"/>
                </a:solidFill>
                <a:effectLst/>
                <a:uLnTx/>
                <a:uFillTx/>
                <a:latin typeface="Helvetica"/>
                <a:ea typeface="+mn-ea"/>
                <a:cs typeface="+mn-cs"/>
              </a:rPr>
              <a:t>Similarly,</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UPDATE EMP SET DEPTNO=‘D5’ WHERE EMPNO=100;   is </a:t>
            </a:r>
            <a:r>
              <a:rPr kumimoji="1" lang="en-US" sz="1800" b="0" i="0" u="none" strike="noStrike" kern="0" cap="none" spc="0" normalizeH="0" baseline="0" noProof="0" dirty="0">
                <a:ln>
                  <a:noFill/>
                </a:ln>
                <a:solidFill>
                  <a:srgbClr val="C00000"/>
                </a:solidFill>
                <a:effectLst/>
                <a:uLnTx/>
                <a:uFillTx/>
                <a:latin typeface="Helvetica"/>
                <a:ea typeface="+mn-ea"/>
                <a:cs typeface="+mn-cs"/>
              </a:rPr>
              <a:t>Rejected</a:t>
            </a:r>
            <a:r>
              <a:rPr kumimoji="1" lang="en-US" sz="1800" b="0" i="0" u="none" strike="noStrike" kern="0" cap="none" spc="0" normalizeH="0" baseline="0" noProof="0" dirty="0">
                <a:ln>
                  <a:noFill/>
                </a:ln>
                <a:solidFill>
                  <a:srgbClr val="000000"/>
                </a:solidFill>
                <a:effectLst/>
                <a:uLnTx/>
                <a:uFillTx/>
                <a:latin typeface="Helvetica"/>
                <a:ea typeface="+mn-ea"/>
                <a:cs typeface="+mn-cs"/>
              </a:rPr>
              <a:t>.</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UPDATE EMP SET DEPTNO=‘D3’ WHERE EMPNO=100;   is </a:t>
            </a:r>
            <a:r>
              <a:rPr kumimoji="1" lang="en-US" sz="1800" b="0" i="0" u="none" strike="noStrike" kern="0" cap="none" spc="0" normalizeH="0" baseline="0" noProof="0" dirty="0">
                <a:ln>
                  <a:noFill/>
                </a:ln>
                <a:solidFill>
                  <a:srgbClr val="002060"/>
                </a:solidFill>
                <a:effectLst/>
                <a:uLnTx/>
                <a:uFillTx/>
                <a:latin typeface="Helvetica"/>
                <a:ea typeface="+mn-ea"/>
                <a:cs typeface="+mn-cs"/>
              </a:rPr>
              <a:t>Accepted</a:t>
            </a:r>
            <a:r>
              <a:rPr kumimoji="1" lang="en-US" sz="1800" b="0" i="0" u="none" strike="noStrike" kern="0" cap="none" spc="0" normalizeH="0" baseline="0" noProof="0" dirty="0">
                <a:ln>
                  <a:noFill/>
                </a:ln>
                <a:solidFill>
                  <a:srgbClr val="000000"/>
                </a:solidFill>
                <a:effectLst/>
                <a:uLnTx/>
                <a:uFillTx/>
                <a:latin typeface="Helvetica"/>
                <a:ea typeface="+mn-ea"/>
                <a:cs typeface="+mn-cs"/>
              </a:rPr>
              <a:t>.</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DELETE FROM DEPARTMENT WHERE DNO=‘D1’ is </a:t>
            </a:r>
            <a:r>
              <a:rPr kumimoji="1" lang="en-US" sz="1800" b="0" i="0" u="none" strike="noStrike" kern="0" cap="none" spc="0" normalizeH="0" baseline="0" noProof="0" dirty="0">
                <a:ln>
                  <a:noFill/>
                </a:ln>
                <a:solidFill>
                  <a:srgbClr val="C00000"/>
                </a:solidFill>
                <a:effectLst/>
                <a:uLnTx/>
                <a:uFillTx/>
                <a:latin typeface="Helvetica"/>
                <a:ea typeface="+mn-ea"/>
                <a:cs typeface="+mn-cs"/>
              </a:rPr>
              <a:t>Rejected</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600" b="1" i="0" u="none" strike="noStrike" kern="0" cap="none" spc="0" normalizeH="0" baseline="0" noProof="0" dirty="0">
                <a:ln>
                  <a:noFill/>
                </a:ln>
                <a:solidFill>
                  <a:srgbClr val="000000"/>
                </a:solidFill>
                <a:effectLst/>
                <a:uLnTx/>
                <a:uFillTx/>
                <a:latin typeface="Helvetica"/>
                <a:ea typeface="+mn-ea"/>
                <a:cs typeface="+mn-cs"/>
              </a:rPr>
              <a:t>To execute above DELETE command, execute in following Order</a:t>
            </a:r>
            <a:endParaRPr kumimoji="1" lang="en-US" sz="1800" b="1"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FF0000"/>
                </a:solidFill>
                <a:effectLst/>
                <a:uLnTx/>
                <a:uFillTx/>
                <a:latin typeface="Helvetica"/>
                <a:ea typeface="+mn-ea"/>
                <a:cs typeface="+mn-cs"/>
              </a:rPr>
              <a:t>1st</a:t>
            </a:r>
            <a:r>
              <a:rPr kumimoji="1" lang="en-US" sz="1800" b="0" i="0" u="none" strike="noStrike" kern="0" cap="none" spc="0" normalizeH="0" baseline="0" noProof="0" dirty="0">
                <a:ln>
                  <a:noFill/>
                </a:ln>
                <a:solidFill>
                  <a:srgbClr val="000000"/>
                </a:solidFill>
                <a:effectLst/>
                <a:uLnTx/>
                <a:uFillTx/>
                <a:latin typeface="Helvetica"/>
                <a:ea typeface="+mn-ea"/>
                <a:cs typeface="+mn-cs"/>
              </a:rPr>
              <a:t> Delete from Child Table(EMP) and then </a:t>
            </a:r>
            <a:r>
              <a:rPr kumimoji="1" lang="en-US" sz="1800" b="0" i="0" u="none" strike="noStrike" kern="0" cap="none" spc="0" normalizeH="0" baseline="0" noProof="0" dirty="0">
                <a:ln>
                  <a:noFill/>
                </a:ln>
                <a:solidFill>
                  <a:srgbClr val="FF0000"/>
                </a:solidFill>
                <a:effectLst/>
                <a:uLnTx/>
                <a:uFillTx/>
                <a:latin typeface="Helvetica"/>
                <a:ea typeface="+mn-ea"/>
                <a:cs typeface="+mn-cs"/>
              </a:rPr>
              <a:t>2</a:t>
            </a:r>
            <a:r>
              <a:rPr kumimoji="1" lang="en-US" sz="1800" b="0" i="0" u="none" strike="noStrike" kern="0" cap="none" spc="0" normalizeH="0" baseline="30000" noProof="0" dirty="0">
                <a:ln>
                  <a:noFill/>
                </a:ln>
                <a:solidFill>
                  <a:srgbClr val="FF0000"/>
                </a:solidFill>
                <a:effectLst/>
                <a:uLnTx/>
                <a:uFillTx/>
                <a:latin typeface="Helvetica"/>
                <a:ea typeface="+mn-ea"/>
                <a:cs typeface="+mn-cs"/>
              </a:rPr>
              <a:t>nd</a:t>
            </a:r>
            <a:r>
              <a:rPr kumimoji="1" lang="en-US" sz="1800" b="0" i="0" u="none" strike="noStrike" kern="0" cap="none" spc="0" normalizeH="0" baseline="0" noProof="0" dirty="0">
                <a:ln>
                  <a:noFill/>
                </a:ln>
                <a:solidFill>
                  <a:srgbClr val="000000"/>
                </a:solidFill>
                <a:effectLst/>
                <a:uLnTx/>
                <a:uFillTx/>
                <a:latin typeface="Helvetica"/>
                <a:ea typeface="+mn-ea"/>
                <a:cs typeface="+mn-cs"/>
              </a:rPr>
              <a:t>  Delete from Parent(DEPARTMENT)</a:t>
            </a:r>
          </a:p>
          <a:p>
            <a:pPr lvl="1" indent="-342900">
              <a:buClr>
                <a:srgbClr val="CC3300"/>
              </a:buClr>
              <a:buSzPct val="90000"/>
              <a:buFont typeface="Monotype Sorts" charset="2"/>
              <a:buChar char="n"/>
            </a:pPr>
            <a:r>
              <a:rPr kumimoji="1" lang="en-US" b="0" i="0" u="none" strike="noStrike" kern="0" cap="none" spc="0" normalizeH="0" baseline="0" noProof="0" dirty="0">
                <a:ln>
                  <a:noFill/>
                </a:ln>
                <a:solidFill>
                  <a:srgbClr val="000000"/>
                </a:solidFill>
                <a:effectLst/>
                <a:uLnTx/>
                <a:uFillTx/>
                <a:latin typeface="Helvetica"/>
                <a:ea typeface="+mn-ea"/>
                <a:cs typeface="+mn-cs"/>
              </a:rPr>
              <a:t>This Deletion</a:t>
            </a:r>
            <a:r>
              <a:rPr kumimoji="1" lang="en-US" b="0" i="0" u="none" strike="noStrike" kern="0" cap="none" spc="0" normalizeH="0" noProof="0" dirty="0">
                <a:ln>
                  <a:noFill/>
                </a:ln>
                <a:solidFill>
                  <a:srgbClr val="000000"/>
                </a:solidFill>
                <a:effectLst/>
                <a:uLnTx/>
                <a:uFillTx/>
                <a:latin typeface="Helvetica"/>
                <a:ea typeface="+mn-ea"/>
                <a:cs typeface="+mn-cs"/>
              </a:rPr>
              <a:t> process </a:t>
            </a:r>
            <a:r>
              <a:rPr kumimoji="1" lang="en-US" b="1" i="0" u="none" strike="noStrike" kern="0" cap="none" spc="0" normalizeH="0" noProof="0" dirty="0">
                <a:ln>
                  <a:noFill/>
                </a:ln>
                <a:solidFill>
                  <a:srgbClr val="000000"/>
                </a:solidFill>
                <a:effectLst/>
                <a:uLnTx/>
                <a:uFillTx/>
                <a:latin typeface="Helvetica"/>
                <a:ea typeface="+mn-ea"/>
                <a:cs typeface="+mn-cs"/>
              </a:rPr>
              <a:t>can be automated </a:t>
            </a:r>
            <a:r>
              <a:rPr kumimoji="1" lang="en-US" b="0" i="0" u="none" strike="noStrike" kern="0" cap="none" spc="0" normalizeH="0" noProof="0" dirty="0">
                <a:ln>
                  <a:noFill/>
                </a:ln>
                <a:solidFill>
                  <a:srgbClr val="000000"/>
                </a:solidFill>
                <a:effectLst/>
                <a:uLnTx/>
                <a:uFillTx/>
                <a:latin typeface="Helvetica"/>
                <a:ea typeface="+mn-ea"/>
                <a:cs typeface="+mn-cs"/>
              </a:rPr>
              <a:t>by using Clause </a:t>
            </a:r>
            <a:r>
              <a:rPr kumimoji="1" lang="en-US" b="1" i="0" u="none" strike="noStrike" kern="0" cap="none" spc="0" normalizeH="0" noProof="0" dirty="0">
                <a:ln>
                  <a:noFill/>
                </a:ln>
                <a:solidFill>
                  <a:srgbClr val="C00000"/>
                </a:solidFill>
                <a:effectLst/>
                <a:uLnTx/>
                <a:uFillTx/>
                <a:latin typeface="Helvetica"/>
                <a:ea typeface="+mn-ea"/>
                <a:cs typeface="+mn-cs"/>
              </a:rPr>
              <a:t>ON DELETE CASCADE </a:t>
            </a:r>
            <a:r>
              <a:rPr kumimoji="1" lang="en-US" b="1" i="0" u="none" strike="noStrike" kern="0" cap="none" spc="0" normalizeH="0" noProof="0" dirty="0">
                <a:ln>
                  <a:noFill/>
                </a:ln>
                <a:solidFill>
                  <a:schemeClr val="tx2"/>
                </a:solidFill>
                <a:effectLst/>
                <a:uLnTx/>
                <a:uFillTx/>
                <a:latin typeface="Helvetica"/>
                <a:ea typeface="+mn-ea"/>
                <a:cs typeface="+mn-cs"/>
              </a:rPr>
              <a:t>/ </a:t>
            </a:r>
            <a:r>
              <a:rPr kumimoji="1" lang="en-US" b="1" i="0" u="none" strike="noStrike" kern="0" cap="none" spc="0" normalizeH="0" noProof="0" dirty="0">
                <a:ln>
                  <a:noFill/>
                </a:ln>
                <a:solidFill>
                  <a:srgbClr val="C00000"/>
                </a:solidFill>
                <a:effectLst/>
                <a:uLnTx/>
                <a:uFillTx/>
                <a:latin typeface="Helvetica"/>
                <a:ea typeface="+mn-ea"/>
                <a:cs typeface="+mn-cs"/>
              </a:rPr>
              <a:t>ON DELETE SET NULL  </a:t>
            </a:r>
            <a:r>
              <a:rPr kumimoji="1" lang="en-US" i="0" u="none" strike="noStrike" kern="0" cap="none" spc="0" normalizeH="0" noProof="0" dirty="0">
                <a:ln>
                  <a:noFill/>
                </a:ln>
                <a:effectLst/>
                <a:uLnTx/>
                <a:uFillTx/>
                <a:latin typeface="Helvetica"/>
                <a:ea typeface="+mn-ea"/>
                <a:cs typeface="+mn-cs"/>
              </a:rPr>
              <a:t>while creating Child Table</a:t>
            </a:r>
            <a:endParaRPr kumimoji="1" lang="en-US" i="0" u="none" strike="noStrike" kern="0" cap="none" spc="0" normalizeH="0" baseline="0" noProof="0" dirty="0">
              <a:ln>
                <a:noFill/>
              </a:ln>
              <a:solidFill>
                <a:srgbClr val="C00000"/>
              </a:solidFill>
              <a:effectLst/>
              <a:uLnTx/>
              <a:uFillTx/>
              <a:latin typeface="Helvetica"/>
              <a:ea typeface="+mn-ea"/>
              <a:cs typeface="+mn-cs"/>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Similarly </a:t>
            </a:r>
            <a:r>
              <a:rPr kumimoji="1" lang="en-US" sz="1800" b="1" i="0" u="none" strike="noStrike" kern="0" cap="none" spc="0" normalizeH="0" baseline="0" noProof="0" dirty="0">
                <a:ln>
                  <a:noFill/>
                </a:ln>
                <a:solidFill>
                  <a:srgbClr val="000000"/>
                </a:solidFill>
                <a:effectLst/>
                <a:uLnTx/>
                <a:uFillTx/>
                <a:latin typeface="Helvetica"/>
                <a:ea typeface="+mn-ea"/>
                <a:cs typeface="+mn-cs"/>
              </a:rPr>
              <a:t>Altering Structure </a:t>
            </a:r>
            <a:r>
              <a:rPr kumimoji="1" lang="en-US" sz="1800" b="0" i="0" u="none" strike="noStrike" kern="0" cap="none" spc="0" normalizeH="0" baseline="0" noProof="0" dirty="0">
                <a:ln>
                  <a:noFill/>
                </a:ln>
                <a:solidFill>
                  <a:srgbClr val="000000"/>
                </a:solidFill>
                <a:effectLst/>
                <a:uLnTx/>
                <a:uFillTx/>
                <a:latin typeface="Helvetica"/>
                <a:ea typeface="+mn-ea"/>
                <a:cs typeface="+mn-cs"/>
              </a:rPr>
              <a:t>of DNO or </a:t>
            </a:r>
            <a:r>
              <a:rPr kumimoji="1" lang="en-US" sz="1800" b="1" i="0" u="none" strike="noStrike" kern="0" cap="none" spc="0" normalizeH="0" baseline="0" noProof="0" dirty="0">
                <a:ln>
                  <a:noFill/>
                </a:ln>
                <a:solidFill>
                  <a:srgbClr val="000000"/>
                </a:solidFill>
                <a:effectLst/>
                <a:uLnTx/>
                <a:uFillTx/>
                <a:latin typeface="Helvetica"/>
                <a:ea typeface="+mn-ea"/>
                <a:cs typeface="+mn-cs"/>
              </a:rPr>
              <a:t>Dropping</a:t>
            </a:r>
            <a:r>
              <a:rPr kumimoji="1" lang="en-US" sz="1800" b="0" i="0" u="none" strike="noStrike" kern="0" cap="none" spc="0" normalizeH="0" baseline="0" noProof="0" dirty="0">
                <a:ln>
                  <a:noFill/>
                </a:ln>
                <a:solidFill>
                  <a:srgbClr val="000000"/>
                </a:solidFill>
                <a:effectLst/>
                <a:uLnTx/>
                <a:uFillTx/>
                <a:latin typeface="Helvetica"/>
                <a:ea typeface="+mn-ea"/>
                <a:cs typeface="+mn-cs"/>
              </a:rPr>
              <a:t> DNO is </a:t>
            </a:r>
            <a:r>
              <a:rPr kumimoji="1" lang="en-US" sz="1800" b="0" i="0" u="none" strike="noStrike" kern="0" cap="none" spc="0" normalizeH="0" baseline="0" noProof="0" dirty="0">
                <a:ln>
                  <a:noFill/>
                </a:ln>
                <a:solidFill>
                  <a:srgbClr val="FF0000"/>
                </a:solidFill>
                <a:effectLst/>
                <a:uLnTx/>
                <a:uFillTx/>
                <a:latin typeface="Helvetica"/>
                <a:ea typeface="+mn-ea"/>
                <a:cs typeface="+mn-cs"/>
              </a:rPr>
              <a:t>Rejected</a:t>
            </a:r>
            <a:r>
              <a:rPr kumimoji="1" lang="en-US" sz="1800" b="0" i="0" u="none" strike="noStrike" kern="0" cap="none" spc="0" normalizeH="0" baseline="0" noProof="0" dirty="0">
                <a:ln>
                  <a:noFill/>
                </a:ln>
                <a:solidFill>
                  <a:srgbClr val="000000"/>
                </a:solidFill>
                <a:effectLst/>
                <a:uLnTx/>
                <a:uFillTx/>
                <a:latin typeface="Helvetica"/>
                <a:ea typeface="+mn-ea"/>
                <a:cs typeface="+mn-cs"/>
              </a:rPr>
              <a:t>.</a:t>
            </a:r>
          </a:p>
        </p:txBody>
      </p:sp>
      <p:sp>
        <p:nvSpPr>
          <p:cNvPr id="3" name="Title 1"/>
          <p:cNvSpPr txBox="1">
            <a:spLocks/>
          </p:cNvSpPr>
          <p:nvPr/>
        </p:nvSpPr>
        <p:spPr bwMode="auto">
          <a:xfrm>
            <a:off x="1024467" y="0"/>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..FOREIGN KEY-</a:t>
            </a:r>
            <a:r>
              <a:rPr kumimoji="1" lang="en-US" sz="28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 </a:t>
            </a:r>
            <a:r>
              <a:rPr kumimoji="1" lang="en-US" sz="24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UPDATE</a:t>
            </a:r>
            <a:r>
              <a:rPr kumimoji="1" lang="en-US" sz="2400" b="0" i="0" u="none" strike="noStrike" kern="0" cap="none" spc="0" normalizeH="0" baseline="0" noProof="0" dirty="0">
                <a:ln>
                  <a:noFill/>
                </a:ln>
                <a:solidFill>
                  <a:srgbClr val="C00000"/>
                </a:solidFill>
                <a:effectLst>
                  <a:outerShdw blurRad="38100" dist="38100" dir="2700000" algn="tl">
                    <a:srgbClr val="C0C0C0"/>
                  </a:outerShdw>
                </a:effectLst>
                <a:uLnTx/>
                <a:uFillTx/>
                <a:latin typeface="Helvetica"/>
                <a:ea typeface="+mj-ea"/>
                <a:cs typeface="+mj-cs"/>
              </a:rPr>
              <a:t>/DELETE </a:t>
            </a:r>
            <a:r>
              <a:rPr kumimoji="1" lang="en-US" sz="2800" b="0" i="0" u="none" strike="noStrike" kern="0" cap="none" spc="0" normalizeH="0" baseline="0" noProof="0" dirty="0">
                <a:ln>
                  <a:noFill/>
                </a:ln>
                <a:solidFill>
                  <a:srgbClr val="C00000"/>
                </a:solidFill>
                <a:effectLst>
                  <a:outerShdw blurRad="38100" dist="38100" dir="2700000" algn="tl">
                    <a:srgbClr val="C0C0C0"/>
                  </a:outerShdw>
                </a:effectLst>
                <a:uLnTx/>
                <a:uFillTx/>
                <a:latin typeface="Helvetica"/>
                <a:ea typeface="+mj-ea"/>
                <a:cs typeface="+mj-cs"/>
              </a:rPr>
              <a:t>Restrictions</a:t>
            </a:r>
            <a:r>
              <a:rPr kumimoji="1" lang="en-US" sz="28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  </a:t>
            </a:r>
          </a:p>
        </p:txBody>
      </p:sp>
      <p:pic>
        <p:nvPicPr>
          <p:cNvPr id="4" name="Picture 3"/>
          <p:cNvPicPr>
            <a:picLocks noChangeAspect="1"/>
          </p:cNvPicPr>
          <p:nvPr/>
        </p:nvPicPr>
        <p:blipFill>
          <a:blip r:embed="rId3"/>
          <a:stretch>
            <a:fillRect/>
          </a:stretch>
        </p:blipFill>
        <p:spPr>
          <a:xfrm>
            <a:off x="2566219" y="653335"/>
            <a:ext cx="5522350" cy="2003937"/>
          </a:xfrm>
          <a:prstGeom prst="rect">
            <a:avLst/>
          </a:prstGeom>
        </p:spPr>
      </p:pic>
      <p:sp>
        <p:nvSpPr>
          <p:cNvPr id="5" name="Footer Placeholder 4"/>
          <p:cNvSpPr>
            <a:spLocks noGrp="1"/>
          </p:cNvSpPr>
          <p:nvPr>
            <p:ph type="ftr" sz="quarter" idx="11"/>
          </p:nvPr>
        </p:nvSpPr>
        <p:spPr/>
        <p:txBody>
          <a:bodyPr/>
          <a:lstStyle/>
          <a:p>
            <a:r>
              <a:rPr lang="en-US"/>
              <a:t>SQL</a:t>
            </a:r>
          </a:p>
        </p:txBody>
      </p:sp>
      <p:sp>
        <p:nvSpPr>
          <p:cNvPr id="6" name="Slide Number Placeholder 5"/>
          <p:cNvSpPr>
            <a:spLocks noGrp="1"/>
          </p:cNvSpPr>
          <p:nvPr>
            <p:ph type="sldNum" sz="quarter" idx="12"/>
          </p:nvPr>
        </p:nvSpPr>
        <p:spPr/>
        <p:txBody>
          <a:bodyPr/>
          <a:lstStyle/>
          <a:p>
            <a:fld id="{03576695-DB63-4967-AFBB-46E84EF49106}" type="slidenum">
              <a:rPr lang="en-US" smtClean="0"/>
              <a:t>24</a:t>
            </a:fld>
            <a:endParaRPr lang="en-US"/>
          </a:p>
        </p:txBody>
      </p:sp>
    </p:spTree>
    <p:extLst>
      <p:ext uri="{BB962C8B-B14F-4D97-AF65-F5344CB8AC3E}">
        <p14:creationId xmlns:p14="http://schemas.microsoft.com/office/powerpoint/2010/main" val="7762172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024467" y="0"/>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..FOREIGN KEY-</a:t>
            </a:r>
            <a:r>
              <a:rPr kumimoji="1" lang="en-US" sz="28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 </a:t>
            </a:r>
            <a:r>
              <a:rPr kumimoji="1" lang="en-US" sz="24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ON DELETE CASCADE</a:t>
            </a:r>
            <a:r>
              <a:rPr kumimoji="1" 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Helvetica"/>
                <a:ea typeface="+mj-ea"/>
                <a:cs typeface="+mj-cs"/>
              </a:rPr>
              <a:t>/</a:t>
            </a:r>
            <a:r>
              <a:rPr kumimoji="1" lang="en-US" sz="24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ON DELETE SET NULL</a:t>
            </a:r>
            <a:endParaRPr kumimoji="1" lang="en-US" sz="28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6" name="Content Placeholder 2"/>
          <p:cNvSpPr txBox="1">
            <a:spLocks/>
          </p:cNvSpPr>
          <p:nvPr/>
        </p:nvSpPr>
        <p:spPr bwMode="auto">
          <a:xfrm>
            <a:off x="831987" y="664344"/>
            <a:ext cx="10602383" cy="6041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a:lnSpc>
                <a:spcPct val="120000"/>
              </a:lnSpc>
              <a:buClr>
                <a:srgbClr val="C00000"/>
              </a:buClr>
            </a:pPr>
            <a:r>
              <a:rPr lang="en-US" sz="2000" dirty="0"/>
              <a:t>A foreign key with cascade delete means that if a record in the parent table is deleted, then the corresponding records in the child table will automatically be deleted. This is called a cascade delete in Oracle.</a:t>
            </a:r>
          </a:p>
          <a:p>
            <a:pPr lvl="1">
              <a:lnSpc>
                <a:spcPct val="120000"/>
              </a:lnSpc>
              <a:buClr>
                <a:srgbClr val="FF9933"/>
              </a:buClr>
            </a:pPr>
            <a:r>
              <a:rPr kumimoji="1" lang="en-US" sz="2000" b="1" i="0" u="none" strike="noStrike" kern="0" cap="none" spc="0" normalizeH="0" baseline="0" noProof="0" dirty="0">
                <a:ln>
                  <a:noFill/>
                </a:ln>
                <a:solidFill>
                  <a:srgbClr val="000000"/>
                </a:solidFill>
                <a:effectLst/>
                <a:uLnTx/>
                <a:uFillTx/>
                <a:latin typeface="Helvetica"/>
              </a:rPr>
              <a:t>Example: </a:t>
            </a:r>
            <a:r>
              <a:rPr lang="en-US" sz="2000" dirty="0"/>
              <a:t>Create tables give in </a:t>
            </a:r>
            <a:r>
              <a:rPr lang="en-US" sz="2000" dirty="0">
                <a:hlinkClick r:id="rId3" action="ppaction://hlinksldjump"/>
              </a:rPr>
              <a:t>slide 18 </a:t>
            </a:r>
            <a:r>
              <a:rPr lang="en-US" sz="2000" dirty="0"/>
              <a:t>with </a:t>
            </a:r>
            <a:r>
              <a:rPr lang="en-US" sz="2000" b="1" dirty="0">
                <a:solidFill>
                  <a:srgbClr val="C00000"/>
                </a:solidFill>
              </a:rPr>
              <a:t>ON DELETE CASCADE </a:t>
            </a:r>
            <a:r>
              <a:rPr lang="en-US" sz="2000" dirty="0"/>
              <a:t>clause along with FOREIGN KEY.</a:t>
            </a:r>
          </a:p>
          <a:p>
            <a:pPr lvl="0">
              <a:buClr>
                <a:srgbClr val="CC3300"/>
              </a:buClr>
              <a:defRPr/>
            </a:pPr>
            <a:r>
              <a:rPr lang="en-US" b="1" kern="0" dirty="0">
                <a:solidFill>
                  <a:srgbClr val="000000"/>
                </a:solidFill>
                <a:latin typeface="Helvetica"/>
              </a:rPr>
              <a:t>Parent(Master) Table</a:t>
            </a:r>
            <a:r>
              <a:rPr lang="en-US" kern="0" dirty="0">
                <a:solidFill>
                  <a:srgbClr val="000000"/>
                </a:solidFill>
                <a:latin typeface="Helvetica"/>
              </a:rPr>
              <a:t>:</a:t>
            </a:r>
          </a:p>
          <a:p>
            <a:pPr lvl="0">
              <a:buClr>
                <a:srgbClr val="CC3300"/>
              </a:buClr>
              <a:defRPr/>
            </a:pPr>
            <a:endParaRPr lang="en-US" sz="200" kern="0" dirty="0">
              <a:solidFill>
                <a:srgbClr val="000000"/>
              </a:solidFill>
              <a:latin typeface="Helvetica"/>
            </a:endParaRPr>
          </a:p>
          <a:p>
            <a:pPr lvl="1">
              <a:buClr>
                <a:srgbClr val="CC3300"/>
              </a:buClr>
              <a:defRPr/>
            </a:pPr>
            <a:r>
              <a:rPr lang="en-US" b="1" kern="0" dirty="0">
                <a:solidFill>
                  <a:srgbClr val="000000"/>
                </a:solidFill>
                <a:latin typeface="Helvetica"/>
              </a:rPr>
              <a:t>CREATE TABLE  Department </a:t>
            </a:r>
            <a:r>
              <a:rPr lang="en-US" sz="2400" b="1" kern="0" dirty="0">
                <a:solidFill>
                  <a:srgbClr val="C00000"/>
                </a:solidFill>
                <a:latin typeface="Helvetica"/>
              </a:rPr>
              <a:t>( </a:t>
            </a:r>
            <a:r>
              <a:rPr lang="en-US" kern="0" dirty="0" err="1">
                <a:latin typeface="Helvetica"/>
              </a:rPr>
              <a:t>Dno</a:t>
            </a:r>
            <a:r>
              <a:rPr lang="en-US" kern="0" dirty="0">
                <a:latin typeface="Helvetica"/>
              </a:rPr>
              <a:t>  varchar(2) PRIMARY KEY, Name varchar(10),Budget Number(9) </a:t>
            </a:r>
            <a:r>
              <a:rPr lang="en-US" sz="2400" b="1" kern="0" dirty="0">
                <a:solidFill>
                  <a:srgbClr val="C00000"/>
                </a:solidFill>
                <a:latin typeface="Helvetica"/>
              </a:rPr>
              <a:t>)</a:t>
            </a:r>
            <a:r>
              <a:rPr lang="en-US" kern="0" dirty="0">
                <a:solidFill>
                  <a:srgbClr val="000000"/>
                </a:solidFill>
                <a:latin typeface="Helvetica"/>
              </a:rPr>
              <a:t>;</a:t>
            </a:r>
          </a:p>
          <a:p>
            <a:pPr lvl="0">
              <a:buClr>
                <a:srgbClr val="CC3300"/>
              </a:buClr>
              <a:defRPr/>
            </a:pPr>
            <a:endParaRPr lang="en-US" sz="600" kern="0" dirty="0">
              <a:solidFill>
                <a:srgbClr val="000000"/>
              </a:solidFill>
              <a:latin typeface="Helvetica"/>
            </a:endParaRPr>
          </a:p>
          <a:p>
            <a:pPr lvl="0">
              <a:buClr>
                <a:srgbClr val="CC3300"/>
              </a:buClr>
              <a:defRPr/>
            </a:pPr>
            <a:r>
              <a:rPr lang="en-US" b="1" kern="0" dirty="0">
                <a:solidFill>
                  <a:srgbClr val="000000"/>
                </a:solidFill>
                <a:latin typeface="Helvetica"/>
              </a:rPr>
              <a:t>Child(Detail) Table</a:t>
            </a:r>
          </a:p>
          <a:p>
            <a:pPr lvl="1">
              <a:lnSpc>
                <a:spcPct val="120000"/>
              </a:lnSpc>
              <a:buClr>
                <a:srgbClr val="FF9933"/>
              </a:buClr>
            </a:pPr>
            <a:endParaRPr lang="en-US" sz="100" dirty="0"/>
          </a:p>
          <a:p>
            <a:pPr lvl="1">
              <a:lnSpc>
                <a:spcPct val="120000"/>
              </a:lnSpc>
              <a:buClr>
                <a:srgbClr val="FF9933"/>
              </a:buClr>
            </a:pPr>
            <a:r>
              <a:rPr lang="en-US" sz="2000" b="1" kern="0" dirty="0">
                <a:solidFill>
                  <a:srgbClr val="000000"/>
                </a:solidFill>
                <a:latin typeface="Helvetica"/>
              </a:rPr>
              <a:t>CREATE TABLE  Emp</a:t>
            </a:r>
            <a:r>
              <a:rPr lang="en-US" sz="2400" b="1" kern="0" dirty="0">
                <a:solidFill>
                  <a:srgbClr val="C00000"/>
                </a:solidFill>
                <a:latin typeface="Helvetica"/>
              </a:rPr>
              <a:t>(</a:t>
            </a:r>
            <a:r>
              <a:rPr lang="en-US" sz="2000" kern="0" dirty="0">
                <a:solidFill>
                  <a:srgbClr val="000000"/>
                </a:solidFill>
                <a:latin typeface="Helvetica"/>
              </a:rPr>
              <a:t>Empno number(3) PRIMARY KEY, Name varchar(10), </a:t>
            </a:r>
            <a:r>
              <a:rPr lang="en-US" sz="2000" kern="0" dirty="0" err="1">
                <a:solidFill>
                  <a:srgbClr val="000000"/>
                </a:solidFill>
                <a:latin typeface="Helvetica"/>
              </a:rPr>
              <a:t>Deptno</a:t>
            </a:r>
            <a:r>
              <a:rPr lang="en-US" sz="2000" kern="0" dirty="0">
                <a:solidFill>
                  <a:srgbClr val="000000"/>
                </a:solidFill>
                <a:latin typeface="Helvetica"/>
              </a:rPr>
              <a:t> varchar(2) </a:t>
            </a:r>
            <a:r>
              <a:rPr lang="en-US" sz="2000" b="1" kern="0" dirty="0">
                <a:solidFill>
                  <a:srgbClr val="C00000"/>
                </a:solidFill>
                <a:latin typeface="Helvetica"/>
              </a:rPr>
              <a:t>REFERENCES</a:t>
            </a:r>
            <a:r>
              <a:rPr lang="en-US" sz="2000" b="1" kern="0" dirty="0">
                <a:solidFill>
                  <a:srgbClr val="000000"/>
                </a:solidFill>
                <a:latin typeface="Helvetica"/>
              </a:rPr>
              <a:t> Department </a:t>
            </a:r>
            <a:r>
              <a:rPr lang="en-US" sz="2000" b="1" kern="0" dirty="0">
                <a:solidFill>
                  <a:srgbClr val="C00000"/>
                </a:solidFill>
                <a:latin typeface="Helvetica"/>
              </a:rPr>
              <a:t>ON DELETE CASCADE</a:t>
            </a:r>
            <a:r>
              <a:rPr lang="en-US" sz="2400" b="1" kern="0" dirty="0">
                <a:solidFill>
                  <a:srgbClr val="C00000"/>
                </a:solidFill>
                <a:latin typeface="Helvetica"/>
              </a:rPr>
              <a:t>)</a:t>
            </a:r>
            <a:r>
              <a:rPr lang="en-US" sz="2000" b="1" kern="0" dirty="0">
                <a:solidFill>
                  <a:srgbClr val="000000"/>
                </a:solidFill>
                <a:latin typeface="Helvetica"/>
              </a:rPr>
              <a:t>;</a:t>
            </a:r>
          </a:p>
          <a:p>
            <a:pPr lvl="1">
              <a:lnSpc>
                <a:spcPct val="120000"/>
              </a:lnSpc>
              <a:buClr>
                <a:srgbClr val="FF9933"/>
              </a:buClr>
            </a:pPr>
            <a:endParaRPr lang="en-US" sz="500" dirty="0"/>
          </a:p>
          <a:p>
            <a:pPr marL="457200" lvl="1" indent="0" algn="ctr">
              <a:lnSpc>
                <a:spcPct val="140000"/>
              </a:lnSpc>
              <a:buClr>
                <a:srgbClr val="FF9933"/>
              </a:buClr>
              <a:buNone/>
            </a:pPr>
            <a:r>
              <a:rPr kumimoji="1" lang="en-US" sz="2000" b="1" i="0" u="none" strike="noStrike" kern="0" cap="none" spc="0" normalizeH="0" baseline="0" noProof="0" dirty="0">
                <a:ln>
                  <a:noFill/>
                </a:ln>
                <a:solidFill>
                  <a:srgbClr val="002060"/>
                </a:solidFill>
                <a:effectLst/>
                <a:uLnTx/>
                <a:uFillTx/>
                <a:latin typeface="Helvetica"/>
              </a:rPr>
              <a:t>Any Delete operation </a:t>
            </a:r>
            <a:r>
              <a:rPr lang="en-US" sz="2000" b="1" kern="0" dirty="0">
                <a:solidFill>
                  <a:srgbClr val="002060"/>
                </a:solidFill>
                <a:latin typeface="Helvetica"/>
              </a:rPr>
              <a:t>on the table</a:t>
            </a:r>
            <a:r>
              <a:rPr kumimoji="1" lang="en-US" sz="2000" b="1" i="0" u="none" strike="noStrike" kern="0" cap="none" spc="0" normalizeH="0" baseline="0" noProof="0" dirty="0">
                <a:ln>
                  <a:noFill/>
                </a:ln>
                <a:solidFill>
                  <a:srgbClr val="002060"/>
                </a:solidFill>
                <a:effectLst/>
                <a:uLnTx/>
                <a:uFillTx/>
                <a:latin typeface="Helvetica"/>
              </a:rPr>
              <a:t> Department(Parent) first deletes</a:t>
            </a:r>
            <a:r>
              <a:rPr kumimoji="1" lang="en-US" sz="2000" b="1" i="0" u="none" strike="noStrike" kern="0" cap="none" spc="0" normalizeH="0" noProof="0" dirty="0">
                <a:ln>
                  <a:noFill/>
                </a:ln>
                <a:solidFill>
                  <a:srgbClr val="002060"/>
                </a:solidFill>
                <a:effectLst/>
                <a:uLnTx/>
                <a:uFillTx/>
                <a:latin typeface="Helvetica"/>
              </a:rPr>
              <a:t> dependent records in the EMP(child) table automatically. Thus  Delete operation restriction on Foreign key constraint is get resolved automatically.</a:t>
            </a:r>
            <a:endParaRPr kumimoji="1" lang="en-US" sz="2000" b="1" i="0" u="none" strike="noStrike" kern="0" cap="none" spc="0" normalizeH="0" baseline="0" noProof="0" dirty="0">
              <a:ln>
                <a:noFill/>
              </a:ln>
              <a:solidFill>
                <a:srgbClr val="002060"/>
              </a:solidFill>
              <a:effectLst/>
              <a:uLnTx/>
              <a:uFillTx/>
              <a:latin typeface="Helvetica"/>
            </a:endParaRP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25</a:t>
            </a:fld>
            <a:endParaRPr lang="en-US"/>
          </a:p>
        </p:txBody>
      </p:sp>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48AC35E2-00DB-47A2-9CF5-F9F97C9C6AF5}"/>
                  </a:ext>
                </a:extLst>
              </p:cNvPr>
              <p:cNvGraphicFramePr>
                <a:graphicFrameLocks noChangeAspect="1"/>
              </p:cNvGraphicFramePr>
              <p:nvPr>
                <p:extLst>
                  <p:ext uri="{D42A27DB-BD31-4B8C-83A1-F6EECF244321}">
                    <p14:modId xmlns:p14="http://schemas.microsoft.com/office/powerpoint/2010/main" val="1621284271"/>
                  </p:ext>
                </p:extLst>
              </p:nvPr>
            </p:nvGraphicFramePr>
            <p:xfrm>
              <a:off x="10554346" y="2220830"/>
              <a:ext cx="1363708" cy="905557"/>
            </p:xfrm>
            <a:graphic>
              <a:graphicData uri="http://schemas.microsoft.com/office/powerpoint/2016/slidezoom">
                <pslz:sldZm>
                  <pslz:sldZmObj sldId="335" cId="2391385836">
                    <pslz:zmPr id="{208E2B88-E872-4CAE-BBBB-22A737A38EF3}" returnToParent="0" transitionDur="1000">
                      <p166:blipFill xmlns:p166="http://schemas.microsoft.com/office/powerpoint/2016/6/main">
                        <a:blip r:embed="rId4"/>
                        <a:stretch>
                          <a:fillRect/>
                        </a:stretch>
                      </p166:blipFill>
                      <p166:spPr xmlns:p166="http://schemas.microsoft.com/office/powerpoint/2016/6/main">
                        <a:xfrm>
                          <a:off x="0" y="0"/>
                          <a:ext cx="1363708" cy="905557"/>
                        </a:xfrm>
                        <a:prstGeom prst="rect">
                          <a:avLst/>
                        </a:prstGeom>
                        <a:ln w="3175">
                          <a:solidFill>
                            <a:prstClr val="ltGray"/>
                          </a:solidFill>
                        </a:ln>
                      </p166:spPr>
                    </pslz:zmPr>
                  </pslz:sldZmObj>
                </pslz:sldZm>
              </a:graphicData>
            </a:graphic>
          </p:graphicFrame>
        </mc:Choice>
        <mc:Fallback xmlns="">
          <p:pic>
            <p:nvPicPr>
              <p:cNvPr id="7" name="Slide Zoom 6">
                <a:hlinkClick r:id="rId5" action="ppaction://hlinksldjump"/>
                <a:extLst>
                  <a:ext uri="{FF2B5EF4-FFF2-40B4-BE49-F238E27FC236}">
                    <a16:creationId xmlns:a16="http://schemas.microsoft.com/office/drawing/2014/main" id="{48AC35E2-00DB-47A2-9CF5-F9F97C9C6AF5}"/>
                  </a:ext>
                </a:extLst>
              </p:cNvPr>
              <p:cNvPicPr>
                <a:picLocks noGrp="1" noRot="1" noChangeAspect="1" noMove="1" noResize="1" noEditPoints="1" noAdjustHandles="1" noChangeArrowheads="1" noChangeShapeType="1"/>
              </p:cNvPicPr>
              <p:nvPr/>
            </p:nvPicPr>
            <p:blipFill>
              <a:blip r:embed="rId6"/>
              <a:stretch>
                <a:fillRect/>
              </a:stretch>
            </p:blipFill>
            <p:spPr>
              <a:xfrm>
                <a:off x="10554346" y="2220830"/>
                <a:ext cx="1363708" cy="905557"/>
              </a:xfrm>
              <a:prstGeom prst="rect">
                <a:avLst/>
              </a:prstGeom>
              <a:ln w="3175">
                <a:solidFill>
                  <a:prstClr val="ltGray"/>
                </a:solidFill>
              </a:ln>
            </p:spPr>
          </p:pic>
        </mc:Fallback>
      </mc:AlternateContent>
    </p:spTree>
    <p:extLst>
      <p:ext uri="{BB962C8B-B14F-4D97-AF65-F5344CB8AC3E}">
        <p14:creationId xmlns:p14="http://schemas.microsoft.com/office/powerpoint/2010/main" val="27090186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024467" y="206478"/>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..FOREIGN KEY-</a:t>
            </a:r>
            <a:r>
              <a:rPr kumimoji="1" lang="en-US" sz="28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 </a:t>
            </a:r>
            <a:r>
              <a:rPr kumimoji="1" lang="en-US" sz="24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ON DELETE CASCADE</a:t>
            </a:r>
            <a:r>
              <a:rPr kumimoji="1" 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Helvetica"/>
                <a:ea typeface="+mj-ea"/>
                <a:cs typeface="+mj-cs"/>
              </a:rPr>
              <a:t>/</a:t>
            </a:r>
            <a:r>
              <a:rPr kumimoji="1" lang="en-US" sz="24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ON DELETE SET NULL</a:t>
            </a:r>
            <a:endParaRPr kumimoji="1" lang="en-US" sz="28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6" name="Content Placeholder 2"/>
          <p:cNvSpPr txBox="1">
            <a:spLocks/>
          </p:cNvSpPr>
          <p:nvPr/>
        </p:nvSpPr>
        <p:spPr bwMode="auto">
          <a:xfrm>
            <a:off x="752168" y="1150374"/>
            <a:ext cx="11041899" cy="49554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a:lnSpc>
                <a:spcPct val="120000"/>
              </a:lnSpc>
              <a:buClr>
                <a:srgbClr val="C00000"/>
              </a:buClr>
            </a:pPr>
            <a:r>
              <a:rPr lang="en-US" sz="2000" dirty="0"/>
              <a:t>A foreign key with “</a:t>
            </a:r>
            <a:r>
              <a:rPr lang="en-US" sz="2000" b="1" dirty="0">
                <a:solidFill>
                  <a:srgbClr val="C00000"/>
                </a:solidFill>
              </a:rPr>
              <a:t>ON DELETE SET NULL </a:t>
            </a:r>
            <a:r>
              <a:rPr lang="en-US" sz="2000" dirty="0"/>
              <a:t>" means that if a record in the parent table is deleted, then the corresponding records in the child table will have the </a:t>
            </a:r>
            <a:r>
              <a:rPr lang="en-US" sz="2000" b="1" dirty="0"/>
              <a:t>foreign key fields set to null</a:t>
            </a:r>
            <a:r>
              <a:rPr lang="en-US" sz="2000" dirty="0"/>
              <a:t>. The records in the child table will </a:t>
            </a:r>
            <a:r>
              <a:rPr lang="en-US" sz="2000" b="1" dirty="0"/>
              <a:t>not</a:t>
            </a:r>
            <a:r>
              <a:rPr lang="en-US" sz="2000" dirty="0"/>
              <a:t> </a:t>
            </a:r>
            <a:r>
              <a:rPr lang="en-US" sz="2000" dirty="0">
                <a:solidFill>
                  <a:srgbClr val="C00000"/>
                </a:solidFill>
              </a:rPr>
              <a:t>be deleted</a:t>
            </a:r>
            <a:r>
              <a:rPr lang="en-US" sz="2000" dirty="0"/>
              <a:t>.</a:t>
            </a:r>
          </a:p>
          <a:p>
            <a:pPr>
              <a:lnSpc>
                <a:spcPct val="120000"/>
              </a:lnSpc>
              <a:buClr>
                <a:srgbClr val="C00000"/>
              </a:buClr>
            </a:pPr>
            <a:r>
              <a:rPr kumimoji="1" lang="en-US" sz="2000" b="1" i="0" u="none" strike="noStrike" kern="0" cap="none" spc="0" normalizeH="0" baseline="0" noProof="0" dirty="0">
                <a:ln>
                  <a:noFill/>
                </a:ln>
                <a:solidFill>
                  <a:srgbClr val="000000"/>
                </a:solidFill>
                <a:effectLst/>
                <a:uLnTx/>
                <a:uFillTx/>
                <a:latin typeface="Helvetica"/>
              </a:rPr>
              <a:t>Example: </a:t>
            </a:r>
            <a:r>
              <a:rPr lang="en-US" sz="2000" dirty="0"/>
              <a:t>Create tables give in </a:t>
            </a:r>
            <a:r>
              <a:rPr lang="en-US" sz="2000" dirty="0">
                <a:hlinkClick r:id="rId3" action="ppaction://hlinksldjump"/>
              </a:rPr>
              <a:t>slide 18 </a:t>
            </a:r>
            <a:r>
              <a:rPr lang="en-US" sz="2000" dirty="0"/>
              <a:t>with </a:t>
            </a:r>
            <a:r>
              <a:rPr lang="en-US" sz="2000" b="1" dirty="0">
                <a:solidFill>
                  <a:srgbClr val="C00000"/>
                </a:solidFill>
              </a:rPr>
              <a:t>ON DELETE SET NULL </a:t>
            </a:r>
            <a:r>
              <a:rPr lang="en-US" sz="2000" dirty="0"/>
              <a:t>clause along with FOREIGN KEY.</a:t>
            </a:r>
          </a:p>
          <a:p>
            <a:pPr lvl="0">
              <a:buClr>
                <a:srgbClr val="CC3300"/>
              </a:buClr>
              <a:defRPr/>
            </a:pPr>
            <a:r>
              <a:rPr lang="en-US" b="1" kern="0" dirty="0">
                <a:solidFill>
                  <a:srgbClr val="000000"/>
                </a:solidFill>
                <a:latin typeface="Helvetica"/>
              </a:rPr>
              <a:t>Parent(Master) Table</a:t>
            </a:r>
            <a:r>
              <a:rPr lang="en-US" kern="0" dirty="0">
                <a:solidFill>
                  <a:srgbClr val="000000"/>
                </a:solidFill>
                <a:latin typeface="Helvetica"/>
              </a:rPr>
              <a:t>:</a:t>
            </a:r>
          </a:p>
          <a:p>
            <a:pPr lvl="0">
              <a:buClr>
                <a:srgbClr val="CC3300"/>
              </a:buClr>
              <a:defRPr/>
            </a:pPr>
            <a:endParaRPr lang="en-US" sz="200" kern="0" dirty="0">
              <a:solidFill>
                <a:srgbClr val="000000"/>
              </a:solidFill>
              <a:latin typeface="Helvetica"/>
            </a:endParaRPr>
          </a:p>
          <a:p>
            <a:pPr lvl="1">
              <a:buClr>
                <a:srgbClr val="CC3300"/>
              </a:buClr>
              <a:defRPr/>
            </a:pPr>
            <a:r>
              <a:rPr lang="en-US" b="1" kern="0" dirty="0">
                <a:solidFill>
                  <a:srgbClr val="000000"/>
                </a:solidFill>
                <a:latin typeface="Helvetica"/>
              </a:rPr>
              <a:t>CREATE TABLE  Department</a:t>
            </a:r>
            <a:r>
              <a:rPr lang="en-US" sz="2400" b="1" kern="0" dirty="0">
                <a:solidFill>
                  <a:srgbClr val="C00000"/>
                </a:solidFill>
                <a:latin typeface="Helvetica"/>
              </a:rPr>
              <a:t>(</a:t>
            </a:r>
            <a:r>
              <a:rPr lang="en-US" kern="0" dirty="0" err="1">
                <a:latin typeface="Helvetica"/>
              </a:rPr>
              <a:t>Dno</a:t>
            </a:r>
            <a:r>
              <a:rPr lang="en-US" kern="0" dirty="0">
                <a:latin typeface="Helvetica"/>
              </a:rPr>
              <a:t>  varchar(2) PRIMARY KEY, Name varchar(10),Budget Number(9)</a:t>
            </a:r>
            <a:r>
              <a:rPr lang="en-US" sz="2400" b="1" kern="0" dirty="0">
                <a:solidFill>
                  <a:srgbClr val="C00000"/>
                </a:solidFill>
                <a:latin typeface="Helvetica"/>
              </a:rPr>
              <a:t>)</a:t>
            </a:r>
            <a:r>
              <a:rPr lang="en-US" b="1" kern="0" dirty="0">
                <a:solidFill>
                  <a:srgbClr val="000000"/>
                </a:solidFill>
                <a:latin typeface="Helvetica"/>
              </a:rPr>
              <a:t>;</a:t>
            </a:r>
          </a:p>
          <a:p>
            <a:pPr lvl="0">
              <a:buClr>
                <a:srgbClr val="CC3300"/>
              </a:buClr>
              <a:defRPr/>
            </a:pPr>
            <a:endParaRPr lang="en-US" sz="600" kern="0" dirty="0">
              <a:solidFill>
                <a:srgbClr val="000000"/>
              </a:solidFill>
              <a:latin typeface="Helvetica"/>
            </a:endParaRPr>
          </a:p>
          <a:p>
            <a:pPr lvl="0">
              <a:buClr>
                <a:srgbClr val="CC3300"/>
              </a:buClr>
              <a:defRPr/>
            </a:pPr>
            <a:r>
              <a:rPr lang="en-US" b="1" kern="0" dirty="0">
                <a:solidFill>
                  <a:srgbClr val="000000"/>
                </a:solidFill>
                <a:latin typeface="Helvetica"/>
              </a:rPr>
              <a:t>Child(Detail) Table</a:t>
            </a:r>
          </a:p>
          <a:p>
            <a:pPr lvl="1">
              <a:lnSpc>
                <a:spcPct val="120000"/>
              </a:lnSpc>
              <a:buClr>
                <a:srgbClr val="FF9933"/>
              </a:buClr>
            </a:pPr>
            <a:endParaRPr lang="en-US" sz="100" dirty="0"/>
          </a:p>
          <a:p>
            <a:pPr lvl="1">
              <a:lnSpc>
                <a:spcPct val="120000"/>
              </a:lnSpc>
              <a:buClr>
                <a:srgbClr val="FF9933"/>
              </a:buClr>
            </a:pPr>
            <a:r>
              <a:rPr lang="en-US" sz="2000" b="1" kern="0" dirty="0">
                <a:solidFill>
                  <a:srgbClr val="000000"/>
                </a:solidFill>
                <a:latin typeface="Helvetica"/>
              </a:rPr>
              <a:t>CREATE TABLE  Emp</a:t>
            </a:r>
            <a:r>
              <a:rPr lang="en-US" sz="2400" b="1" kern="0" dirty="0">
                <a:solidFill>
                  <a:srgbClr val="C00000"/>
                </a:solidFill>
                <a:latin typeface="Helvetica"/>
              </a:rPr>
              <a:t>(</a:t>
            </a:r>
            <a:r>
              <a:rPr lang="en-US" sz="2000" b="1" kern="0" dirty="0">
                <a:solidFill>
                  <a:srgbClr val="C00000"/>
                </a:solidFill>
                <a:latin typeface="Helvetica"/>
              </a:rPr>
              <a:t> </a:t>
            </a:r>
            <a:r>
              <a:rPr lang="en-US" sz="2000" kern="0" dirty="0">
                <a:solidFill>
                  <a:srgbClr val="000000"/>
                </a:solidFill>
                <a:latin typeface="Helvetica"/>
              </a:rPr>
              <a:t>Empno number(3) PRIMARY KEY, Name varchar(10), </a:t>
            </a:r>
            <a:r>
              <a:rPr lang="en-US" sz="2000" kern="0" dirty="0" err="1">
                <a:solidFill>
                  <a:srgbClr val="000000"/>
                </a:solidFill>
                <a:latin typeface="Helvetica"/>
              </a:rPr>
              <a:t>Deptno</a:t>
            </a:r>
            <a:r>
              <a:rPr lang="en-US" sz="2000" kern="0" dirty="0">
                <a:solidFill>
                  <a:srgbClr val="000000"/>
                </a:solidFill>
                <a:latin typeface="Helvetica"/>
              </a:rPr>
              <a:t> varchar(2) </a:t>
            </a:r>
            <a:r>
              <a:rPr lang="en-US" sz="2000" b="1" kern="0" dirty="0">
                <a:solidFill>
                  <a:srgbClr val="C00000"/>
                </a:solidFill>
                <a:latin typeface="Helvetica"/>
              </a:rPr>
              <a:t>REFERENCES</a:t>
            </a:r>
            <a:r>
              <a:rPr lang="en-US" sz="2000" b="1" kern="0" dirty="0">
                <a:solidFill>
                  <a:srgbClr val="000000"/>
                </a:solidFill>
                <a:latin typeface="Helvetica"/>
              </a:rPr>
              <a:t> Department </a:t>
            </a:r>
            <a:r>
              <a:rPr lang="en-US" sz="2000" b="1" dirty="0">
                <a:solidFill>
                  <a:srgbClr val="C00000"/>
                </a:solidFill>
              </a:rPr>
              <a:t>ON DELETE SET NULL </a:t>
            </a:r>
            <a:r>
              <a:rPr lang="en-US" sz="2400" b="1" kern="0" dirty="0">
                <a:solidFill>
                  <a:srgbClr val="C00000"/>
                </a:solidFill>
                <a:latin typeface="Helvetica"/>
              </a:rPr>
              <a:t>)</a:t>
            </a:r>
            <a:r>
              <a:rPr lang="en-US" sz="2000" b="1" kern="0" dirty="0">
                <a:solidFill>
                  <a:srgbClr val="000000"/>
                </a:solidFill>
                <a:latin typeface="Helvetica"/>
              </a:rPr>
              <a:t>;</a:t>
            </a:r>
          </a:p>
          <a:p>
            <a:pPr lvl="1">
              <a:lnSpc>
                <a:spcPct val="120000"/>
              </a:lnSpc>
              <a:buClr>
                <a:srgbClr val="FF9933"/>
              </a:buClr>
            </a:pPr>
            <a:endParaRPr lang="en-US" sz="100" dirty="0"/>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26</a:t>
            </a:fld>
            <a:endParaRPr lang="en-US"/>
          </a:p>
        </p:txBody>
      </p:sp>
      <mc:AlternateContent xmlns:mc="http://schemas.openxmlformats.org/markup-compatibility/2006" xmlns:pslz="http://schemas.microsoft.com/office/powerpoint/2016/slidezoom">
        <mc:Choice Requires="pslz">
          <p:graphicFrame>
            <p:nvGraphicFramePr>
              <p:cNvPr id="7" name="Slide Zoom 6">
                <a:extLst>
                  <a:ext uri="{FF2B5EF4-FFF2-40B4-BE49-F238E27FC236}">
                    <a16:creationId xmlns:a16="http://schemas.microsoft.com/office/drawing/2014/main" id="{04115CED-84E7-4FF6-9E40-410265524BD0}"/>
                  </a:ext>
                </a:extLst>
              </p:cNvPr>
              <p:cNvGraphicFramePr>
                <a:graphicFrameLocks noChangeAspect="1"/>
              </p:cNvGraphicFramePr>
              <p:nvPr>
                <p:extLst>
                  <p:ext uri="{D42A27DB-BD31-4B8C-83A1-F6EECF244321}">
                    <p14:modId xmlns:p14="http://schemas.microsoft.com/office/powerpoint/2010/main" val="3868598905"/>
                  </p:ext>
                </p:extLst>
              </p:nvPr>
            </p:nvGraphicFramePr>
            <p:xfrm>
              <a:off x="8974667" y="5006975"/>
              <a:ext cx="3048000" cy="1714500"/>
            </p:xfrm>
            <a:graphic>
              <a:graphicData uri="http://schemas.microsoft.com/office/powerpoint/2016/slidezoom">
                <pslz:sldZm>
                  <pslz:sldZmObj sldId="335" cId="2391385836">
                    <pslz:zmPr id="{6D199977-7BBF-4A59-A63E-6B6E8663BA20}" returnToParent="0" transitionDur="1000">
                      <p166:blipFill xmlns:p166="http://schemas.microsoft.com/office/powerpoint/2016/6/main">
                        <a:blip r:embed="rId4"/>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7" name="Slide Zoom 6">
                <a:hlinkClick r:id="rId5" action="ppaction://hlinksldjump"/>
                <a:extLst>
                  <a:ext uri="{FF2B5EF4-FFF2-40B4-BE49-F238E27FC236}">
                    <a16:creationId xmlns:a16="http://schemas.microsoft.com/office/drawing/2014/main" id="{04115CED-84E7-4FF6-9E40-410265524BD0}"/>
                  </a:ext>
                </a:extLst>
              </p:cNvPr>
              <p:cNvPicPr>
                <a:picLocks noGrp="1" noRot="1" noChangeAspect="1" noMove="1" noResize="1" noEditPoints="1" noAdjustHandles="1" noChangeArrowheads="1" noChangeShapeType="1"/>
              </p:cNvPicPr>
              <p:nvPr/>
            </p:nvPicPr>
            <p:blipFill>
              <a:blip r:embed="rId6"/>
              <a:stretch>
                <a:fillRect/>
              </a:stretch>
            </p:blipFill>
            <p:spPr>
              <a:xfrm>
                <a:off x="8974667" y="5006975"/>
                <a:ext cx="3048000" cy="1714500"/>
              </a:xfrm>
              <a:prstGeom prst="rect">
                <a:avLst/>
              </a:prstGeom>
              <a:ln w="3175">
                <a:solidFill>
                  <a:prstClr val="ltGray"/>
                </a:solidFill>
              </a:ln>
            </p:spPr>
          </p:pic>
        </mc:Fallback>
      </mc:AlternateContent>
    </p:spTree>
    <p:extLst>
      <p:ext uri="{BB962C8B-B14F-4D97-AF65-F5344CB8AC3E}">
        <p14:creationId xmlns:p14="http://schemas.microsoft.com/office/powerpoint/2010/main" val="2757704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89098" y="1406627"/>
            <a:ext cx="10213804" cy="4351338"/>
          </a:xfrm>
        </p:spPr>
        <p:txBody>
          <a:bodyPr>
            <a:normAutofit/>
          </a:bodyPr>
          <a:lstStyle/>
          <a:p>
            <a:pPr marL="457200" lvl="1" indent="0" algn="ctr">
              <a:lnSpc>
                <a:spcPct val="150000"/>
              </a:lnSpc>
              <a:spcBef>
                <a:spcPts val="600"/>
              </a:spcBef>
              <a:buClr>
                <a:srgbClr val="FF9933"/>
              </a:buClr>
              <a:buNone/>
            </a:pPr>
            <a:r>
              <a:rPr kumimoji="1" lang="en-US" sz="2100" b="1" i="0" u="none" strike="noStrike" kern="0" cap="none" spc="0" normalizeH="0" baseline="0" noProof="0" dirty="0">
                <a:ln>
                  <a:noFill/>
                </a:ln>
                <a:solidFill>
                  <a:srgbClr val="002060"/>
                </a:solidFill>
                <a:effectLst/>
                <a:uLnTx/>
                <a:uFillTx/>
                <a:latin typeface="Helvetica"/>
              </a:rPr>
              <a:t>When a record is  deleted from</a:t>
            </a:r>
            <a:r>
              <a:rPr kumimoji="0" lang="en-US" sz="2100" b="1" i="0" u="none" strike="noStrike" kern="0" cap="none" spc="0" normalizeH="0" baseline="0" noProof="0" dirty="0">
                <a:ln>
                  <a:noFill/>
                </a:ln>
                <a:solidFill>
                  <a:srgbClr val="002060"/>
                </a:solidFill>
                <a:effectLst/>
                <a:uLnTx/>
                <a:uFillTx/>
                <a:latin typeface="Helvetica"/>
              </a:rPr>
              <a:t> </a:t>
            </a:r>
            <a:r>
              <a:rPr kumimoji="1" lang="en-US" sz="2100" b="1" i="0" u="none" strike="noStrike" kern="0" cap="none" spc="0" normalizeH="0" baseline="0" noProof="0" dirty="0">
                <a:ln>
                  <a:noFill/>
                </a:ln>
                <a:solidFill>
                  <a:srgbClr val="002060"/>
                </a:solidFill>
                <a:effectLst/>
                <a:uLnTx/>
                <a:uFillTx/>
                <a:latin typeface="Helvetica"/>
              </a:rPr>
              <a:t>Department(Parent) table it will not delete dependent records in the EMP(child) table instead puts </a:t>
            </a:r>
            <a:r>
              <a:rPr kumimoji="1" lang="en-US" sz="2100" b="1" i="0" u="none" strike="noStrike" kern="0" cap="none" spc="0" normalizeH="0" baseline="0" noProof="0" dirty="0">
                <a:ln>
                  <a:noFill/>
                </a:ln>
                <a:solidFill>
                  <a:srgbClr val="C00000"/>
                </a:solidFill>
                <a:effectLst/>
                <a:uLnTx/>
                <a:uFillTx/>
                <a:latin typeface="Helvetica"/>
              </a:rPr>
              <a:t>NULL</a:t>
            </a:r>
            <a:r>
              <a:rPr kumimoji="1" lang="en-US" sz="2100" b="1" i="0" u="none" strike="noStrike" kern="0" cap="none" spc="0" normalizeH="0" baseline="0" noProof="0" dirty="0">
                <a:ln>
                  <a:noFill/>
                </a:ln>
                <a:solidFill>
                  <a:srgbClr val="002060"/>
                </a:solidFill>
                <a:effectLst/>
                <a:uLnTx/>
                <a:uFillTx/>
                <a:latin typeface="Helvetica"/>
              </a:rPr>
              <a:t> values to corresponding foreign key column/s. Thus removes dependency of corresponding records in the child table on table records being deleted in the Parent table.</a:t>
            </a:r>
          </a:p>
          <a:p>
            <a:pPr marL="457200" lvl="1" indent="0" algn="ctr">
              <a:lnSpc>
                <a:spcPct val="150000"/>
              </a:lnSpc>
              <a:spcBef>
                <a:spcPts val="600"/>
              </a:spcBef>
              <a:buClr>
                <a:srgbClr val="FF9933"/>
              </a:buClr>
              <a:buNone/>
            </a:pPr>
            <a:r>
              <a:rPr kumimoji="1" lang="en-US" sz="2100" b="1" i="0" u="none" strike="noStrike" kern="0" cap="none" spc="0" normalizeH="0" baseline="0" noProof="0" dirty="0">
                <a:ln>
                  <a:noFill/>
                </a:ln>
                <a:solidFill>
                  <a:srgbClr val="002060"/>
                </a:solidFill>
                <a:effectLst/>
                <a:uLnTx/>
                <a:uFillTx/>
                <a:latin typeface="Helvetica"/>
              </a:rPr>
              <a:t> Thus Delete operation restriction on Foreign key is get resolved automatically.</a:t>
            </a:r>
          </a:p>
          <a:p>
            <a:pPr>
              <a:lnSpc>
                <a:spcPct val="150000"/>
              </a:lnSpc>
            </a:pPr>
            <a:endParaRPr lang="en-US" sz="2100" dirty="0"/>
          </a:p>
        </p:txBody>
      </p:sp>
      <p:sp>
        <p:nvSpPr>
          <p:cNvPr id="4" name="Title 1"/>
          <p:cNvSpPr txBox="1">
            <a:spLocks/>
          </p:cNvSpPr>
          <p:nvPr/>
        </p:nvSpPr>
        <p:spPr bwMode="auto">
          <a:xfrm>
            <a:off x="1024467" y="206478"/>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..FOREIGN KEY-</a:t>
            </a:r>
            <a:r>
              <a:rPr kumimoji="1" lang="en-US" sz="28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 </a:t>
            </a:r>
            <a:r>
              <a:rPr kumimoji="1" lang="en-US" sz="24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ON DELETE CASCADE</a:t>
            </a:r>
            <a:r>
              <a:rPr kumimoji="1" lang="en-US" sz="2800" b="0" i="0" u="none" strike="noStrike" kern="0" cap="none" spc="0" normalizeH="0" baseline="0" noProof="0" dirty="0">
                <a:ln>
                  <a:noFill/>
                </a:ln>
                <a:solidFill>
                  <a:schemeClr val="tx1"/>
                </a:solidFill>
                <a:effectLst>
                  <a:outerShdw blurRad="38100" dist="38100" dir="2700000" algn="tl">
                    <a:srgbClr val="C0C0C0"/>
                  </a:outerShdw>
                </a:effectLst>
                <a:uLnTx/>
                <a:uFillTx/>
                <a:latin typeface="Helvetica"/>
                <a:ea typeface="+mj-ea"/>
                <a:cs typeface="+mj-cs"/>
              </a:rPr>
              <a:t>/</a:t>
            </a:r>
            <a:r>
              <a:rPr kumimoji="1" lang="en-US" sz="24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ON DELETE SET NULL</a:t>
            </a:r>
            <a:endParaRPr kumimoji="1" lang="en-US" sz="28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2" name="Footer Placeholder 1"/>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27</a:t>
            </a:fld>
            <a:endParaRPr lang="en-US"/>
          </a:p>
        </p:txBody>
      </p:sp>
    </p:spTree>
    <p:extLst>
      <p:ext uri="{BB962C8B-B14F-4D97-AF65-F5344CB8AC3E}">
        <p14:creationId xmlns:p14="http://schemas.microsoft.com/office/powerpoint/2010/main" val="41062078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..FOREIGN KEY - </a:t>
            </a:r>
            <a:r>
              <a:rPr kumimoji="1" lang="en-US" sz="2400" b="0"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 Recursive Relationship</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pic>
        <p:nvPicPr>
          <p:cNvPr id="3" name="Picture 2"/>
          <p:cNvPicPr>
            <a:picLocks noChangeAspect="1"/>
          </p:cNvPicPr>
          <p:nvPr/>
        </p:nvPicPr>
        <p:blipFill>
          <a:blip r:embed="rId3"/>
          <a:stretch>
            <a:fillRect/>
          </a:stretch>
        </p:blipFill>
        <p:spPr>
          <a:xfrm>
            <a:off x="603225" y="1660354"/>
            <a:ext cx="3257394" cy="3065344"/>
          </a:xfrm>
          <a:prstGeom prst="rect">
            <a:avLst/>
          </a:prstGeom>
        </p:spPr>
      </p:pic>
      <p:sp>
        <p:nvSpPr>
          <p:cNvPr id="4" name="Freeform 3"/>
          <p:cNvSpPr/>
          <p:nvPr/>
        </p:nvSpPr>
        <p:spPr bwMode="auto">
          <a:xfrm>
            <a:off x="1489587" y="1268298"/>
            <a:ext cx="2020529" cy="678489"/>
          </a:xfrm>
          <a:custGeom>
            <a:avLst/>
            <a:gdLst>
              <a:gd name="connsiteX0" fmla="*/ 2020529 w 2020529"/>
              <a:gd name="connsiteY0" fmla="*/ 678489 h 678489"/>
              <a:gd name="connsiteX1" fmla="*/ 825910 w 2020529"/>
              <a:gd name="connsiteY1" fmla="*/ 63 h 678489"/>
              <a:gd name="connsiteX2" fmla="*/ 0 w 2020529"/>
              <a:gd name="connsiteY2" fmla="*/ 634244 h 678489"/>
              <a:gd name="connsiteX3" fmla="*/ 0 w 2020529"/>
              <a:gd name="connsiteY3" fmla="*/ 634244 h 678489"/>
            </a:gdLst>
            <a:ahLst/>
            <a:cxnLst>
              <a:cxn ang="0">
                <a:pos x="connsiteX0" y="connsiteY0"/>
              </a:cxn>
              <a:cxn ang="0">
                <a:pos x="connsiteX1" y="connsiteY1"/>
              </a:cxn>
              <a:cxn ang="0">
                <a:pos x="connsiteX2" y="connsiteY2"/>
              </a:cxn>
              <a:cxn ang="0">
                <a:pos x="connsiteX3" y="connsiteY3"/>
              </a:cxn>
            </a:cxnLst>
            <a:rect l="l" t="t" r="r" b="b"/>
            <a:pathLst>
              <a:path w="2020529" h="678489">
                <a:moveTo>
                  <a:pt x="2020529" y="678489"/>
                </a:moveTo>
                <a:cubicBezTo>
                  <a:pt x="1591597" y="342963"/>
                  <a:pt x="1162665" y="7437"/>
                  <a:pt x="825910" y="63"/>
                </a:cubicBezTo>
                <a:cubicBezTo>
                  <a:pt x="489155" y="-7311"/>
                  <a:pt x="0" y="634244"/>
                  <a:pt x="0" y="634244"/>
                </a:cubicBezTo>
                <a:lnTo>
                  <a:pt x="0" y="634244"/>
                </a:lnTo>
              </a:path>
            </a:pathLst>
          </a:custGeom>
          <a:noFill/>
          <a:ln w="25400" cap="flat" cmpd="sng" algn="ctr">
            <a:solidFill>
              <a:srgbClr val="CC3300">
                <a:lumMod val="75000"/>
              </a:srgbClr>
            </a:solidFill>
            <a:prstDash val="solid"/>
            <a:round/>
            <a:headEnd type="none" w="med" len="med"/>
            <a:tailEnd type="arrow" w="med" len="med"/>
          </a:ln>
          <a:effectLst/>
        </p:spPr>
        <p:txBody>
          <a:bodyPr vert="horz" wrap="none" lIns="91440" tIns="45720" rIns="91440" bIns="45720" numCol="1" rtlCol="0" anchor="t" anchorCtr="0" compatLnSpc="1">
            <a:prstTxWarp prst="textNoShape">
              <a:avLst/>
            </a:prstTxWarp>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Helvetica" charset="0"/>
            </a:endParaRPr>
          </a:p>
        </p:txBody>
      </p:sp>
      <p:sp>
        <p:nvSpPr>
          <p:cNvPr id="5" name="Rectangle 4"/>
          <p:cNvSpPr/>
          <p:nvPr/>
        </p:nvSpPr>
        <p:spPr>
          <a:xfrm>
            <a:off x="4396478" y="1533470"/>
            <a:ext cx="7090672" cy="4016484"/>
          </a:xfrm>
          <a:prstGeom prst="rect">
            <a:avLst/>
          </a:prstGeom>
        </p:spPr>
        <p:txBody>
          <a:bodyPr wrap="square">
            <a:spAutoFit/>
          </a:bodyPr>
          <a:lstStyle/>
          <a:p>
            <a:pPr>
              <a:lnSpc>
                <a:spcPct val="150000"/>
              </a:lnSpc>
            </a:pPr>
            <a:r>
              <a:rPr lang="en-US" b="1" dirty="0">
                <a:solidFill>
                  <a:srgbClr val="000000"/>
                </a:solidFill>
                <a:latin typeface="Tahoma" panose="020B0604030504040204" pitchFamily="34" charset="0"/>
              </a:rPr>
              <a:t>Example:</a:t>
            </a:r>
          </a:p>
          <a:p>
            <a:pPr>
              <a:lnSpc>
                <a:spcPct val="150000"/>
              </a:lnSpc>
            </a:pPr>
            <a:r>
              <a:rPr lang="en-US" sz="2000" dirty="0">
                <a:solidFill>
                  <a:srgbClr val="000000"/>
                </a:solidFill>
                <a:latin typeface="Tahoma" panose="020B0604030504040204" pitchFamily="34" charset="0"/>
              </a:rPr>
              <a:t>CREATE TABLE EMP(Empno number(3) PRIMARY KEY, Ename Varchar2(10), MGRNO number(3))</a:t>
            </a:r>
            <a:r>
              <a:rPr lang="en-US" sz="2000" b="1" dirty="0">
                <a:solidFill>
                  <a:srgbClr val="000000"/>
                </a:solidFill>
                <a:latin typeface="Tahoma" panose="020B0604030504040204" pitchFamily="34" charset="0"/>
              </a:rPr>
              <a:t>;</a:t>
            </a:r>
            <a:r>
              <a:rPr lang="en-US" sz="2000" dirty="0">
                <a:solidFill>
                  <a:srgbClr val="000000"/>
                </a:solidFill>
                <a:latin typeface="Tahoma" panose="020B0604030504040204" pitchFamily="34" charset="0"/>
              </a:rPr>
              <a:t> </a:t>
            </a:r>
          </a:p>
          <a:p>
            <a:pPr>
              <a:lnSpc>
                <a:spcPct val="150000"/>
              </a:lnSpc>
            </a:pPr>
            <a:endParaRPr lang="en-US" dirty="0">
              <a:solidFill>
                <a:srgbClr val="000000"/>
              </a:solidFill>
              <a:latin typeface="Tahoma" panose="020B0604030504040204" pitchFamily="34" charset="0"/>
            </a:endParaRPr>
          </a:p>
          <a:p>
            <a:pPr>
              <a:lnSpc>
                <a:spcPct val="150000"/>
              </a:lnSpc>
            </a:pPr>
            <a:r>
              <a:rPr lang="en-US" dirty="0">
                <a:solidFill>
                  <a:srgbClr val="000000"/>
                </a:solidFill>
                <a:latin typeface="Tahoma" panose="020B0604030504040204" pitchFamily="34" charset="0"/>
              </a:rPr>
              <a:t>Note: Referential Integrity constraint on MGR_NO can be defined using </a:t>
            </a:r>
            <a:r>
              <a:rPr lang="en-US" b="1" dirty="0">
                <a:solidFill>
                  <a:srgbClr val="000000"/>
                </a:solidFill>
                <a:latin typeface="Tahoma" panose="020B0604030504040204" pitchFamily="34" charset="0"/>
              </a:rPr>
              <a:t>Alter Table </a:t>
            </a:r>
            <a:r>
              <a:rPr lang="en-US" dirty="0">
                <a:solidFill>
                  <a:srgbClr val="000000"/>
                </a:solidFill>
                <a:latin typeface="Tahoma" panose="020B0604030504040204" pitchFamily="34" charset="0"/>
              </a:rPr>
              <a:t>command </a:t>
            </a:r>
            <a:r>
              <a:rPr lang="en-US" b="1" dirty="0">
                <a:solidFill>
                  <a:srgbClr val="000000"/>
                </a:solidFill>
                <a:latin typeface="Tahoma" panose="020B0604030504040204" pitchFamily="34" charset="0"/>
              </a:rPr>
              <a:t>after creating EMP table </a:t>
            </a:r>
          </a:p>
          <a:p>
            <a:pPr>
              <a:lnSpc>
                <a:spcPct val="150000"/>
              </a:lnSpc>
            </a:pPr>
            <a:r>
              <a:rPr lang="en-US" b="1" dirty="0">
                <a:solidFill>
                  <a:srgbClr val="000000"/>
                </a:solidFill>
                <a:latin typeface="Tahoma" panose="020B0604030504040204" pitchFamily="34" charset="0"/>
              </a:rPr>
              <a:t>		</a:t>
            </a:r>
            <a:r>
              <a:rPr lang="en-US" b="1" dirty="0">
                <a:solidFill>
                  <a:srgbClr val="C00000"/>
                </a:solidFill>
                <a:latin typeface="Tahoma" panose="020B0604030504040204" pitchFamily="34" charset="0"/>
              </a:rPr>
              <a:t>OR</a:t>
            </a:r>
          </a:p>
          <a:p>
            <a:pPr>
              <a:lnSpc>
                <a:spcPct val="150000"/>
              </a:lnSpc>
            </a:pPr>
            <a:r>
              <a:rPr lang="en-US" sz="2000" dirty="0">
                <a:solidFill>
                  <a:srgbClr val="000000"/>
                </a:solidFill>
                <a:latin typeface="Tahoma" panose="020B0604030504040204" pitchFamily="34" charset="0"/>
              </a:rPr>
              <a:t>CREATE TABLE EMP(Empno number(3) PRIMARY KEY, Ename Varchar2(10), MGRNO number(3) </a:t>
            </a:r>
            <a:r>
              <a:rPr lang="en-US" sz="2000" dirty="0">
                <a:solidFill>
                  <a:srgbClr val="C00000"/>
                </a:solidFill>
                <a:latin typeface="Tahoma" panose="020B0604030504040204" pitchFamily="34" charset="0"/>
              </a:rPr>
              <a:t>REFERENCES EMP</a:t>
            </a:r>
            <a:r>
              <a:rPr lang="en-US" sz="2000" dirty="0">
                <a:solidFill>
                  <a:srgbClr val="000000"/>
                </a:solidFill>
                <a:latin typeface="Tahoma" panose="020B0604030504040204" pitchFamily="34" charset="0"/>
              </a:rPr>
              <a:t>); </a:t>
            </a:r>
          </a:p>
        </p:txBody>
      </p:sp>
      <p:sp>
        <p:nvSpPr>
          <p:cNvPr id="6" name="Footer Placeholder 5"/>
          <p:cNvSpPr>
            <a:spLocks noGrp="1"/>
          </p:cNvSpPr>
          <p:nvPr>
            <p:ph type="ftr" sz="quarter" idx="11"/>
          </p:nvPr>
        </p:nvSpPr>
        <p:spPr/>
        <p:txBody>
          <a:bodyPr/>
          <a:lstStyle/>
          <a:p>
            <a:r>
              <a:rPr lang="en-US"/>
              <a:t>SQL</a:t>
            </a:r>
          </a:p>
        </p:txBody>
      </p:sp>
      <p:sp>
        <p:nvSpPr>
          <p:cNvPr id="7" name="Slide Number Placeholder 6"/>
          <p:cNvSpPr>
            <a:spLocks noGrp="1"/>
          </p:cNvSpPr>
          <p:nvPr>
            <p:ph type="sldNum" sz="quarter" idx="12"/>
          </p:nvPr>
        </p:nvSpPr>
        <p:spPr/>
        <p:txBody>
          <a:bodyPr/>
          <a:lstStyle/>
          <a:p>
            <a:fld id="{03576695-DB63-4967-AFBB-46E84EF49106}" type="slidenum">
              <a:rPr lang="en-US" smtClean="0"/>
              <a:t>28</a:t>
            </a:fld>
            <a:endParaRPr lang="en-US"/>
          </a:p>
        </p:txBody>
      </p:sp>
    </p:spTree>
    <p:extLst>
      <p:ext uri="{BB962C8B-B14F-4D97-AF65-F5344CB8AC3E}">
        <p14:creationId xmlns:p14="http://schemas.microsoft.com/office/powerpoint/2010/main" val="1095238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UNIQUE</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5" name="Content Placeholder 2"/>
          <p:cNvSpPr txBox="1">
            <a:spLocks/>
          </p:cNvSpPr>
          <p:nvPr/>
        </p:nvSpPr>
        <p:spPr bwMode="auto">
          <a:xfrm>
            <a:off x="1024467" y="877658"/>
            <a:ext cx="10215033"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altLang="en-US" sz="2400" b="1" i="0" u="none" strike="noStrike" kern="0" cap="none" spc="0" normalizeH="0" baseline="0" noProof="0" dirty="0">
                <a:ln>
                  <a:noFill/>
                </a:ln>
                <a:solidFill>
                  <a:srgbClr val="000000"/>
                </a:solidFill>
                <a:effectLst/>
                <a:uLnTx/>
                <a:uFillTx/>
                <a:latin typeface="Helvetica"/>
                <a:ea typeface="+mn-ea"/>
                <a:cs typeface="+mn-cs"/>
              </a:rPr>
              <a:t>unique</a:t>
            </a:r>
            <a:r>
              <a:rPr kumimoji="0" lang="en-US" altLang="en-US" sz="2400" b="0" i="0" u="none" strike="noStrike" kern="0" cap="none" spc="0" normalizeH="0" baseline="0" noProof="0" dirty="0">
                <a:ln>
                  <a:noFill/>
                </a:ln>
                <a:solidFill>
                  <a:srgbClr val="000000"/>
                </a:solidFill>
                <a:effectLst/>
                <a:uLnTx/>
                <a:uFillTx/>
                <a:latin typeface="Helvetica"/>
                <a:ea typeface="+mn-ea"/>
                <a:cs typeface="+mn-cs"/>
              </a:rPr>
              <a:t> ( </a:t>
            </a:r>
            <a:r>
              <a:rPr kumimoji="0" lang="en-US" altLang="en-US" sz="2400" b="0" i="1" u="none" strike="noStrike" kern="0" cap="none" spc="0" normalizeH="0" baseline="0" noProof="0" dirty="0">
                <a:ln>
                  <a:noFill/>
                </a:ln>
                <a:solidFill>
                  <a:srgbClr val="000000"/>
                </a:solidFill>
                <a:effectLst/>
                <a:uLnTx/>
                <a:uFillTx/>
                <a:latin typeface="Helvetica"/>
                <a:ea typeface="+mn-ea"/>
                <a:cs typeface="+mn-cs"/>
              </a:rPr>
              <a:t>A</a:t>
            </a:r>
            <a:r>
              <a:rPr kumimoji="0" lang="en-US" altLang="en-US" sz="3200" b="0" i="0" u="none" strike="noStrike" kern="0" cap="none" spc="0" normalizeH="0" baseline="-25000" noProof="0" dirty="0">
                <a:ln>
                  <a:noFill/>
                </a:ln>
                <a:solidFill>
                  <a:srgbClr val="000000"/>
                </a:solidFill>
                <a:effectLst/>
                <a:uLnTx/>
                <a:uFillTx/>
                <a:latin typeface="Helvetica"/>
                <a:ea typeface="+mn-ea"/>
                <a:cs typeface="+mn-cs"/>
              </a:rPr>
              <a:t>1</a:t>
            </a:r>
            <a:r>
              <a:rPr kumimoji="0" lang="en-US" altLang="en-US" sz="2400" b="0" i="0" u="none" strike="noStrike" kern="0" cap="none" spc="0" normalizeH="0" baseline="0" noProof="0" dirty="0">
                <a:ln>
                  <a:noFill/>
                </a:ln>
                <a:solidFill>
                  <a:srgbClr val="000000"/>
                </a:solidFill>
                <a:effectLst/>
                <a:uLnTx/>
                <a:uFillTx/>
                <a:latin typeface="Helvetica"/>
                <a:ea typeface="+mn-ea"/>
                <a:cs typeface="+mn-cs"/>
              </a:rPr>
              <a:t>, </a:t>
            </a:r>
            <a:r>
              <a:rPr kumimoji="0" lang="en-US" altLang="en-US" sz="2400" b="0" i="1" u="none" strike="noStrike" kern="0" cap="none" spc="0" normalizeH="0" baseline="0" noProof="0" dirty="0">
                <a:ln>
                  <a:noFill/>
                </a:ln>
                <a:solidFill>
                  <a:srgbClr val="000000"/>
                </a:solidFill>
                <a:effectLst/>
                <a:uLnTx/>
                <a:uFillTx/>
                <a:latin typeface="Helvetica"/>
                <a:ea typeface="+mn-ea"/>
                <a:cs typeface="+mn-cs"/>
              </a:rPr>
              <a:t>A</a:t>
            </a:r>
            <a:r>
              <a:rPr kumimoji="0" lang="en-US" altLang="en-US" sz="2800" b="0" i="0" u="none" strike="noStrike" kern="0" cap="none" spc="0" normalizeH="0" baseline="-25000" noProof="0" dirty="0">
                <a:ln>
                  <a:noFill/>
                </a:ln>
                <a:solidFill>
                  <a:srgbClr val="000000"/>
                </a:solidFill>
                <a:effectLst/>
                <a:uLnTx/>
                <a:uFillTx/>
                <a:latin typeface="Helvetica"/>
                <a:ea typeface="+mn-ea"/>
                <a:cs typeface="+mn-cs"/>
              </a:rPr>
              <a:t>2</a:t>
            </a:r>
            <a:r>
              <a:rPr kumimoji="0" lang="en-US" altLang="en-US" sz="2400" b="0" i="0" u="none" strike="noStrike" kern="0" cap="none" spc="0" normalizeH="0" baseline="0" noProof="0" dirty="0">
                <a:ln>
                  <a:noFill/>
                </a:ln>
                <a:solidFill>
                  <a:srgbClr val="000000"/>
                </a:solidFill>
                <a:effectLst/>
                <a:uLnTx/>
                <a:uFillTx/>
                <a:latin typeface="Helvetica"/>
                <a:ea typeface="+mn-ea"/>
                <a:cs typeface="+mn-cs"/>
              </a:rPr>
              <a:t>, …, </a:t>
            </a:r>
            <a:r>
              <a:rPr kumimoji="0" lang="en-US" altLang="en-US" sz="2400" b="0" i="1" u="none" strike="noStrike" kern="0" cap="none" spc="0" normalizeH="0" baseline="0" noProof="0" dirty="0">
                <a:ln>
                  <a:noFill/>
                </a:ln>
                <a:solidFill>
                  <a:srgbClr val="000000"/>
                </a:solidFill>
                <a:effectLst/>
                <a:uLnTx/>
                <a:uFillTx/>
                <a:latin typeface="Helvetica"/>
                <a:ea typeface="+mn-ea"/>
                <a:cs typeface="+mn-cs"/>
              </a:rPr>
              <a:t>A</a:t>
            </a:r>
            <a:r>
              <a:rPr kumimoji="0" lang="en-US" altLang="en-US" sz="2800" b="0" i="0" u="none" strike="noStrike" kern="0" cap="none" spc="0" normalizeH="0" baseline="-25000" noProof="0" dirty="0">
                <a:ln>
                  <a:noFill/>
                </a:ln>
                <a:solidFill>
                  <a:srgbClr val="000000"/>
                </a:solidFill>
                <a:effectLst/>
                <a:uLnTx/>
                <a:uFillTx/>
                <a:latin typeface="Helvetica"/>
                <a:ea typeface="+mn-ea"/>
                <a:cs typeface="+mn-cs"/>
              </a:rPr>
              <a:t>m</a:t>
            </a:r>
            <a:r>
              <a:rPr kumimoji="0" lang="en-US" altLang="en-US" sz="2400" b="0" i="0" u="none" strike="noStrike" kern="0" cap="none" spc="0" normalizeH="0" baseline="0" noProof="0" dirty="0">
                <a:ln>
                  <a:noFill/>
                </a:ln>
                <a:solidFill>
                  <a:srgbClr val="000000"/>
                </a:solidFill>
                <a:effectLst/>
                <a:uLnTx/>
                <a:uFillTx/>
                <a:latin typeface="Helvetica"/>
                <a:ea typeface="+mn-ea"/>
                <a:cs typeface="+mn-cs"/>
              </a:rPr>
              <a:t>)</a:t>
            </a:r>
            <a:endParaRPr kumimoji="0" lang="en-US" altLang="en-US" sz="2000" b="0" i="0" u="none" strike="noStrike" kern="0" cap="none" spc="0" normalizeH="0" baseline="0" noProof="0" dirty="0">
              <a:ln>
                <a:noFill/>
              </a:ln>
              <a:solidFill>
                <a:srgbClr val="000000"/>
              </a:solidFill>
              <a:effectLst/>
              <a:uLnTx/>
              <a:uFillTx/>
              <a:latin typeface="Helvetica"/>
              <a:ea typeface="+mn-ea"/>
              <a:cs typeface="+mn-cs"/>
            </a:endParaRP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0" lang="en-US" altLang="en-US" sz="2000" b="0" i="0" u="none" strike="noStrike" kern="0" cap="none" spc="0" normalizeH="0" baseline="0" noProof="0" dirty="0">
                <a:ln>
                  <a:noFill/>
                </a:ln>
                <a:solidFill>
                  <a:srgbClr val="000000"/>
                </a:solidFill>
                <a:effectLst/>
                <a:uLnTx/>
                <a:uFillTx/>
                <a:latin typeface="Helvetica"/>
              </a:rPr>
              <a:t>The unique specification states that the attributes </a:t>
            </a:r>
            <a:r>
              <a:rPr kumimoji="0" lang="en-US" altLang="en-US" sz="2000" b="1" i="1" u="none" strike="noStrike" kern="0" cap="none" spc="0" normalizeH="0" baseline="0" noProof="0" dirty="0">
                <a:ln>
                  <a:noFill/>
                </a:ln>
                <a:solidFill>
                  <a:srgbClr val="000000"/>
                </a:solidFill>
                <a:effectLst/>
                <a:uLnTx/>
                <a:uFillTx/>
                <a:latin typeface="Helvetica"/>
              </a:rPr>
              <a:t>A</a:t>
            </a:r>
            <a:r>
              <a:rPr kumimoji="0" lang="en-US" altLang="en-US" sz="2000" b="1" i="0" u="none" strike="noStrike" kern="0" cap="none" spc="0" normalizeH="0" baseline="0" noProof="0" dirty="0">
                <a:ln>
                  <a:noFill/>
                </a:ln>
                <a:solidFill>
                  <a:srgbClr val="000000"/>
                </a:solidFill>
                <a:effectLst/>
                <a:uLnTx/>
                <a:uFillTx/>
                <a:latin typeface="Helvetica"/>
              </a:rPr>
              <a:t>1, </a:t>
            </a:r>
            <a:r>
              <a:rPr kumimoji="0" lang="en-US" altLang="en-US" sz="2000" b="1" i="1" u="none" strike="noStrike" kern="0" cap="none" spc="0" normalizeH="0" baseline="0" noProof="0" dirty="0">
                <a:ln>
                  <a:noFill/>
                </a:ln>
                <a:solidFill>
                  <a:srgbClr val="000000"/>
                </a:solidFill>
                <a:effectLst/>
                <a:uLnTx/>
                <a:uFillTx/>
                <a:latin typeface="Helvetica"/>
              </a:rPr>
              <a:t>A</a:t>
            </a:r>
            <a:r>
              <a:rPr kumimoji="0" lang="en-US" altLang="en-US" sz="2000" b="1" i="0" u="none" strike="noStrike" kern="0" cap="none" spc="0" normalizeH="0" baseline="0" noProof="0" dirty="0">
                <a:ln>
                  <a:noFill/>
                </a:ln>
                <a:solidFill>
                  <a:srgbClr val="000000"/>
                </a:solidFill>
                <a:effectLst/>
                <a:uLnTx/>
                <a:uFillTx/>
                <a:latin typeface="Helvetica"/>
              </a:rPr>
              <a:t>2, … </a:t>
            </a:r>
            <a:r>
              <a:rPr kumimoji="0" lang="en-US" altLang="en-US" sz="2000" b="1" i="1" u="none" strike="noStrike" kern="0" cap="none" spc="0" normalizeH="0" baseline="0" noProof="0" dirty="0">
                <a:ln>
                  <a:noFill/>
                </a:ln>
                <a:solidFill>
                  <a:srgbClr val="000000"/>
                </a:solidFill>
                <a:effectLst/>
                <a:uLnTx/>
                <a:uFillTx/>
                <a:latin typeface="Helvetica"/>
              </a:rPr>
              <a:t>A</a:t>
            </a:r>
            <a:r>
              <a:rPr kumimoji="0" lang="en-US" altLang="en-US" sz="2000" b="1" i="0" u="none" strike="noStrike" kern="0" cap="none" spc="0" normalizeH="0" baseline="0" noProof="0" dirty="0">
                <a:ln>
                  <a:noFill/>
                </a:ln>
                <a:solidFill>
                  <a:srgbClr val="000000"/>
                </a:solidFill>
                <a:effectLst/>
                <a:uLnTx/>
                <a:uFillTx/>
                <a:latin typeface="Helvetica"/>
              </a:rPr>
              <a:t>m</a:t>
            </a:r>
            <a:br>
              <a:rPr kumimoji="0" lang="en-US" altLang="en-US" sz="2000" b="0" i="0" u="none" strike="noStrike" kern="0" cap="none" spc="0" normalizeH="0" baseline="0" noProof="0" dirty="0">
                <a:ln>
                  <a:noFill/>
                </a:ln>
                <a:solidFill>
                  <a:srgbClr val="000000"/>
                </a:solidFill>
                <a:effectLst/>
                <a:uLnTx/>
                <a:uFillTx/>
                <a:latin typeface="Helvetica"/>
              </a:rPr>
            </a:br>
            <a:r>
              <a:rPr kumimoji="0" lang="en-US" altLang="en-US" sz="2000" b="0" i="0" u="none" strike="noStrike" kern="0" cap="none" spc="0" normalizeH="0" baseline="0" noProof="0" dirty="0">
                <a:ln>
                  <a:noFill/>
                </a:ln>
                <a:solidFill>
                  <a:srgbClr val="000000"/>
                </a:solidFill>
                <a:effectLst/>
                <a:uLnTx/>
                <a:uFillTx/>
                <a:latin typeface="Helvetica"/>
              </a:rPr>
              <a:t>form a </a:t>
            </a:r>
            <a:r>
              <a:rPr kumimoji="0" lang="en-US" altLang="en-US" sz="2000" b="0" i="0" u="none" strike="noStrike" kern="0" cap="none" spc="0" normalizeH="0" baseline="0" noProof="0" dirty="0">
                <a:ln>
                  <a:noFill/>
                </a:ln>
                <a:solidFill>
                  <a:srgbClr val="C00000"/>
                </a:solidFill>
                <a:effectLst/>
                <a:uLnTx/>
                <a:uFillTx/>
                <a:latin typeface="Helvetica"/>
              </a:rPr>
              <a:t>candidate key</a:t>
            </a:r>
            <a:r>
              <a:rPr kumimoji="0" lang="en-US" altLang="en-US" sz="2000" b="0" i="0" u="none" strike="noStrike" kern="0" cap="none" spc="0" normalizeH="0" baseline="0" noProof="0" dirty="0">
                <a:ln>
                  <a:noFill/>
                </a:ln>
                <a:solidFill>
                  <a:srgbClr val="000000"/>
                </a:solidFill>
                <a:effectLst/>
                <a:uLnTx/>
                <a:uFillTx/>
                <a:latin typeface="Helvetica"/>
              </a:rPr>
              <a:t>.</a:t>
            </a:r>
            <a:endParaRPr kumimoji="0" lang="en-US" altLang="en-US" sz="1800" b="0" i="0" u="none" strike="noStrike" kern="0" cap="none" spc="0" normalizeH="0" baseline="0" noProof="0" dirty="0">
              <a:ln>
                <a:noFill/>
              </a:ln>
              <a:solidFill>
                <a:srgbClr val="000000"/>
              </a:solidFill>
              <a:effectLst/>
              <a:uLnTx/>
              <a:uFillTx/>
              <a:latin typeface="Helvetica"/>
            </a:endParaRPr>
          </a:p>
          <a:p>
            <a:pPr marL="742950" marR="0" lvl="1" indent="-285750" algn="l" defTabSz="914400" rtl="0" eaLnBrk="0" fontAlgn="base" latinLnBrk="0" hangingPunct="0">
              <a:lnSpc>
                <a:spcPct val="100000"/>
              </a:lnSpc>
              <a:spcBef>
                <a:spcPct val="35000"/>
              </a:spcBef>
              <a:spcAft>
                <a:spcPct val="0"/>
              </a:spcAft>
              <a:buClr>
                <a:srgbClr val="FF9933"/>
              </a:buClr>
              <a:buSzPct val="80000"/>
              <a:buFont typeface="Monotype Sorts" charset="2"/>
              <a:buChar char="l"/>
              <a:tabLst/>
              <a:defRPr/>
            </a:pPr>
            <a:r>
              <a:rPr kumimoji="0" lang="en-US" altLang="en-US" sz="2000" b="0" i="0" u="none" strike="noStrike" kern="0" cap="none" spc="0" normalizeH="0" baseline="0" noProof="0" dirty="0">
                <a:ln>
                  <a:noFill/>
                </a:ln>
                <a:solidFill>
                  <a:srgbClr val="000000"/>
                </a:solidFill>
                <a:effectLst/>
                <a:uLnTx/>
                <a:uFillTx/>
                <a:latin typeface="Helvetica"/>
              </a:rPr>
              <a:t>Candidate keys are </a:t>
            </a:r>
            <a:r>
              <a:rPr kumimoji="0" lang="en-US" altLang="en-US" sz="2000" b="1" i="0" u="none" strike="noStrike" kern="0" cap="none" spc="0" normalizeH="0" baseline="0" noProof="0" dirty="0">
                <a:ln>
                  <a:noFill/>
                </a:ln>
                <a:solidFill>
                  <a:srgbClr val="C00000"/>
                </a:solidFill>
                <a:effectLst/>
                <a:uLnTx/>
                <a:uFillTx/>
                <a:latin typeface="Helvetica"/>
              </a:rPr>
              <a:t>permitted to be null </a:t>
            </a:r>
            <a:r>
              <a:rPr kumimoji="0" lang="en-US" altLang="en-US" sz="2000" b="0" i="0" u="none" strike="noStrike" kern="0" cap="none" spc="0" normalizeH="0" baseline="0" noProof="0" dirty="0">
                <a:ln>
                  <a:noFill/>
                </a:ln>
                <a:solidFill>
                  <a:srgbClr val="000000"/>
                </a:solidFill>
                <a:effectLst/>
                <a:uLnTx/>
                <a:uFillTx/>
                <a:latin typeface="Helvetica"/>
              </a:rPr>
              <a:t>(in contrast to primary keys).</a:t>
            </a:r>
            <a:endParaRPr kumimoji="0" lang="en-US" altLang="en-US" sz="1800" b="0" i="0" u="none" strike="noStrike" kern="0" cap="none" spc="0" normalizeH="0" baseline="0" noProof="0" dirty="0">
              <a:ln>
                <a:noFill/>
              </a:ln>
              <a:solidFill>
                <a:srgbClr val="000000"/>
              </a:solidFill>
              <a:effectLst/>
              <a:uLnTx/>
              <a:uFillTx/>
              <a:latin typeface="Helvetica"/>
            </a:endParaRP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Example:</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            </a:t>
            </a:r>
            <a:r>
              <a:rPr kumimoji="1" lang="en-US" sz="2000" b="1" i="0" u="none" strike="noStrike" kern="0" cap="none" spc="0" normalizeH="0" baseline="0" noProof="0" dirty="0">
                <a:ln>
                  <a:noFill/>
                </a:ln>
                <a:solidFill>
                  <a:srgbClr val="000000"/>
                </a:solidFill>
                <a:effectLst/>
                <a:uLnTx/>
                <a:uFillTx/>
                <a:latin typeface="Helvetica"/>
                <a:ea typeface="+mn-ea"/>
                <a:cs typeface="+mn-cs"/>
              </a:rPr>
              <a:t>CREATE TABLE </a:t>
            </a:r>
            <a:r>
              <a:rPr kumimoji="1" lang="en-US" sz="2000" b="0" i="0" u="none" strike="noStrike" kern="0" cap="none" spc="0" normalizeH="0" baseline="0" noProof="0" dirty="0">
                <a:ln>
                  <a:noFill/>
                </a:ln>
                <a:solidFill>
                  <a:srgbClr val="000000"/>
                </a:solidFill>
                <a:effectLst/>
                <a:uLnTx/>
                <a:uFillTx/>
                <a:latin typeface="Helvetica"/>
                <a:ea typeface="+mn-ea"/>
                <a:cs typeface="+mn-cs"/>
              </a:rPr>
              <a:t>Student(</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               ID  varchar(5)  </a:t>
            </a:r>
            <a:r>
              <a:rPr kumimoji="1" lang="en-US" sz="2000" b="1" i="0" u="none" strike="noStrike" kern="0" cap="none" spc="0" normalizeH="0" baseline="0" noProof="0" dirty="0">
                <a:ln>
                  <a:noFill/>
                </a:ln>
                <a:solidFill>
                  <a:srgbClr val="000000"/>
                </a:solidFill>
                <a:effectLst/>
                <a:uLnTx/>
                <a:uFillTx/>
                <a:latin typeface="Helvetica"/>
                <a:ea typeface="+mn-ea"/>
                <a:cs typeface="+mn-cs"/>
              </a:rPr>
              <a:t>PRIMARY KEY</a:t>
            </a:r>
            <a:r>
              <a:rPr kumimoji="1" lang="en-US" sz="2000" b="0" i="0" u="none" strike="noStrike" kern="0" cap="none" spc="0" normalizeH="0" baseline="0" noProof="0" dirty="0">
                <a:ln>
                  <a:noFill/>
                </a:ln>
                <a:solidFill>
                  <a:srgbClr val="000000"/>
                </a:solidFill>
                <a:effectLst/>
                <a:uLnTx/>
                <a:uFillTx/>
                <a:latin typeface="Helvetica"/>
                <a:ea typeface="+mn-ea"/>
                <a:cs typeface="+mn-cs"/>
              </a:rPr>
              <a:t>,</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               Name Varchar(10),</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	 Phone  number(10)  </a:t>
            </a:r>
            <a:r>
              <a:rPr kumimoji="1" lang="en-US" sz="2000" b="1" i="0" u="none" strike="noStrike" kern="0" cap="none" spc="0" normalizeH="0" baseline="0" noProof="0" dirty="0">
                <a:ln>
                  <a:noFill/>
                </a:ln>
                <a:solidFill>
                  <a:srgbClr val="C00000"/>
                </a:solidFill>
                <a:effectLst/>
                <a:uLnTx/>
                <a:uFillTx/>
                <a:latin typeface="Helvetica"/>
                <a:ea typeface="+mn-ea"/>
                <a:cs typeface="+mn-cs"/>
              </a:rPr>
              <a:t>UNIQUE</a:t>
            </a:r>
            <a:r>
              <a:rPr kumimoji="1" lang="en-US" sz="2000" b="0" i="0" u="none" strike="noStrike" kern="0" cap="none" spc="0" normalizeH="0" baseline="0" noProof="0" dirty="0">
                <a:ln>
                  <a:noFill/>
                </a:ln>
                <a:solidFill>
                  <a:srgbClr val="000000"/>
                </a:solidFill>
                <a:effectLst/>
                <a:uLnTx/>
                <a:uFillTx/>
                <a:latin typeface="Helvetica"/>
                <a:ea typeface="+mn-ea"/>
                <a:cs typeface="+mn-cs"/>
              </a:rPr>
              <a:t>,</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	 </a:t>
            </a:r>
            <a:r>
              <a:rPr kumimoji="1" lang="en-US" sz="2000" b="0" i="0" u="none" strike="noStrike" kern="0" cap="none" spc="0" normalizeH="0" baseline="0" noProof="0" dirty="0" err="1">
                <a:ln>
                  <a:noFill/>
                </a:ln>
                <a:solidFill>
                  <a:srgbClr val="000000"/>
                </a:solidFill>
                <a:effectLst/>
                <a:uLnTx/>
                <a:uFillTx/>
                <a:latin typeface="Helvetica"/>
                <a:ea typeface="+mn-ea"/>
                <a:cs typeface="+mn-cs"/>
              </a:rPr>
              <a:t>tot_credit</a:t>
            </a:r>
            <a:r>
              <a:rPr kumimoji="1" lang="en-US" sz="2000" b="0" i="0" u="none" strike="noStrike" kern="0" cap="none" spc="0" normalizeH="0" baseline="0" noProof="0" dirty="0">
                <a:ln>
                  <a:noFill/>
                </a:ln>
                <a:solidFill>
                  <a:srgbClr val="000000"/>
                </a:solidFill>
                <a:effectLst/>
                <a:uLnTx/>
                <a:uFillTx/>
                <a:latin typeface="Helvetica"/>
                <a:ea typeface="+mn-ea"/>
                <a:cs typeface="+mn-cs"/>
              </a:rPr>
              <a:t>  Number(2) </a:t>
            </a:r>
            <a:r>
              <a:rPr kumimoji="1" lang="en-US" sz="2000" b="1" i="0" u="none" strike="noStrike" kern="0" cap="none" spc="0" normalizeH="0" baseline="0" noProof="0" dirty="0">
                <a:ln>
                  <a:noFill/>
                </a:ln>
                <a:solidFill>
                  <a:srgbClr val="000000"/>
                </a:solidFill>
                <a:effectLst/>
                <a:uLnTx/>
                <a:uFillTx/>
                <a:latin typeface="Helvetica"/>
                <a:ea typeface="+mn-ea"/>
                <a:cs typeface="+mn-cs"/>
              </a:rPr>
              <a:t>);</a:t>
            </a: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defRPr/>
            </a:pPr>
            <a:endParaRPr kumimoji="1" lang="en-US" sz="1800" b="1" i="0" u="none" strike="noStrike" kern="0" cap="none" spc="0" normalizeH="0" baseline="0" noProof="0" dirty="0">
              <a:ln>
                <a:noFill/>
              </a:ln>
              <a:solidFill>
                <a:srgbClr val="000000"/>
              </a:solidFill>
              <a:effectLst/>
              <a:uLnTx/>
              <a:uFillTx/>
              <a:latin typeface="Helvetica"/>
              <a:ea typeface="+mn-ea"/>
              <a:cs typeface="+mn-cs"/>
            </a:endParaRPr>
          </a:p>
          <a:p>
            <a:pPr marL="0" marR="0" lvl="0" indent="0" algn="l" defTabSz="914400" rtl="0" eaLnBrk="0" fontAlgn="base" latinLnBrk="0" hangingPunct="0">
              <a:lnSpc>
                <a:spcPct val="100000"/>
              </a:lnSpc>
              <a:spcBef>
                <a:spcPct val="35000"/>
              </a:spcBef>
              <a:spcAft>
                <a:spcPct val="0"/>
              </a:spcAft>
              <a:buClr>
                <a:srgbClr val="CC3300"/>
              </a:buClr>
              <a:buSzPct val="90000"/>
              <a:buFont typeface="Monotype Sorts" charset="2"/>
              <a:buNone/>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Phone is implemented with Column level UNIQUE Constraints.</a:t>
            </a:r>
          </a:p>
        </p:txBody>
      </p:sp>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29</a:t>
            </a:fld>
            <a:endParaRPr lang="en-US"/>
          </a:p>
        </p:txBody>
      </p:sp>
    </p:spTree>
    <p:extLst>
      <p:ext uri="{BB962C8B-B14F-4D97-AF65-F5344CB8AC3E}">
        <p14:creationId xmlns:p14="http://schemas.microsoft.com/office/powerpoint/2010/main" val="3443391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1024467" y="727075"/>
            <a:ext cx="10580100"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2300" b="0" i="0" u="none" strike="noStrike" kern="0" cap="none" spc="0" normalizeH="0" baseline="0" noProof="0" dirty="0">
                <a:ln>
                  <a:noFill/>
                </a:ln>
                <a:solidFill>
                  <a:srgbClr val="000000"/>
                </a:solidFill>
                <a:effectLst/>
                <a:uLnTx/>
                <a:uFillTx/>
                <a:latin typeface="Helvetica"/>
                <a:ea typeface="+mn-ea"/>
                <a:cs typeface="+mn-cs"/>
              </a:rPr>
              <a:t>In the following table combination of </a:t>
            </a:r>
            <a:r>
              <a:rPr kumimoji="1" lang="en-US" sz="2300" b="1" i="0" u="none" strike="noStrike" kern="0" cap="none" spc="0" normalizeH="0" baseline="0" noProof="0" dirty="0" err="1">
                <a:ln>
                  <a:noFill/>
                </a:ln>
                <a:solidFill>
                  <a:srgbClr val="000000"/>
                </a:solidFill>
                <a:effectLst/>
                <a:uLnTx/>
                <a:uFillTx/>
                <a:latin typeface="Helvetica"/>
                <a:ea typeface="+mn-ea"/>
                <a:cs typeface="+mn-cs"/>
              </a:rPr>
              <a:t>Area_code</a:t>
            </a:r>
            <a:r>
              <a:rPr kumimoji="1" lang="en-US" sz="2300" b="1" i="0" u="none" strike="noStrike" kern="0" cap="none" spc="0" normalizeH="0" baseline="0" noProof="0" dirty="0">
                <a:ln>
                  <a:noFill/>
                </a:ln>
                <a:solidFill>
                  <a:srgbClr val="000000"/>
                </a:solidFill>
                <a:effectLst/>
                <a:uLnTx/>
                <a:uFillTx/>
                <a:latin typeface="Helvetica"/>
                <a:ea typeface="+mn-ea"/>
                <a:cs typeface="+mn-cs"/>
              </a:rPr>
              <a:t> &amp; </a:t>
            </a:r>
            <a:r>
              <a:rPr kumimoji="1" lang="en-US" sz="2300" b="1" i="0" u="none" strike="noStrike" kern="0" cap="none" spc="0" normalizeH="0" baseline="0" noProof="0" dirty="0" err="1">
                <a:ln>
                  <a:noFill/>
                </a:ln>
                <a:solidFill>
                  <a:srgbClr val="000000"/>
                </a:solidFill>
                <a:effectLst/>
                <a:uLnTx/>
                <a:uFillTx/>
                <a:latin typeface="Helvetica"/>
                <a:ea typeface="+mn-ea"/>
                <a:cs typeface="+mn-cs"/>
              </a:rPr>
              <a:t>Phone_Num</a:t>
            </a:r>
            <a:r>
              <a:rPr kumimoji="1" lang="en-US" sz="2300" b="1" i="0" u="none" strike="noStrike" kern="0" cap="none" spc="0" normalizeH="0" baseline="0" noProof="0" dirty="0">
                <a:ln>
                  <a:noFill/>
                </a:ln>
                <a:solidFill>
                  <a:srgbClr val="000000"/>
                </a:solidFill>
                <a:effectLst/>
                <a:uLnTx/>
                <a:uFillTx/>
                <a:latin typeface="Helvetica"/>
                <a:ea typeface="+mn-ea"/>
                <a:cs typeface="+mn-cs"/>
              </a:rPr>
              <a:t> </a:t>
            </a:r>
            <a:r>
              <a:rPr kumimoji="1" lang="en-US" sz="2300" b="0" i="0" u="none" strike="noStrike" kern="0" cap="none" spc="0" normalizeH="0" baseline="0" noProof="0" dirty="0">
                <a:ln>
                  <a:noFill/>
                </a:ln>
                <a:solidFill>
                  <a:srgbClr val="000000"/>
                </a:solidFill>
                <a:effectLst/>
                <a:uLnTx/>
                <a:uFillTx/>
                <a:latin typeface="Helvetica"/>
                <a:ea typeface="+mn-ea"/>
                <a:cs typeface="+mn-cs"/>
              </a:rPr>
              <a:t>is </a:t>
            </a:r>
            <a:r>
              <a:rPr kumimoji="1" lang="en-US" sz="2300" b="1" i="0" u="none" strike="noStrike" kern="0" cap="none" spc="0" normalizeH="0" baseline="0" noProof="0" dirty="0">
                <a:ln>
                  <a:noFill/>
                </a:ln>
                <a:solidFill>
                  <a:srgbClr val="000000"/>
                </a:solidFill>
                <a:effectLst/>
                <a:uLnTx/>
                <a:uFillTx/>
                <a:latin typeface="Helvetica"/>
                <a:ea typeface="+mn-ea"/>
                <a:cs typeface="+mn-cs"/>
              </a:rPr>
              <a:t>Unique</a:t>
            </a:r>
            <a:r>
              <a:rPr kumimoji="1" lang="en-US" sz="2300" b="0" i="0" u="none" strike="noStrike" kern="0" cap="none" spc="0" normalizeH="0" baseline="0" noProof="0" dirty="0">
                <a:ln>
                  <a:noFill/>
                </a:ln>
                <a:solidFill>
                  <a:srgbClr val="000000"/>
                </a:solidFill>
                <a:effectLst/>
                <a:uLnTx/>
                <a:uFillTx/>
                <a:latin typeface="Helvetica"/>
                <a:ea typeface="+mn-ea"/>
                <a:cs typeface="+mn-cs"/>
              </a:rPr>
              <a:t> for a landline phone.</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2300" b="1" i="0" u="none" strike="noStrike" kern="0" cap="none" spc="0" normalizeH="0" baseline="0" noProof="0" dirty="0" err="1">
                <a:ln>
                  <a:noFill/>
                </a:ln>
                <a:solidFill>
                  <a:srgbClr val="000000"/>
                </a:solidFill>
                <a:effectLst/>
                <a:uLnTx/>
                <a:uFillTx/>
                <a:latin typeface="Helvetica"/>
                <a:ea typeface="+mn-ea"/>
                <a:cs typeface="+mn-cs"/>
              </a:rPr>
              <a:t>Area_code</a:t>
            </a:r>
            <a:r>
              <a:rPr kumimoji="1" lang="en-US" sz="2300" b="1" i="0" u="none" strike="noStrike" kern="0" cap="none" spc="0" normalizeH="0" baseline="0" noProof="0" dirty="0">
                <a:ln>
                  <a:noFill/>
                </a:ln>
                <a:solidFill>
                  <a:srgbClr val="000000"/>
                </a:solidFill>
                <a:effectLst/>
                <a:uLnTx/>
                <a:uFillTx/>
                <a:latin typeface="Helvetica"/>
                <a:ea typeface="+mn-ea"/>
                <a:cs typeface="+mn-cs"/>
              </a:rPr>
              <a:t> &amp; </a:t>
            </a:r>
            <a:r>
              <a:rPr kumimoji="1" lang="en-US" sz="2300" b="1" i="0" u="none" strike="noStrike" kern="0" cap="none" spc="0" normalizeH="0" baseline="0" noProof="0" dirty="0" err="1">
                <a:ln>
                  <a:noFill/>
                </a:ln>
                <a:solidFill>
                  <a:srgbClr val="000000"/>
                </a:solidFill>
                <a:effectLst/>
                <a:uLnTx/>
                <a:uFillTx/>
                <a:latin typeface="Helvetica"/>
                <a:ea typeface="+mn-ea"/>
                <a:cs typeface="+mn-cs"/>
              </a:rPr>
              <a:t>Phone_Num</a:t>
            </a:r>
            <a:r>
              <a:rPr kumimoji="1" lang="en-US" sz="2300" b="1" i="0" u="none" strike="noStrike" kern="0" cap="none" spc="0" normalizeH="0" baseline="0" noProof="0" dirty="0">
                <a:ln>
                  <a:noFill/>
                </a:ln>
                <a:solidFill>
                  <a:srgbClr val="000000"/>
                </a:solidFill>
                <a:effectLst/>
                <a:uLnTx/>
                <a:uFillTx/>
                <a:latin typeface="Helvetica"/>
                <a:ea typeface="+mn-ea"/>
                <a:cs typeface="+mn-cs"/>
              </a:rPr>
              <a:t> </a:t>
            </a:r>
            <a:r>
              <a:rPr kumimoji="1" lang="en-US" sz="2300" b="0" i="0" u="none" strike="noStrike" kern="0" cap="none" spc="0" normalizeH="0" baseline="0" noProof="0" dirty="0">
                <a:ln>
                  <a:noFill/>
                </a:ln>
                <a:solidFill>
                  <a:srgbClr val="000000"/>
                </a:solidFill>
                <a:effectLst/>
                <a:uLnTx/>
                <a:uFillTx/>
                <a:latin typeface="Helvetica"/>
                <a:ea typeface="+mn-ea"/>
                <a:cs typeface="+mn-cs"/>
              </a:rPr>
              <a:t> is to be implemented as </a:t>
            </a:r>
            <a:r>
              <a:rPr kumimoji="1" lang="en-US" sz="2300" b="1" i="0" u="none" strike="noStrike" kern="0" cap="none" spc="0" normalizeH="0" baseline="0" noProof="0" dirty="0">
                <a:ln>
                  <a:noFill/>
                </a:ln>
                <a:solidFill>
                  <a:srgbClr val="C00000"/>
                </a:solidFill>
                <a:effectLst/>
                <a:uLnTx/>
                <a:uFillTx/>
                <a:latin typeface="Helvetica"/>
                <a:ea typeface="+mn-ea"/>
                <a:cs typeface="+mn-cs"/>
              </a:rPr>
              <a:t>Table-level Constraint</a:t>
            </a:r>
            <a:r>
              <a:rPr kumimoji="1" lang="en-US" sz="2300" b="0" i="0" u="none" strike="noStrike" kern="0" cap="none" spc="0" normalizeH="0" baseline="0" noProof="0" dirty="0">
                <a:ln>
                  <a:noFill/>
                </a:ln>
                <a:solidFill>
                  <a:srgbClr val="000000"/>
                </a:solidFill>
                <a:effectLst/>
                <a:uLnTx/>
                <a:uFillTx/>
                <a:latin typeface="Helvetica"/>
                <a:ea typeface="+mn-ea"/>
                <a:cs typeface="+mn-cs"/>
              </a:rPr>
              <a:t>,</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sz="2400" b="1" i="0" u="none" strike="noStrike" kern="0" cap="none" spc="0" normalizeH="0" baseline="0" noProof="0" dirty="0">
                <a:ln>
                  <a:noFill/>
                </a:ln>
                <a:solidFill>
                  <a:srgbClr val="000000"/>
                </a:solidFill>
                <a:effectLst/>
                <a:uLnTx/>
                <a:uFillTx/>
                <a:latin typeface="Helvetica"/>
                <a:ea typeface="+mn-ea"/>
                <a:cs typeface="+mn-cs"/>
              </a:rPr>
              <a:t>Example:</a:t>
            </a:r>
          </a:p>
          <a:p>
            <a:pPr marL="742950" marR="0" lvl="2" indent="0" algn="l" defTabSz="914400" rtl="0" eaLnBrk="0" fontAlgn="base" latinLnBrk="0" hangingPunct="0">
              <a:lnSpc>
                <a:spcPct val="114000"/>
              </a:lnSpc>
              <a:spcBef>
                <a:spcPts val="600"/>
              </a:spcBef>
              <a:spcAft>
                <a:spcPct val="0"/>
              </a:spcAft>
              <a:buClr>
                <a:srgbClr val="33CC33"/>
              </a:buClr>
              <a:buSzPct val="75000"/>
              <a:buFont typeface="Webdings" panose="05030102010509060703" pitchFamily="18" charset="2"/>
              <a:buNone/>
              <a:tabLst/>
              <a:defRPr/>
            </a:pPr>
            <a:r>
              <a:rPr kumimoji="1" lang="en-US" sz="1800" b="0" i="0" u="none" strike="noStrike" kern="0" cap="none" spc="0" normalizeH="0" baseline="0" noProof="0" dirty="0">
                <a:ln>
                  <a:noFill/>
                </a:ln>
                <a:solidFill>
                  <a:srgbClr val="000000"/>
                </a:solidFill>
                <a:effectLst/>
                <a:uLnTx/>
                <a:uFillTx/>
                <a:latin typeface="Helvetica"/>
              </a:rPr>
              <a:t> </a:t>
            </a:r>
            <a:r>
              <a:rPr kumimoji="1" lang="en-US" sz="2000" b="1" i="0" u="none" strike="noStrike" kern="0" cap="none" spc="0" normalizeH="0" baseline="0" noProof="0" dirty="0">
                <a:ln>
                  <a:noFill/>
                </a:ln>
                <a:solidFill>
                  <a:srgbClr val="000000"/>
                </a:solidFill>
                <a:effectLst/>
                <a:uLnTx/>
                <a:uFillTx/>
                <a:latin typeface="Helvetica"/>
              </a:rPr>
              <a:t>CREATE TABLE </a:t>
            </a:r>
            <a:r>
              <a:rPr kumimoji="1" lang="en-US" sz="2000" b="0" i="0" u="none" strike="noStrike" kern="0" cap="none" spc="0" normalizeH="0" baseline="0" noProof="0" dirty="0" err="1">
                <a:ln>
                  <a:noFill/>
                </a:ln>
                <a:solidFill>
                  <a:srgbClr val="000000"/>
                </a:solidFill>
                <a:effectLst/>
                <a:uLnTx/>
                <a:uFillTx/>
                <a:latin typeface="Helvetica"/>
              </a:rPr>
              <a:t>BsnL_Customer</a:t>
            </a:r>
            <a:r>
              <a:rPr kumimoji="1" lang="en-US" sz="2000" b="1" i="0" u="none" strike="noStrike" kern="0" cap="none" spc="0" normalizeH="0" baseline="0" noProof="0" dirty="0">
                <a:ln>
                  <a:noFill/>
                </a:ln>
                <a:solidFill>
                  <a:srgbClr val="000000"/>
                </a:solidFill>
                <a:effectLst/>
                <a:uLnTx/>
                <a:uFillTx/>
                <a:latin typeface="Helvetica"/>
              </a:rPr>
              <a:t> (</a:t>
            </a:r>
          </a:p>
          <a:p>
            <a:pPr marL="742950" marR="0" lvl="2" indent="0" algn="l" defTabSz="914400" rtl="0" eaLnBrk="0" fontAlgn="base" latinLnBrk="0" hangingPunct="0">
              <a:lnSpc>
                <a:spcPct val="114000"/>
              </a:lnSpc>
              <a:spcBef>
                <a:spcPts val="600"/>
              </a:spcBef>
              <a:spcAft>
                <a:spcPct val="0"/>
              </a:spcAft>
              <a:buClr>
                <a:srgbClr val="33CC33"/>
              </a:buClr>
              <a:buSzPct val="75000"/>
              <a:buFont typeface="Webdings" panose="05030102010509060703" pitchFamily="18" charset="2"/>
              <a:buNone/>
              <a:tabLst/>
              <a:defRPr/>
            </a:pPr>
            <a:r>
              <a:rPr kumimoji="1" lang="en-US" sz="2000" b="0" i="0" u="none" strike="noStrike" kern="0" cap="none" spc="0" normalizeH="0" baseline="0" noProof="0" dirty="0">
                <a:ln>
                  <a:noFill/>
                </a:ln>
                <a:solidFill>
                  <a:srgbClr val="000000"/>
                </a:solidFill>
                <a:effectLst/>
                <a:uLnTx/>
                <a:uFillTx/>
                <a:latin typeface="Helvetica"/>
              </a:rPr>
              <a:t> </a:t>
            </a:r>
            <a:r>
              <a:rPr kumimoji="1" lang="en-US" sz="2000" b="0" i="0" u="none" strike="noStrike" kern="0" cap="none" spc="0" normalizeH="0" baseline="0" noProof="0" dirty="0" err="1">
                <a:ln>
                  <a:noFill/>
                </a:ln>
                <a:solidFill>
                  <a:srgbClr val="000000"/>
                </a:solidFill>
                <a:effectLst/>
                <a:uLnTx/>
                <a:uFillTx/>
                <a:latin typeface="Helvetica"/>
              </a:rPr>
              <a:t>Customer_ID</a:t>
            </a:r>
            <a:r>
              <a:rPr kumimoji="1" lang="en-US" sz="2000" b="0" i="0" u="none" strike="noStrike" kern="0" cap="none" spc="0" normalizeH="0" baseline="0" noProof="0" dirty="0">
                <a:ln>
                  <a:noFill/>
                </a:ln>
                <a:solidFill>
                  <a:srgbClr val="000000"/>
                </a:solidFill>
                <a:effectLst/>
                <a:uLnTx/>
                <a:uFillTx/>
                <a:latin typeface="Helvetica"/>
              </a:rPr>
              <a:t> number(7)  </a:t>
            </a:r>
            <a:r>
              <a:rPr kumimoji="1" lang="en-US" sz="2000" b="1" i="0" u="none" strike="noStrike" kern="0" cap="none" spc="0" normalizeH="0" baseline="0" noProof="0" dirty="0">
                <a:ln>
                  <a:noFill/>
                </a:ln>
                <a:solidFill>
                  <a:srgbClr val="000000"/>
                </a:solidFill>
                <a:effectLst/>
                <a:uLnTx/>
                <a:uFillTx/>
                <a:latin typeface="Helvetica"/>
              </a:rPr>
              <a:t>PRIMARY KEY</a:t>
            </a:r>
            <a:r>
              <a:rPr kumimoji="1" lang="en-US" sz="2000" b="0" i="0" u="none" strike="noStrike" kern="0" cap="none" spc="0" normalizeH="0" baseline="0" noProof="0" dirty="0">
                <a:ln>
                  <a:noFill/>
                </a:ln>
                <a:solidFill>
                  <a:srgbClr val="000000"/>
                </a:solidFill>
                <a:effectLst/>
                <a:uLnTx/>
                <a:uFillTx/>
                <a:latin typeface="Helvetica"/>
              </a:rPr>
              <a:t>,</a:t>
            </a:r>
          </a:p>
          <a:p>
            <a:pPr marL="742950" marR="0" lvl="2" indent="0" algn="l" defTabSz="914400" rtl="0" eaLnBrk="0" fontAlgn="base" latinLnBrk="0" hangingPunct="0">
              <a:lnSpc>
                <a:spcPct val="114000"/>
              </a:lnSpc>
              <a:spcBef>
                <a:spcPts val="600"/>
              </a:spcBef>
              <a:spcAft>
                <a:spcPct val="0"/>
              </a:spcAft>
              <a:buClr>
                <a:srgbClr val="33CC33"/>
              </a:buClr>
              <a:buSzPct val="75000"/>
              <a:buFont typeface="Webdings" panose="05030102010509060703" pitchFamily="18" charset="2"/>
              <a:buNone/>
              <a:tabLst/>
              <a:defRPr/>
            </a:pPr>
            <a:r>
              <a:rPr kumimoji="1" lang="en-US" sz="2000" b="0" i="0" u="none" strike="noStrike" kern="0" cap="none" spc="0" normalizeH="0" baseline="0" noProof="0" dirty="0">
                <a:ln>
                  <a:noFill/>
                </a:ln>
                <a:solidFill>
                  <a:srgbClr val="000000"/>
                </a:solidFill>
                <a:effectLst/>
                <a:uLnTx/>
                <a:uFillTx/>
                <a:latin typeface="Helvetica"/>
              </a:rPr>
              <a:t> Name  varchar(10)  </a:t>
            </a:r>
            <a:r>
              <a:rPr kumimoji="1" lang="en-US" sz="2000" b="1" i="0" u="none" strike="noStrike" kern="0" cap="none" spc="0" normalizeH="0" baseline="0" noProof="0" dirty="0">
                <a:ln>
                  <a:noFill/>
                </a:ln>
                <a:solidFill>
                  <a:srgbClr val="000000"/>
                </a:solidFill>
                <a:effectLst/>
                <a:uLnTx/>
                <a:uFillTx/>
                <a:latin typeface="Helvetica"/>
              </a:rPr>
              <a:t>NOT NULL</a:t>
            </a:r>
            <a:r>
              <a:rPr kumimoji="1" lang="en-US" sz="2000" b="0" i="0" u="none" strike="noStrike" kern="0" cap="none" spc="0" normalizeH="0" baseline="0" noProof="0" dirty="0">
                <a:ln>
                  <a:noFill/>
                </a:ln>
                <a:solidFill>
                  <a:srgbClr val="000000"/>
                </a:solidFill>
                <a:effectLst/>
                <a:uLnTx/>
                <a:uFillTx/>
                <a:latin typeface="Helvetica"/>
              </a:rPr>
              <a:t>,</a:t>
            </a:r>
          </a:p>
          <a:p>
            <a:pPr marL="742950" marR="0" lvl="2" indent="0" algn="l" defTabSz="914400" rtl="0" eaLnBrk="0" fontAlgn="base" latinLnBrk="0" hangingPunct="0">
              <a:lnSpc>
                <a:spcPct val="114000"/>
              </a:lnSpc>
              <a:spcBef>
                <a:spcPts val="600"/>
              </a:spcBef>
              <a:spcAft>
                <a:spcPct val="0"/>
              </a:spcAft>
              <a:buClr>
                <a:srgbClr val="33CC33"/>
              </a:buClr>
              <a:buSzPct val="75000"/>
              <a:buFont typeface="Webdings" panose="05030102010509060703" pitchFamily="18" charset="2"/>
              <a:buNone/>
              <a:tabLst/>
              <a:defRPr/>
            </a:pPr>
            <a:r>
              <a:rPr kumimoji="1" lang="en-US" sz="2000" b="0" i="0" u="none" strike="noStrike" kern="0" cap="none" spc="0" normalizeH="0" baseline="0" noProof="0" dirty="0">
                <a:ln>
                  <a:noFill/>
                </a:ln>
                <a:solidFill>
                  <a:srgbClr val="000000"/>
                </a:solidFill>
                <a:effectLst/>
                <a:uLnTx/>
                <a:uFillTx/>
                <a:latin typeface="Helvetica"/>
              </a:rPr>
              <a:t> Address  varchar(20),</a:t>
            </a:r>
          </a:p>
          <a:p>
            <a:pPr marL="742950" marR="0" lvl="2" indent="0" algn="l" defTabSz="914400" rtl="0" eaLnBrk="0" fontAlgn="base" latinLnBrk="0" hangingPunct="0">
              <a:lnSpc>
                <a:spcPct val="114000"/>
              </a:lnSpc>
              <a:spcBef>
                <a:spcPts val="600"/>
              </a:spcBef>
              <a:spcAft>
                <a:spcPct val="0"/>
              </a:spcAft>
              <a:buClr>
                <a:srgbClr val="33CC33"/>
              </a:buClr>
              <a:buSzPct val="75000"/>
              <a:buFont typeface="Webdings" panose="05030102010509060703" pitchFamily="18" charset="2"/>
              <a:buNone/>
              <a:tabLst/>
              <a:defRPr/>
            </a:pPr>
            <a:r>
              <a:rPr kumimoji="1" lang="en-US" sz="2000" b="0" i="0" u="none" strike="noStrike" kern="0" cap="none" spc="0" normalizeH="0" baseline="0" noProof="0" dirty="0">
                <a:ln>
                  <a:noFill/>
                </a:ln>
                <a:solidFill>
                  <a:srgbClr val="000000"/>
                </a:solidFill>
                <a:effectLst/>
                <a:uLnTx/>
                <a:uFillTx/>
                <a:latin typeface="Helvetica"/>
              </a:rPr>
              <a:t> </a:t>
            </a:r>
            <a:r>
              <a:rPr kumimoji="1" lang="en-US" sz="2000" b="0" i="0" u="none" strike="noStrike" kern="0" cap="none" spc="0" normalizeH="0" baseline="0" noProof="0" dirty="0" err="1">
                <a:ln>
                  <a:noFill/>
                </a:ln>
                <a:solidFill>
                  <a:srgbClr val="000000"/>
                </a:solidFill>
                <a:effectLst/>
                <a:uLnTx/>
                <a:uFillTx/>
                <a:latin typeface="Helvetica"/>
              </a:rPr>
              <a:t>Area_Code</a:t>
            </a:r>
            <a:r>
              <a:rPr kumimoji="1" lang="en-US" sz="2000" b="0" i="0" u="none" strike="noStrike" kern="0" cap="none" spc="0" normalizeH="0" baseline="0" noProof="0" dirty="0">
                <a:ln>
                  <a:noFill/>
                </a:ln>
                <a:solidFill>
                  <a:srgbClr val="000000"/>
                </a:solidFill>
                <a:effectLst/>
                <a:uLnTx/>
                <a:uFillTx/>
                <a:latin typeface="Helvetica"/>
              </a:rPr>
              <a:t>  Number(4),</a:t>
            </a:r>
          </a:p>
          <a:p>
            <a:pPr marL="742950" marR="0" lvl="2" indent="0" algn="l" defTabSz="914400" rtl="0" eaLnBrk="0" fontAlgn="base" latinLnBrk="0" hangingPunct="0">
              <a:lnSpc>
                <a:spcPct val="114000"/>
              </a:lnSpc>
              <a:spcBef>
                <a:spcPts val="600"/>
              </a:spcBef>
              <a:spcAft>
                <a:spcPct val="0"/>
              </a:spcAft>
              <a:buClr>
                <a:srgbClr val="33CC33"/>
              </a:buClr>
              <a:buSzPct val="75000"/>
              <a:buFont typeface="Webdings" panose="05030102010509060703" pitchFamily="18" charset="2"/>
              <a:buNone/>
              <a:tabLst/>
              <a:defRPr/>
            </a:pPr>
            <a:r>
              <a:rPr kumimoji="1" lang="en-US" sz="2000" b="0" i="0" u="none" strike="noStrike" kern="0" cap="none" spc="0" normalizeH="0" baseline="0" noProof="0" dirty="0">
                <a:ln>
                  <a:noFill/>
                </a:ln>
                <a:solidFill>
                  <a:srgbClr val="000000"/>
                </a:solidFill>
                <a:effectLst/>
                <a:uLnTx/>
                <a:uFillTx/>
                <a:latin typeface="Helvetica"/>
              </a:rPr>
              <a:t> </a:t>
            </a:r>
            <a:r>
              <a:rPr kumimoji="1" lang="en-US" sz="2000" b="0" i="0" u="none" strike="noStrike" kern="0" cap="none" spc="0" normalizeH="0" baseline="0" noProof="0" dirty="0" err="1">
                <a:ln>
                  <a:noFill/>
                </a:ln>
                <a:solidFill>
                  <a:srgbClr val="000000"/>
                </a:solidFill>
                <a:effectLst/>
                <a:uLnTx/>
                <a:uFillTx/>
                <a:latin typeface="Helvetica"/>
              </a:rPr>
              <a:t>Phone_Num</a:t>
            </a:r>
            <a:r>
              <a:rPr kumimoji="1" lang="en-US" sz="2000" b="0" i="0" u="none" strike="noStrike" kern="0" cap="none" spc="0" normalizeH="0" baseline="0" noProof="0" dirty="0">
                <a:ln>
                  <a:noFill/>
                </a:ln>
                <a:solidFill>
                  <a:srgbClr val="000000"/>
                </a:solidFill>
                <a:effectLst/>
                <a:uLnTx/>
                <a:uFillTx/>
                <a:latin typeface="Helvetica"/>
              </a:rPr>
              <a:t>   Number(6),</a:t>
            </a:r>
          </a:p>
          <a:p>
            <a:pPr marL="742950" marR="0" lvl="2" indent="0" algn="l" defTabSz="914400" rtl="0" eaLnBrk="0" fontAlgn="base" latinLnBrk="0" hangingPunct="0">
              <a:lnSpc>
                <a:spcPct val="114000"/>
              </a:lnSpc>
              <a:spcBef>
                <a:spcPts val="600"/>
              </a:spcBef>
              <a:spcAft>
                <a:spcPct val="0"/>
              </a:spcAft>
              <a:buClr>
                <a:srgbClr val="33CC33"/>
              </a:buClr>
              <a:buSzPct val="75000"/>
              <a:buFont typeface="Webdings" panose="05030102010509060703" pitchFamily="18" charset="2"/>
              <a:buNone/>
              <a:tabLst/>
              <a:defRPr/>
            </a:pPr>
            <a:r>
              <a:rPr kumimoji="1" lang="en-US" sz="2000" b="1" i="0" u="none" strike="noStrike" kern="0" cap="none" spc="0" normalizeH="0" baseline="0" noProof="0" dirty="0">
                <a:ln>
                  <a:noFill/>
                </a:ln>
                <a:solidFill>
                  <a:srgbClr val="C00000"/>
                </a:solidFill>
                <a:effectLst/>
                <a:uLnTx/>
                <a:uFillTx/>
                <a:latin typeface="Helvetica"/>
              </a:rPr>
              <a:t> UNIQUE(</a:t>
            </a:r>
            <a:r>
              <a:rPr kumimoji="1" lang="en-US" sz="2000" b="1" i="0" u="none" strike="noStrike" kern="0" cap="none" spc="0" normalizeH="0" baseline="0" noProof="0" dirty="0" err="1">
                <a:ln>
                  <a:noFill/>
                </a:ln>
                <a:solidFill>
                  <a:srgbClr val="000000"/>
                </a:solidFill>
                <a:effectLst/>
                <a:uLnTx/>
                <a:uFillTx/>
                <a:latin typeface="Helvetica"/>
              </a:rPr>
              <a:t>Area_Code</a:t>
            </a:r>
            <a:r>
              <a:rPr kumimoji="1" lang="en-US" sz="2000" b="1" i="0" u="none" strike="noStrike" kern="0" cap="none" spc="0" normalizeH="0" baseline="0" noProof="0" dirty="0">
                <a:ln>
                  <a:noFill/>
                </a:ln>
                <a:solidFill>
                  <a:srgbClr val="000000"/>
                </a:solidFill>
                <a:effectLst/>
                <a:uLnTx/>
                <a:uFillTx/>
                <a:latin typeface="Helvetica"/>
              </a:rPr>
              <a:t> , </a:t>
            </a:r>
            <a:r>
              <a:rPr kumimoji="1" lang="en-US" sz="2000" b="1" i="0" u="none" strike="noStrike" kern="0" cap="none" spc="0" normalizeH="0" baseline="0" noProof="0" dirty="0" err="1">
                <a:ln>
                  <a:noFill/>
                </a:ln>
                <a:solidFill>
                  <a:srgbClr val="000000"/>
                </a:solidFill>
                <a:effectLst/>
                <a:uLnTx/>
                <a:uFillTx/>
                <a:latin typeface="Helvetica"/>
              </a:rPr>
              <a:t>Phone_Num</a:t>
            </a:r>
            <a:r>
              <a:rPr kumimoji="1" lang="en-US" sz="2000" b="1" i="0" u="none" strike="noStrike" kern="0" cap="none" spc="0" normalizeH="0" baseline="0" noProof="0" dirty="0">
                <a:ln>
                  <a:noFill/>
                </a:ln>
                <a:solidFill>
                  <a:srgbClr val="000000"/>
                </a:solidFill>
                <a:effectLst/>
                <a:uLnTx/>
                <a:uFillTx/>
                <a:latin typeface="Helvetica"/>
              </a:rPr>
              <a:t> </a:t>
            </a:r>
            <a:r>
              <a:rPr kumimoji="1" lang="en-US" sz="2000" b="1" i="0" u="none" strike="noStrike" kern="0" cap="none" spc="0" normalizeH="0" baseline="0" noProof="0" dirty="0">
                <a:ln>
                  <a:noFill/>
                </a:ln>
                <a:solidFill>
                  <a:srgbClr val="C00000"/>
                </a:solidFill>
                <a:effectLst/>
                <a:uLnTx/>
                <a:uFillTx/>
                <a:latin typeface="Helvetica"/>
              </a:rPr>
              <a:t>) </a:t>
            </a:r>
            <a:r>
              <a:rPr kumimoji="1" lang="en-US" sz="2000" b="1" i="0" u="none" strike="noStrike" kern="0" cap="none" spc="0" normalizeH="0" baseline="0" noProof="0" dirty="0">
                <a:ln>
                  <a:noFill/>
                </a:ln>
                <a:solidFill>
                  <a:srgbClr val="000000"/>
                </a:solidFill>
                <a:effectLst/>
                <a:uLnTx/>
                <a:uFillTx/>
                <a:latin typeface="Helvetica"/>
              </a:rPr>
              <a:t>);</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endParaRPr kumimoji="1" lang="en-US" sz="1800" b="0" i="0" u="none" strike="noStrike" kern="0" cap="none" spc="0" normalizeH="0" baseline="0" noProof="0" dirty="0">
              <a:ln>
                <a:noFill/>
              </a:ln>
              <a:solidFill>
                <a:srgbClr val="000000"/>
              </a:solidFill>
              <a:effectLst/>
              <a:uLnTx/>
              <a:uFillTx/>
              <a:latin typeface="Helvetica"/>
              <a:ea typeface="+mn-ea"/>
              <a:cs typeface="+mn-cs"/>
            </a:endParaRPr>
          </a:p>
        </p:txBody>
      </p:sp>
      <p:sp>
        <p:nvSpPr>
          <p:cNvPr id="3" name="Title 1"/>
          <p:cNvSpPr txBox="1">
            <a:spLocks/>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a:ln>
                  <a:noFill/>
                </a:ln>
                <a:solidFill>
                  <a:srgbClr val="CC3300"/>
                </a:solidFill>
                <a:effectLst>
                  <a:outerShdw blurRad="38100" dist="38100" dir="2700000" algn="tl">
                    <a:srgbClr val="C0C0C0"/>
                  </a:outerShdw>
                </a:effectLst>
                <a:uLnTx/>
                <a:uFillTx/>
                <a:latin typeface="Helvetica"/>
                <a:ea typeface="+mj-ea"/>
                <a:cs typeface="+mj-cs"/>
              </a:rPr>
              <a:t>..UNIQUE</a:t>
            </a:r>
            <a:endPar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30</a:t>
            </a:fld>
            <a:endParaRPr lang="en-US"/>
          </a:p>
        </p:txBody>
      </p:sp>
    </p:spTree>
    <p:extLst>
      <p:ext uri="{BB962C8B-B14F-4D97-AF65-F5344CB8AC3E}">
        <p14:creationId xmlns:p14="http://schemas.microsoft.com/office/powerpoint/2010/main" val="12713472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DD136-F8E4-4DF9-99FD-71AEAEB96749}"/>
              </a:ext>
            </a:extLst>
          </p:cNvPr>
          <p:cNvSpPr>
            <a:spLocks noGrp="1"/>
          </p:cNvSpPr>
          <p:nvPr>
            <p:ph type="title"/>
          </p:nvPr>
        </p:nvSpPr>
        <p:spPr>
          <a:xfrm>
            <a:off x="838200" y="25082"/>
            <a:ext cx="10515600" cy="655955"/>
          </a:xfrm>
          <a:noFill/>
          <a:ln w="9525">
            <a:noFill/>
            <a:miter lim="800000"/>
            <a:headEnd/>
            <a:tailEnd/>
          </a:ln>
        </p:spPr>
        <p:txBody>
          <a:bodyPr vert="horz" wrap="square" lIns="91440" tIns="45720" rIns="91440" bIns="45720" numCol="1" anchor="b" anchorCtr="0" compatLnSpc="1">
            <a:prstTxWarp prst="textNoShape">
              <a:avLst/>
            </a:prstTxWarp>
          </a:bodyPr>
          <a:lstStyle/>
          <a:p>
            <a:pPr algn="ctr" eaLnBrk="0" fontAlgn="base" hangingPunct="0">
              <a:lnSpc>
                <a:spcPct val="100000"/>
              </a:lnSpc>
              <a:spcAft>
                <a:spcPct val="0"/>
              </a:spcAft>
            </a:pPr>
            <a:r>
              <a:rPr kumimoji="1" lang="en-IN" sz="3200" b="1" kern="0" dirty="0">
                <a:solidFill>
                  <a:srgbClr val="CC3300"/>
                </a:solidFill>
                <a:effectLst>
                  <a:outerShdw blurRad="38100" dist="38100" dir="2700000" algn="tl">
                    <a:srgbClr val="C0C0C0"/>
                  </a:outerShdw>
                </a:effectLst>
                <a:latin typeface="Helvetica"/>
              </a:rPr>
              <a:t>Some Exercises</a:t>
            </a:r>
          </a:p>
        </p:txBody>
      </p:sp>
      <p:sp>
        <p:nvSpPr>
          <p:cNvPr id="3" name="Content Placeholder 2">
            <a:extLst>
              <a:ext uri="{FF2B5EF4-FFF2-40B4-BE49-F238E27FC236}">
                <a16:creationId xmlns:a16="http://schemas.microsoft.com/office/drawing/2014/main" id="{49C4D7F1-2B6D-441B-956C-3E6DEC884D57}"/>
              </a:ext>
            </a:extLst>
          </p:cNvPr>
          <p:cNvSpPr>
            <a:spLocks noGrp="1"/>
          </p:cNvSpPr>
          <p:nvPr>
            <p:ph idx="1"/>
          </p:nvPr>
        </p:nvSpPr>
        <p:spPr>
          <a:xfrm>
            <a:off x="704223" y="829867"/>
            <a:ext cx="10515600" cy="655955"/>
          </a:xfrm>
        </p:spPr>
        <p:txBody>
          <a:bodyPr/>
          <a:lstStyle/>
          <a:p>
            <a:r>
              <a:rPr lang="en-IN" dirty="0"/>
              <a:t>Create the following tables with constraints.</a:t>
            </a:r>
          </a:p>
          <a:p>
            <a:pPr marL="0" indent="0">
              <a:buNone/>
            </a:pPr>
            <a:endParaRPr lang="en-IN" dirty="0"/>
          </a:p>
        </p:txBody>
      </p:sp>
      <p:sp>
        <p:nvSpPr>
          <p:cNvPr id="4" name="Footer Placeholder 3">
            <a:extLst>
              <a:ext uri="{FF2B5EF4-FFF2-40B4-BE49-F238E27FC236}">
                <a16:creationId xmlns:a16="http://schemas.microsoft.com/office/drawing/2014/main" id="{246EF822-B69B-46FF-89E5-9BC5F077DE46}"/>
              </a:ext>
            </a:extLst>
          </p:cNvPr>
          <p:cNvSpPr>
            <a:spLocks noGrp="1"/>
          </p:cNvSpPr>
          <p:nvPr>
            <p:ph type="ftr" sz="quarter" idx="11"/>
          </p:nvPr>
        </p:nvSpPr>
        <p:spPr/>
        <p:txBody>
          <a:bodyPr/>
          <a:lstStyle/>
          <a:p>
            <a:r>
              <a:rPr lang="en-US"/>
              <a:t>SQL</a:t>
            </a:r>
          </a:p>
        </p:txBody>
      </p:sp>
      <p:sp>
        <p:nvSpPr>
          <p:cNvPr id="5" name="Slide Number Placeholder 4">
            <a:extLst>
              <a:ext uri="{FF2B5EF4-FFF2-40B4-BE49-F238E27FC236}">
                <a16:creationId xmlns:a16="http://schemas.microsoft.com/office/drawing/2014/main" id="{FBA68396-D1C9-439B-B95B-7F54094DEC22}"/>
              </a:ext>
            </a:extLst>
          </p:cNvPr>
          <p:cNvSpPr>
            <a:spLocks noGrp="1"/>
          </p:cNvSpPr>
          <p:nvPr>
            <p:ph type="sldNum" sz="quarter" idx="12"/>
          </p:nvPr>
        </p:nvSpPr>
        <p:spPr/>
        <p:txBody>
          <a:bodyPr/>
          <a:lstStyle/>
          <a:p>
            <a:fld id="{03576695-DB63-4967-AFBB-46E84EF49106}" type="slidenum">
              <a:rPr lang="en-US" smtClean="0"/>
              <a:t>31</a:t>
            </a:fld>
            <a:endParaRPr lang="en-US"/>
          </a:p>
        </p:txBody>
      </p:sp>
      <p:graphicFrame>
        <p:nvGraphicFramePr>
          <p:cNvPr id="6" name="Table 5">
            <a:extLst>
              <a:ext uri="{FF2B5EF4-FFF2-40B4-BE49-F238E27FC236}">
                <a16:creationId xmlns:a16="http://schemas.microsoft.com/office/drawing/2014/main" id="{F580AB5E-FB93-4595-B1A8-310C58BBBDFD}"/>
              </a:ext>
            </a:extLst>
          </p:cNvPr>
          <p:cNvGraphicFramePr>
            <a:graphicFrameLocks noGrp="1"/>
          </p:cNvGraphicFramePr>
          <p:nvPr>
            <p:extLst>
              <p:ext uri="{D42A27DB-BD31-4B8C-83A1-F6EECF244321}">
                <p14:modId xmlns:p14="http://schemas.microsoft.com/office/powerpoint/2010/main" val="1697586393"/>
              </p:ext>
            </p:extLst>
          </p:nvPr>
        </p:nvGraphicFramePr>
        <p:xfrm>
          <a:off x="457200" y="1748156"/>
          <a:ext cx="5775960" cy="1776472"/>
        </p:xfrm>
        <a:graphic>
          <a:graphicData uri="http://schemas.openxmlformats.org/drawingml/2006/table">
            <a:tbl>
              <a:tblPr/>
              <a:tblGrid>
                <a:gridCol w="1854777">
                  <a:extLst>
                    <a:ext uri="{9D8B030D-6E8A-4147-A177-3AD203B41FA5}">
                      <a16:colId xmlns:a16="http://schemas.microsoft.com/office/drawing/2014/main" val="2202886912"/>
                    </a:ext>
                  </a:extLst>
                </a:gridCol>
                <a:gridCol w="949383">
                  <a:extLst>
                    <a:ext uri="{9D8B030D-6E8A-4147-A177-3AD203B41FA5}">
                      <a16:colId xmlns:a16="http://schemas.microsoft.com/office/drawing/2014/main" val="3599560210"/>
                    </a:ext>
                  </a:extLst>
                </a:gridCol>
                <a:gridCol w="673510">
                  <a:extLst>
                    <a:ext uri="{9D8B030D-6E8A-4147-A177-3AD203B41FA5}">
                      <a16:colId xmlns:a16="http://schemas.microsoft.com/office/drawing/2014/main" val="1489881376"/>
                    </a:ext>
                  </a:extLst>
                </a:gridCol>
                <a:gridCol w="2298290">
                  <a:extLst>
                    <a:ext uri="{9D8B030D-6E8A-4147-A177-3AD203B41FA5}">
                      <a16:colId xmlns:a16="http://schemas.microsoft.com/office/drawing/2014/main" val="2947957110"/>
                    </a:ext>
                  </a:extLst>
                </a:gridCol>
              </a:tblGrid>
              <a:tr h="318567">
                <a:tc>
                  <a:txBody>
                    <a:bodyPr/>
                    <a:lstStyle/>
                    <a:p>
                      <a:pPr algn="l" fontAlgn="b"/>
                      <a:r>
                        <a:rPr lang="en-IN" sz="1800" b="1" i="0" u="none" strike="noStrike" dirty="0">
                          <a:solidFill>
                            <a:srgbClr val="000000"/>
                          </a:solidFill>
                          <a:effectLst/>
                          <a:latin typeface="Calibri" panose="020F0502020204030204" pitchFamily="34" charset="0"/>
                        </a:rPr>
                        <a:t>Attribute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1800" b="1" i="0" u="none" strike="noStrike" dirty="0">
                          <a:solidFill>
                            <a:srgbClr val="000000"/>
                          </a:solidFill>
                          <a:effectLst/>
                          <a:latin typeface="Calibri" panose="020F0502020204030204" pitchFamily="34" charset="0"/>
                        </a:rPr>
                        <a:t>Datatype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1800" b="1" i="0" u="none" strike="noStrike" dirty="0">
                          <a:solidFill>
                            <a:srgbClr val="000000"/>
                          </a:solidFill>
                          <a:effectLst/>
                          <a:latin typeface="Calibri" panose="020F0502020204030204" pitchFamily="34" charset="0"/>
                        </a:rPr>
                        <a:t>size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1800" b="1" i="0" u="none" strike="noStrike" dirty="0">
                          <a:solidFill>
                            <a:srgbClr val="000000"/>
                          </a:solidFill>
                          <a:effectLst/>
                          <a:latin typeface="Calibri" panose="020F0502020204030204" pitchFamily="34" charset="0"/>
                        </a:rPr>
                        <a:t>Constraint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3736760638"/>
                  </a:ext>
                </a:extLst>
              </a:tr>
              <a:tr h="478357">
                <a:tc>
                  <a:txBody>
                    <a:bodyPr/>
                    <a:lstStyle/>
                    <a:p>
                      <a:pPr algn="l" fontAlgn="b"/>
                      <a:r>
                        <a:rPr lang="en-IN" sz="2000" b="0" i="0" u="none" strike="noStrike" dirty="0">
                          <a:solidFill>
                            <a:srgbClr val="000000"/>
                          </a:solidFill>
                          <a:effectLst/>
                          <a:latin typeface="Calibri" panose="020F0502020204030204" pitchFamily="34" charset="0"/>
                        </a:rPr>
                        <a:t>RegNo</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Number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Primary key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14010624"/>
                  </a:ext>
                </a:extLst>
              </a:tr>
              <a:tr h="418870">
                <a:tc>
                  <a:txBody>
                    <a:bodyPr/>
                    <a:lstStyle/>
                    <a:p>
                      <a:pPr algn="l" fontAlgn="b"/>
                      <a:r>
                        <a:rPr lang="en-IN" sz="2000" b="0" i="0" u="none" strike="noStrike" dirty="0">
                          <a:solidFill>
                            <a:srgbClr val="000000"/>
                          </a:solidFill>
                          <a:effectLst/>
                          <a:latin typeface="Calibri" panose="020F0502020204030204" pitchFamily="34" charset="0"/>
                        </a:rPr>
                        <a:t>Name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Varchar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33240218"/>
                  </a:ext>
                </a:extLst>
              </a:tr>
              <a:tr h="560678">
                <a:tc>
                  <a:txBody>
                    <a:bodyPr/>
                    <a:lstStyle/>
                    <a:p>
                      <a:pPr algn="l" fontAlgn="b"/>
                      <a:r>
                        <a:rPr lang="en-IN" sz="2000" b="0" i="0" u="none" strike="noStrike" dirty="0" err="1">
                          <a:solidFill>
                            <a:srgbClr val="000000"/>
                          </a:solidFill>
                          <a:effectLst/>
                          <a:latin typeface="Calibri" panose="020F0502020204030204" pitchFamily="34" charset="0"/>
                        </a:rPr>
                        <a:t>Faculty_Advisor</a:t>
                      </a:r>
                      <a:endParaRPr lang="en-IN" sz="20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2000" b="0" i="0" u="none" strike="noStrike" dirty="0" err="1">
                          <a:solidFill>
                            <a:srgbClr val="000000"/>
                          </a:solidFill>
                          <a:effectLst/>
                          <a:latin typeface="Calibri" panose="020F0502020204030204" pitchFamily="34" charset="0"/>
                        </a:rPr>
                        <a:t>F.key</a:t>
                      </a:r>
                      <a:r>
                        <a:rPr lang="en-US" sz="2000" b="0" i="0" u="none" strike="noStrike" dirty="0">
                          <a:solidFill>
                            <a:srgbClr val="000000"/>
                          </a:solidFill>
                          <a:effectLst/>
                          <a:latin typeface="Calibri" panose="020F0502020204030204" pitchFamily="34" charset="0"/>
                        </a:rPr>
                        <a:t> referring Faculty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7286315"/>
                  </a:ext>
                </a:extLst>
              </a:tr>
            </a:tbl>
          </a:graphicData>
        </a:graphic>
      </p:graphicFrame>
      <p:graphicFrame>
        <p:nvGraphicFramePr>
          <p:cNvPr id="8" name="Table 7">
            <a:extLst>
              <a:ext uri="{FF2B5EF4-FFF2-40B4-BE49-F238E27FC236}">
                <a16:creationId xmlns:a16="http://schemas.microsoft.com/office/drawing/2014/main" id="{DAA20413-8604-457F-80A7-29BBBCBC67B4}"/>
              </a:ext>
            </a:extLst>
          </p:cNvPr>
          <p:cNvGraphicFramePr>
            <a:graphicFrameLocks noGrp="1"/>
          </p:cNvGraphicFramePr>
          <p:nvPr>
            <p:extLst>
              <p:ext uri="{D42A27DB-BD31-4B8C-83A1-F6EECF244321}">
                <p14:modId xmlns:p14="http://schemas.microsoft.com/office/powerpoint/2010/main" val="2037737035"/>
              </p:ext>
            </p:extLst>
          </p:nvPr>
        </p:nvGraphicFramePr>
        <p:xfrm>
          <a:off x="6842760" y="1793240"/>
          <a:ext cx="5166358" cy="1787416"/>
        </p:xfrm>
        <a:graphic>
          <a:graphicData uri="http://schemas.openxmlformats.org/drawingml/2006/table">
            <a:tbl>
              <a:tblPr/>
              <a:tblGrid>
                <a:gridCol w="1846036">
                  <a:extLst>
                    <a:ext uri="{9D8B030D-6E8A-4147-A177-3AD203B41FA5}">
                      <a16:colId xmlns:a16="http://schemas.microsoft.com/office/drawing/2014/main" val="2251429674"/>
                    </a:ext>
                  </a:extLst>
                </a:gridCol>
                <a:gridCol w="989909">
                  <a:extLst>
                    <a:ext uri="{9D8B030D-6E8A-4147-A177-3AD203B41FA5}">
                      <a16:colId xmlns:a16="http://schemas.microsoft.com/office/drawing/2014/main" val="692754588"/>
                    </a:ext>
                  </a:extLst>
                </a:gridCol>
                <a:gridCol w="654015">
                  <a:extLst>
                    <a:ext uri="{9D8B030D-6E8A-4147-A177-3AD203B41FA5}">
                      <a16:colId xmlns:a16="http://schemas.microsoft.com/office/drawing/2014/main" val="1712169815"/>
                    </a:ext>
                  </a:extLst>
                </a:gridCol>
                <a:gridCol w="1676398">
                  <a:extLst>
                    <a:ext uri="{9D8B030D-6E8A-4147-A177-3AD203B41FA5}">
                      <a16:colId xmlns:a16="http://schemas.microsoft.com/office/drawing/2014/main" val="1092918285"/>
                    </a:ext>
                  </a:extLst>
                </a:gridCol>
              </a:tblGrid>
              <a:tr h="396984">
                <a:tc>
                  <a:txBody>
                    <a:bodyPr/>
                    <a:lstStyle/>
                    <a:p>
                      <a:pPr algn="l" fontAlgn="b"/>
                      <a:r>
                        <a:rPr lang="en-IN" sz="1800" b="1" i="0" u="none" strike="noStrike" dirty="0">
                          <a:solidFill>
                            <a:srgbClr val="000000"/>
                          </a:solidFill>
                          <a:effectLst/>
                          <a:latin typeface="Calibri" panose="020F0502020204030204" pitchFamily="34" charset="0"/>
                        </a:rPr>
                        <a:t>Attribute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1800" b="1" i="0" u="none" strike="noStrike" dirty="0">
                          <a:solidFill>
                            <a:srgbClr val="000000"/>
                          </a:solidFill>
                          <a:effectLst/>
                          <a:latin typeface="Calibri" panose="020F0502020204030204" pitchFamily="34" charset="0"/>
                        </a:rPr>
                        <a:t>Datatype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1800" b="1" i="0" u="none" strike="noStrike" dirty="0">
                          <a:solidFill>
                            <a:srgbClr val="000000"/>
                          </a:solidFill>
                          <a:effectLst/>
                          <a:latin typeface="Calibri" panose="020F0502020204030204" pitchFamily="34" charset="0"/>
                        </a:rPr>
                        <a:t>size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1800" b="1" i="0" u="none" strike="noStrike" dirty="0">
                          <a:solidFill>
                            <a:srgbClr val="000000"/>
                          </a:solidFill>
                          <a:effectLst/>
                          <a:latin typeface="Calibri" panose="020F0502020204030204" pitchFamily="34" charset="0"/>
                        </a:rPr>
                        <a:t>Constraint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991657762"/>
                  </a:ext>
                </a:extLst>
              </a:tr>
              <a:tr h="396984">
                <a:tc>
                  <a:txBody>
                    <a:bodyPr/>
                    <a:lstStyle/>
                    <a:p>
                      <a:pPr algn="l" fontAlgn="b"/>
                      <a:r>
                        <a:rPr lang="en-IN" sz="2000" b="0" i="0" u="none" strike="noStrike" dirty="0" err="1">
                          <a:solidFill>
                            <a:srgbClr val="000000"/>
                          </a:solidFill>
                          <a:effectLst/>
                          <a:latin typeface="Calibri" panose="020F0502020204030204" pitchFamily="34" charset="0"/>
                        </a:rPr>
                        <a:t>Faculty_ID</a:t>
                      </a:r>
                      <a:endParaRPr lang="en-IN" sz="20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Number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Primary Key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56480466"/>
                  </a:ext>
                </a:extLst>
              </a:tr>
              <a:tr h="444808">
                <a:tc>
                  <a:txBody>
                    <a:bodyPr/>
                    <a:lstStyle/>
                    <a:p>
                      <a:pPr algn="l" fontAlgn="b"/>
                      <a:r>
                        <a:rPr lang="en-IN" sz="2000" b="0" i="0" u="none" strike="noStrike" dirty="0">
                          <a:solidFill>
                            <a:srgbClr val="000000"/>
                          </a:solidFill>
                          <a:effectLst/>
                          <a:latin typeface="Calibri" panose="020F0502020204030204" pitchFamily="34" charset="0"/>
                        </a:rPr>
                        <a:t>Name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Varchar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69691126"/>
                  </a:ext>
                </a:extLst>
              </a:tr>
              <a:tr h="396984">
                <a:tc>
                  <a:txBody>
                    <a:bodyPr/>
                    <a:lstStyle/>
                    <a:p>
                      <a:pPr algn="l" fontAlgn="b"/>
                      <a:r>
                        <a:rPr lang="en-IN" sz="2000" b="0" i="0" u="none" strike="noStrike" dirty="0" err="1">
                          <a:solidFill>
                            <a:srgbClr val="000000"/>
                          </a:solidFill>
                          <a:effectLst/>
                          <a:latin typeface="Calibri" panose="020F0502020204030204" pitchFamily="34" charset="0"/>
                        </a:rPr>
                        <a:t>Dno</a:t>
                      </a:r>
                      <a:endParaRPr lang="en-IN" sz="20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1800" b="0" i="0" u="none" strike="noStrike" dirty="0">
                          <a:solidFill>
                            <a:srgbClr val="000000"/>
                          </a:solidFill>
                          <a:effectLst/>
                          <a:latin typeface="Calibri" panose="020F0502020204030204" pitchFamily="34" charset="0"/>
                        </a:rPr>
                        <a:t> References with set null constraint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71464941"/>
                  </a:ext>
                </a:extLst>
              </a:tr>
            </a:tbl>
          </a:graphicData>
        </a:graphic>
      </p:graphicFrame>
      <p:graphicFrame>
        <p:nvGraphicFramePr>
          <p:cNvPr id="10" name="Table 9">
            <a:extLst>
              <a:ext uri="{FF2B5EF4-FFF2-40B4-BE49-F238E27FC236}">
                <a16:creationId xmlns:a16="http://schemas.microsoft.com/office/drawing/2014/main" id="{27A9892E-BFC9-40E5-B5AF-366787ABE2DC}"/>
              </a:ext>
            </a:extLst>
          </p:cNvPr>
          <p:cNvGraphicFramePr>
            <a:graphicFrameLocks noGrp="1"/>
          </p:cNvGraphicFramePr>
          <p:nvPr>
            <p:extLst>
              <p:ext uri="{D42A27DB-BD31-4B8C-83A1-F6EECF244321}">
                <p14:modId xmlns:p14="http://schemas.microsoft.com/office/powerpoint/2010/main" val="542675759"/>
              </p:ext>
            </p:extLst>
          </p:nvPr>
        </p:nvGraphicFramePr>
        <p:xfrm>
          <a:off x="3845558" y="4202546"/>
          <a:ext cx="4765042" cy="1786718"/>
        </p:xfrm>
        <a:graphic>
          <a:graphicData uri="http://schemas.openxmlformats.org/drawingml/2006/table">
            <a:tbl>
              <a:tblPr/>
              <a:tblGrid>
                <a:gridCol w="1137275">
                  <a:extLst>
                    <a:ext uri="{9D8B030D-6E8A-4147-A177-3AD203B41FA5}">
                      <a16:colId xmlns:a16="http://schemas.microsoft.com/office/drawing/2014/main" val="4106284425"/>
                    </a:ext>
                  </a:extLst>
                </a:gridCol>
                <a:gridCol w="965845">
                  <a:extLst>
                    <a:ext uri="{9D8B030D-6E8A-4147-A177-3AD203B41FA5}">
                      <a16:colId xmlns:a16="http://schemas.microsoft.com/office/drawing/2014/main" val="913912415"/>
                    </a:ext>
                  </a:extLst>
                </a:gridCol>
                <a:gridCol w="876831">
                  <a:extLst>
                    <a:ext uri="{9D8B030D-6E8A-4147-A177-3AD203B41FA5}">
                      <a16:colId xmlns:a16="http://schemas.microsoft.com/office/drawing/2014/main" val="3171468793"/>
                    </a:ext>
                  </a:extLst>
                </a:gridCol>
                <a:gridCol w="1785091">
                  <a:extLst>
                    <a:ext uri="{9D8B030D-6E8A-4147-A177-3AD203B41FA5}">
                      <a16:colId xmlns:a16="http://schemas.microsoft.com/office/drawing/2014/main" val="3399288726"/>
                    </a:ext>
                  </a:extLst>
                </a:gridCol>
              </a:tblGrid>
              <a:tr h="567396">
                <a:tc>
                  <a:txBody>
                    <a:bodyPr/>
                    <a:lstStyle/>
                    <a:p>
                      <a:pPr algn="l" fontAlgn="b"/>
                      <a:r>
                        <a:rPr lang="en-IN" sz="2000" b="1" i="0" u="none" strike="noStrike" dirty="0">
                          <a:solidFill>
                            <a:srgbClr val="000000"/>
                          </a:solidFill>
                          <a:effectLst/>
                          <a:latin typeface="Calibri" panose="020F0502020204030204" pitchFamily="34" charset="0"/>
                        </a:rPr>
                        <a:t>Attribute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2000" b="1" i="0" u="none" strike="noStrike" dirty="0">
                          <a:solidFill>
                            <a:srgbClr val="000000"/>
                          </a:solidFill>
                          <a:effectLst/>
                          <a:latin typeface="Calibri" panose="020F0502020204030204" pitchFamily="34" charset="0"/>
                        </a:rPr>
                        <a:t>Datatype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2000" b="1" i="0" u="none" strike="noStrike" dirty="0">
                          <a:solidFill>
                            <a:srgbClr val="000000"/>
                          </a:solidFill>
                          <a:effectLst/>
                          <a:latin typeface="Calibri" panose="020F0502020204030204" pitchFamily="34" charset="0"/>
                        </a:rPr>
                        <a:t>size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2000" b="1" i="0" u="none" strike="noStrike" dirty="0">
                          <a:solidFill>
                            <a:srgbClr val="000000"/>
                          </a:solidFill>
                          <a:effectLst/>
                          <a:latin typeface="Calibri" panose="020F0502020204030204" pitchFamily="34" charset="0"/>
                        </a:rPr>
                        <a:t>Constraint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3802227920"/>
                  </a:ext>
                </a:extLst>
              </a:tr>
              <a:tr h="450427">
                <a:tc>
                  <a:txBody>
                    <a:bodyPr/>
                    <a:lstStyle/>
                    <a:p>
                      <a:pPr algn="l" fontAlgn="b"/>
                      <a:r>
                        <a:rPr lang="en-IN" sz="2000" b="0" i="0" u="none" strike="noStrike" dirty="0" err="1">
                          <a:solidFill>
                            <a:srgbClr val="000000"/>
                          </a:solidFill>
                          <a:effectLst/>
                          <a:latin typeface="Calibri" panose="020F0502020204030204" pitchFamily="34" charset="0"/>
                        </a:rPr>
                        <a:t>DeptID</a:t>
                      </a:r>
                      <a:endParaRPr lang="en-IN" sz="20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libri" panose="020F0502020204030204" pitchFamily="34" charset="0"/>
                        </a:rPr>
                        <a:t>Char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Unique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95294047"/>
                  </a:ext>
                </a:extLst>
              </a:tr>
              <a:tr h="434341">
                <a:tc>
                  <a:txBody>
                    <a:bodyPr/>
                    <a:lstStyle/>
                    <a:p>
                      <a:pPr algn="l" fontAlgn="b"/>
                      <a:r>
                        <a:rPr lang="en-IN" sz="2000" b="0" i="0" u="none" strike="noStrike" dirty="0">
                          <a:solidFill>
                            <a:srgbClr val="000000"/>
                          </a:solidFill>
                          <a:effectLst/>
                          <a:latin typeface="Calibri" panose="020F0502020204030204" pitchFamily="34" charset="0"/>
                        </a:rPr>
                        <a:t>Dname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Varchar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Unique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19425517"/>
                  </a:ext>
                </a:extLst>
              </a:tr>
              <a:tr h="334554">
                <a:tc>
                  <a:txBody>
                    <a:bodyPr/>
                    <a:lstStyle/>
                    <a:p>
                      <a:pPr algn="l" fontAlgn="b"/>
                      <a:r>
                        <a:rPr lang="en-IN" sz="2000" b="0" i="0" u="none" strike="noStrike" dirty="0">
                          <a:solidFill>
                            <a:srgbClr val="000000"/>
                          </a:solidFill>
                          <a:effectLst/>
                          <a:latin typeface="Calibri" panose="020F0502020204030204" pitchFamily="34" charset="0"/>
                        </a:rPr>
                        <a:t>HOD</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 Varchar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 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20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4009236"/>
                  </a:ext>
                </a:extLst>
              </a:tr>
            </a:tbl>
          </a:graphicData>
        </a:graphic>
      </p:graphicFrame>
      <p:sp>
        <p:nvSpPr>
          <p:cNvPr id="7" name="Rectangle 6">
            <a:extLst>
              <a:ext uri="{FF2B5EF4-FFF2-40B4-BE49-F238E27FC236}">
                <a16:creationId xmlns:a16="http://schemas.microsoft.com/office/drawing/2014/main" id="{A2EE59DB-5C1F-432F-BD38-02CE5F0BCAE8}"/>
              </a:ext>
            </a:extLst>
          </p:cNvPr>
          <p:cNvSpPr/>
          <p:nvPr/>
        </p:nvSpPr>
        <p:spPr>
          <a:xfrm>
            <a:off x="311327" y="1371838"/>
            <a:ext cx="785793" cy="400110"/>
          </a:xfrm>
          <a:prstGeom prst="rect">
            <a:avLst/>
          </a:prstGeom>
        </p:spPr>
        <p:txBody>
          <a:bodyPr wrap="none">
            <a:spAutoFit/>
          </a:bodyPr>
          <a:lstStyle/>
          <a:p>
            <a:r>
              <a:rPr lang="en-IN" sz="2000" b="1" dirty="0"/>
              <a:t>EMP  </a:t>
            </a:r>
          </a:p>
        </p:txBody>
      </p:sp>
      <p:sp>
        <p:nvSpPr>
          <p:cNvPr id="9" name="Rectangle 8">
            <a:extLst>
              <a:ext uri="{FF2B5EF4-FFF2-40B4-BE49-F238E27FC236}">
                <a16:creationId xmlns:a16="http://schemas.microsoft.com/office/drawing/2014/main" id="{74316FE8-3338-476C-86D5-606C65CA259D}"/>
              </a:ext>
            </a:extLst>
          </p:cNvPr>
          <p:cNvSpPr/>
          <p:nvPr/>
        </p:nvSpPr>
        <p:spPr>
          <a:xfrm>
            <a:off x="3845558" y="3802436"/>
            <a:ext cx="733727" cy="400110"/>
          </a:xfrm>
          <a:prstGeom prst="rect">
            <a:avLst/>
          </a:prstGeom>
        </p:spPr>
        <p:txBody>
          <a:bodyPr wrap="none">
            <a:spAutoFit/>
          </a:bodyPr>
          <a:lstStyle/>
          <a:p>
            <a:r>
              <a:rPr lang="en-IN" sz="2000" b="1" dirty="0"/>
              <a:t>DEPT</a:t>
            </a:r>
          </a:p>
        </p:txBody>
      </p:sp>
      <p:sp>
        <p:nvSpPr>
          <p:cNvPr id="11" name="Rectangle 10">
            <a:extLst>
              <a:ext uri="{FF2B5EF4-FFF2-40B4-BE49-F238E27FC236}">
                <a16:creationId xmlns:a16="http://schemas.microsoft.com/office/drawing/2014/main" id="{9B101E99-1798-405E-95DB-01EE0F4CA86C}"/>
              </a:ext>
            </a:extLst>
          </p:cNvPr>
          <p:cNvSpPr/>
          <p:nvPr/>
        </p:nvSpPr>
        <p:spPr>
          <a:xfrm>
            <a:off x="6842760" y="1416934"/>
            <a:ext cx="1092479" cy="400110"/>
          </a:xfrm>
          <a:prstGeom prst="rect">
            <a:avLst/>
          </a:prstGeom>
        </p:spPr>
        <p:txBody>
          <a:bodyPr wrap="none">
            <a:spAutoFit/>
          </a:bodyPr>
          <a:lstStyle/>
          <a:p>
            <a:r>
              <a:rPr lang="en-IN" sz="2000" b="1" dirty="0"/>
              <a:t>FACULTY</a:t>
            </a:r>
          </a:p>
        </p:txBody>
      </p:sp>
    </p:spTree>
    <p:extLst>
      <p:ext uri="{BB962C8B-B14F-4D97-AF65-F5344CB8AC3E}">
        <p14:creationId xmlns:p14="http://schemas.microsoft.com/office/powerpoint/2010/main" val="91264868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2262188" y="9525"/>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The CHECK clause – </a:t>
            </a:r>
            <a:r>
              <a:rPr kumimoji="1" lang="en-US" sz="28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Using IN</a:t>
            </a:r>
            <a:endParaRPr kumimoji="1" lang="en-US" sz="32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3" name="Rectangle 3"/>
          <p:cNvSpPr txBox="1">
            <a:spLocks noChangeArrowheads="1"/>
          </p:cNvSpPr>
          <p:nvPr/>
        </p:nvSpPr>
        <p:spPr bwMode="auto">
          <a:xfrm>
            <a:off x="1171576" y="619125"/>
            <a:ext cx="10629900" cy="977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Char char="n"/>
              <a:tabLst/>
              <a:defRPr/>
            </a:pPr>
            <a:r>
              <a:rPr kumimoji="1" lang="en-US" altLang="en-US" sz="2800" b="1" i="0" u="none" strike="noStrike" kern="0" cap="none" spc="0" normalizeH="0" baseline="0" noProof="0" dirty="0">
                <a:ln>
                  <a:noFill/>
                </a:ln>
                <a:solidFill>
                  <a:srgbClr val="000000"/>
                </a:solidFill>
                <a:effectLst/>
                <a:uLnTx/>
                <a:uFillTx/>
                <a:latin typeface="Helvetica"/>
                <a:ea typeface="+mn-ea"/>
                <a:cs typeface="+mn-cs"/>
              </a:rPr>
              <a:t>check </a:t>
            </a:r>
            <a:r>
              <a:rPr kumimoji="1" lang="en-US" altLang="en-US" sz="2800" b="0" i="0" u="none" strike="noStrike" kern="0" cap="none" spc="0" normalizeH="0" baseline="0" noProof="0" dirty="0">
                <a:ln>
                  <a:noFill/>
                </a:ln>
                <a:solidFill>
                  <a:srgbClr val="000000"/>
                </a:solidFill>
                <a:effectLst/>
                <a:uLnTx/>
                <a:uFillTx/>
                <a:latin typeface="Helvetica"/>
                <a:ea typeface="+mn-ea"/>
                <a:cs typeface="+mn-cs"/>
              </a:rPr>
              <a:t>(</a:t>
            </a:r>
            <a:r>
              <a:rPr kumimoji="1" lang="en-US" altLang="en-US" sz="2800" b="1" i="0" u="none" strike="noStrike" kern="0" cap="none" spc="0" normalizeH="0" baseline="0" noProof="0" dirty="0">
                <a:ln>
                  <a:noFill/>
                </a:ln>
                <a:solidFill>
                  <a:srgbClr val="000000"/>
                </a:solidFill>
                <a:effectLst/>
                <a:uLnTx/>
                <a:uFillTx/>
                <a:latin typeface="Helvetica"/>
                <a:ea typeface="+mn-ea"/>
                <a:cs typeface="+mn-cs"/>
              </a:rPr>
              <a:t>P</a:t>
            </a:r>
            <a:r>
              <a:rPr kumimoji="1" lang="en-US" altLang="en-US" sz="2800" b="0" i="0" u="none" strike="noStrike" kern="0" cap="none" spc="0" normalizeH="0" baseline="0" noProof="0" dirty="0">
                <a:ln>
                  <a:noFill/>
                </a:ln>
                <a:solidFill>
                  <a:srgbClr val="000000"/>
                </a:solidFill>
                <a:effectLst/>
                <a:uLnTx/>
                <a:uFillTx/>
                <a:latin typeface="Helvetica"/>
                <a:ea typeface="+mn-ea"/>
                <a:cs typeface="+mn-cs"/>
              </a:rPr>
              <a:t>)        </a:t>
            </a:r>
            <a:r>
              <a:rPr lang="en-US" altLang="en-US" sz="2400" kern="0" dirty="0">
                <a:solidFill>
                  <a:srgbClr val="000000"/>
                </a:solidFill>
                <a:latin typeface="Helvetica"/>
              </a:rPr>
              <a:t>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where </a:t>
            </a:r>
            <a:r>
              <a:rPr kumimoji="1" lang="en-US" altLang="en-US" sz="2000" b="1" i="0" u="none" strike="noStrike" kern="0" cap="none" spc="0" normalizeH="0" baseline="0" noProof="0" dirty="0">
                <a:ln>
                  <a:noFill/>
                </a:ln>
                <a:solidFill>
                  <a:srgbClr val="000000"/>
                </a:solidFill>
                <a:effectLst/>
                <a:uLnTx/>
                <a:uFillTx/>
                <a:latin typeface="Helvetica"/>
                <a:ea typeface="+mn-ea"/>
                <a:cs typeface="+mn-cs"/>
              </a:rPr>
              <a:t>P </a:t>
            </a:r>
            <a:r>
              <a:rPr kumimoji="1" lang="en-US" altLang="en-US" sz="2000" b="0" i="0" u="none" strike="noStrike" kern="0" cap="none" spc="0" normalizeH="0" baseline="0" noProof="0" dirty="0">
                <a:ln>
                  <a:noFill/>
                </a:ln>
                <a:solidFill>
                  <a:srgbClr val="000000"/>
                </a:solidFill>
                <a:effectLst/>
                <a:uLnTx/>
                <a:uFillTx/>
                <a:latin typeface="Helvetica"/>
                <a:ea typeface="+mn-ea"/>
                <a:cs typeface="+mn-cs"/>
              </a:rPr>
              <a:t>is a predicate(condition)</a:t>
            </a:r>
          </a:p>
          <a:p>
            <a:pPr marL="342900" marR="0" lvl="0" indent="-342900" algn="l" defTabSz="914400" rtl="0" eaLnBrk="0" fontAlgn="base" latinLnBrk="0" hangingPunct="0">
              <a:lnSpc>
                <a:spcPct val="100000"/>
              </a:lnSpc>
              <a:spcBef>
                <a:spcPct val="35000"/>
              </a:spcBef>
              <a:spcAft>
                <a:spcPct val="0"/>
              </a:spcAft>
              <a:buClr>
                <a:srgbClr val="CC3300"/>
              </a:buClr>
              <a:buSzPct val="90000"/>
              <a:buFont typeface="Monotype Sorts" charset="2"/>
              <a:buNone/>
              <a:tabLst/>
              <a:defRPr/>
            </a:pPr>
            <a:r>
              <a:rPr lang="en-US" altLang="en-US" sz="2400" kern="0" dirty="0">
                <a:solidFill>
                  <a:srgbClr val="000000"/>
                </a:solidFill>
                <a:latin typeface="Helvetica"/>
              </a:rPr>
              <a:t>Ensures the data entering into the column must satisfy </a:t>
            </a:r>
            <a:r>
              <a:rPr lang="en-US" altLang="en-US" sz="2400" b="1" kern="0" dirty="0">
                <a:solidFill>
                  <a:srgbClr val="000000"/>
                </a:solidFill>
                <a:latin typeface="Helvetica"/>
              </a:rPr>
              <a:t>P</a:t>
            </a:r>
            <a:r>
              <a:rPr lang="en-US" altLang="en-US" sz="2400" kern="0" dirty="0">
                <a:solidFill>
                  <a:srgbClr val="000000"/>
                </a:solidFill>
                <a:latin typeface="Helvetica"/>
              </a:rPr>
              <a:t> otherwise rejected</a:t>
            </a:r>
            <a:endParaRPr kumimoji="1" lang="en-US" altLang="en-US" sz="2000" b="1" i="0" u="none" strike="noStrike" kern="0" cap="none" spc="0" normalizeH="0" baseline="0" noProof="0" dirty="0">
              <a:ln>
                <a:noFill/>
              </a:ln>
              <a:solidFill>
                <a:srgbClr val="000000"/>
              </a:solidFill>
              <a:effectLst/>
              <a:uLnTx/>
              <a:uFillTx/>
              <a:latin typeface="Helvetica"/>
              <a:ea typeface="+mn-ea"/>
              <a:cs typeface="+mn-cs"/>
            </a:endParaRPr>
          </a:p>
        </p:txBody>
      </p:sp>
      <p:sp>
        <p:nvSpPr>
          <p:cNvPr id="4" name="Rectangle 4"/>
          <p:cNvSpPr>
            <a:spLocks noChangeArrowheads="1"/>
          </p:cNvSpPr>
          <p:nvPr/>
        </p:nvSpPr>
        <p:spPr bwMode="auto">
          <a:xfrm>
            <a:off x="880218" y="2069637"/>
            <a:ext cx="10431563" cy="4945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a:tabLst>
                <a:tab pos="1428750" algn="l"/>
                <a:tab pos="1711325" algn="l"/>
                <a:tab pos="3319463" algn="l"/>
              </a:tabLst>
              <a:defRPr sz="1600">
                <a:solidFill>
                  <a:schemeClr val="tx1"/>
                </a:solidFill>
                <a:latin typeface="Helvetica" panose="020B0604020202020204" pitchFamily="34" charset="0"/>
                <a:ea typeface="MS PGothic" panose="020B0600070205080204" pitchFamily="34" charset="-128"/>
              </a:defRPr>
            </a:lvl1pPr>
            <a:lvl2pPr marL="37931725" indent="-37474525">
              <a:tabLst>
                <a:tab pos="1428750" algn="l"/>
                <a:tab pos="1711325" algn="l"/>
                <a:tab pos="3319463" algn="l"/>
              </a:tabLst>
              <a:defRPr sz="1600">
                <a:solidFill>
                  <a:schemeClr val="tx1"/>
                </a:solidFill>
                <a:latin typeface="Helvetica" panose="020B0604020202020204" pitchFamily="34" charset="0"/>
                <a:ea typeface="MS PGothic" panose="020B0600070205080204" pitchFamily="34" charset="-128"/>
              </a:defRPr>
            </a:lvl2pPr>
            <a:lvl3pPr>
              <a:tabLst>
                <a:tab pos="1428750" algn="l"/>
                <a:tab pos="1711325" algn="l"/>
                <a:tab pos="3319463" algn="l"/>
              </a:tabLst>
              <a:defRPr sz="1600">
                <a:solidFill>
                  <a:schemeClr val="tx1"/>
                </a:solidFill>
                <a:latin typeface="Helvetica" panose="020B0604020202020204" pitchFamily="34" charset="0"/>
                <a:ea typeface="MS PGothic" panose="020B0600070205080204" pitchFamily="34" charset="-128"/>
              </a:defRPr>
            </a:lvl3pPr>
            <a:lvl4pPr>
              <a:tabLst>
                <a:tab pos="1428750" algn="l"/>
                <a:tab pos="1711325" algn="l"/>
                <a:tab pos="3319463" algn="l"/>
              </a:tabLst>
              <a:defRPr sz="1600">
                <a:solidFill>
                  <a:schemeClr val="tx1"/>
                </a:solidFill>
                <a:latin typeface="Helvetica" panose="020B0604020202020204" pitchFamily="34" charset="0"/>
                <a:ea typeface="MS PGothic" panose="020B0600070205080204" pitchFamily="34" charset="-128"/>
              </a:defRPr>
            </a:lvl4pPr>
            <a:lvl5pPr>
              <a:tabLst>
                <a:tab pos="1428750" algn="l"/>
                <a:tab pos="1711325" algn="l"/>
                <a:tab pos="3319463" algn="l"/>
              </a:tabLst>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tabLst>
                <a:tab pos="1428750" algn="l"/>
                <a:tab pos="1711325" algn="l"/>
                <a:tab pos="3319463" algn="l"/>
              </a:tabLs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tabLst>
                <a:tab pos="1428750" algn="l"/>
                <a:tab pos="1711325" algn="l"/>
                <a:tab pos="3319463" algn="l"/>
              </a:tabLs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tabLst>
                <a:tab pos="1428750" algn="l"/>
                <a:tab pos="1711325" algn="l"/>
                <a:tab pos="3319463" algn="l"/>
              </a:tabLs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tabLst>
                <a:tab pos="1428750" algn="l"/>
                <a:tab pos="1711325" algn="l"/>
                <a:tab pos="3319463" algn="l"/>
              </a:tabLst>
              <a:defRPr sz="1600">
                <a:solidFill>
                  <a:schemeClr val="tx1"/>
                </a:solidFill>
                <a:latin typeface="Helvetica" panose="020B0604020202020204" pitchFamily="34" charset="0"/>
                <a:ea typeface="MS PGothic" panose="020B0600070205080204" pitchFamily="34" charset="-128"/>
              </a:defRPr>
            </a:lvl9pPr>
          </a:lstStyle>
          <a:p>
            <a:pPr marL="0" marR="0" lvl="0" indent="0" defTabSz="914400" eaLnBrk="1" fontAlgn="auto" latinLnBrk="0" hangingPunct="1">
              <a:lnSpc>
                <a:spcPct val="100000"/>
              </a:lnSpc>
              <a:spcBef>
                <a:spcPts val="0"/>
              </a:spcBef>
              <a:spcAft>
                <a:spcPts val="0"/>
              </a:spcAft>
              <a:buClrTx/>
              <a:buSzTx/>
              <a:buFontTx/>
              <a:buNone/>
              <a:tabLst>
                <a:tab pos="1428750" algn="l"/>
                <a:tab pos="1711325" algn="l"/>
                <a:tab pos="3319463" algn="l"/>
              </a:tabLst>
              <a:defRPr/>
            </a:pPr>
            <a:r>
              <a:rPr kumimoji="0" lang="en-US" altLang="en-US" sz="24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Example:  </a:t>
            </a: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ensure that Type of Courses offered by a Department is any one of  MCA, </a:t>
            </a:r>
            <a:r>
              <a:rPr kumimoji="0" lang="en-US" altLang="en-US" sz="2000" b="0" i="0" u="none" strike="noStrike" kern="0" cap="none" spc="0" normalizeH="0" baseline="0" noProof="0" dirty="0" err="1">
                <a:ln>
                  <a:noFill/>
                </a:ln>
                <a:solidFill>
                  <a:srgbClr val="000000"/>
                </a:solidFill>
                <a:effectLst/>
                <a:uLnTx/>
                <a:uFillTx/>
                <a:latin typeface="Helvetica" panose="020B0604020202020204" pitchFamily="34" charset="0"/>
                <a:ea typeface="MS PGothic" panose="020B0600070205080204" pitchFamily="34" charset="-128"/>
              </a:rPr>
              <a:t>MTech</a:t>
            </a: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r>
              <a:rPr kumimoji="0" lang="en-US" altLang="en-US" sz="2000" b="0" i="0" u="none" strike="noStrike" kern="0" cap="none" spc="0" normalizeH="0" baseline="0" noProof="0" dirty="0" err="1">
                <a:ln>
                  <a:noFill/>
                </a:ln>
                <a:solidFill>
                  <a:srgbClr val="000000"/>
                </a:solidFill>
                <a:effectLst/>
                <a:uLnTx/>
                <a:uFillTx/>
                <a:latin typeface="Helvetica" panose="020B0604020202020204" pitchFamily="34" charset="0"/>
                <a:ea typeface="MS PGothic" panose="020B0600070205080204" pitchFamily="34" charset="-128"/>
              </a:rPr>
              <a:t>BTec,MS</a:t>
            </a: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p>
          <a:p>
            <a:pPr marL="0" marR="0" lvl="0" indent="0" defTabSz="914400" eaLnBrk="1" fontAlgn="auto" latinLnBrk="0" hangingPunct="1">
              <a:lnSpc>
                <a:spcPct val="150000"/>
              </a:lnSpc>
              <a:spcBef>
                <a:spcPts val="0"/>
              </a:spcBef>
              <a:spcAft>
                <a:spcPts val="0"/>
              </a:spcAft>
              <a:buClrTx/>
              <a:buSzTx/>
              <a:buFontTx/>
              <a:buNone/>
              <a:tabLst>
                <a:tab pos="1428750" algn="l"/>
                <a:tab pos="1711325" algn="l"/>
                <a:tab pos="3319463" algn="l"/>
              </a:tabLst>
              <a:defRPr/>
            </a:pPr>
            <a:endParaRPr kumimoji="0" lang="en-US" altLang="en-US" sz="12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endParaRPr>
          </a:p>
          <a:p>
            <a:pPr marL="0" marR="0" lvl="0" indent="0" defTabSz="914400" eaLnBrk="1" fontAlgn="auto" latinLnBrk="0" hangingPunct="1">
              <a:lnSpc>
                <a:spcPct val="150000"/>
              </a:lnSpc>
              <a:spcBef>
                <a:spcPts val="0"/>
              </a:spcBef>
              <a:spcAft>
                <a:spcPts val="0"/>
              </a:spcAft>
              <a:buClrTx/>
              <a:buSzTx/>
              <a:buFontTx/>
              <a:buNone/>
              <a:tabLst>
                <a:tab pos="1428750" algn="l"/>
                <a:tab pos="1711325" algn="l"/>
                <a:tab pos="3319463" algn="l"/>
              </a:tabLst>
              <a:defRPr/>
            </a:pP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CREATE TABLE </a:t>
            </a:r>
            <a:r>
              <a:rPr kumimoji="0" lang="en-US" altLang="en-US" sz="2000" b="0" i="1"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Department </a:t>
            </a:r>
            <a:r>
              <a:rPr kumimoji="0" lang="en-US" altLang="en-US" sz="2000" b="1" i="0" u="none" strike="noStrike" kern="0" cap="none" spc="0" normalizeH="0" baseline="0" noProof="0" dirty="0">
                <a:ln>
                  <a:noFill/>
                </a:ln>
                <a:solidFill>
                  <a:srgbClr val="E2F4FF">
                    <a:lumMod val="50000"/>
                  </a:srgbClr>
                </a:solidFill>
                <a:effectLst/>
                <a:uLnTx/>
                <a:uFillTx/>
                <a:latin typeface="Helvetica" panose="020B0604020202020204" pitchFamily="34" charset="0"/>
                <a:ea typeface="MS PGothic" panose="020B0600070205080204" pitchFamily="34" charset="-128"/>
              </a:rPr>
              <a:t>(</a:t>
            </a:r>
          </a:p>
          <a:p>
            <a:pPr marL="0" marR="0" lvl="0" indent="0" defTabSz="914400" eaLnBrk="1" fontAlgn="auto" latinLnBrk="0" hangingPunct="1">
              <a:lnSpc>
                <a:spcPct val="150000"/>
              </a:lnSpc>
              <a:spcBef>
                <a:spcPts val="0"/>
              </a:spcBef>
              <a:spcAft>
                <a:spcPts val="0"/>
              </a:spcAft>
              <a:buClrTx/>
              <a:buSzTx/>
              <a:buFontTx/>
              <a:buNone/>
              <a:tabLst>
                <a:tab pos="1428750" algn="l"/>
                <a:tab pos="1711325" algn="l"/>
                <a:tab pos="3319463" algn="l"/>
              </a:tabLst>
              <a:defRPr/>
            </a:pP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r>
              <a:rPr kumimoji="0" lang="en-US" altLang="en-US" sz="2000" b="0" i="1" u="none" strike="noStrike" kern="0" cap="none" spc="0" normalizeH="0" baseline="0" noProof="0" dirty="0" err="1">
                <a:ln>
                  <a:noFill/>
                </a:ln>
                <a:solidFill>
                  <a:srgbClr val="000000"/>
                </a:solidFill>
                <a:effectLst/>
                <a:uLnTx/>
                <a:uFillTx/>
                <a:latin typeface="Helvetica" panose="020B0604020202020204" pitchFamily="34" charset="0"/>
                <a:ea typeface="MS PGothic" panose="020B0600070205080204" pitchFamily="34" charset="-128"/>
              </a:rPr>
              <a:t>Department_name</a:t>
            </a:r>
            <a:r>
              <a:rPr kumimoji="0" lang="en-US" altLang="en-US" sz="2000" b="0" i="1"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varchar </a:t>
            </a: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(8) </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PRIMARY KEY,</a:t>
            </a:r>
          </a:p>
          <a:p>
            <a:pPr marL="0" marR="0" lvl="0" indent="0" defTabSz="914400" eaLnBrk="1" fontAlgn="auto" latinLnBrk="0" hangingPunct="1">
              <a:lnSpc>
                <a:spcPct val="150000"/>
              </a:lnSpc>
              <a:spcBef>
                <a:spcPts val="0"/>
              </a:spcBef>
              <a:spcAft>
                <a:spcPts val="0"/>
              </a:spcAft>
              <a:buClrTx/>
              <a:buSzTx/>
              <a:buFontTx/>
              <a:buNone/>
              <a:tabLst>
                <a:tab pos="1428750" algn="l"/>
                <a:tab pos="1711325" algn="l"/>
                <a:tab pos="3319463" algn="l"/>
              </a:tabLst>
              <a:defRPr/>
            </a:pPr>
            <a:r>
              <a:rPr kumimoji="0" lang="en-US" altLang="en-US" sz="2000" b="0" i="1"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r>
              <a:rPr kumimoji="0" lang="en-US" altLang="en-US" sz="2000" b="0" i="1" u="none" strike="noStrike" kern="0" cap="none" spc="0" normalizeH="0" baseline="0" noProof="0" dirty="0" err="1">
                <a:ln>
                  <a:noFill/>
                </a:ln>
                <a:solidFill>
                  <a:srgbClr val="000000"/>
                </a:solidFill>
                <a:effectLst/>
                <a:uLnTx/>
                <a:uFillTx/>
                <a:latin typeface="Helvetica" panose="020B0604020202020204" pitchFamily="34" charset="0"/>
                <a:ea typeface="MS PGothic" panose="020B0600070205080204" pitchFamily="34" charset="-128"/>
              </a:rPr>
              <a:t>Course_Type</a:t>
            </a:r>
            <a:r>
              <a:rPr kumimoji="0" lang="en-US" altLang="en-US" sz="2000" b="0" i="1"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varchar </a:t>
            </a: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(8) </a:t>
            </a:r>
            <a:r>
              <a:rPr kumimoji="0" lang="en-US" altLang="en-US" sz="2000" b="1" i="0" u="none" strike="noStrike" kern="0" cap="none" spc="0" normalizeH="0" baseline="0" noProof="0" dirty="0">
                <a:ln>
                  <a:noFill/>
                </a:ln>
                <a:solidFill>
                  <a:srgbClr val="C00000"/>
                </a:solidFill>
                <a:effectLst/>
                <a:uLnTx/>
                <a:uFillTx/>
                <a:latin typeface="Helvetica" panose="020B0604020202020204" pitchFamily="34" charset="0"/>
                <a:ea typeface="MS PGothic" panose="020B0600070205080204" pitchFamily="34" charset="-128"/>
              </a:rPr>
              <a:t>CHECK( </a:t>
            </a:r>
            <a:r>
              <a:rPr kumimoji="0" lang="en-US" altLang="en-US" sz="2000" b="1" i="0" u="none" strike="noStrike" kern="0" cap="none" spc="0" normalizeH="0" baseline="0" noProof="0" dirty="0" err="1">
                <a:ln>
                  <a:noFill/>
                </a:ln>
                <a:solidFill>
                  <a:srgbClr val="000000"/>
                </a:solidFill>
                <a:effectLst/>
                <a:uLnTx/>
                <a:uFillTx/>
                <a:latin typeface="Helvetica" panose="020B0604020202020204" pitchFamily="34" charset="0"/>
                <a:ea typeface="MS PGothic" panose="020B0600070205080204" pitchFamily="34" charset="-128"/>
              </a:rPr>
              <a:t>Course_Type</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r>
              <a:rPr kumimoji="0" lang="en-US" altLang="en-US" sz="2000" b="1" i="0" u="none" strike="noStrike" kern="0" cap="none" spc="0" normalizeH="0" baseline="0" noProof="0" dirty="0">
                <a:ln>
                  <a:noFill/>
                </a:ln>
                <a:solidFill>
                  <a:srgbClr val="C00000"/>
                </a:solidFill>
                <a:effectLst/>
                <a:uLnTx/>
                <a:uFillTx/>
                <a:latin typeface="Helvetica" panose="020B0604020202020204" pitchFamily="34" charset="0"/>
                <a:ea typeface="MS PGothic" panose="020B0600070205080204" pitchFamily="34" charset="-128"/>
              </a:rPr>
              <a:t>IN</a:t>
            </a:r>
            <a:r>
              <a:rPr kumimoji="0" lang="en-US" altLang="en-US" sz="2000" b="1" i="0" u="none" strike="noStrike" kern="0" cap="none" spc="0" normalizeH="0" baseline="0" noProof="0" dirty="0">
                <a:ln>
                  <a:noFill/>
                </a:ln>
                <a:solidFill>
                  <a:srgbClr val="7030A0"/>
                </a:solidFill>
                <a:effectLst/>
                <a:uLnTx/>
                <a:uFillTx/>
                <a:latin typeface="Helvetica" panose="020B0604020202020204" pitchFamily="34" charset="0"/>
                <a:ea typeface="MS PGothic" panose="020B0600070205080204" pitchFamily="34" charset="-128"/>
              </a:rPr>
              <a:t>( </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'MCA ',' </a:t>
            </a:r>
            <a:r>
              <a:rPr kumimoji="0" lang="en-US" altLang="en-US" sz="2000" b="1" i="0" u="none" strike="noStrike" kern="0" cap="none" spc="0" normalizeH="0" baseline="0" noProof="0" dirty="0" err="1">
                <a:ln>
                  <a:noFill/>
                </a:ln>
                <a:solidFill>
                  <a:srgbClr val="000000"/>
                </a:solidFill>
                <a:effectLst/>
                <a:uLnTx/>
                <a:uFillTx/>
                <a:latin typeface="Helvetica" panose="020B0604020202020204" pitchFamily="34" charset="0"/>
                <a:ea typeface="MS PGothic" panose="020B0600070205080204" pitchFamily="34" charset="-128"/>
              </a:rPr>
              <a:t>MTech</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 </a:t>
            </a:r>
            <a:r>
              <a:rPr kumimoji="0" lang="en-US" altLang="en-US" sz="2000" b="1" i="0" u="none" strike="noStrike" kern="0" cap="none" spc="0" normalizeH="0" baseline="0" noProof="0" dirty="0" err="1">
                <a:ln>
                  <a:noFill/>
                </a:ln>
                <a:solidFill>
                  <a:srgbClr val="000000"/>
                </a:solidFill>
                <a:effectLst/>
                <a:uLnTx/>
                <a:uFillTx/>
                <a:latin typeface="Helvetica" panose="020B0604020202020204" pitchFamily="34" charset="0"/>
                <a:ea typeface="MS PGothic" panose="020B0600070205080204" pitchFamily="34" charset="-128"/>
              </a:rPr>
              <a:t>BTech</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'MS'</a:t>
            </a:r>
            <a:r>
              <a:rPr kumimoji="0" lang="en-US" altLang="en-US" sz="2000" b="1" i="0" u="none" strike="noStrike" kern="0" cap="none" spc="0" normalizeH="0" baseline="0" noProof="0" dirty="0">
                <a:ln>
                  <a:noFill/>
                </a:ln>
                <a:solidFill>
                  <a:srgbClr val="7030A0"/>
                </a:solidFill>
                <a:effectLst/>
                <a:uLnTx/>
                <a:uFillTx/>
                <a:latin typeface="Helvetica" panose="020B0604020202020204" pitchFamily="34" charset="0"/>
                <a:ea typeface="MS PGothic" panose="020B0600070205080204" pitchFamily="34" charset="-128"/>
              </a:rPr>
              <a:t>)</a:t>
            </a:r>
            <a:r>
              <a:rPr kumimoji="0" lang="en-US" altLang="en-US" sz="2000" b="1" i="0" u="none" strike="noStrike" kern="0" cap="none" spc="0" normalizeH="0" baseline="0" noProof="0" dirty="0">
                <a:ln>
                  <a:noFill/>
                </a:ln>
                <a:solidFill>
                  <a:srgbClr val="C00000"/>
                </a:solidFill>
                <a:effectLst/>
                <a:uLnTx/>
                <a:uFillTx/>
                <a:latin typeface="Helvetica" panose="020B0604020202020204" pitchFamily="34" charset="0"/>
                <a:ea typeface="MS PGothic" panose="020B0600070205080204" pitchFamily="34" charset="-128"/>
              </a:rPr>
              <a:t>)</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p>
          <a:p>
            <a:pPr marL="0" marR="0" lvl="0" indent="0" defTabSz="914400" eaLnBrk="1" fontAlgn="auto" latinLnBrk="0" hangingPunct="1">
              <a:lnSpc>
                <a:spcPct val="150000"/>
              </a:lnSpc>
              <a:spcBef>
                <a:spcPts val="0"/>
              </a:spcBef>
              <a:spcAft>
                <a:spcPts val="0"/>
              </a:spcAft>
              <a:buClrTx/>
              <a:buSzTx/>
              <a:buFontTx/>
              <a:buNone/>
              <a:tabLst>
                <a:tab pos="1428750" algn="l"/>
                <a:tab pos="1711325" algn="l"/>
                <a:tab pos="3319463" algn="l"/>
              </a:tabLst>
              <a:defRPr/>
            </a:pPr>
            <a:r>
              <a:rPr kumimoji="0" lang="en-US" altLang="en-US" sz="2000" b="0" i="1"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r>
              <a:rPr kumimoji="0" lang="en-US" altLang="en-US" sz="2000" b="0" i="1" u="none" strike="noStrike" kern="0" cap="none" spc="0" normalizeH="0" baseline="0" noProof="0" dirty="0" err="1">
                <a:ln>
                  <a:noFill/>
                </a:ln>
                <a:solidFill>
                  <a:srgbClr val="000000"/>
                </a:solidFill>
                <a:effectLst/>
                <a:uLnTx/>
                <a:uFillTx/>
                <a:latin typeface="Helvetica" panose="020B0604020202020204" pitchFamily="34" charset="0"/>
                <a:ea typeface="MS PGothic" panose="020B0600070205080204" pitchFamily="34" charset="-128"/>
              </a:rPr>
              <a:t>Numb_of_Semester</a:t>
            </a:r>
            <a:r>
              <a:rPr kumimoji="0" lang="en-US" altLang="en-US" sz="2000" b="0" i="1"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Number(1)</a:t>
            </a: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a:t>
            </a:r>
          </a:p>
          <a:p>
            <a:pPr marL="0" marR="0" lvl="0" indent="0" defTabSz="914400" eaLnBrk="1" fontAlgn="auto" latinLnBrk="0" hangingPunct="1">
              <a:lnSpc>
                <a:spcPct val="150000"/>
              </a:lnSpc>
              <a:spcBef>
                <a:spcPts val="0"/>
              </a:spcBef>
              <a:spcAft>
                <a:spcPts val="0"/>
              </a:spcAft>
              <a:buClrTx/>
              <a:buSzTx/>
              <a:buFontTx/>
              <a:buNone/>
              <a:tabLst>
                <a:tab pos="1428750" algn="l"/>
                <a:tab pos="1711325" algn="l"/>
                <a:tab pos="3319463" algn="l"/>
              </a:tabLst>
              <a:defRPr/>
            </a:pP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r>
              <a:rPr kumimoji="0" lang="en-US" altLang="en-US" sz="2000" b="0" i="0" u="none" strike="noStrike" kern="0" cap="none" spc="0" normalizeH="0" baseline="0" noProof="0" dirty="0" err="1">
                <a:ln>
                  <a:noFill/>
                </a:ln>
                <a:solidFill>
                  <a:srgbClr val="000000"/>
                </a:solidFill>
                <a:effectLst/>
                <a:uLnTx/>
                <a:uFillTx/>
                <a:latin typeface="Helvetica" panose="020B0604020202020204" pitchFamily="34" charset="0"/>
                <a:ea typeface="MS PGothic" panose="020B0600070205080204" pitchFamily="34" charset="-128"/>
              </a:rPr>
              <a:t>In_take_stud_num</a:t>
            </a: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Number(2),</a:t>
            </a:r>
          </a:p>
          <a:p>
            <a:pPr marL="0" marR="0" lvl="0" indent="0" defTabSz="914400" eaLnBrk="1" fontAlgn="auto" latinLnBrk="0" hangingPunct="1">
              <a:lnSpc>
                <a:spcPct val="150000"/>
              </a:lnSpc>
              <a:spcBef>
                <a:spcPts val="0"/>
              </a:spcBef>
              <a:spcAft>
                <a:spcPts val="0"/>
              </a:spcAft>
              <a:buClrTx/>
              <a:buSzTx/>
              <a:buFontTx/>
              <a:buNone/>
              <a:tabLst>
                <a:tab pos="1428750" algn="l"/>
                <a:tab pos="1711325" algn="l"/>
                <a:tab pos="3319463" algn="l"/>
              </a:tabLst>
              <a:defRPr/>
            </a:pP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r>
              <a:rPr kumimoji="0" lang="en-US" altLang="en-US" sz="2000" b="0" i="0" u="none" strike="noStrike" kern="0" cap="none" spc="0" normalizeH="0" baseline="0" noProof="0" dirty="0" err="1">
                <a:ln>
                  <a:noFill/>
                </a:ln>
                <a:solidFill>
                  <a:srgbClr val="000000"/>
                </a:solidFill>
                <a:effectLst/>
                <a:uLnTx/>
                <a:uFillTx/>
                <a:latin typeface="Helvetica" panose="020B0604020202020204" pitchFamily="34" charset="0"/>
                <a:ea typeface="MS PGothic" panose="020B0600070205080204" pitchFamily="34" charset="-128"/>
              </a:rPr>
              <a:t>Department_Phone</a:t>
            </a:r>
            <a:r>
              <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Number(10) </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NOT NULL UNIQUE</a:t>
            </a:r>
            <a:r>
              <a:rPr kumimoji="0" lang="en-US" altLang="en-US" sz="2000" b="1" i="0" u="none" strike="noStrike" kern="0" cap="none" spc="0" normalizeH="0" baseline="0" noProof="0" dirty="0">
                <a:ln>
                  <a:noFill/>
                </a:ln>
                <a:solidFill>
                  <a:srgbClr val="FF0000"/>
                </a:solidFill>
                <a:effectLst/>
                <a:uLnTx/>
                <a:uFillTx/>
                <a:latin typeface="Helvetica" panose="020B0604020202020204" pitchFamily="34" charset="0"/>
                <a:ea typeface="MS PGothic" panose="020B0600070205080204" pitchFamily="34" charset="-128"/>
              </a:rPr>
              <a:t> </a:t>
            </a:r>
            <a:r>
              <a:rPr kumimoji="0" lang="en-US" altLang="en-US" sz="2000" b="1" i="0" u="none" strike="noStrike" kern="0" cap="none" spc="0" normalizeH="0" baseline="0" noProof="0" dirty="0">
                <a:ln>
                  <a:noFill/>
                </a:ln>
                <a:solidFill>
                  <a:srgbClr val="E2F4FF">
                    <a:lumMod val="50000"/>
                  </a:srgbClr>
                </a:solidFill>
                <a:effectLst/>
                <a:uLnTx/>
                <a:uFillTx/>
                <a:latin typeface="Helvetica" panose="020B0604020202020204" pitchFamily="34" charset="0"/>
                <a:ea typeface="MS PGothic" panose="020B0600070205080204" pitchFamily="34" charset="-128"/>
              </a:rPr>
              <a:t>);</a:t>
            </a:r>
            <a:endParaRPr kumimoji="0" lang="en-US" altLang="en-US" sz="700" b="1" i="0" u="none" strike="noStrike" kern="0" cap="none" spc="0" normalizeH="0" baseline="0" noProof="0" dirty="0">
              <a:ln>
                <a:noFill/>
              </a:ln>
              <a:solidFill>
                <a:srgbClr val="E2F4FF">
                  <a:lumMod val="50000"/>
                </a:srgbClr>
              </a:solidFill>
              <a:effectLst/>
              <a:uLnTx/>
              <a:uFillTx/>
              <a:latin typeface="Helvetica" panose="020B0604020202020204" pitchFamily="34" charset="0"/>
              <a:ea typeface="MS PGothic" panose="020B0600070205080204" pitchFamily="34" charset="-128"/>
            </a:endParaRPr>
          </a:p>
          <a:p>
            <a:pPr marL="0" marR="0" lvl="0" indent="0" defTabSz="914400" eaLnBrk="1" fontAlgn="auto" latinLnBrk="0" hangingPunct="1">
              <a:lnSpc>
                <a:spcPct val="120000"/>
              </a:lnSpc>
              <a:spcBef>
                <a:spcPts val="0"/>
              </a:spcBef>
              <a:spcAft>
                <a:spcPts val="0"/>
              </a:spcAft>
              <a:buClrTx/>
              <a:buSzTx/>
              <a:buFontTx/>
              <a:buNone/>
              <a:tabLst>
                <a:tab pos="1428750" algn="l"/>
                <a:tab pos="1711325" algn="l"/>
                <a:tab pos="3319463" algn="l"/>
              </a:tabLst>
              <a:defRPr/>
            </a:pP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Note: </a:t>
            </a:r>
            <a:r>
              <a:rPr kumimoji="0" lang="en-US" altLang="en-US" sz="2000" b="1" i="0" u="none" strike="noStrike" kern="0" cap="none" spc="0" normalizeH="0" baseline="0" noProof="0" dirty="0">
                <a:ln>
                  <a:noFill/>
                </a:ln>
                <a:solidFill>
                  <a:srgbClr val="C00000"/>
                </a:solidFill>
                <a:effectLst/>
                <a:uLnTx/>
                <a:uFillTx/>
                <a:latin typeface="Helvetica" panose="020B0604020202020204" pitchFamily="34" charset="0"/>
                <a:ea typeface="MS PGothic" panose="020B0600070205080204" pitchFamily="34" charset="-128"/>
              </a:rPr>
              <a:t>IN</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works like a </a:t>
            </a:r>
            <a:r>
              <a:rPr kumimoji="0" lang="en-US" altLang="en-US" sz="2000" b="1" i="0" u="none" strike="noStrike" kern="0" cap="none" spc="0" normalizeH="0" baseline="0" noProof="0" dirty="0">
                <a:ln>
                  <a:noFill/>
                </a:ln>
                <a:solidFill>
                  <a:srgbClr val="C00000"/>
                </a:solidFill>
                <a:effectLst/>
                <a:uLnTx/>
                <a:uFillTx/>
                <a:latin typeface="Helvetica" panose="020B0604020202020204" pitchFamily="34" charset="0"/>
                <a:ea typeface="MS PGothic" panose="020B0600070205080204" pitchFamily="34" charset="-128"/>
              </a:rPr>
              <a:t>Belongs to a SET</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Operator    </a:t>
            </a:r>
          </a:p>
          <a:p>
            <a:pPr lvl="0">
              <a:lnSpc>
                <a:spcPct val="120000"/>
              </a:lnSpc>
              <a:defRPr/>
            </a:pPr>
            <a:r>
              <a:rPr lang="en-US" altLang="en-US" sz="2000" b="1" kern="0" dirty="0">
                <a:solidFill>
                  <a:srgbClr val="000000"/>
                </a:solidFill>
              </a:rPr>
              <a:t>   User_</a:t>
            </a:r>
            <a:r>
              <a:rPr kumimoji="0" lang="en-US" altLang="en-US" sz="2000" b="1" i="0" u="none" strike="noStrike" kern="0" cap="none" spc="0" normalizeH="0" baseline="0" noProof="0" dirty="0" err="1">
                <a:ln>
                  <a:noFill/>
                </a:ln>
                <a:solidFill>
                  <a:srgbClr val="000000"/>
                </a:solidFill>
                <a:effectLst/>
                <a:uLnTx/>
                <a:uFillTx/>
                <a:latin typeface="Helvetica" panose="020B0604020202020204" pitchFamily="34" charset="0"/>
                <a:ea typeface="MS PGothic" panose="020B0600070205080204" pitchFamily="34" charset="-128"/>
              </a:rPr>
              <a:t>enetred_value</a:t>
            </a:r>
            <a:r>
              <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rPr>
              <a:t> </a:t>
            </a:r>
            <a:r>
              <a:rPr kumimoji="0" lang="el-GR" altLang="en-US" sz="2800" b="1" i="0" u="none" strike="noStrike" kern="0" cap="none" spc="0" normalizeH="0" baseline="0" noProof="0" dirty="0">
                <a:ln>
                  <a:noFill/>
                </a:ln>
                <a:solidFill>
                  <a:srgbClr val="C00000"/>
                </a:solidFill>
                <a:effectLst/>
                <a:uLnTx/>
                <a:uFillTx/>
                <a:latin typeface="Helvetica" panose="020B0604020202020204" pitchFamily="34" charset="0"/>
                <a:ea typeface="MS PGothic" panose="020B0600070205080204" pitchFamily="34" charset="-128"/>
              </a:rPr>
              <a:t>ϵ</a:t>
            </a:r>
            <a:r>
              <a:rPr lang="en-US" altLang="en-US" sz="2000" b="1" kern="0" dirty="0">
                <a:solidFill>
                  <a:srgbClr val="000000"/>
                </a:solidFill>
              </a:rPr>
              <a:t> </a:t>
            </a:r>
            <a:r>
              <a:rPr lang="en-US" altLang="en-US" sz="2400" b="1" kern="0" dirty="0">
                <a:solidFill>
                  <a:srgbClr val="000000"/>
                </a:solidFill>
              </a:rPr>
              <a:t>{ </a:t>
            </a:r>
            <a:r>
              <a:rPr lang="en-US" altLang="en-US" sz="2000" b="1" kern="0" dirty="0">
                <a:solidFill>
                  <a:srgbClr val="000000"/>
                </a:solidFill>
              </a:rPr>
              <a:t>'MCA ',' </a:t>
            </a:r>
            <a:r>
              <a:rPr lang="en-US" altLang="en-US" sz="2000" b="1" kern="0" dirty="0" err="1">
                <a:solidFill>
                  <a:srgbClr val="000000"/>
                </a:solidFill>
              </a:rPr>
              <a:t>MTech</a:t>
            </a:r>
            <a:r>
              <a:rPr lang="en-US" altLang="en-US" sz="2000" b="1" kern="0" dirty="0">
                <a:solidFill>
                  <a:srgbClr val="000000"/>
                </a:solidFill>
              </a:rPr>
              <a:t> ',' </a:t>
            </a:r>
            <a:r>
              <a:rPr lang="en-US" altLang="en-US" sz="2000" b="1" kern="0" dirty="0" err="1">
                <a:solidFill>
                  <a:srgbClr val="000000"/>
                </a:solidFill>
              </a:rPr>
              <a:t>BTech</a:t>
            </a:r>
            <a:r>
              <a:rPr lang="en-US" altLang="en-US" sz="2000" b="1" kern="0" dirty="0">
                <a:solidFill>
                  <a:srgbClr val="000000"/>
                </a:solidFill>
              </a:rPr>
              <a:t>', 'MS' }</a:t>
            </a:r>
            <a:endParaRPr kumimoji="0" lang="en-US" altLang="en-US" sz="2000" b="1"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endParaRPr>
          </a:p>
          <a:p>
            <a:pPr marL="0" marR="0" lvl="0" indent="0" defTabSz="914400" eaLnBrk="1" fontAlgn="auto" latinLnBrk="0" hangingPunct="1">
              <a:lnSpc>
                <a:spcPct val="100000"/>
              </a:lnSpc>
              <a:spcBef>
                <a:spcPts val="0"/>
              </a:spcBef>
              <a:spcAft>
                <a:spcPts val="0"/>
              </a:spcAft>
              <a:buClrTx/>
              <a:buSzTx/>
              <a:buFontTx/>
              <a:buNone/>
              <a:tabLst>
                <a:tab pos="1428750" algn="l"/>
                <a:tab pos="1711325" algn="l"/>
                <a:tab pos="3319463" algn="l"/>
              </a:tabLst>
              <a:defRPr/>
            </a:pPr>
            <a:endParaRPr kumimoji="0" lang="en-US" altLang="en-US" sz="2000" b="0" i="0" u="none" strike="noStrike" kern="0" cap="none" spc="0" normalizeH="0" baseline="0" noProof="0" dirty="0">
              <a:ln>
                <a:noFill/>
              </a:ln>
              <a:solidFill>
                <a:srgbClr val="000000"/>
              </a:solidFill>
              <a:effectLst/>
              <a:uLnTx/>
              <a:uFillTx/>
              <a:latin typeface="Helvetica" panose="020B0604020202020204" pitchFamily="34" charset="0"/>
              <a:ea typeface="MS PGothic" panose="020B0600070205080204" pitchFamily="34" charset="-128"/>
            </a:endParaRPr>
          </a:p>
        </p:txBody>
      </p:sp>
      <p:sp>
        <p:nvSpPr>
          <p:cNvPr id="5" name="Rectangle 5"/>
          <p:cNvSpPr>
            <a:spLocks noChangeArrowheads="1"/>
          </p:cNvSpPr>
          <p:nvPr/>
        </p:nvSpPr>
        <p:spPr bwMode="auto">
          <a:xfrm>
            <a:off x="2328863" y="5229225"/>
            <a:ext cx="68008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1600">
                <a:solidFill>
                  <a:schemeClr val="tx1"/>
                </a:solidFill>
                <a:latin typeface="Helvetica" panose="020B0604020202020204" pitchFamily="34" charset="0"/>
                <a:ea typeface="MS PGothic" panose="020B0600070205080204" pitchFamily="34" charset="-128"/>
              </a:defRPr>
            </a:lvl1pPr>
            <a:lvl2pPr marL="37931725" indent="-37474525">
              <a:defRPr sz="1600">
                <a:solidFill>
                  <a:schemeClr val="tx1"/>
                </a:solidFill>
                <a:latin typeface="Helvetica" panose="020B0604020202020204" pitchFamily="34" charset="0"/>
                <a:ea typeface="MS PGothic" panose="020B0600070205080204" pitchFamily="34" charset="-128"/>
              </a:defRPr>
            </a:lvl2pPr>
            <a:lvl3pPr>
              <a:defRPr sz="1600">
                <a:solidFill>
                  <a:schemeClr val="tx1"/>
                </a:solidFill>
                <a:latin typeface="Helvetica" panose="020B0604020202020204" pitchFamily="34" charset="0"/>
                <a:ea typeface="MS PGothic" panose="020B0600070205080204" pitchFamily="34" charset="-128"/>
              </a:defRPr>
            </a:lvl3pPr>
            <a:lvl4pPr>
              <a:defRPr sz="1600">
                <a:solidFill>
                  <a:schemeClr val="tx1"/>
                </a:solidFill>
                <a:latin typeface="Helvetica" panose="020B0604020202020204" pitchFamily="34" charset="0"/>
                <a:ea typeface="MS PGothic" panose="020B0600070205080204" pitchFamily="34" charset="-128"/>
              </a:defRPr>
            </a:lvl4pPr>
            <a:lvl5pPr>
              <a:defRPr sz="1600">
                <a:solidFill>
                  <a:schemeClr val="tx1"/>
                </a:solidFill>
                <a:latin typeface="Helvetica" panose="020B0604020202020204" pitchFamily="34" charset="0"/>
                <a:ea typeface="MS PGothic" panose="020B0600070205080204" pitchFamily="34" charset="-128"/>
              </a:defRPr>
            </a:lvl5pPr>
            <a:lvl6pPr marL="4572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6pPr>
            <a:lvl7pPr marL="9144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7pPr>
            <a:lvl8pPr marL="13716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8pPr>
            <a:lvl9pPr marL="1828800" eaLnBrk="0" fontAlgn="base" hangingPunct="0">
              <a:spcBef>
                <a:spcPct val="0"/>
              </a:spcBef>
              <a:spcAft>
                <a:spcPct val="0"/>
              </a:spcAft>
              <a:defRPr sz="1600">
                <a:solidFill>
                  <a:schemeClr val="tx1"/>
                </a:solidFill>
                <a:latin typeface="Helvetica" panose="020B0604020202020204" pitchFamily="34" charset="0"/>
                <a:ea typeface="MS PGothic" panose="020B0600070205080204" pitchFamily="34" charset="-128"/>
              </a:defRPr>
            </a:lvl9pPr>
          </a:lstStyle>
          <a:p>
            <a:pPr marL="342900" marR="0" lvl="0" indent="-342900" defTabSz="914400" eaLnBrk="1" fontAlgn="auto" latinLnBrk="0" hangingPunct="1">
              <a:lnSpc>
                <a:spcPct val="100000"/>
              </a:lnSpc>
              <a:spcBef>
                <a:spcPct val="35000"/>
              </a:spcBef>
              <a:spcAft>
                <a:spcPts val="0"/>
              </a:spcAft>
              <a:buClr>
                <a:srgbClr val="CC3300"/>
              </a:buClr>
              <a:buSzTx/>
              <a:buFont typeface="Monotype Sorts" charset="2"/>
              <a:buNone/>
              <a:tabLst/>
              <a:defRPr/>
            </a:pPr>
            <a:endParaRPr kumimoji="1" lang="en-US" altLang="en-US" sz="2000" b="1" i="0" u="none" strike="noStrike" kern="0" cap="none" spc="0" normalizeH="0" baseline="0" noProof="0">
              <a:ln>
                <a:noFill/>
              </a:ln>
              <a:solidFill>
                <a:srgbClr val="000000"/>
              </a:solidFill>
              <a:effectLst/>
              <a:uLnTx/>
              <a:uFillTx/>
              <a:latin typeface="Helvetica" panose="020B0604020202020204" pitchFamily="34" charset="0"/>
              <a:ea typeface="MS PGothic" panose="020B0600070205080204" pitchFamily="34" charset="-128"/>
            </a:endParaRPr>
          </a:p>
        </p:txBody>
      </p:sp>
      <p:sp>
        <p:nvSpPr>
          <p:cNvPr id="6" name="Footer Placeholder 5"/>
          <p:cNvSpPr>
            <a:spLocks noGrp="1"/>
          </p:cNvSpPr>
          <p:nvPr>
            <p:ph type="ftr" sz="quarter" idx="11"/>
          </p:nvPr>
        </p:nvSpPr>
        <p:spPr/>
        <p:txBody>
          <a:bodyPr/>
          <a:lstStyle/>
          <a:p>
            <a:r>
              <a:rPr lang="en-US"/>
              <a:t>SQL</a:t>
            </a:r>
          </a:p>
        </p:txBody>
      </p:sp>
      <p:sp>
        <p:nvSpPr>
          <p:cNvPr id="7" name="Slide Number Placeholder 6"/>
          <p:cNvSpPr>
            <a:spLocks noGrp="1"/>
          </p:cNvSpPr>
          <p:nvPr>
            <p:ph type="sldNum" sz="quarter" idx="12"/>
          </p:nvPr>
        </p:nvSpPr>
        <p:spPr/>
        <p:txBody>
          <a:bodyPr/>
          <a:lstStyle/>
          <a:p>
            <a:fld id="{03576695-DB63-4967-AFBB-46E84EF49106}" type="slidenum">
              <a:rPr lang="en-US" smtClean="0"/>
              <a:t>32</a:t>
            </a:fld>
            <a:endParaRPr lang="en-US"/>
          </a:p>
        </p:txBody>
      </p:sp>
    </p:spTree>
    <p:extLst>
      <p:ext uri="{BB962C8B-B14F-4D97-AF65-F5344CB8AC3E}">
        <p14:creationId xmlns:p14="http://schemas.microsoft.com/office/powerpoint/2010/main" val="18750456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p:cNvSpPr txBox="1">
            <a:spLocks/>
          </p:cNvSpPr>
          <p:nvPr/>
        </p:nvSpPr>
        <p:spPr bwMode="auto">
          <a:xfrm>
            <a:off x="1024467" y="785686"/>
            <a:ext cx="10215033" cy="5935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Create table </a:t>
            </a:r>
            <a:r>
              <a:rPr kumimoji="1" lang="en-US" sz="1800" b="0" i="1" u="none" strike="noStrike" kern="0" cap="none" spc="0" normalizeH="0" baseline="0" noProof="0" dirty="0">
                <a:ln>
                  <a:noFill/>
                </a:ln>
                <a:solidFill>
                  <a:srgbClr val="000000"/>
                </a:solidFill>
                <a:effectLst/>
                <a:uLnTx/>
                <a:uFillTx/>
                <a:latin typeface="Helvetica"/>
                <a:ea typeface="+mn-ea"/>
                <a:cs typeface="+mn-cs"/>
              </a:rPr>
              <a:t>Instructor</a:t>
            </a:r>
            <a:r>
              <a:rPr kumimoji="1" lang="en-US" sz="1800" b="0" i="0" u="none" strike="noStrike" kern="0" cap="none" spc="0" normalizeH="0" baseline="0" noProof="0" dirty="0">
                <a:ln>
                  <a:noFill/>
                </a:ln>
                <a:solidFill>
                  <a:srgbClr val="000000"/>
                </a:solidFill>
                <a:effectLst/>
                <a:uLnTx/>
                <a:uFillTx/>
                <a:latin typeface="Helvetica"/>
                <a:ea typeface="+mn-ea"/>
                <a:cs typeface="+mn-cs"/>
              </a:rPr>
              <a:t> and  ensure that </a:t>
            </a:r>
            <a:r>
              <a:rPr kumimoji="1" lang="en-US" sz="1800" b="1" i="0" u="none" strike="noStrike" kern="0" cap="none" spc="0" normalizeH="0" baseline="0" noProof="0" dirty="0">
                <a:ln>
                  <a:noFill/>
                </a:ln>
                <a:solidFill>
                  <a:srgbClr val="000000"/>
                </a:solidFill>
                <a:effectLst/>
                <a:uLnTx/>
                <a:uFillTx/>
                <a:latin typeface="Helvetica"/>
                <a:ea typeface="+mn-ea"/>
                <a:cs typeface="+mn-cs"/>
              </a:rPr>
              <a:t>Salary</a:t>
            </a:r>
            <a:r>
              <a:rPr kumimoji="1" lang="en-US" sz="1800" b="0" i="0" u="none" strike="noStrike" kern="0" cap="none" spc="0" normalizeH="0" baseline="0" noProof="0" dirty="0">
                <a:ln>
                  <a:noFill/>
                </a:ln>
                <a:solidFill>
                  <a:srgbClr val="000000"/>
                </a:solidFill>
                <a:effectLst/>
                <a:uLnTx/>
                <a:uFillTx/>
                <a:latin typeface="Helvetica"/>
                <a:ea typeface="+mn-ea"/>
                <a:cs typeface="+mn-cs"/>
              </a:rPr>
              <a:t> column accepts only values in the </a:t>
            </a:r>
            <a:r>
              <a:rPr kumimoji="1" lang="en-US" sz="1800" b="1" i="0" u="none" strike="noStrike" kern="0" cap="none" spc="0" normalizeH="0" baseline="0" noProof="0" dirty="0">
                <a:ln>
                  <a:noFill/>
                </a:ln>
                <a:solidFill>
                  <a:srgbClr val="000000"/>
                </a:solidFill>
                <a:effectLst/>
                <a:uLnTx/>
                <a:uFillTx/>
                <a:latin typeface="Helvetica"/>
                <a:ea typeface="+mn-ea"/>
                <a:cs typeface="+mn-cs"/>
              </a:rPr>
              <a:t>range 50000 to 200000</a:t>
            </a:r>
            <a:r>
              <a:rPr kumimoji="1" lang="en-US" sz="1800" b="0" i="0" u="none" strike="noStrike" kern="0" cap="none" spc="0" normalizeH="0" baseline="0" noProof="0" dirty="0">
                <a:ln>
                  <a:noFill/>
                </a:ln>
                <a:solidFill>
                  <a:srgbClr val="000000"/>
                </a:solidFill>
                <a:effectLst/>
                <a:uLnTx/>
                <a:uFillTx/>
                <a:latin typeface="Helvetica"/>
                <a:ea typeface="+mn-ea"/>
                <a:cs typeface="+mn-cs"/>
              </a:rPr>
              <a:t> ( both upper and lower bound values are valid).</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endParaRPr kumimoji="1" lang="en-US" sz="3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40000"/>
              </a:lnSpc>
              <a:spcBef>
                <a:spcPct val="35000"/>
              </a:spcBef>
              <a:spcAft>
                <a:spcPct val="0"/>
              </a:spcAft>
              <a:buClr>
                <a:srgbClr val="CC3300"/>
              </a:buClr>
              <a:buSzPct val="90000"/>
              <a:buFont typeface="Monotype Sorts" charset="2"/>
              <a:buChar char="n"/>
              <a:tabLst/>
              <a:defRPr/>
            </a:pP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CREATE TABLE</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instructor</a:t>
            </a:r>
            <a:r>
              <a:rPr kumimoji="1" lang="en-US" altLang="en-US" sz="1800" b="0" i="0" u="none" strike="noStrike" kern="0" cap="none" spc="0" normalizeH="0" baseline="0" noProof="0" dirty="0">
                <a:ln>
                  <a:noFill/>
                </a:ln>
                <a:solidFill>
                  <a:srgbClr val="C00000"/>
                </a:solidFill>
                <a:effectLst/>
                <a:uLnTx/>
                <a:uFillTx/>
                <a:latin typeface="Helvetica"/>
                <a:ea typeface="+mn-ea"/>
                <a:cs typeface="+mn-cs"/>
              </a:rPr>
              <a:t> </a:t>
            </a:r>
            <a:r>
              <a:rPr kumimoji="1" lang="en-US" altLang="en-US" sz="1800" b="1" i="0" u="none" strike="noStrike" kern="0" cap="none" spc="0" normalizeH="0" baseline="0" noProof="0" dirty="0">
                <a:ln>
                  <a:noFill/>
                </a:ln>
                <a:solidFill>
                  <a:srgbClr val="C00000"/>
                </a:solidFill>
                <a:effectLst/>
                <a:uLnTx/>
                <a:uFillTx/>
                <a:latin typeface="Helvetica"/>
                <a:ea typeface="+mn-ea"/>
                <a:cs typeface="+mn-cs"/>
              </a:rPr>
              <a:t>(</a:t>
            </a:r>
            <a:br>
              <a:rPr kumimoji="1" lang="en-US" altLang="en-US" sz="18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ID</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char</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(5),</a:t>
            </a:r>
            <a:br>
              <a:rPr kumimoji="1" lang="en-US" altLang="en-US" sz="18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name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varchar</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(20)</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a:t>
            </a:r>
            <a:br>
              <a:rPr kumimoji="1" lang="en-US" altLang="en-US" sz="1800" b="1" i="1" u="none" strike="noStrike" kern="0" cap="none" spc="0" normalizeH="0" baseline="0" noProof="0" dirty="0">
                <a:ln>
                  <a:noFill/>
                </a:ln>
                <a:solidFill>
                  <a:srgbClr val="000000"/>
                </a:solidFill>
                <a:effectLst/>
                <a:uLnTx/>
                <a:uFillTx/>
                <a:latin typeface="Helvetica"/>
                <a:ea typeface="+mn-ea"/>
                <a:cs typeface="+mn-cs"/>
              </a:rPr>
            </a:br>
            <a:r>
              <a:rPr kumimoji="1" lang="en-US" altLang="en-US" sz="1800" b="1" i="1"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dept_name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varchar</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(20),</a:t>
            </a:r>
            <a:br>
              <a:rPr kumimoji="1" lang="en-US" altLang="en-US" sz="18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salary</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numeric</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(8,2) </a:t>
            </a:r>
            <a:r>
              <a:rPr kumimoji="1" lang="en-US" altLang="en-US" sz="1800" b="1" i="0" u="none" strike="noStrike" kern="0" cap="none" spc="0" normalizeH="0" baseline="0" noProof="0" dirty="0">
                <a:ln>
                  <a:noFill/>
                </a:ln>
                <a:solidFill>
                  <a:srgbClr val="C00000"/>
                </a:solidFill>
                <a:effectLst/>
                <a:uLnTx/>
                <a:uFillTx/>
                <a:latin typeface="Helvetica"/>
                <a:ea typeface="+mn-ea"/>
                <a:cs typeface="+mn-cs"/>
              </a:rPr>
              <a:t>CHECK</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 Salary&gt;=50000 </a:t>
            </a:r>
            <a:r>
              <a:rPr kumimoji="1" lang="en-US" altLang="en-US" sz="1800" b="1" i="0" u="none" strike="noStrike" kern="0" cap="none" spc="0" normalizeH="0" baseline="0" noProof="0" dirty="0">
                <a:ln>
                  <a:noFill/>
                </a:ln>
                <a:solidFill>
                  <a:srgbClr val="CCECFF">
                    <a:lumMod val="25000"/>
                  </a:srgbClr>
                </a:solidFill>
                <a:effectLst/>
                <a:uLnTx/>
                <a:uFillTx/>
                <a:latin typeface="Helvetica"/>
                <a:ea typeface="+mn-ea"/>
                <a:cs typeface="+mn-cs"/>
              </a:rPr>
              <a:t>AND</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 Salary&lt;=200000)</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0" u="none" strike="noStrike" kern="0" cap="none" spc="0" normalizeH="0" noProof="0" dirty="0">
                <a:ln>
                  <a:noFill/>
                </a:ln>
                <a:solidFill>
                  <a:srgbClr val="000000"/>
                </a:solidFill>
                <a:effectLst/>
                <a:uLnTx/>
                <a:uFillTx/>
                <a:latin typeface="Helvetica"/>
                <a:ea typeface="+mn-ea"/>
                <a:cs typeface="+mn-cs"/>
              </a:rPr>
              <a:t>    		</a:t>
            </a:r>
            <a:r>
              <a:rPr lang="en-US" altLang="en-US" b="1" kern="0" dirty="0">
                <a:solidFill>
                  <a:srgbClr val="C00000"/>
                </a:solidFill>
                <a:latin typeface="Helvetica"/>
              </a:rPr>
              <a:t>);</a:t>
            </a:r>
          </a:p>
          <a:p>
            <a:pPr>
              <a:lnSpc>
                <a:spcPct val="140000"/>
              </a:lnSpc>
              <a:buClr>
                <a:srgbClr val="CC3300"/>
              </a:buClr>
              <a:defRPr/>
            </a:pP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CREATE TABLE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instructor</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lang="en-US" altLang="en-US" b="1" kern="0" dirty="0">
                <a:solidFill>
                  <a:srgbClr val="C00000"/>
                </a:solidFill>
                <a:latin typeface="Helvetica"/>
              </a:rPr>
              <a:t>(</a:t>
            </a:r>
            <a:br>
              <a:rPr kumimoji="1" lang="en-US" altLang="en-US" sz="18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ID</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char</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(5),</a:t>
            </a:r>
            <a:br>
              <a:rPr kumimoji="1" lang="en-US" altLang="en-US" sz="18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name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varchar</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(20)</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a:t>
            </a:r>
            <a:br>
              <a:rPr kumimoji="1" lang="en-US" altLang="en-US" sz="1800" b="1" i="1" u="none" strike="noStrike" kern="0" cap="none" spc="0" normalizeH="0" baseline="0" noProof="0" dirty="0">
                <a:ln>
                  <a:noFill/>
                </a:ln>
                <a:solidFill>
                  <a:srgbClr val="000000"/>
                </a:solidFill>
                <a:effectLst/>
                <a:uLnTx/>
                <a:uFillTx/>
                <a:latin typeface="Helvetica"/>
                <a:ea typeface="+mn-ea"/>
                <a:cs typeface="+mn-cs"/>
              </a:rPr>
            </a:br>
            <a:r>
              <a:rPr kumimoji="1" lang="en-US" altLang="en-US" sz="1800" b="1" i="1"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dept_name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varchar</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(20),</a:t>
            </a:r>
            <a:br>
              <a:rPr kumimoji="1" lang="en-US" altLang="en-US" sz="1800" b="0" i="0" u="none" strike="noStrike" kern="0" cap="none" spc="0" normalizeH="0" baseline="0" noProof="0" dirty="0">
                <a:ln>
                  <a:noFill/>
                </a:ln>
                <a:solidFill>
                  <a:srgbClr val="000000"/>
                </a:solidFill>
                <a:effectLst/>
                <a:uLnTx/>
                <a:uFillTx/>
                <a:latin typeface="Helvetica"/>
                <a:ea typeface="+mn-ea"/>
                <a:cs typeface="+mn-cs"/>
              </a:rPr>
            </a:b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0" i="1" u="none" strike="noStrike" kern="0" cap="none" spc="0" normalizeH="0" baseline="0" noProof="0" dirty="0">
                <a:ln>
                  <a:noFill/>
                </a:ln>
                <a:solidFill>
                  <a:srgbClr val="000000"/>
                </a:solidFill>
                <a:effectLst/>
                <a:uLnTx/>
                <a:uFillTx/>
                <a:latin typeface="Helvetica"/>
                <a:ea typeface="+mn-ea"/>
                <a:cs typeface="+mn-cs"/>
              </a:rPr>
              <a:t>salary</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numeric</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(8,2) </a:t>
            </a:r>
            <a:r>
              <a:rPr kumimoji="1" lang="en-US" altLang="en-US" sz="1800" b="1" i="0" u="none" strike="noStrike" kern="0" cap="none" spc="0" normalizeH="0" baseline="0" noProof="0" dirty="0">
                <a:ln>
                  <a:noFill/>
                </a:ln>
                <a:solidFill>
                  <a:srgbClr val="C00000"/>
                </a:solidFill>
                <a:effectLst/>
                <a:uLnTx/>
                <a:uFillTx/>
                <a:latin typeface="Helvetica"/>
                <a:ea typeface="+mn-ea"/>
                <a:cs typeface="+mn-cs"/>
              </a:rPr>
              <a:t>CHECK</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 Salary </a:t>
            </a:r>
            <a:r>
              <a:rPr lang="en-US" altLang="en-US" b="1" kern="0" dirty="0">
                <a:solidFill>
                  <a:srgbClr val="CCECFF">
                    <a:lumMod val="25000"/>
                  </a:srgbClr>
                </a:solidFill>
                <a:latin typeface="Helvetica"/>
              </a:rPr>
              <a:t>BETWEEN </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50000 </a:t>
            </a:r>
            <a:r>
              <a:rPr kumimoji="1" lang="en-US" altLang="en-US" sz="1800" b="1" i="0" u="none" strike="noStrike" kern="0" cap="none" spc="0" normalizeH="0" baseline="0" noProof="0" dirty="0">
                <a:ln>
                  <a:noFill/>
                </a:ln>
                <a:solidFill>
                  <a:srgbClr val="FF0000"/>
                </a:solidFill>
                <a:effectLst/>
                <a:uLnTx/>
                <a:uFillTx/>
                <a:latin typeface="Helvetica"/>
                <a:ea typeface="+mn-ea"/>
                <a:cs typeface="+mn-cs"/>
              </a:rPr>
              <a:t>AND</a:t>
            </a:r>
            <a:r>
              <a:rPr kumimoji="1" lang="en-US" altLang="en-US" sz="1800" b="1" i="0" u="none" strike="noStrike" kern="0" cap="none" spc="0" normalizeH="0" baseline="0" noProof="0" dirty="0">
                <a:ln>
                  <a:noFill/>
                </a:ln>
                <a:solidFill>
                  <a:srgbClr val="000000"/>
                </a:solidFill>
                <a:effectLst/>
                <a:uLnTx/>
                <a:uFillTx/>
                <a:latin typeface="Helvetica"/>
                <a:ea typeface="+mn-ea"/>
                <a:cs typeface="+mn-cs"/>
              </a:rPr>
              <a:t> 200000)</a:t>
            </a:r>
            <a:r>
              <a:rPr kumimoji="1" lang="en-US" altLang="en-US" sz="1800" b="0" i="0" u="none" strike="noStrike" kern="0" cap="none" spc="0" normalizeH="0" baseline="0" noProof="0" dirty="0">
                <a:ln>
                  <a:noFill/>
                </a:ln>
                <a:solidFill>
                  <a:srgbClr val="000000"/>
                </a:solidFill>
                <a:effectLst/>
                <a:uLnTx/>
                <a:uFillTx/>
                <a:latin typeface="Helvetica"/>
                <a:ea typeface="+mn-ea"/>
                <a:cs typeface="+mn-cs"/>
              </a:rPr>
              <a:t> 		</a:t>
            </a:r>
            <a:r>
              <a:rPr lang="en-US" altLang="en-US" b="1" kern="0" dirty="0">
                <a:solidFill>
                  <a:srgbClr val="C00000"/>
                </a:solidFill>
                <a:latin typeface="Helvetica"/>
              </a:rPr>
              <a:t>);</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endParaRPr kumimoji="1" lang="en-US" alt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endParaRPr kumimoji="1" lang="en-US" sz="1800" b="0" i="0" u="none" strike="noStrike" kern="0" cap="none" spc="0" normalizeH="0" baseline="0" noProof="0" dirty="0">
              <a:ln>
                <a:noFill/>
              </a:ln>
              <a:solidFill>
                <a:srgbClr val="000000"/>
              </a:solidFill>
              <a:effectLst/>
              <a:uLnTx/>
              <a:uFillTx/>
              <a:latin typeface="Helvetica"/>
              <a:ea typeface="+mn-ea"/>
              <a:cs typeface="+mn-cs"/>
            </a:endParaRPr>
          </a:p>
        </p:txBody>
      </p:sp>
      <p:sp>
        <p:nvSpPr>
          <p:cNvPr id="5" name="Rectangle 2"/>
          <p:cNvSpPr txBox="1">
            <a:spLocks noChangeArrowheads="1"/>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..The CHECK clause –</a:t>
            </a:r>
            <a:r>
              <a:rPr kumimoji="1" lang="en-US" sz="28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Using BETWEEN</a:t>
            </a:r>
            <a:endParaRPr kumimoji="1" lang="en-US" sz="32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2" name="Footer Placeholder 1"/>
          <p:cNvSpPr>
            <a:spLocks noGrp="1"/>
          </p:cNvSpPr>
          <p:nvPr>
            <p:ph type="ftr" sz="quarter" idx="11"/>
          </p:nvPr>
        </p:nvSpPr>
        <p:spPr/>
        <p:txBody>
          <a:bodyPr/>
          <a:lstStyle/>
          <a:p>
            <a:r>
              <a:rPr lang="en-US" dirty="0"/>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33</a:t>
            </a:fld>
            <a:endParaRPr lang="en-US" dirty="0"/>
          </a:p>
        </p:txBody>
      </p:sp>
    </p:spTree>
    <p:extLst>
      <p:ext uri="{BB962C8B-B14F-4D97-AF65-F5344CB8AC3E}">
        <p14:creationId xmlns:p14="http://schemas.microsoft.com/office/powerpoint/2010/main" val="35751386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Content Placeholder 2"/>
          <p:cNvSpPr txBox="1">
            <a:spLocks/>
          </p:cNvSpPr>
          <p:nvPr/>
        </p:nvSpPr>
        <p:spPr bwMode="auto">
          <a:xfrm>
            <a:off x="1024467" y="862806"/>
            <a:ext cx="10769600" cy="490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0" lvl="0" indent="0">
              <a:lnSpc>
                <a:spcPct val="131000"/>
              </a:lnSpc>
              <a:buClr>
                <a:srgbClr val="CC3300"/>
              </a:buClr>
              <a:buNone/>
              <a:defRPr/>
            </a:pPr>
            <a:r>
              <a:rPr kumimoji="1" lang="en-US" sz="2400" b="1" i="0" u="none" strike="noStrike" kern="0" cap="none" spc="0" normalizeH="0" baseline="0" noProof="0" dirty="0">
                <a:ln>
                  <a:noFill/>
                </a:ln>
                <a:solidFill>
                  <a:srgbClr val="C00000"/>
                </a:solidFill>
                <a:effectLst/>
                <a:uLnTx/>
                <a:uFillTx/>
                <a:latin typeface="Helvetica"/>
                <a:ea typeface="+mn-ea"/>
                <a:cs typeface="+mn-cs"/>
              </a:rPr>
              <a:t>LIKE </a:t>
            </a:r>
            <a:r>
              <a:rPr kumimoji="1" lang="en-US" sz="2400" i="0" u="none" strike="noStrike" kern="0" cap="none" spc="0" normalizeH="0" baseline="0" noProof="0" dirty="0">
                <a:ln>
                  <a:noFill/>
                </a:ln>
                <a:solidFill>
                  <a:srgbClr val="000000"/>
                </a:solidFill>
                <a:effectLst/>
                <a:uLnTx/>
                <a:uFillTx/>
                <a:latin typeface="Helvetica"/>
                <a:ea typeface="+mn-ea"/>
                <a:cs typeface="+mn-cs"/>
              </a:rPr>
              <a:t>is used for pattern matching. </a:t>
            </a:r>
          </a:p>
          <a:p>
            <a:pPr marL="0" lvl="0" indent="0">
              <a:lnSpc>
                <a:spcPct val="131000"/>
              </a:lnSpc>
              <a:buClr>
                <a:srgbClr val="CC3300"/>
              </a:buClr>
              <a:buNone/>
              <a:defRPr/>
            </a:pPr>
            <a:r>
              <a:rPr lang="en-US" sz="2400" b="1" kern="0" dirty="0">
                <a:solidFill>
                  <a:srgbClr val="C00000"/>
                </a:solidFill>
                <a:latin typeface="Helvetica"/>
              </a:rPr>
              <a:t>% </a:t>
            </a:r>
            <a:r>
              <a:rPr kumimoji="1" lang="en-US" sz="2400" i="0" u="none" strike="noStrike" kern="0" cap="none" spc="0" normalizeH="0" baseline="0" noProof="0" dirty="0">
                <a:ln>
                  <a:noFill/>
                </a:ln>
                <a:solidFill>
                  <a:srgbClr val="000000"/>
                </a:solidFill>
                <a:effectLst/>
                <a:uLnTx/>
                <a:uFillTx/>
                <a:latin typeface="Helvetica"/>
                <a:ea typeface="+mn-ea"/>
                <a:cs typeface="+mn-cs"/>
              </a:rPr>
              <a:t>symbol is a wildcard character which ignores </a:t>
            </a:r>
            <a:r>
              <a:rPr kumimoji="1" lang="en-US" sz="2400" b="1" i="0" u="none" strike="noStrike" kern="0" cap="none" spc="0" normalizeH="0" baseline="0" noProof="0" dirty="0">
                <a:ln>
                  <a:noFill/>
                </a:ln>
                <a:solidFill>
                  <a:srgbClr val="000000"/>
                </a:solidFill>
                <a:effectLst/>
                <a:uLnTx/>
                <a:uFillTx/>
                <a:latin typeface="Helvetica"/>
                <a:ea typeface="+mn-ea"/>
                <a:cs typeface="+mn-cs"/>
              </a:rPr>
              <a:t>zero</a:t>
            </a:r>
            <a:r>
              <a:rPr kumimoji="1" lang="en-US" sz="2400" i="0" u="none" strike="noStrike" kern="0" cap="none" spc="0" normalizeH="0" baseline="0" noProof="0" dirty="0">
                <a:ln>
                  <a:noFill/>
                </a:ln>
                <a:solidFill>
                  <a:srgbClr val="000000"/>
                </a:solidFill>
                <a:effectLst/>
                <a:uLnTx/>
                <a:uFillTx/>
                <a:latin typeface="Helvetica"/>
                <a:ea typeface="+mn-ea"/>
                <a:cs typeface="+mn-cs"/>
              </a:rPr>
              <a:t> or </a:t>
            </a:r>
            <a:r>
              <a:rPr kumimoji="1" lang="en-US" sz="2400" b="1" i="0" u="none" strike="noStrike" kern="0" cap="none" spc="0" normalizeH="0" baseline="0" noProof="0" dirty="0">
                <a:ln>
                  <a:noFill/>
                </a:ln>
                <a:solidFill>
                  <a:srgbClr val="000000"/>
                </a:solidFill>
                <a:effectLst/>
                <a:uLnTx/>
                <a:uFillTx/>
                <a:latin typeface="Helvetica"/>
                <a:ea typeface="+mn-ea"/>
                <a:cs typeface="+mn-cs"/>
              </a:rPr>
              <a:t>any number of </a:t>
            </a:r>
            <a:r>
              <a:rPr kumimoji="1" lang="en-US" sz="2400" i="0" u="none" strike="noStrike" kern="0" cap="none" spc="0" normalizeH="0" baseline="0" noProof="0" dirty="0">
                <a:ln>
                  <a:noFill/>
                </a:ln>
                <a:solidFill>
                  <a:srgbClr val="000000"/>
                </a:solidFill>
                <a:effectLst/>
                <a:uLnTx/>
                <a:uFillTx/>
                <a:latin typeface="Helvetica"/>
                <a:ea typeface="+mn-ea"/>
                <a:cs typeface="+mn-cs"/>
              </a:rPr>
              <a:t>characters. </a:t>
            </a:r>
            <a:endParaRPr kumimoji="1" lang="en-US" sz="2400" b="1" i="0" u="none" strike="noStrike" kern="0" cap="none" spc="0" normalizeH="0" baseline="0" noProof="0" dirty="0">
              <a:ln>
                <a:noFill/>
              </a:ln>
              <a:solidFill>
                <a:srgbClr val="000000"/>
              </a:solidFill>
              <a:effectLst/>
              <a:uLnTx/>
              <a:uFillTx/>
              <a:latin typeface="Helvetica"/>
              <a:ea typeface="+mn-ea"/>
              <a:cs typeface="+mn-cs"/>
            </a:endParaRPr>
          </a:p>
          <a:p>
            <a:pPr marL="0" marR="0" lvl="0" indent="0" algn="l" defTabSz="914400" rtl="0" eaLnBrk="0" fontAlgn="base" latinLnBrk="0" hangingPunct="0">
              <a:lnSpc>
                <a:spcPct val="150000"/>
              </a:lnSpc>
              <a:spcBef>
                <a:spcPct val="35000"/>
              </a:spcBef>
              <a:spcAft>
                <a:spcPct val="0"/>
              </a:spcAft>
              <a:buClr>
                <a:srgbClr val="CC3300"/>
              </a:buClr>
              <a:buSzPct val="90000"/>
              <a:buFont typeface="Monotype Sorts" charset="2"/>
              <a:buNone/>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Example:</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Create a table CANDIDATES(</a:t>
            </a:r>
            <a:r>
              <a:rPr kumimoji="1" lang="en-US" sz="1800" b="0" i="0" u="none" strike="noStrike" kern="0" cap="none" spc="0" normalizeH="0" baseline="0" noProof="0" dirty="0" err="1">
                <a:ln>
                  <a:noFill/>
                </a:ln>
                <a:solidFill>
                  <a:srgbClr val="000000"/>
                </a:solidFill>
                <a:effectLst/>
                <a:uLnTx/>
                <a:uFillTx/>
                <a:latin typeface="Helvetica"/>
                <a:ea typeface="+mn-ea"/>
                <a:cs typeface="+mn-cs"/>
              </a:rPr>
              <a:t>CandtID</a:t>
            </a:r>
            <a:r>
              <a:rPr kumimoji="1" lang="en-US" sz="1800" b="0" i="0" u="none" strike="noStrike" kern="0" cap="none" spc="0" normalizeH="0" baseline="0" noProof="0" dirty="0">
                <a:ln>
                  <a:noFill/>
                </a:ln>
                <a:solidFill>
                  <a:srgbClr val="000000"/>
                </a:solidFill>
                <a:effectLst/>
                <a:uLnTx/>
                <a:uFillTx/>
                <a:latin typeface="Helvetica"/>
                <a:ea typeface="+mn-ea"/>
                <a:cs typeface="+mn-cs"/>
              </a:rPr>
              <a:t>, Name, Branch) appearing for entrance exam at MIT. Candidate numbers must be Unique &amp; every </a:t>
            </a:r>
            <a:r>
              <a:rPr kumimoji="1" lang="en-US" sz="1800" b="1" i="0" u="none" strike="noStrike" kern="0" cap="none" spc="0" normalizeH="0" baseline="0" noProof="0" dirty="0">
                <a:ln>
                  <a:noFill/>
                </a:ln>
                <a:solidFill>
                  <a:srgbClr val="000000"/>
                </a:solidFill>
                <a:effectLst/>
                <a:uLnTx/>
                <a:uFillTx/>
                <a:latin typeface="Helvetica"/>
                <a:ea typeface="+mn-ea"/>
                <a:cs typeface="+mn-cs"/>
              </a:rPr>
              <a:t>candidate number must </a:t>
            </a:r>
            <a:r>
              <a:rPr kumimoji="1" lang="en-US" sz="1800" b="1" i="0" u="none" strike="noStrike" kern="0" cap="none" spc="0" normalizeH="0" baseline="0" noProof="0" dirty="0">
                <a:ln>
                  <a:noFill/>
                </a:ln>
                <a:solidFill>
                  <a:srgbClr val="C00000"/>
                </a:solidFill>
                <a:effectLst/>
                <a:uLnTx/>
                <a:uFillTx/>
                <a:latin typeface="Helvetica"/>
                <a:ea typeface="+mn-ea"/>
                <a:cs typeface="+mn-cs"/>
              </a:rPr>
              <a:t>start with MIT</a:t>
            </a:r>
            <a:r>
              <a:rPr kumimoji="1" lang="en-US" sz="1800" b="0" i="0" u="none" strike="noStrike" kern="0" cap="none" spc="0" normalizeH="0" baseline="0" noProof="0" dirty="0">
                <a:ln>
                  <a:noFill/>
                </a:ln>
                <a:solidFill>
                  <a:srgbClr val="000000"/>
                </a:solidFill>
                <a:effectLst/>
                <a:uLnTx/>
                <a:uFillTx/>
                <a:latin typeface="Helvetica"/>
                <a:ea typeface="+mn-ea"/>
                <a:cs typeface="+mn-cs"/>
              </a:rPr>
              <a:t>.</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CREATE TABLE CANDIDATE( CandtId varchar2(7) PRIMARY KEY  </a:t>
            </a:r>
            <a:r>
              <a:rPr kumimoji="1" lang="en-US" sz="2000" b="1" i="0" u="none" strike="noStrike" kern="0" cap="none" spc="0" normalizeH="0" baseline="0" noProof="0" dirty="0">
                <a:ln>
                  <a:noFill/>
                </a:ln>
                <a:solidFill>
                  <a:srgbClr val="000000"/>
                </a:solidFill>
                <a:effectLst/>
                <a:uLnTx/>
                <a:uFillTx/>
                <a:latin typeface="Helvetica"/>
                <a:ea typeface="+mn-ea"/>
                <a:cs typeface="+mn-cs"/>
              </a:rPr>
              <a:t>CHECK </a:t>
            </a:r>
            <a:r>
              <a:rPr kumimoji="1" lang="en-US" sz="2000" b="1" i="0" u="none" strike="noStrike" kern="0" cap="none" spc="0" normalizeH="0" baseline="0" noProof="0" dirty="0">
                <a:ln>
                  <a:noFill/>
                </a:ln>
                <a:solidFill>
                  <a:srgbClr val="C00000"/>
                </a:solidFill>
                <a:effectLst/>
                <a:uLnTx/>
                <a:uFillTx/>
                <a:latin typeface="Helvetica"/>
                <a:ea typeface="+mn-ea"/>
                <a:cs typeface="+mn-cs"/>
              </a:rPr>
              <a:t>(</a:t>
            </a:r>
            <a:r>
              <a:rPr kumimoji="1" lang="en-US" sz="2000" b="1" i="0" u="none" strike="noStrike" kern="0" cap="none" spc="0" normalizeH="0" baseline="0" noProof="0" dirty="0">
                <a:ln>
                  <a:noFill/>
                </a:ln>
                <a:solidFill>
                  <a:srgbClr val="000000"/>
                </a:solidFill>
                <a:effectLst/>
                <a:uLnTx/>
                <a:uFillTx/>
                <a:latin typeface="Helvetica"/>
                <a:ea typeface="+mn-ea"/>
                <a:cs typeface="+mn-cs"/>
              </a:rPr>
              <a:t>CandtId</a:t>
            </a:r>
            <a:r>
              <a:rPr kumimoji="1" lang="en-US" sz="2000" b="1" i="0" u="none" strike="noStrike" kern="0" cap="none" spc="0" normalizeH="0" baseline="0" noProof="0" dirty="0">
                <a:ln>
                  <a:noFill/>
                </a:ln>
                <a:solidFill>
                  <a:srgbClr val="C00000"/>
                </a:solidFill>
                <a:effectLst/>
                <a:uLnTx/>
                <a:uFillTx/>
                <a:latin typeface="Helvetica"/>
                <a:ea typeface="+mn-ea"/>
                <a:cs typeface="+mn-cs"/>
              </a:rPr>
              <a:t> LIKE 'MIT%')</a:t>
            </a:r>
            <a:r>
              <a:rPr kumimoji="1" lang="en-US" sz="2000" b="0" i="0" u="none" strike="noStrike" kern="0" cap="none" spc="0" normalizeH="0" baseline="0" noProof="0" dirty="0">
                <a:ln>
                  <a:noFill/>
                </a:ln>
                <a:solidFill>
                  <a:srgbClr val="000000"/>
                </a:solidFill>
                <a:effectLst/>
                <a:uLnTx/>
                <a:uFillTx/>
                <a:latin typeface="Helvetica"/>
                <a:ea typeface="+mn-ea"/>
                <a:cs typeface="+mn-cs"/>
              </a:rPr>
              <a:t>, Name varchar(10),Branch varchar(10));</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endParaRPr kumimoji="1" lang="en-US" sz="3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INSERT INTO CANDIDATE VALUES</a:t>
            </a:r>
            <a:r>
              <a:rPr kumimoji="1" lang="en-US" sz="1800" b="1" i="0" u="none" strike="noStrike" kern="0" cap="none" spc="0" normalizeH="0" baseline="0" noProof="0" dirty="0">
                <a:ln>
                  <a:noFill/>
                </a:ln>
                <a:solidFill>
                  <a:srgbClr val="000000"/>
                </a:solidFill>
                <a:effectLst/>
                <a:uLnTx/>
                <a:uFillTx/>
                <a:latin typeface="Helvetica"/>
                <a:ea typeface="+mn-ea"/>
                <a:cs typeface="+mn-cs"/>
              </a:rPr>
              <a:t>(</a:t>
            </a:r>
            <a:r>
              <a:rPr kumimoji="1" lang="en-US" sz="1800" b="1" i="0" u="none" strike="noStrike" kern="0" cap="none" spc="0" normalizeH="0" baseline="0" noProof="0" dirty="0">
                <a:ln>
                  <a:noFill/>
                </a:ln>
                <a:solidFill>
                  <a:srgbClr val="C00000"/>
                </a:solidFill>
                <a:effectLst/>
                <a:uLnTx/>
                <a:uFillTx/>
                <a:latin typeface="Helvetica"/>
                <a:ea typeface="+mn-ea"/>
                <a:cs typeface="+mn-cs"/>
              </a:rPr>
              <a:t>'</a:t>
            </a:r>
            <a:r>
              <a:rPr kumimoji="1" lang="en-US" sz="1800" b="1" i="0" u="none" strike="noStrike" kern="0" cap="none" spc="0" normalizeH="0" baseline="0" noProof="0" dirty="0">
                <a:ln>
                  <a:noFill/>
                </a:ln>
                <a:solidFill>
                  <a:srgbClr val="000000"/>
                </a:solidFill>
                <a:effectLst/>
                <a:uLnTx/>
                <a:uFillTx/>
                <a:latin typeface="Helvetica"/>
                <a:ea typeface="+mn-ea"/>
                <a:cs typeface="+mn-cs"/>
              </a:rPr>
              <a:t>MIT1020</a:t>
            </a:r>
            <a:r>
              <a:rPr kumimoji="1" lang="en-US" sz="1800" b="1" i="0" u="none" strike="noStrike" kern="0" cap="none" spc="0" normalizeH="0" baseline="0" noProof="0" dirty="0">
                <a:ln>
                  <a:noFill/>
                </a:ln>
                <a:solidFill>
                  <a:srgbClr val="C00000"/>
                </a:solidFill>
                <a:effectLst/>
                <a:uLnTx/>
                <a:uFillTx/>
                <a:latin typeface="Helvetica"/>
                <a:ea typeface="+mn-ea"/>
                <a:cs typeface="+mn-cs"/>
              </a:rPr>
              <a:t>'</a:t>
            </a:r>
            <a:r>
              <a:rPr kumimoji="1" lang="en-US" sz="1800" b="0" i="0" u="none" strike="noStrike" kern="0" cap="none" spc="0" normalizeH="0" baseline="0" noProof="0" dirty="0">
                <a:ln>
                  <a:noFill/>
                </a:ln>
                <a:solidFill>
                  <a:srgbClr val="000000"/>
                </a:solidFill>
                <a:effectLst/>
                <a:uLnTx/>
                <a:uFillTx/>
                <a:latin typeface="Helvetica"/>
                <a:ea typeface="+mn-ea"/>
                <a:cs typeface="+mn-cs"/>
              </a:rPr>
              <a:t>,</a:t>
            </a:r>
            <a:r>
              <a:rPr kumimoji="1" lang="en-US" sz="1800" b="1" i="0" u="none" strike="noStrike" kern="0" cap="none" spc="0" normalizeH="0" baseline="0" noProof="0" dirty="0">
                <a:ln>
                  <a:noFill/>
                </a:ln>
                <a:solidFill>
                  <a:srgbClr val="C00000"/>
                </a:solidFill>
                <a:effectLst/>
                <a:uLnTx/>
                <a:uFillTx/>
                <a:latin typeface="Helvetica"/>
                <a:ea typeface="+mn-ea"/>
                <a:cs typeface="+mn-cs"/>
              </a:rPr>
              <a:t> '</a:t>
            </a:r>
            <a:r>
              <a:rPr kumimoji="1" lang="en-US" sz="1800" b="0" i="0" u="none" strike="noStrike" kern="0" cap="none" spc="0" normalizeH="0" baseline="0" noProof="0" dirty="0">
                <a:ln>
                  <a:noFill/>
                </a:ln>
                <a:solidFill>
                  <a:srgbClr val="000000"/>
                </a:solidFill>
                <a:effectLst/>
                <a:uLnTx/>
                <a:uFillTx/>
                <a:latin typeface="Helvetica"/>
                <a:ea typeface="+mn-ea"/>
                <a:cs typeface="+mn-cs"/>
              </a:rPr>
              <a:t>Raghu</a:t>
            </a:r>
            <a:r>
              <a:rPr kumimoji="1" lang="en-US" sz="1800" b="1" i="0" u="none" strike="noStrike" kern="0" cap="none" spc="0" normalizeH="0" baseline="0" noProof="0" dirty="0">
                <a:ln>
                  <a:noFill/>
                </a:ln>
                <a:solidFill>
                  <a:srgbClr val="C00000"/>
                </a:solidFill>
                <a:effectLst/>
                <a:uLnTx/>
                <a:uFillTx/>
                <a:latin typeface="Helvetica"/>
                <a:ea typeface="+mn-ea"/>
                <a:cs typeface="+mn-cs"/>
              </a:rPr>
              <a:t>'</a:t>
            </a:r>
            <a:r>
              <a:rPr kumimoji="1" lang="en-US" sz="1800" b="0" i="0" u="none" strike="noStrike" kern="0" cap="none" spc="0" normalizeH="0" baseline="0" noProof="0" dirty="0">
                <a:ln>
                  <a:noFill/>
                </a:ln>
                <a:solidFill>
                  <a:srgbClr val="000000"/>
                </a:solidFill>
                <a:effectLst/>
                <a:uLnTx/>
                <a:uFillTx/>
                <a:latin typeface="Helvetica"/>
                <a:ea typeface="+mn-ea"/>
                <a:cs typeface="+mn-cs"/>
              </a:rPr>
              <a:t>,</a:t>
            </a:r>
            <a:r>
              <a:rPr kumimoji="1" lang="en-US" sz="1800" b="1" i="0" u="none" strike="noStrike" kern="0" cap="none" spc="0" normalizeH="0" baseline="0" noProof="0" dirty="0">
                <a:ln>
                  <a:noFill/>
                </a:ln>
                <a:solidFill>
                  <a:srgbClr val="C00000"/>
                </a:solidFill>
                <a:effectLst/>
                <a:uLnTx/>
                <a:uFillTx/>
                <a:latin typeface="Helvetica"/>
                <a:ea typeface="+mn-ea"/>
                <a:cs typeface="+mn-cs"/>
              </a:rPr>
              <a:t> '</a:t>
            </a:r>
            <a:r>
              <a:rPr kumimoji="1" lang="en-US" sz="1800" b="0" i="0" u="none" strike="noStrike" kern="0" cap="none" spc="0" normalizeH="0" baseline="0" noProof="0" dirty="0" err="1">
                <a:ln>
                  <a:noFill/>
                </a:ln>
                <a:solidFill>
                  <a:srgbClr val="000000"/>
                </a:solidFill>
                <a:effectLst/>
                <a:uLnTx/>
                <a:uFillTx/>
                <a:latin typeface="Helvetica"/>
                <a:ea typeface="+mn-ea"/>
                <a:cs typeface="+mn-cs"/>
              </a:rPr>
              <a:t>CompSc</a:t>
            </a:r>
            <a:r>
              <a:rPr kumimoji="1" lang="en-US" sz="1800" b="1" i="0" u="none" strike="noStrike" kern="0" cap="none" spc="0" normalizeH="0" baseline="0" noProof="0" dirty="0">
                <a:ln>
                  <a:noFill/>
                </a:ln>
                <a:solidFill>
                  <a:srgbClr val="C00000"/>
                </a:solidFill>
                <a:effectLst/>
                <a:uLnTx/>
                <a:uFillTx/>
                <a:latin typeface="Helvetica"/>
                <a:ea typeface="+mn-ea"/>
                <a:cs typeface="+mn-cs"/>
              </a:rPr>
              <a:t>’</a:t>
            </a:r>
            <a:r>
              <a:rPr kumimoji="1" lang="en-US" sz="1800" b="1" i="0" u="none" strike="noStrike" kern="0" cap="none" spc="0" normalizeH="0" baseline="0" noProof="0" dirty="0">
                <a:ln>
                  <a:noFill/>
                </a:ln>
                <a:solidFill>
                  <a:srgbClr val="000000"/>
                </a:solidFill>
                <a:effectLst/>
                <a:uLnTx/>
                <a:uFillTx/>
                <a:latin typeface="Helvetica"/>
                <a:ea typeface="+mn-ea"/>
                <a:cs typeface="+mn-cs"/>
              </a:rPr>
              <a:t>); </a:t>
            </a:r>
            <a:r>
              <a:rPr kumimoji="1" lang="en-US" sz="1800" b="0" i="0" u="none" strike="noStrike" kern="0" cap="none" spc="0" normalizeH="0" baseline="0" noProof="0" dirty="0">
                <a:ln>
                  <a:noFill/>
                </a:ln>
                <a:solidFill>
                  <a:srgbClr val="000000"/>
                </a:solidFill>
                <a:effectLst/>
                <a:uLnTx/>
                <a:uFillTx/>
                <a:latin typeface="Helvetica"/>
                <a:ea typeface="+mn-ea"/>
                <a:cs typeface="+mn-cs"/>
              </a:rPr>
              <a:t>  </a:t>
            </a:r>
            <a:r>
              <a:rPr kumimoji="1" lang="en-US" sz="1800" b="0" i="0" u="none" strike="noStrike" kern="0" cap="none" spc="0" normalizeH="0" baseline="0" noProof="0" dirty="0">
                <a:ln>
                  <a:noFill/>
                </a:ln>
                <a:solidFill>
                  <a:srgbClr val="0070C0"/>
                </a:solidFill>
                <a:effectLst/>
                <a:uLnTx/>
                <a:uFillTx/>
                <a:latin typeface="Helvetica"/>
                <a:ea typeface="+mn-ea"/>
                <a:cs typeface="+mn-cs"/>
              </a:rPr>
              <a:t>accepted</a:t>
            </a:r>
          </a:p>
          <a:p>
            <a:pPr lvl="0">
              <a:lnSpc>
                <a:spcPct val="150000"/>
              </a:lnSpc>
              <a:buClr>
                <a:srgbClr val="CC3300"/>
              </a:buClr>
              <a:defRPr/>
            </a:pPr>
            <a:r>
              <a:rPr lang="en-US" kern="0" dirty="0">
                <a:solidFill>
                  <a:srgbClr val="000000"/>
                </a:solidFill>
                <a:latin typeface="Helvetica"/>
              </a:rPr>
              <a:t>INSERT INTO CANDIDATE VALUES</a:t>
            </a:r>
            <a:r>
              <a:rPr lang="en-US" b="1" kern="0" dirty="0">
                <a:solidFill>
                  <a:srgbClr val="000000"/>
                </a:solidFill>
                <a:latin typeface="Helvetica"/>
              </a:rPr>
              <a:t>(</a:t>
            </a:r>
            <a:r>
              <a:rPr lang="en-US" b="1" kern="0" dirty="0">
                <a:solidFill>
                  <a:srgbClr val="C00000"/>
                </a:solidFill>
                <a:latin typeface="Helvetica"/>
              </a:rPr>
              <a:t>'</a:t>
            </a:r>
            <a:r>
              <a:rPr lang="en-US" b="1" kern="0" dirty="0">
                <a:solidFill>
                  <a:srgbClr val="000000"/>
                </a:solidFill>
                <a:latin typeface="Helvetica"/>
              </a:rPr>
              <a:t>MIT</a:t>
            </a:r>
            <a:r>
              <a:rPr lang="en-US" b="1" kern="0" dirty="0">
                <a:solidFill>
                  <a:srgbClr val="C00000"/>
                </a:solidFill>
                <a:latin typeface="Helvetica"/>
              </a:rPr>
              <a:t>'</a:t>
            </a:r>
            <a:r>
              <a:rPr lang="en-US" kern="0" dirty="0">
                <a:solidFill>
                  <a:srgbClr val="000000"/>
                </a:solidFill>
                <a:latin typeface="Helvetica"/>
              </a:rPr>
              <a:t>,</a:t>
            </a:r>
            <a:r>
              <a:rPr lang="en-US" b="1" kern="0" dirty="0">
                <a:solidFill>
                  <a:srgbClr val="C00000"/>
                </a:solidFill>
                <a:latin typeface="Helvetica"/>
              </a:rPr>
              <a:t> '</a:t>
            </a:r>
            <a:r>
              <a:rPr lang="en-US" kern="0" dirty="0">
                <a:solidFill>
                  <a:srgbClr val="000000"/>
                </a:solidFill>
                <a:latin typeface="Helvetica"/>
              </a:rPr>
              <a:t>Raghu</a:t>
            </a:r>
            <a:r>
              <a:rPr lang="en-US" b="1" kern="0" dirty="0">
                <a:solidFill>
                  <a:srgbClr val="C00000"/>
                </a:solidFill>
                <a:latin typeface="Helvetica"/>
              </a:rPr>
              <a:t>'</a:t>
            </a:r>
            <a:r>
              <a:rPr lang="en-US" kern="0" dirty="0">
                <a:solidFill>
                  <a:srgbClr val="000000"/>
                </a:solidFill>
                <a:latin typeface="Helvetica"/>
              </a:rPr>
              <a:t>,</a:t>
            </a:r>
            <a:r>
              <a:rPr lang="en-US" b="1" kern="0" dirty="0">
                <a:solidFill>
                  <a:srgbClr val="C00000"/>
                </a:solidFill>
                <a:latin typeface="Helvetica"/>
              </a:rPr>
              <a:t> '</a:t>
            </a:r>
            <a:r>
              <a:rPr lang="en-US" kern="0" dirty="0" err="1">
                <a:solidFill>
                  <a:srgbClr val="000000"/>
                </a:solidFill>
                <a:latin typeface="Helvetica"/>
              </a:rPr>
              <a:t>CompSc</a:t>
            </a:r>
            <a:r>
              <a:rPr lang="en-US" b="1" kern="0" dirty="0">
                <a:solidFill>
                  <a:srgbClr val="C00000"/>
                </a:solidFill>
                <a:latin typeface="Helvetica"/>
              </a:rPr>
              <a:t>’</a:t>
            </a:r>
            <a:r>
              <a:rPr lang="en-US" b="1" kern="0" dirty="0">
                <a:solidFill>
                  <a:srgbClr val="000000"/>
                </a:solidFill>
                <a:latin typeface="Helvetica"/>
              </a:rPr>
              <a:t>);   </a:t>
            </a:r>
            <a:r>
              <a:rPr lang="en-US" kern="0" dirty="0">
                <a:solidFill>
                  <a:srgbClr val="0070C0"/>
                </a:solidFill>
                <a:latin typeface="Helvetica"/>
              </a:rPr>
              <a:t>accepted   - ignoring ZERO char</a:t>
            </a:r>
            <a:endParaRPr kumimoji="1" lang="en-US" sz="1800" b="0" i="0" u="none" strike="noStrike" kern="0" cap="none" spc="0" normalizeH="0" baseline="0" noProof="0" dirty="0">
              <a:ln>
                <a:noFill/>
              </a:ln>
              <a:solidFill>
                <a:srgbClr val="0070C0"/>
              </a:solidFill>
              <a:effectLst/>
              <a:uLnTx/>
              <a:uFillTx/>
              <a:latin typeface="Helvetica"/>
              <a:ea typeface="+mn-ea"/>
              <a:cs typeface="+mn-cs"/>
            </a:endParaRPr>
          </a:p>
          <a:p>
            <a:pPr lvl="0">
              <a:lnSpc>
                <a:spcPct val="150000"/>
              </a:lnSpc>
              <a:buClr>
                <a:srgbClr val="CC3300"/>
              </a:buClr>
              <a:defRPr/>
            </a:pPr>
            <a:r>
              <a:rPr lang="en-US" kern="0" dirty="0">
                <a:solidFill>
                  <a:srgbClr val="000000"/>
                </a:solidFill>
                <a:latin typeface="Helvetica"/>
              </a:rPr>
              <a:t>INSERT INTO CANDIDATE VALUES</a:t>
            </a:r>
            <a:r>
              <a:rPr lang="en-US" b="1" kern="0" dirty="0">
                <a:solidFill>
                  <a:srgbClr val="000000"/>
                </a:solidFill>
                <a:latin typeface="Helvetica"/>
              </a:rPr>
              <a:t>(</a:t>
            </a:r>
            <a:r>
              <a:rPr lang="en-US" b="1" kern="0" dirty="0">
                <a:solidFill>
                  <a:srgbClr val="C00000"/>
                </a:solidFill>
                <a:latin typeface="Helvetica"/>
              </a:rPr>
              <a:t>‘</a:t>
            </a:r>
            <a:r>
              <a:rPr lang="en-US" b="1" kern="0" dirty="0">
                <a:solidFill>
                  <a:srgbClr val="000000"/>
                </a:solidFill>
                <a:latin typeface="Helvetica"/>
              </a:rPr>
              <a:t>ABC1021</a:t>
            </a:r>
            <a:r>
              <a:rPr lang="en-US" b="1" kern="0" dirty="0">
                <a:solidFill>
                  <a:srgbClr val="C00000"/>
                </a:solidFill>
                <a:latin typeface="Helvetica"/>
              </a:rPr>
              <a:t>'</a:t>
            </a:r>
            <a:r>
              <a:rPr lang="en-US" kern="0" dirty="0">
                <a:solidFill>
                  <a:srgbClr val="000000"/>
                </a:solidFill>
                <a:latin typeface="Helvetica"/>
              </a:rPr>
              <a:t>,</a:t>
            </a:r>
            <a:r>
              <a:rPr lang="en-US" b="1" kern="0" dirty="0">
                <a:solidFill>
                  <a:srgbClr val="C00000"/>
                </a:solidFill>
                <a:latin typeface="Helvetica"/>
              </a:rPr>
              <a:t> ‘</a:t>
            </a:r>
            <a:r>
              <a:rPr lang="en-US" kern="0" dirty="0">
                <a:solidFill>
                  <a:srgbClr val="000000"/>
                </a:solidFill>
                <a:latin typeface="Helvetica"/>
              </a:rPr>
              <a:t>Raj</a:t>
            </a:r>
            <a:r>
              <a:rPr lang="en-US" b="1" kern="0" dirty="0">
                <a:solidFill>
                  <a:srgbClr val="C00000"/>
                </a:solidFill>
                <a:latin typeface="Helvetica"/>
              </a:rPr>
              <a:t>'</a:t>
            </a:r>
            <a:r>
              <a:rPr lang="en-US" kern="0" dirty="0">
                <a:solidFill>
                  <a:srgbClr val="000000"/>
                </a:solidFill>
                <a:latin typeface="Helvetica"/>
              </a:rPr>
              <a:t>,</a:t>
            </a:r>
            <a:r>
              <a:rPr lang="en-US" b="1" kern="0" dirty="0">
                <a:solidFill>
                  <a:srgbClr val="C00000"/>
                </a:solidFill>
                <a:latin typeface="Helvetica"/>
              </a:rPr>
              <a:t> '</a:t>
            </a:r>
            <a:r>
              <a:rPr lang="en-US" kern="0" dirty="0" err="1">
                <a:solidFill>
                  <a:srgbClr val="000000"/>
                </a:solidFill>
                <a:latin typeface="Helvetica"/>
              </a:rPr>
              <a:t>CompSc</a:t>
            </a:r>
            <a:r>
              <a:rPr lang="en-US" b="1" kern="0" dirty="0">
                <a:solidFill>
                  <a:srgbClr val="C00000"/>
                </a:solidFill>
                <a:latin typeface="Helvetica"/>
              </a:rPr>
              <a:t>’</a:t>
            </a:r>
            <a:r>
              <a:rPr lang="en-US" b="1" kern="0" dirty="0">
                <a:solidFill>
                  <a:srgbClr val="000000"/>
                </a:solidFill>
                <a:latin typeface="Helvetica"/>
              </a:rPr>
              <a:t>);</a:t>
            </a:r>
            <a:r>
              <a:rPr lang="en-US" kern="0" dirty="0">
                <a:solidFill>
                  <a:srgbClr val="000000"/>
                </a:solidFill>
                <a:latin typeface="Helvetica"/>
              </a:rPr>
              <a:t>  </a:t>
            </a:r>
            <a:r>
              <a:rPr lang="en-US" kern="0" dirty="0">
                <a:solidFill>
                  <a:srgbClr val="C00000"/>
                </a:solidFill>
                <a:latin typeface="Helvetica"/>
              </a:rPr>
              <a:t>rejected</a:t>
            </a:r>
            <a:endParaRPr kumimoji="1" lang="en-US" sz="1800" b="0" i="0" u="none" strike="noStrike" kern="0" cap="none" spc="0" normalizeH="0" baseline="0" noProof="0" dirty="0">
              <a:ln>
                <a:noFill/>
              </a:ln>
              <a:solidFill>
                <a:srgbClr val="C00000"/>
              </a:solidFill>
              <a:effectLst/>
              <a:uLnTx/>
              <a:uFillTx/>
              <a:latin typeface="Helvetica"/>
            </a:endParaRPr>
          </a:p>
        </p:txBody>
      </p:sp>
      <p:sp>
        <p:nvSpPr>
          <p:cNvPr id="3" name="Rectangle 2"/>
          <p:cNvSpPr txBox="1">
            <a:spLocks noChangeArrowheads="1"/>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..The check clause   - </a:t>
            </a:r>
            <a:r>
              <a:rPr kumimoji="1" lang="en-US" sz="28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using LIKE  %</a:t>
            </a:r>
            <a:endParaRPr kumimoji="1" lang="en-US" sz="32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34</a:t>
            </a:fld>
            <a:endParaRPr lang="en-US"/>
          </a:p>
        </p:txBody>
      </p:sp>
    </p:spTree>
    <p:extLst>
      <p:ext uri="{BB962C8B-B14F-4D97-AF65-F5344CB8AC3E}">
        <p14:creationId xmlns:p14="http://schemas.microsoft.com/office/powerpoint/2010/main" val="1297155324"/>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txBox="1">
            <a:spLocks/>
          </p:cNvSpPr>
          <p:nvPr/>
        </p:nvSpPr>
        <p:spPr bwMode="auto">
          <a:xfrm>
            <a:off x="289560" y="727075"/>
            <a:ext cx="11504507" cy="5379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0" marR="0" lvl="0" indent="0" algn="l" defTabSz="914400" rtl="0" eaLnBrk="0" fontAlgn="base" latinLnBrk="0" hangingPunct="0">
              <a:lnSpc>
                <a:spcPct val="150000"/>
              </a:lnSpc>
              <a:spcBef>
                <a:spcPct val="35000"/>
              </a:spcBef>
              <a:spcAft>
                <a:spcPct val="0"/>
              </a:spcAft>
              <a:buClr>
                <a:srgbClr val="CC3300"/>
              </a:buClr>
              <a:buSzPct val="90000"/>
              <a:buFont typeface="Monotype Sorts" charset="2"/>
              <a:buNone/>
              <a:tabLst/>
              <a:defRPr/>
            </a:pPr>
            <a:r>
              <a:rPr kumimoji="1" lang="en-US" sz="2800" b="1" i="0" u="none" strike="noStrike" kern="0" cap="none" spc="0" normalizeH="0" baseline="0" noProof="0" dirty="0">
                <a:ln>
                  <a:noFill/>
                </a:ln>
                <a:solidFill>
                  <a:srgbClr val="C00000"/>
                </a:solidFill>
                <a:effectLst/>
                <a:uLnTx/>
                <a:uFillTx/>
                <a:latin typeface="Helvetica"/>
                <a:ea typeface="+mn-ea"/>
                <a:cs typeface="+mn-cs"/>
              </a:rPr>
              <a:t>_</a:t>
            </a:r>
            <a:r>
              <a:rPr kumimoji="1" lang="en-US" sz="2400" b="1" i="0" u="none" strike="noStrike" kern="0" cap="none" spc="0" normalizeH="0" baseline="0" noProof="0" dirty="0">
                <a:ln>
                  <a:noFill/>
                </a:ln>
                <a:solidFill>
                  <a:srgbClr val="000000"/>
                </a:solidFill>
                <a:effectLst/>
                <a:uLnTx/>
                <a:uFillTx/>
                <a:latin typeface="Helvetica"/>
                <a:ea typeface="+mn-ea"/>
                <a:cs typeface="+mn-cs"/>
              </a:rPr>
              <a:t> </a:t>
            </a:r>
            <a:r>
              <a:rPr kumimoji="1" lang="en-US" sz="2400" i="0" u="none" strike="noStrike" kern="0" cap="none" spc="0" normalizeH="0" baseline="0" noProof="0" dirty="0">
                <a:ln>
                  <a:noFill/>
                </a:ln>
                <a:solidFill>
                  <a:srgbClr val="000000"/>
                </a:solidFill>
                <a:effectLst/>
                <a:uLnTx/>
                <a:uFillTx/>
                <a:latin typeface="Helvetica"/>
                <a:ea typeface="+mn-ea"/>
                <a:cs typeface="+mn-cs"/>
              </a:rPr>
              <a:t> is a wildcard character which ignores </a:t>
            </a:r>
            <a:r>
              <a:rPr kumimoji="1" lang="en-US" sz="2400" b="1" i="0" u="none" strike="noStrike" kern="0" cap="none" spc="0" normalizeH="0" baseline="0" noProof="0" dirty="0">
                <a:ln>
                  <a:noFill/>
                </a:ln>
                <a:solidFill>
                  <a:srgbClr val="C00000"/>
                </a:solidFill>
                <a:effectLst/>
                <a:uLnTx/>
                <a:uFillTx/>
                <a:latin typeface="Helvetica"/>
                <a:ea typeface="+mn-ea"/>
                <a:cs typeface="+mn-cs"/>
              </a:rPr>
              <a:t>1</a:t>
            </a:r>
            <a:r>
              <a:rPr kumimoji="1" lang="en-US" sz="2400" i="0" u="none" strike="noStrike" kern="0" cap="none" spc="0" normalizeH="0" baseline="0" noProof="0" dirty="0">
                <a:ln>
                  <a:noFill/>
                </a:ln>
                <a:solidFill>
                  <a:srgbClr val="000000"/>
                </a:solidFill>
                <a:effectLst/>
                <a:uLnTx/>
                <a:uFillTx/>
                <a:latin typeface="Helvetica"/>
                <a:ea typeface="+mn-ea"/>
                <a:cs typeface="+mn-cs"/>
              </a:rPr>
              <a:t> character(accepts exactly one any character).</a:t>
            </a:r>
            <a:endParaRPr kumimoji="1" lang="en-US" sz="2400" b="1" i="0" u="none" strike="noStrike" kern="0" cap="none" spc="0" normalizeH="0" baseline="0" noProof="0" dirty="0">
              <a:ln>
                <a:noFill/>
              </a:ln>
              <a:solidFill>
                <a:srgbClr val="000000"/>
              </a:solidFill>
              <a:effectLst/>
              <a:uLnTx/>
              <a:uFillTx/>
              <a:latin typeface="Helvetica"/>
              <a:ea typeface="+mn-ea"/>
              <a:cs typeface="+mn-cs"/>
            </a:endParaRPr>
          </a:p>
          <a:p>
            <a:pPr marL="0" marR="0" lvl="0" indent="0" algn="l" defTabSz="914400" rtl="0" eaLnBrk="0" fontAlgn="base" latinLnBrk="0" hangingPunct="0">
              <a:lnSpc>
                <a:spcPct val="150000"/>
              </a:lnSpc>
              <a:spcBef>
                <a:spcPct val="35000"/>
              </a:spcBef>
              <a:spcAft>
                <a:spcPct val="0"/>
              </a:spcAft>
              <a:buClr>
                <a:srgbClr val="CC3300"/>
              </a:buClr>
              <a:buSzPct val="90000"/>
              <a:buFont typeface="Monotype Sorts" charset="2"/>
              <a:buNone/>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Example:</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Create a table PRODUCT(ProdID, Name, Price)  to store products of </a:t>
            </a:r>
            <a:r>
              <a:rPr kumimoji="1" lang="en-US" sz="1800" b="1" i="0" u="none" strike="noStrike" kern="0" cap="none" spc="0" normalizeH="0" baseline="0" noProof="0" dirty="0">
                <a:ln>
                  <a:noFill/>
                </a:ln>
                <a:solidFill>
                  <a:srgbClr val="000000"/>
                </a:solidFill>
                <a:effectLst/>
                <a:uLnTx/>
                <a:uFillTx/>
                <a:latin typeface="Helvetica"/>
                <a:ea typeface="+mn-ea"/>
                <a:cs typeface="+mn-cs"/>
              </a:rPr>
              <a:t>JOI</a:t>
            </a:r>
            <a:r>
              <a:rPr kumimoji="1" lang="en-US" sz="1800" b="0" i="0" u="none" strike="noStrike" kern="0" cap="none" spc="0" normalizeH="0" baseline="0" noProof="0" dirty="0">
                <a:ln>
                  <a:noFill/>
                </a:ln>
                <a:solidFill>
                  <a:srgbClr val="000000"/>
                </a:solidFill>
                <a:effectLst/>
                <a:uLnTx/>
                <a:uFillTx/>
                <a:latin typeface="Helvetica"/>
                <a:ea typeface="+mn-ea"/>
                <a:cs typeface="+mn-cs"/>
              </a:rPr>
              <a:t> company. Product numbers must be of the form </a:t>
            </a:r>
            <a:r>
              <a:rPr kumimoji="1" lang="en-US" sz="1800" b="1" i="0" u="none" strike="noStrike" kern="0" cap="none" spc="0" normalizeH="0" baseline="0" noProof="0" dirty="0">
                <a:ln>
                  <a:noFill/>
                </a:ln>
                <a:solidFill>
                  <a:srgbClr val="000000"/>
                </a:solidFill>
                <a:effectLst/>
                <a:uLnTx/>
                <a:uFillTx/>
                <a:latin typeface="Helvetica"/>
                <a:ea typeface="+mn-ea"/>
                <a:cs typeface="+mn-cs"/>
              </a:rPr>
              <a:t>JOI-</a:t>
            </a:r>
            <a:r>
              <a:rPr kumimoji="1" lang="en-US" sz="1800" b="0" i="0" u="none" strike="noStrike" kern="0" cap="none" spc="0" normalizeH="0" baseline="0" noProof="0" dirty="0">
                <a:ln>
                  <a:noFill/>
                </a:ln>
                <a:solidFill>
                  <a:srgbClr val="000000"/>
                </a:solidFill>
                <a:effectLst/>
                <a:uLnTx/>
                <a:uFillTx/>
                <a:latin typeface="Helvetica"/>
                <a:ea typeface="+mn-ea"/>
                <a:cs typeface="+mn-cs"/>
              </a:rPr>
              <a:t> followed by any 5 characters(use 5 under score character).</a:t>
            </a:r>
          </a:p>
          <a:p>
            <a:pPr lvl="0">
              <a:lnSpc>
                <a:spcPct val="150000"/>
              </a:lnSpc>
              <a:buClr>
                <a:srgbClr val="CC3300"/>
              </a:buClr>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CREATE TABLE </a:t>
            </a:r>
            <a:r>
              <a:rPr lang="en-US" sz="2000" kern="0" dirty="0">
                <a:solidFill>
                  <a:srgbClr val="000000"/>
                </a:solidFill>
                <a:latin typeface="Helvetica"/>
              </a:rPr>
              <a:t>PRODUCT(ProdID </a:t>
            </a:r>
            <a:r>
              <a:rPr kumimoji="1" lang="en-US" sz="2000" b="0" i="0" u="none" strike="noStrike" kern="0" cap="none" spc="0" normalizeH="0" baseline="0" noProof="0" dirty="0">
                <a:ln>
                  <a:noFill/>
                </a:ln>
                <a:solidFill>
                  <a:srgbClr val="000000"/>
                </a:solidFill>
                <a:effectLst/>
                <a:uLnTx/>
                <a:uFillTx/>
                <a:latin typeface="Helvetica"/>
                <a:ea typeface="+mn-ea"/>
                <a:cs typeface="+mn-cs"/>
              </a:rPr>
              <a:t>varchar2(9) PRIMARY KEY  </a:t>
            </a:r>
            <a:r>
              <a:rPr kumimoji="1" lang="en-US" sz="2000" b="1" i="0" u="none" strike="noStrike" kern="0" cap="none" spc="0" normalizeH="0" baseline="0" noProof="0" dirty="0">
                <a:ln>
                  <a:noFill/>
                </a:ln>
                <a:solidFill>
                  <a:srgbClr val="000000"/>
                </a:solidFill>
                <a:effectLst/>
                <a:uLnTx/>
                <a:uFillTx/>
                <a:latin typeface="Helvetica"/>
                <a:ea typeface="+mn-ea"/>
                <a:cs typeface="+mn-cs"/>
              </a:rPr>
              <a:t>CHECK </a:t>
            </a:r>
            <a:r>
              <a:rPr kumimoji="1" lang="en-US" sz="2000" b="1" i="0" u="none" strike="noStrike" kern="0" cap="none" spc="0" normalizeH="0" baseline="0" noProof="0" dirty="0">
                <a:ln>
                  <a:noFill/>
                </a:ln>
                <a:solidFill>
                  <a:srgbClr val="C00000"/>
                </a:solidFill>
                <a:effectLst/>
                <a:uLnTx/>
                <a:uFillTx/>
                <a:latin typeface="Helvetica"/>
                <a:ea typeface="+mn-ea"/>
                <a:cs typeface="+mn-cs"/>
              </a:rPr>
              <a:t>(</a:t>
            </a:r>
            <a:r>
              <a:rPr lang="en-US" sz="2000" kern="0" dirty="0">
                <a:solidFill>
                  <a:srgbClr val="000000"/>
                </a:solidFill>
                <a:latin typeface="Helvetica"/>
              </a:rPr>
              <a:t>ProdID</a:t>
            </a:r>
            <a:r>
              <a:rPr kumimoji="1" lang="en-US" sz="2000" b="1" i="0" u="none" strike="noStrike" kern="0" cap="none" spc="0" normalizeH="0" baseline="0" noProof="0" dirty="0">
                <a:ln>
                  <a:noFill/>
                </a:ln>
                <a:solidFill>
                  <a:srgbClr val="C00000"/>
                </a:solidFill>
                <a:effectLst/>
                <a:uLnTx/>
                <a:uFillTx/>
                <a:latin typeface="Helvetica"/>
                <a:ea typeface="+mn-ea"/>
                <a:cs typeface="+mn-cs"/>
              </a:rPr>
              <a:t> LIKE </a:t>
            </a:r>
            <a:r>
              <a:rPr lang="en-US" sz="2000" b="1" kern="0" dirty="0">
                <a:solidFill>
                  <a:srgbClr val="C00000"/>
                </a:solidFill>
                <a:latin typeface="Helvetica"/>
              </a:rPr>
              <a:t>'JOI-</a:t>
            </a:r>
            <a:r>
              <a:rPr kumimoji="1" lang="en-US" sz="2000" b="1" i="0" u="none" strike="noStrike" kern="0" cap="none" spc="0" normalizeH="0" baseline="0" noProof="0" dirty="0">
                <a:ln>
                  <a:noFill/>
                </a:ln>
                <a:solidFill>
                  <a:srgbClr val="C00000"/>
                </a:solidFill>
                <a:effectLst/>
                <a:uLnTx/>
                <a:uFillTx/>
                <a:latin typeface="Helvetica"/>
                <a:ea typeface="+mn-ea"/>
                <a:cs typeface="+mn-cs"/>
              </a:rPr>
              <a:t>_____')</a:t>
            </a:r>
            <a:r>
              <a:rPr kumimoji="1" lang="en-US" sz="2000" b="0" i="0" u="none" strike="noStrike" kern="0" cap="none" spc="0" normalizeH="0" baseline="0" noProof="0" dirty="0">
                <a:ln>
                  <a:noFill/>
                </a:ln>
                <a:solidFill>
                  <a:srgbClr val="000000"/>
                </a:solidFill>
                <a:effectLst/>
                <a:uLnTx/>
                <a:uFillTx/>
                <a:latin typeface="Helvetica"/>
                <a:ea typeface="+mn-ea"/>
                <a:cs typeface="+mn-cs"/>
              </a:rPr>
              <a:t>, Name varchar(10),Price Number(5));         	N</a:t>
            </a:r>
            <a:r>
              <a:rPr kumimoji="1" lang="en-US" sz="1600" b="0" i="0" u="none" strike="noStrike" kern="0" cap="none" spc="0" normalizeH="0" baseline="0" noProof="0" dirty="0">
                <a:ln>
                  <a:noFill/>
                </a:ln>
                <a:solidFill>
                  <a:srgbClr val="000000"/>
                </a:solidFill>
                <a:effectLst/>
                <a:uLnTx/>
                <a:uFillTx/>
                <a:latin typeface="Helvetica"/>
                <a:ea typeface="+mn-ea"/>
                <a:cs typeface="+mn-cs"/>
              </a:rPr>
              <a:t>ote: 5 underscore characters</a:t>
            </a:r>
            <a:endParaRPr kumimoji="1" lang="en-US" sz="32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endParaRPr kumimoji="1" lang="en-US" sz="700" b="0" i="0" u="none" strike="noStrike" kern="0" cap="none" spc="0" normalizeH="0" baseline="0" noProof="0" dirty="0">
              <a:ln>
                <a:noFill/>
              </a:ln>
              <a:solidFill>
                <a:srgbClr val="000000"/>
              </a:solidFill>
              <a:effectLst/>
              <a:uLnTx/>
              <a:uFillTx/>
              <a:latin typeface="Helvetica"/>
              <a:ea typeface="+mn-ea"/>
              <a:cs typeface="+mn-cs"/>
            </a:endParaRPr>
          </a:p>
          <a:p>
            <a:pPr lvl="1">
              <a:lnSpc>
                <a:spcPct val="140000"/>
              </a:lnSpc>
              <a:buClr>
                <a:srgbClr val="CC3300"/>
              </a:buClr>
              <a:defRPr/>
            </a:pPr>
            <a:r>
              <a:rPr lang="en-US" kern="0" dirty="0">
                <a:solidFill>
                  <a:srgbClr val="000000"/>
                </a:solidFill>
                <a:latin typeface="Helvetica"/>
              </a:rPr>
              <a:t>INSERT INTO PRODUCT VALUES(</a:t>
            </a:r>
            <a:r>
              <a:rPr lang="en-US" b="1" kern="0" dirty="0">
                <a:solidFill>
                  <a:srgbClr val="000000"/>
                </a:solidFill>
                <a:latin typeface="Helvetica"/>
              </a:rPr>
              <a:t>‘</a:t>
            </a:r>
            <a:r>
              <a:rPr lang="en-US" kern="0" dirty="0">
                <a:solidFill>
                  <a:srgbClr val="000000"/>
                </a:solidFill>
                <a:latin typeface="Helvetica"/>
              </a:rPr>
              <a:t>JOI</a:t>
            </a:r>
            <a:r>
              <a:rPr lang="en-US" b="1" kern="0" dirty="0">
                <a:solidFill>
                  <a:srgbClr val="C00000"/>
                </a:solidFill>
                <a:latin typeface="Helvetica"/>
              </a:rPr>
              <a:t>-</a:t>
            </a:r>
            <a:r>
              <a:rPr lang="en-US" kern="0" dirty="0">
                <a:solidFill>
                  <a:srgbClr val="000000"/>
                </a:solidFill>
                <a:latin typeface="Helvetica"/>
              </a:rPr>
              <a:t>22232</a:t>
            </a:r>
            <a:r>
              <a:rPr lang="en-US" b="1" kern="0" dirty="0">
                <a:solidFill>
                  <a:srgbClr val="000000"/>
                </a:solidFill>
                <a:latin typeface="Helvetica"/>
              </a:rPr>
              <a:t>’</a:t>
            </a:r>
            <a:r>
              <a:rPr lang="en-US" kern="0" dirty="0">
                <a:solidFill>
                  <a:srgbClr val="000000"/>
                </a:solidFill>
                <a:latin typeface="Helvetica"/>
              </a:rPr>
              <a:t>, </a:t>
            </a:r>
            <a:r>
              <a:rPr lang="en-US" b="1" kern="0" dirty="0">
                <a:solidFill>
                  <a:srgbClr val="000000"/>
                </a:solidFill>
                <a:latin typeface="Helvetica"/>
              </a:rPr>
              <a:t>’</a:t>
            </a:r>
            <a:r>
              <a:rPr lang="en-US" kern="0" dirty="0">
                <a:solidFill>
                  <a:srgbClr val="000000"/>
                </a:solidFill>
                <a:latin typeface="Helvetica"/>
              </a:rPr>
              <a:t>Mobile</a:t>
            </a:r>
            <a:r>
              <a:rPr lang="en-US" b="1" kern="0" dirty="0">
                <a:solidFill>
                  <a:srgbClr val="000000"/>
                </a:solidFill>
                <a:latin typeface="Helvetica"/>
              </a:rPr>
              <a:t>’</a:t>
            </a:r>
            <a:r>
              <a:rPr lang="en-US" kern="0" dirty="0">
                <a:solidFill>
                  <a:srgbClr val="000000"/>
                </a:solidFill>
                <a:latin typeface="Helvetica"/>
              </a:rPr>
              <a:t>,3344);</a:t>
            </a:r>
            <a:r>
              <a:rPr kumimoji="1" lang="en-US" b="1" i="0" u="none" strike="noStrike" kern="0" cap="none" spc="0" normalizeH="0" baseline="0" noProof="0" dirty="0">
                <a:ln>
                  <a:noFill/>
                </a:ln>
                <a:solidFill>
                  <a:srgbClr val="000000"/>
                </a:solidFill>
                <a:effectLst/>
                <a:uLnTx/>
                <a:uFillTx/>
                <a:latin typeface="Helvetica"/>
                <a:ea typeface="+mn-ea"/>
                <a:cs typeface="+mn-cs"/>
              </a:rPr>
              <a:t>; </a:t>
            </a:r>
            <a:r>
              <a:rPr kumimoji="1" lang="en-US" b="0" i="0" u="none" strike="noStrike" kern="0" cap="none" spc="0" normalizeH="0" baseline="0" noProof="0" dirty="0">
                <a:ln>
                  <a:noFill/>
                </a:ln>
                <a:solidFill>
                  <a:srgbClr val="000000"/>
                </a:solidFill>
                <a:effectLst/>
                <a:uLnTx/>
                <a:uFillTx/>
                <a:latin typeface="Helvetica"/>
                <a:ea typeface="+mn-ea"/>
                <a:cs typeface="+mn-cs"/>
              </a:rPr>
              <a:t>   </a:t>
            </a:r>
            <a:r>
              <a:rPr kumimoji="1" lang="en-US" b="0" i="0" u="none" strike="noStrike" kern="0" cap="none" spc="0" normalizeH="0" baseline="0" noProof="0" dirty="0">
                <a:ln>
                  <a:noFill/>
                </a:ln>
                <a:solidFill>
                  <a:srgbClr val="0070C0"/>
                </a:solidFill>
                <a:effectLst/>
                <a:uLnTx/>
                <a:uFillTx/>
                <a:latin typeface="Helvetica"/>
                <a:ea typeface="+mn-ea"/>
                <a:cs typeface="+mn-cs"/>
              </a:rPr>
              <a:t>accepted.</a:t>
            </a:r>
          </a:p>
          <a:p>
            <a:pPr lvl="1">
              <a:lnSpc>
                <a:spcPct val="140000"/>
              </a:lnSpc>
              <a:buClr>
                <a:srgbClr val="CC3300"/>
              </a:buClr>
              <a:defRPr/>
            </a:pPr>
            <a:r>
              <a:rPr lang="en-US" kern="0" dirty="0">
                <a:solidFill>
                  <a:srgbClr val="000000"/>
                </a:solidFill>
                <a:latin typeface="Helvetica"/>
              </a:rPr>
              <a:t>INSERT INTO PRODUCT VALUES(</a:t>
            </a:r>
            <a:r>
              <a:rPr lang="en-US" b="1" kern="0" dirty="0">
                <a:solidFill>
                  <a:srgbClr val="000000"/>
                </a:solidFill>
                <a:latin typeface="Helvetica"/>
              </a:rPr>
              <a:t>‘</a:t>
            </a:r>
            <a:r>
              <a:rPr lang="en-US" kern="0" dirty="0">
                <a:solidFill>
                  <a:srgbClr val="000000"/>
                </a:solidFill>
                <a:latin typeface="Helvetica"/>
              </a:rPr>
              <a:t>JOI</a:t>
            </a:r>
            <a:r>
              <a:rPr lang="en-US" b="1" kern="0" dirty="0">
                <a:solidFill>
                  <a:srgbClr val="C00000"/>
                </a:solidFill>
                <a:latin typeface="Helvetica"/>
              </a:rPr>
              <a:t>-</a:t>
            </a:r>
            <a:r>
              <a:rPr lang="en-US" b="1" kern="0" dirty="0">
                <a:solidFill>
                  <a:srgbClr val="000000"/>
                </a:solidFill>
                <a:latin typeface="Helvetica"/>
              </a:rPr>
              <a:t>’</a:t>
            </a:r>
            <a:r>
              <a:rPr lang="en-US" kern="0" dirty="0">
                <a:solidFill>
                  <a:srgbClr val="000000"/>
                </a:solidFill>
                <a:latin typeface="Helvetica"/>
              </a:rPr>
              <a:t>,</a:t>
            </a:r>
            <a:r>
              <a:rPr lang="en-US" b="1" kern="0" dirty="0">
                <a:solidFill>
                  <a:srgbClr val="000000"/>
                </a:solidFill>
                <a:latin typeface="Helvetica"/>
              </a:rPr>
              <a:t>’</a:t>
            </a:r>
            <a:r>
              <a:rPr lang="en-US" kern="0" dirty="0">
                <a:solidFill>
                  <a:srgbClr val="000000"/>
                </a:solidFill>
                <a:latin typeface="Helvetica"/>
              </a:rPr>
              <a:t>S.WATCH</a:t>
            </a:r>
            <a:r>
              <a:rPr lang="en-US" b="1" kern="0" dirty="0">
                <a:solidFill>
                  <a:srgbClr val="000000"/>
                </a:solidFill>
                <a:latin typeface="Helvetica"/>
              </a:rPr>
              <a:t>’</a:t>
            </a:r>
            <a:r>
              <a:rPr lang="en-US" kern="0" dirty="0">
                <a:solidFill>
                  <a:srgbClr val="000000"/>
                </a:solidFill>
                <a:latin typeface="Helvetica"/>
              </a:rPr>
              <a:t>,2344);     </a:t>
            </a:r>
            <a:r>
              <a:rPr lang="en-US" kern="0" dirty="0">
                <a:solidFill>
                  <a:srgbClr val="C00000"/>
                </a:solidFill>
                <a:latin typeface="Helvetica"/>
              </a:rPr>
              <a:t>rejected</a:t>
            </a:r>
            <a:endParaRPr lang="en-US" kern="0" dirty="0">
              <a:solidFill>
                <a:srgbClr val="000000"/>
              </a:solidFill>
              <a:latin typeface="Helvetica"/>
            </a:endParaRPr>
          </a:p>
          <a:p>
            <a:pPr lvl="1">
              <a:lnSpc>
                <a:spcPct val="140000"/>
              </a:lnSpc>
              <a:buClr>
                <a:srgbClr val="CC3300"/>
              </a:buClr>
              <a:defRPr/>
            </a:pPr>
            <a:r>
              <a:rPr lang="en-US" kern="0" dirty="0">
                <a:solidFill>
                  <a:srgbClr val="000000"/>
                </a:solidFill>
                <a:latin typeface="Helvetica"/>
              </a:rPr>
              <a:t>INSERT INTO PRODUCT VALUES(</a:t>
            </a:r>
            <a:r>
              <a:rPr lang="en-US" b="1" kern="0" dirty="0">
                <a:solidFill>
                  <a:srgbClr val="000000"/>
                </a:solidFill>
                <a:latin typeface="Helvetica"/>
              </a:rPr>
              <a:t>‘</a:t>
            </a:r>
            <a:r>
              <a:rPr lang="en-US" kern="0" dirty="0">
                <a:solidFill>
                  <a:srgbClr val="000000"/>
                </a:solidFill>
                <a:latin typeface="Helvetica"/>
              </a:rPr>
              <a:t>JOI</a:t>
            </a:r>
            <a:r>
              <a:rPr lang="en-US" b="1" kern="0" dirty="0">
                <a:solidFill>
                  <a:srgbClr val="C00000"/>
                </a:solidFill>
                <a:latin typeface="Helvetica"/>
              </a:rPr>
              <a:t>-</a:t>
            </a:r>
            <a:r>
              <a:rPr lang="en-US" kern="0" dirty="0">
                <a:solidFill>
                  <a:srgbClr val="000000"/>
                </a:solidFill>
                <a:latin typeface="Helvetica"/>
              </a:rPr>
              <a:t>222</a:t>
            </a:r>
            <a:r>
              <a:rPr lang="en-US" b="1" kern="0" dirty="0">
                <a:solidFill>
                  <a:srgbClr val="000000"/>
                </a:solidFill>
                <a:latin typeface="Helvetica"/>
              </a:rPr>
              <a:t>’</a:t>
            </a:r>
            <a:r>
              <a:rPr lang="en-US" kern="0" dirty="0">
                <a:solidFill>
                  <a:srgbClr val="000000"/>
                </a:solidFill>
                <a:latin typeface="Helvetica"/>
              </a:rPr>
              <a:t>,</a:t>
            </a:r>
            <a:r>
              <a:rPr lang="en-US" b="1" kern="0" dirty="0">
                <a:solidFill>
                  <a:srgbClr val="000000"/>
                </a:solidFill>
                <a:latin typeface="Helvetica"/>
              </a:rPr>
              <a:t>’</a:t>
            </a:r>
            <a:r>
              <a:rPr lang="en-US" kern="0" dirty="0">
                <a:solidFill>
                  <a:srgbClr val="000000"/>
                </a:solidFill>
                <a:latin typeface="Helvetica"/>
              </a:rPr>
              <a:t>Tab</a:t>
            </a:r>
            <a:r>
              <a:rPr lang="en-US" b="1" kern="0" dirty="0">
                <a:solidFill>
                  <a:srgbClr val="000000"/>
                </a:solidFill>
                <a:latin typeface="Helvetica"/>
              </a:rPr>
              <a:t>’</a:t>
            </a:r>
            <a:r>
              <a:rPr lang="en-US" kern="0" dirty="0">
                <a:solidFill>
                  <a:srgbClr val="000000"/>
                </a:solidFill>
                <a:latin typeface="Helvetica"/>
              </a:rPr>
              <a:t>,7344);                </a:t>
            </a:r>
            <a:r>
              <a:rPr lang="en-US" kern="0" dirty="0">
                <a:solidFill>
                  <a:srgbClr val="C00000"/>
                </a:solidFill>
                <a:latin typeface="Helvetica"/>
              </a:rPr>
              <a:t>rejected</a:t>
            </a:r>
          </a:p>
          <a:p>
            <a:pPr lvl="1">
              <a:lnSpc>
                <a:spcPct val="140000"/>
              </a:lnSpc>
              <a:buClr>
                <a:srgbClr val="CC3300"/>
              </a:buClr>
              <a:defRPr/>
            </a:pPr>
            <a:r>
              <a:rPr lang="en-US" kern="0" dirty="0">
                <a:solidFill>
                  <a:srgbClr val="000000"/>
                </a:solidFill>
                <a:latin typeface="Helvetica"/>
              </a:rPr>
              <a:t>INSERT INTO PRODUCT VALUES(</a:t>
            </a:r>
            <a:r>
              <a:rPr lang="en-US" b="1" kern="0" dirty="0">
                <a:solidFill>
                  <a:srgbClr val="000000"/>
                </a:solidFill>
                <a:latin typeface="Helvetica"/>
              </a:rPr>
              <a:t>‘</a:t>
            </a:r>
            <a:r>
              <a:rPr lang="en-US" kern="0" dirty="0">
                <a:solidFill>
                  <a:srgbClr val="000000"/>
                </a:solidFill>
                <a:latin typeface="Helvetica"/>
              </a:rPr>
              <a:t>JOI</a:t>
            </a:r>
            <a:r>
              <a:rPr lang="en-US" b="1" kern="0" dirty="0">
                <a:solidFill>
                  <a:srgbClr val="C00000"/>
                </a:solidFill>
                <a:latin typeface="Helvetica"/>
              </a:rPr>
              <a:t>-</a:t>
            </a:r>
            <a:r>
              <a:rPr lang="en-US" kern="0" dirty="0">
                <a:solidFill>
                  <a:srgbClr val="C00000"/>
                </a:solidFill>
                <a:latin typeface="Helvetica"/>
              </a:rPr>
              <a:t>222456</a:t>
            </a:r>
            <a:r>
              <a:rPr lang="en-US" b="1" kern="0" dirty="0">
                <a:solidFill>
                  <a:srgbClr val="000000"/>
                </a:solidFill>
                <a:latin typeface="Helvetica"/>
              </a:rPr>
              <a:t>’</a:t>
            </a:r>
            <a:r>
              <a:rPr lang="en-US" kern="0" dirty="0">
                <a:solidFill>
                  <a:srgbClr val="000000"/>
                </a:solidFill>
                <a:latin typeface="Helvetica"/>
              </a:rPr>
              <a:t>,</a:t>
            </a:r>
            <a:r>
              <a:rPr lang="en-US" b="1" kern="0" dirty="0">
                <a:solidFill>
                  <a:srgbClr val="000000"/>
                </a:solidFill>
                <a:latin typeface="Helvetica"/>
              </a:rPr>
              <a:t>’</a:t>
            </a:r>
            <a:r>
              <a:rPr lang="en-US" kern="0" dirty="0">
                <a:solidFill>
                  <a:srgbClr val="000000"/>
                </a:solidFill>
                <a:latin typeface="Helvetica"/>
              </a:rPr>
              <a:t>ROUTER</a:t>
            </a:r>
            <a:r>
              <a:rPr lang="en-US" b="1" kern="0" dirty="0">
                <a:solidFill>
                  <a:srgbClr val="000000"/>
                </a:solidFill>
                <a:latin typeface="Helvetica"/>
              </a:rPr>
              <a:t>’</a:t>
            </a:r>
            <a:r>
              <a:rPr lang="en-US" kern="0" dirty="0">
                <a:solidFill>
                  <a:srgbClr val="000000"/>
                </a:solidFill>
                <a:latin typeface="Helvetica"/>
              </a:rPr>
              <a:t>,9344); </a:t>
            </a:r>
            <a:r>
              <a:rPr lang="en-US" kern="0" dirty="0">
                <a:solidFill>
                  <a:srgbClr val="C00000"/>
                </a:solidFill>
                <a:latin typeface="Helvetica"/>
              </a:rPr>
              <a:t>rejected</a:t>
            </a:r>
          </a:p>
          <a:p>
            <a:pPr lvl="0">
              <a:lnSpc>
                <a:spcPct val="150000"/>
              </a:lnSpc>
              <a:buClr>
                <a:srgbClr val="CC3300"/>
              </a:buClr>
              <a:defRPr/>
            </a:pPr>
            <a:endParaRPr lang="en-US" kern="0" dirty="0">
              <a:solidFill>
                <a:srgbClr val="000000"/>
              </a:solidFill>
              <a:latin typeface="Helvetica"/>
            </a:endParaRPr>
          </a:p>
        </p:txBody>
      </p:sp>
      <p:sp>
        <p:nvSpPr>
          <p:cNvPr id="3" name="Rectangle 2"/>
          <p:cNvSpPr txBox="1">
            <a:spLocks noChangeArrowheads="1"/>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..The check clause   - </a:t>
            </a:r>
            <a:r>
              <a:rPr kumimoji="1" lang="en-US" sz="28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using LIKE   </a:t>
            </a:r>
            <a:r>
              <a:rPr kumimoji="1" lang="en-US" sz="280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_</a:t>
            </a:r>
            <a:endParaRPr kumimoji="1" lang="en-US" sz="320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4" name="Footer Placeholder 3"/>
          <p:cNvSpPr>
            <a:spLocks noGrp="1"/>
          </p:cNvSpPr>
          <p:nvPr>
            <p:ph type="ftr" sz="quarter" idx="11"/>
          </p:nvPr>
        </p:nvSpPr>
        <p:spPr/>
        <p:txBody>
          <a:bodyPr/>
          <a:lstStyle/>
          <a:p>
            <a:r>
              <a:rPr lang="en-US" dirty="0"/>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35</a:t>
            </a:fld>
            <a:endParaRPr lang="en-US"/>
          </a:p>
        </p:txBody>
      </p:sp>
    </p:spTree>
    <p:extLst>
      <p:ext uri="{BB962C8B-B14F-4D97-AF65-F5344CB8AC3E}">
        <p14:creationId xmlns:p14="http://schemas.microsoft.com/office/powerpoint/2010/main" val="5316018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..The check clause   - </a:t>
            </a:r>
            <a:r>
              <a:rPr kumimoji="1" lang="en-US" sz="28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using function UPPER()</a:t>
            </a:r>
            <a:endParaRPr kumimoji="1" lang="en-US" sz="32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4" name="Content Placeholder 2"/>
          <p:cNvSpPr txBox="1">
            <a:spLocks/>
          </p:cNvSpPr>
          <p:nvPr/>
        </p:nvSpPr>
        <p:spPr bwMode="auto">
          <a:xfrm>
            <a:off x="1138767" y="910432"/>
            <a:ext cx="10215033" cy="52625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chemeClr val="tx2"/>
              </a:buClr>
              <a:buSzPct val="90000"/>
              <a:buFont typeface="Monotype Sorts" charset="2"/>
              <a:buChar char="n"/>
              <a:defRPr kumimoji="1">
                <a:solidFill>
                  <a:schemeClr val="tx1"/>
                </a:solidFill>
                <a:latin typeface="+mn-lt"/>
                <a:ea typeface="+mn-ea"/>
                <a:cs typeface="+mn-cs"/>
              </a:defRPr>
            </a:lvl1pPr>
            <a:lvl2pPr marL="742950" indent="-285750" algn="l" rtl="0" eaLnBrk="0" fontAlgn="base" hangingPunct="0">
              <a:spcBef>
                <a:spcPct val="35000"/>
              </a:spcBef>
              <a:spcAft>
                <a:spcPct val="0"/>
              </a:spcAft>
              <a:buClr>
                <a:schemeClr val="folHlink"/>
              </a:buClr>
              <a:buSzPct val="80000"/>
              <a:buFont typeface="Monotype Sorts" charset="2"/>
              <a:buChar char="l"/>
              <a:defRPr kumimoji="1">
                <a:solidFill>
                  <a:schemeClr val="tx1"/>
                </a:solidFill>
                <a:latin typeface="+mn-lt"/>
              </a:defRPr>
            </a:lvl2pPr>
            <a:lvl3pPr marL="1085850" indent="-228600" algn="l" rtl="0" eaLnBrk="0" fontAlgn="base" hangingPunct="0">
              <a:spcBef>
                <a:spcPct val="35000"/>
              </a:spcBef>
              <a:spcAft>
                <a:spcPct val="0"/>
              </a:spcAft>
              <a:buClr>
                <a:srgbClr val="33CC33"/>
              </a:buClr>
              <a:buSzPct val="75000"/>
              <a:buFont typeface="Webdings" panose="05030102010509060703" pitchFamily="18" charset="2"/>
              <a:buChar char="4"/>
              <a:defRPr kumimoji="1">
                <a:solidFill>
                  <a:schemeClr val="tx1"/>
                </a:solidFill>
                <a:latin typeface="+mn-lt"/>
              </a:defRPr>
            </a:lvl3pPr>
            <a:lvl4pPr marL="1428750" indent="-228600" algn="l" rtl="0" eaLnBrk="0" fontAlgn="base" hangingPunct="0">
              <a:spcBef>
                <a:spcPct val="35000"/>
              </a:spcBef>
              <a:spcAft>
                <a:spcPct val="0"/>
              </a:spcAft>
              <a:buClr>
                <a:schemeClr val="hlink"/>
              </a:buClr>
              <a:buFont typeface="Times New Roman" panose="02020603050405020304" pitchFamily="18" charset="0"/>
              <a:buChar char="–"/>
              <a:defRPr kumimoji="1">
                <a:solidFill>
                  <a:schemeClr val="tx1"/>
                </a:solidFill>
                <a:latin typeface="+mn-lt"/>
              </a:defRPr>
            </a:lvl4pPr>
            <a:lvl5pPr marL="1771650" indent="-228600" algn="l" rtl="0" eaLnBrk="0" fontAlgn="base" hangingPunct="0">
              <a:spcBef>
                <a:spcPct val="35000"/>
              </a:spcBef>
              <a:spcAft>
                <a:spcPct val="0"/>
              </a:spcAft>
              <a:buClr>
                <a:schemeClr val="tx2"/>
              </a:buClr>
              <a:buSzPct val="75000"/>
              <a:buChar char="»"/>
              <a:defRPr kumimoji="1">
                <a:solidFill>
                  <a:schemeClr val="tx1"/>
                </a:solidFill>
                <a:latin typeface="+mn-lt"/>
              </a:defRPr>
            </a:lvl5pPr>
            <a:lvl6pPr marL="2228850" indent="-228600" algn="l" rtl="0" eaLnBrk="0" fontAlgn="base" hangingPunct="0">
              <a:spcBef>
                <a:spcPct val="35000"/>
              </a:spcBef>
              <a:spcAft>
                <a:spcPct val="0"/>
              </a:spcAft>
              <a:buClr>
                <a:schemeClr val="tx2"/>
              </a:buClr>
              <a:buSzPct val="75000"/>
              <a:buChar char="»"/>
              <a:defRPr kumimoji="1">
                <a:solidFill>
                  <a:schemeClr val="tx1"/>
                </a:solidFill>
                <a:latin typeface="+mn-lt"/>
              </a:defRPr>
            </a:lvl6pPr>
            <a:lvl7pPr marL="2686050" indent="-228600" algn="l" rtl="0" eaLnBrk="0" fontAlgn="base" hangingPunct="0">
              <a:spcBef>
                <a:spcPct val="35000"/>
              </a:spcBef>
              <a:spcAft>
                <a:spcPct val="0"/>
              </a:spcAft>
              <a:buClr>
                <a:schemeClr val="tx2"/>
              </a:buClr>
              <a:buSzPct val="75000"/>
              <a:buChar char="»"/>
              <a:defRPr kumimoji="1">
                <a:solidFill>
                  <a:schemeClr val="tx1"/>
                </a:solidFill>
                <a:latin typeface="+mn-lt"/>
              </a:defRPr>
            </a:lvl7pPr>
            <a:lvl8pPr marL="3143250" indent="-228600" algn="l" rtl="0" eaLnBrk="0" fontAlgn="base" hangingPunct="0">
              <a:spcBef>
                <a:spcPct val="35000"/>
              </a:spcBef>
              <a:spcAft>
                <a:spcPct val="0"/>
              </a:spcAft>
              <a:buClr>
                <a:schemeClr val="tx2"/>
              </a:buClr>
              <a:buSzPct val="75000"/>
              <a:buChar char="»"/>
              <a:defRPr kumimoji="1">
                <a:solidFill>
                  <a:schemeClr val="tx1"/>
                </a:solidFill>
                <a:latin typeface="+mn-lt"/>
              </a:defRPr>
            </a:lvl8pPr>
            <a:lvl9pPr marL="3600450" indent="-228600" algn="l" rtl="0" eaLnBrk="0" fontAlgn="base" hangingPunct="0">
              <a:spcBef>
                <a:spcPct val="35000"/>
              </a:spcBef>
              <a:spcAft>
                <a:spcPct val="0"/>
              </a:spcAft>
              <a:buClr>
                <a:schemeClr val="tx2"/>
              </a:buClr>
              <a:buSzPct val="75000"/>
              <a:buChar char="»"/>
              <a:defRPr kumimoji="1">
                <a:solidFill>
                  <a:schemeClr val="tx1"/>
                </a:solidFill>
                <a:latin typeface="+mn-lt"/>
              </a:defRPr>
            </a:lvl9pPr>
          </a:lstStyle>
          <a:p>
            <a:pPr marL="0" marR="0" lvl="0" indent="0" algn="l" defTabSz="914400" rtl="0" eaLnBrk="0" fontAlgn="base" latinLnBrk="0" hangingPunct="0">
              <a:lnSpc>
                <a:spcPct val="150000"/>
              </a:lnSpc>
              <a:spcBef>
                <a:spcPct val="35000"/>
              </a:spcBef>
              <a:spcAft>
                <a:spcPct val="0"/>
              </a:spcAft>
              <a:buClr>
                <a:srgbClr val="CC3300"/>
              </a:buClr>
              <a:buSzPct val="90000"/>
              <a:buFont typeface="Monotype Sorts" charset="2"/>
              <a:buNone/>
              <a:tabLst/>
              <a:defRPr/>
            </a:pPr>
            <a:r>
              <a:rPr kumimoji="1" lang="en-US" sz="1800" b="1" i="0" u="none" strike="noStrike" kern="0" cap="none" spc="0" normalizeH="0" baseline="0" noProof="0" dirty="0">
                <a:ln>
                  <a:noFill/>
                </a:ln>
                <a:solidFill>
                  <a:srgbClr val="000000"/>
                </a:solidFill>
                <a:effectLst/>
                <a:uLnTx/>
                <a:uFillTx/>
                <a:latin typeface="Helvetica"/>
                <a:ea typeface="+mn-ea"/>
                <a:cs typeface="+mn-cs"/>
              </a:rPr>
              <a:t>Example:</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1800" b="0" i="0" u="none" strike="noStrike" kern="0" cap="none" spc="0" normalizeH="0" baseline="0" noProof="0" dirty="0">
                <a:ln>
                  <a:noFill/>
                </a:ln>
                <a:solidFill>
                  <a:srgbClr val="000000"/>
                </a:solidFill>
                <a:effectLst/>
                <a:uLnTx/>
                <a:uFillTx/>
                <a:latin typeface="Helvetica"/>
                <a:ea typeface="+mn-ea"/>
                <a:cs typeface="+mn-cs"/>
              </a:rPr>
              <a:t>Create a table CANDIDATES(</a:t>
            </a:r>
            <a:r>
              <a:rPr kumimoji="1" lang="en-US" sz="1800" b="0" i="0" u="none" strike="noStrike" kern="0" cap="none" spc="0" normalizeH="0" baseline="0" noProof="0" dirty="0" err="1">
                <a:ln>
                  <a:noFill/>
                </a:ln>
                <a:solidFill>
                  <a:srgbClr val="000000"/>
                </a:solidFill>
                <a:effectLst/>
                <a:uLnTx/>
                <a:uFillTx/>
                <a:latin typeface="Helvetica"/>
                <a:ea typeface="+mn-ea"/>
                <a:cs typeface="+mn-cs"/>
              </a:rPr>
              <a:t>CandtID</a:t>
            </a:r>
            <a:r>
              <a:rPr kumimoji="1" lang="en-US" sz="1800" b="0" i="0" u="none" strike="noStrike" kern="0" cap="none" spc="0" normalizeH="0" baseline="0" noProof="0" dirty="0">
                <a:ln>
                  <a:noFill/>
                </a:ln>
                <a:solidFill>
                  <a:srgbClr val="000000"/>
                </a:solidFill>
                <a:effectLst/>
                <a:uLnTx/>
                <a:uFillTx/>
                <a:latin typeface="Helvetica"/>
                <a:ea typeface="+mn-ea"/>
                <a:cs typeface="+mn-cs"/>
              </a:rPr>
              <a:t>, Name, Branch) appearing for entrance exam at MIT. Candidate numbers must be Unique &amp; every candidate number must start with MIT.</a:t>
            </a:r>
            <a:r>
              <a:rPr kumimoji="1" lang="en-US" sz="1800" b="0" i="0" u="none" strike="noStrike" kern="0" cap="none" spc="0" normalizeH="0" noProof="0" dirty="0">
                <a:ln>
                  <a:noFill/>
                </a:ln>
                <a:solidFill>
                  <a:srgbClr val="000000"/>
                </a:solidFill>
                <a:effectLst/>
                <a:uLnTx/>
                <a:uFillTx/>
                <a:latin typeface="Helvetica"/>
                <a:ea typeface="+mn-ea"/>
                <a:cs typeface="+mn-cs"/>
              </a:rPr>
              <a:t>             </a:t>
            </a:r>
            <a:r>
              <a:rPr lang="en-US" kern="0" dirty="0">
                <a:solidFill>
                  <a:srgbClr val="000000"/>
                </a:solidFill>
                <a:latin typeface="Helvetica"/>
              </a:rPr>
              <a:t>User must enter </a:t>
            </a:r>
            <a:r>
              <a:rPr lang="en-US" b="1" kern="0" dirty="0">
                <a:solidFill>
                  <a:srgbClr val="000000"/>
                </a:solidFill>
                <a:latin typeface="Helvetica"/>
              </a:rPr>
              <a:t>Branch in Capital letters only</a:t>
            </a:r>
            <a:r>
              <a:rPr lang="en-US" kern="0" dirty="0">
                <a:solidFill>
                  <a:srgbClr val="000000"/>
                </a:solidFill>
                <a:latin typeface="Helvetica"/>
              </a:rPr>
              <a:t>.</a:t>
            </a:r>
            <a:endParaRPr kumimoji="1" lang="en-US" sz="1800" b="0" i="0" u="none" strike="noStrike" kern="0" cap="none" spc="0" normalizeH="0" baseline="0" noProof="0" dirty="0">
              <a:ln>
                <a:noFill/>
              </a:ln>
              <a:solidFill>
                <a:srgbClr val="000000"/>
              </a:solidFill>
              <a:effectLst/>
              <a:uLnTx/>
              <a:uFillTx/>
              <a:latin typeface="Helvetica"/>
              <a:ea typeface="+mn-ea"/>
              <a:cs typeface="+mn-cs"/>
            </a:endParaRP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r>
              <a:rPr kumimoji="1" lang="en-US" sz="2000" b="0" i="0" u="none" strike="noStrike" kern="0" cap="none" spc="0" normalizeH="0" baseline="0" noProof="0" dirty="0">
                <a:ln>
                  <a:noFill/>
                </a:ln>
                <a:solidFill>
                  <a:srgbClr val="000000"/>
                </a:solidFill>
                <a:effectLst/>
                <a:uLnTx/>
                <a:uFillTx/>
                <a:latin typeface="Helvetica"/>
                <a:ea typeface="+mn-ea"/>
                <a:cs typeface="+mn-cs"/>
              </a:rPr>
              <a:t>CREATE TABLE CANDIDATE</a:t>
            </a:r>
            <a:r>
              <a:rPr kumimoji="1" lang="en-US" sz="2000" b="1" i="0" u="none" strike="noStrike" kern="0" cap="none" spc="0" normalizeH="0" baseline="0" noProof="0" dirty="0">
                <a:ln>
                  <a:noFill/>
                </a:ln>
                <a:solidFill>
                  <a:srgbClr val="000000"/>
                </a:solidFill>
                <a:effectLst/>
                <a:uLnTx/>
                <a:uFillTx/>
                <a:latin typeface="Helvetica"/>
                <a:ea typeface="+mn-ea"/>
                <a:cs typeface="+mn-cs"/>
              </a:rPr>
              <a:t>( </a:t>
            </a:r>
            <a:r>
              <a:rPr kumimoji="1" lang="en-US" sz="2000" b="0" i="0" u="none" strike="noStrike" kern="0" cap="none" spc="0" normalizeH="0" baseline="0" noProof="0" dirty="0">
                <a:ln>
                  <a:noFill/>
                </a:ln>
                <a:solidFill>
                  <a:srgbClr val="000000"/>
                </a:solidFill>
                <a:effectLst/>
                <a:uLnTx/>
                <a:uFillTx/>
                <a:latin typeface="Helvetica"/>
                <a:ea typeface="+mn-ea"/>
                <a:cs typeface="+mn-cs"/>
              </a:rPr>
              <a:t>CandtId varchar2(7) PRIMARY KEY  </a:t>
            </a:r>
            <a:r>
              <a:rPr kumimoji="1" lang="en-US" sz="2000" b="1" i="0" u="none" strike="noStrike" kern="0" cap="none" spc="0" normalizeH="0" baseline="0" noProof="0" dirty="0">
                <a:ln>
                  <a:noFill/>
                </a:ln>
                <a:solidFill>
                  <a:srgbClr val="000000"/>
                </a:solidFill>
                <a:effectLst/>
                <a:uLnTx/>
                <a:uFillTx/>
                <a:latin typeface="Helvetica"/>
                <a:ea typeface="+mn-ea"/>
                <a:cs typeface="+mn-cs"/>
              </a:rPr>
              <a:t>CHECK </a:t>
            </a:r>
            <a:r>
              <a:rPr kumimoji="1" lang="en-US" sz="2000" b="1" i="0" u="none" strike="noStrike" kern="0" cap="none" spc="0" normalizeH="0" baseline="0" noProof="0" dirty="0">
                <a:ln>
                  <a:noFill/>
                </a:ln>
                <a:solidFill>
                  <a:srgbClr val="C00000"/>
                </a:solidFill>
                <a:effectLst/>
                <a:uLnTx/>
                <a:uFillTx/>
                <a:latin typeface="Helvetica"/>
                <a:ea typeface="+mn-ea"/>
                <a:cs typeface="+mn-cs"/>
              </a:rPr>
              <a:t>(</a:t>
            </a:r>
            <a:r>
              <a:rPr kumimoji="1" lang="en-US" sz="2000" b="1" i="0" u="none" strike="noStrike" kern="0" cap="none" spc="0" normalizeH="0" baseline="0" noProof="0" dirty="0">
                <a:ln>
                  <a:noFill/>
                </a:ln>
                <a:solidFill>
                  <a:srgbClr val="000000"/>
                </a:solidFill>
                <a:effectLst/>
                <a:uLnTx/>
                <a:uFillTx/>
                <a:latin typeface="Helvetica"/>
                <a:ea typeface="+mn-ea"/>
                <a:cs typeface="+mn-cs"/>
              </a:rPr>
              <a:t>CandtId</a:t>
            </a:r>
            <a:r>
              <a:rPr kumimoji="1" lang="en-US" sz="2000" b="1" i="0" u="none" strike="noStrike" kern="0" cap="none" spc="0" normalizeH="0" baseline="0" noProof="0" dirty="0">
                <a:ln>
                  <a:noFill/>
                </a:ln>
                <a:solidFill>
                  <a:srgbClr val="C00000"/>
                </a:solidFill>
                <a:effectLst/>
                <a:uLnTx/>
                <a:uFillTx/>
                <a:latin typeface="Helvetica"/>
                <a:ea typeface="+mn-ea"/>
                <a:cs typeface="+mn-cs"/>
              </a:rPr>
              <a:t> LIKE </a:t>
            </a:r>
            <a:r>
              <a:rPr kumimoji="1" lang="en-US" sz="2000" b="1" i="0" u="none" strike="noStrike" kern="0" cap="none" spc="0" normalizeH="0" baseline="0" noProof="0" dirty="0">
                <a:ln>
                  <a:noFill/>
                </a:ln>
                <a:effectLst/>
                <a:uLnTx/>
                <a:uFillTx/>
                <a:latin typeface="Helvetica"/>
                <a:ea typeface="+mn-ea"/>
                <a:cs typeface="+mn-cs"/>
              </a:rPr>
              <a:t>'</a:t>
            </a:r>
            <a:r>
              <a:rPr kumimoji="1" lang="en-US" sz="2000" b="1" i="0" u="none" strike="noStrike" kern="0" cap="none" spc="0" normalizeH="0" baseline="0" noProof="0" dirty="0">
                <a:ln>
                  <a:noFill/>
                </a:ln>
                <a:solidFill>
                  <a:srgbClr val="C00000"/>
                </a:solidFill>
                <a:effectLst/>
                <a:uLnTx/>
                <a:uFillTx/>
                <a:latin typeface="Helvetica"/>
                <a:ea typeface="+mn-ea"/>
                <a:cs typeface="+mn-cs"/>
              </a:rPr>
              <a:t>MIT%</a:t>
            </a:r>
            <a:r>
              <a:rPr kumimoji="1" lang="en-US" sz="2000" b="1" i="0" u="none" strike="noStrike" kern="0" cap="none" spc="0" normalizeH="0" baseline="0" noProof="0" dirty="0">
                <a:ln>
                  <a:noFill/>
                </a:ln>
                <a:effectLst/>
                <a:uLnTx/>
                <a:uFillTx/>
                <a:latin typeface="Helvetica"/>
                <a:ea typeface="+mn-ea"/>
                <a:cs typeface="+mn-cs"/>
              </a:rPr>
              <a:t>'</a:t>
            </a:r>
            <a:r>
              <a:rPr kumimoji="1" lang="en-US" sz="2000" b="1" i="0" u="none" strike="noStrike" kern="0" cap="none" spc="0" normalizeH="0" baseline="0" noProof="0" dirty="0">
                <a:ln>
                  <a:noFill/>
                </a:ln>
                <a:solidFill>
                  <a:srgbClr val="C00000"/>
                </a:solidFill>
                <a:effectLst/>
                <a:uLnTx/>
                <a:uFillTx/>
                <a:latin typeface="Helvetica"/>
                <a:ea typeface="+mn-ea"/>
                <a:cs typeface="+mn-cs"/>
              </a:rPr>
              <a:t>)</a:t>
            </a:r>
            <a:r>
              <a:rPr kumimoji="1" lang="en-US" sz="2000" b="0" i="0" u="none" strike="noStrike" kern="0" cap="none" spc="0" normalizeH="0" baseline="0" noProof="0" dirty="0">
                <a:ln>
                  <a:noFill/>
                </a:ln>
                <a:solidFill>
                  <a:srgbClr val="000000"/>
                </a:solidFill>
                <a:effectLst/>
                <a:uLnTx/>
                <a:uFillTx/>
                <a:latin typeface="Helvetica"/>
                <a:ea typeface="+mn-ea"/>
                <a:cs typeface="+mn-cs"/>
              </a:rPr>
              <a:t>, Name varchar(10),Branch varchar(10) CHECK</a:t>
            </a:r>
            <a:r>
              <a:rPr kumimoji="1" lang="en-US" sz="2000" b="0" i="0" u="none" strike="noStrike" kern="0" cap="none" spc="0" normalizeH="0" baseline="0" noProof="0" dirty="0">
                <a:ln>
                  <a:noFill/>
                </a:ln>
                <a:solidFill>
                  <a:srgbClr val="C00000"/>
                </a:solidFill>
                <a:effectLst/>
                <a:uLnTx/>
                <a:uFillTx/>
                <a:latin typeface="Helvetica"/>
                <a:ea typeface="+mn-ea"/>
                <a:cs typeface="+mn-cs"/>
              </a:rPr>
              <a:t>(</a:t>
            </a:r>
            <a:r>
              <a:rPr kumimoji="1" lang="en-US" sz="2000" b="0" i="0" u="none" strike="noStrike" kern="0" cap="none" spc="0" normalizeH="0" baseline="0" noProof="0" dirty="0">
                <a:ln>
                  <a:noFill/>
                </a:ln>
                <a:solidFill>
                  <a:srgbClr val="000000"/>
                </a:solidFill>
                <a:effectLst/>
                <a:uLnTx/>
                <a:uFillTx/>
                <a:latin typeface="Helvetica"/>
                <a:ea typeface="+mn-ea"/>
                <a:cs typeface="+mn-cs"/>
              </a:rPr>
              <a:t>Branch=</a:t>
            </a:r>
            <a:r>
              <a:rPr kumimoji="1" lang="en-US" sz="2000" b="1" i="0" u="none" strike="noStrike" kern="0" cap="none" spc="0" normalizeH="0" baseline="0" noProof="0" dirty="0">
                <a:ln>
                  <a:noFill/>
                </a:ln>
                <a:solidFill>
                  <a:srgbClr val="C00000"/>
                </a:solidFill>
                <a:effectLst/>
                <a:uLnTx/>
                <a:uFillTx/>
                <a:latin typeface="Helvetica"/>
                <a:ea typeface="+mn-ea"/>
                <a:cs typeface="+mn-cs"/>
              </a:rPr>
              <a:t>UPPER</a:t>
            </a:r>
            <a:r>
              <a:rPr kumimoji="1" lang="en-US" sz="2000" b="0" i="0" u="none" strike="noStrike" kern="0" cap="none" spc="0" normalizeH="0" baseline="0" noProof="0" dirty="0">
                <a:ln>
                  <a:noFill/>
                </a:ln>
                <a:solidFill>
                  <a:srgbClr val="000000"/>
                </a:solidFill>
                <a:effectLst/>
                <a:uLnTx/>
                <a:uFillTx/>
                <a:latin typeface="Helvetica"/>
                <a:ea typeface="+mn-ea"/>
                <a:cs typeface="+mn-cs"/>
              </a:rPr>
              <a:t>(Branch)</a:t>
            </a:r>
            <a:r>
              <a:rPr kumimoji="1" lang="en-US" sz="2000" b="0" i="0" u="none" strike="noStrike" kern="0" cap="none" spc="0" normalizeH="0" baseline="0" noProof="0" dirty="0">
                <a:ln>
                  <a:noFill/>
                </a:ln>
                <a:solidFill>
                  <a:srgbClr val="C00000"/>
                </a:solidFill>
                <a:effectLst/>
                <a:uLnTx/>
                <a:uFillTx/>
                <a:latin typeface="Helvetica"/>
                <a:ea typeface="+mn-ea"/>
                <a:cs typeface="+mn-cs"/>
              </a:rPr>
              <a:t>)</a:t>
            </a:r>
            <a:r>
              <a:rPr kumimoji="1" lang="en-US" sz="2000" b="1" i="0" u="none" strike="noStrike" kern="0" cap="none" spc="0" normalizeH="0" baseline="0" noProof="0" dirty="0">
                <a:ln>
                  <a:noFill/>
                </a:ln>
                <a:solidFill>
                  <a:srgbClr val="000000"/>
                </a:solidFill>
                <a:effectLst/>
                <a:uLnTx/>
                <a:uFillTx/>
                <a:latin typeface="Helvetica"/>
                <a:ea typeface="+mn-ea"/>
                <a:cs typeface="+mn-cs"/>
              </a:rPr>
              <a:t>)</a:t>
            </a:r>
            <a:r>
              <a:rPr kumimoji="1" lang="en-US" sz="2000" b="0" i="0" u="none" strike="noStrike" kern="0" cap="none" spc="0" normalizeH="0" baseline="0" noProof="0" dirty="0">
                <a:ln>
                  <a:noFill/>
                </a:ln>
                <a:solidFill>
                  <a:srgbClr val="000000"/>
                </a:solidFill>
                <a:effectLst/>
                <a:uLnTx/>
                <a:uFillTx/>
                <a:latin typeface="Helvetica"/>
                <a:ea typeface="+mn-ea"/>
                <a:cs typeface="+mn-cs"/>
              </a:rPr>
              <a:t>;</a:t>
            </a:r>
          </a:p>
          <a:p>
            <a:pPr marL="342900" marR="0" lvl="0" indent="-342900" algn="l" defTabSz="914400" rtl="0" eaLnBrk="0" fontAlgn="base" latinLnBrk="0" hangingPunct="0">
              <a:lnSpc>
                <a:spcPct val="150000"/>
              </a:lnSpc>
              <a:spcBef>
                <a:spcPct val="35000"/>
              </a:spcBef>
              <a:spcAft>
                <a:spcPct val="0"/>
              </a:spcAft>
              <a:buClr>
                <a:srgbClr val="CC3300"/>
              </a:buClr>
              <a:buSzPct val="90000"/>
              <a:buFont typeface="Monotype Sorts" charset="2"/>
              <a:buChar char="n"/>
              <a:tabLst/>
              <a:defRPr/>
            </a:pPr>
            <a:endParaRPr kumimoji="1" lang="en-US" sz="1200" b="0" i="0" u="none" strike="noStrike" kern="0" cap="none" spc="0" normalizeH="0" baseline="0" noProof="0" dirty="0">
              <a:ln>
                <a:noFill/>
              </a:ln>
              <a:solidFill>
                <a:srgbClr val="000000"/>
              </a:solidFill>
              <a:effectLst/>
              <a:uLnTx/>
              <a:uFillTx/>
              <a:latin typeface="Helvetica"/>
              <a:ea typeface="+mn-ea"/>
              <a:cs typeface="+mn-cs"/>
            </a:endParaRPr>
          </a:p>
          <a:p>
            <a:pPr>
              <a:lnSpc>
                <a:spcPct val="150000"/>
              </a:lnSpc>
              <a:buClr>
                <a:srgbClr val="CC3300"/>
              </a:buClr>
            </a:pPr>
            <a:r>
              <a:rPr kumimoji="1" lang="en-US" sz="1800" b="0" i="0" u="none" strike="noStrike" kern="0" cap="none" spc="0" normalizeH="0" baseline="0" noProof="0" dirty="0">
                <a:ln>
                  <a:noFill/>
                </a:ln>
                <a:solidFill>
                  <a:srgbClr val="000000"/>
                </a:solidFill>
                <a:effectLst/>
                <a:uLnTx/>
                <a:uFillTx/>
                <a:latin typeface="Helvetica"/>
                <a:ea typeface="+mn-ea"/>
                <a:cs typeface="+mn-cs"/>
              </a:rPr>
              <a:t>INSERT INTO CANDIDATE VALUES(</a:t>
            </a:r>
            <a:r>
              <a:rPr kumimoji="1" lang="en-US" sz="1800" b="1" i="0" u="none" strike="noStrike" kern="0" cap="none" spc="0" normalizeH="0" baseline="0" noProof="0" dirty="0">
                <a:ln>
                  <a:noFill/>
                </a:ln>
                <a:solidFill>
                  <a:srgbClr val="C00000"/>
                </a:solidFill>
                <a:effectLst/>
                <a:uLnTx/>
                <a:uFillTx/>
                <a:latin typeface="Helvetica"/>
                <a:ea typeface="+mn-ea"/>
                <a:cs typeface="+mn-cs"/>
              </a:rPr>
              <a:t>'</a:t>
            </a:r>
            <a:r>
              <a:rPr kumimoji="1" lang="en-US" sz="1800" b="1" i="0" u="none" strike="noStrike" kern="0" cap="none" spc="0" normalizeH="0" baseline="0" noProof="0" dirty="0">
                <a:ln>
                  <a:noFill/>
                </a:ln>
                <a:solidFill>
                  <a:srgbClr val="000000"/>
                </a:solidFill>
                <a:effectLst/>
                <a:uLnTx/>
                <a:uFillTx/>
                <a:latin typeface="Helvetica"/>
                <a:ea typeface="+mn-ea"/>
                <a:cs typeface="+mn-cs"/>
              </a:rPr>
              <a:t>MIT1021</a:t>
            </a:r>
            <a:r>
              <a:rPr kumimoji="1" lang="en-US" sz="1800" b="1" i="0" u="none" strike="noStrike" kern="0" cap="none" spc="0" normalizeH="0" baseline="0" noProof="0" dirty="0">
                <a:ln>
                  <a:noFill/>
                </a:ln>
                <a:solidFill>
                  <a:srgbClr val="C00000"/>
                </a:solidFill>
                <a:effectLst/>
                <a:uLnTx/>
                <a:uFillTx/>
                <a:latin typeface="Helvetica"/>
                <a:ea typeface="+mn-ea"/>
                <a:cs typeface="+mn-cs"/>
              </a:rPr>
              <a:t>'</a:t>
            </a:r>
            <a:r>
              <a:rPr kumimoji="1" lang="en-US" sz="1800" b="0" i="0" u="none" strike="noStrike" kern="0" cap="none" spc="0" normalizeH="0" baseline="0" noProof="0" dirty="0">
                <a:ln>
                  <a:noFill/>
                </a:ln>
                <a:solidFill>
                  <a:srgbClr val="000000"/>
                </a:solidFill>
                <a:effectLst/>
                <a:uLnTx/>
                <a:uFillTx/>
                <a:latin typeface="Helvetica"/>
                <a:ea typeface="+mn-ea"/>
                <a:cs typeface="+mn-cs"/>
              </a:rPr>
              <a:t>,</a:t>
            </a:r>
            <a:r>
              <a:rPr kumimoji="1" lang="en-US" sz="1800" b="1" i="0" u="none" strike="noStrike" kern="0" cap="none" spc="0" normalizeH="0" baseline="0" noProof="0" dirty="0">
                <a:ln>
                  <a:noFill/>
                </a:ln>
                <a:solidFill>
                  <a:srgbClr val="C00000"/>
                </a:solidFill>
                <a:effectLst/>
                <a:uLnTx/>
                <a:uFillTx/>
                <a:latin typeface="Helvetica"/>
                <a:ea typeface="+mn-ea"/>
                <a:cs typeface="+mn-cs"/>
              </a:rPr>
              <a:t> </a:t>
            </a:r>
            <a:r>
              <a:rPr kumimoji="1" lang="en-US" sz="1800" b="0" i="0" u="none" strike="noStrike" kern="0" cap="none" spc="0" normalizeH="0" baseline="0" noProof="0" dirty="0">
                <a:ln>
                  <a:noFill/>
                </a:ln>
                <a:solidFill>
                  <a:srgbClr val="C00000"/>
                </a:solidFill>
                <a:effectLst/>
                <a:uLnTx/>
                <a:uFillTx/>
                <a:latin typeface="Helvetica"/>
                <a:ea typeface="+mn-ea"/>
                <a:cs typeface="+mn-cs"/>
              </a:rPr>
              <a:t>'</a:t>
            </a:r>
            <a:r>
              <a:rPr kumimoji="1" lang="en-US" sz="1800" b="0" i="0" u="none" strike="noStrike" kern="0" cap="none" spc="0" normalizeH="0" baseline="0" noProof="0" dirty="0">
                <a:ln>
                  <a:noFill/>
                </a:ln>
                <a:solidFill>
                  <a:srgbClr val="000000"/>
                </a:solidFill>
                <a:effectLst/>
                <a:uLnTx/>
                <a:uFillTx/>
                <a:latin typeface="Helvetica"/>
                <a:ea typeface="+mn-ea"/>
                <a:cs typeface="+mn-cs"/>
              </a:rPr>
              <a:t>Raghu</a:t>
            </a:r>
            <a:r>
              <a:rPr kumimoji="1" lang="en-US" sz="1800" b="0" i="0" u="none" strike="noStrike" kern="0" cap="none" spc="0" normalizeH="0" baseline="0" noProof="0" dirty="0">
                <a:ln>
                  <a:noFill/>
                </a:ln>
                <a:solidFill>
                  <a:srgbClr val="C00000"/>
                </a:solidFill>
                <a:effectLst/>
                <a:uLnTx/>
                <a:uFillTx/>
                <a:latin typeface="Helvetica"/>
                <a:ea typeface="+mn-ea"/>
                <a:cs typeface="+mn-cs"/>
              </a:rPr>
              <a:t>'</a:t>
            </a:r>
            <a:r>
              <a:rPr kumimoji="1" lang="en-US" sz="1800" b="0" i="0" u="none" strike="noStrike" kern="0" cap="none" spc="0" normalizeH="0" baseline="0" noProof="0" dirty="0">
                <a:ln>
                  <a:noFill/>
                </a:ln>
                <a:solidFill>
                  <a:srgbClr val="000000"/>
                </a:solidFill>
                <a:effectLst/>
                <a:uLnTx/>
                <a:uFillTx/>
                <a:latin typeface="Helvetica"/>
                <a:ea typeface="+mn-ea"/>
                <a:cs typeface="+mn-cs"/>
              </a:rPr>
              <a:t>,</a:t>
            </a:r>
            <a:r>
              <a:rPr lang="en-US" b="1" kern="0" dirty="0">
                <a:solidFill>
                  <a:srgbClr val="C00000"/>
                </a:solidFill>
                <a:latin typeface="Helvetica"/>
              </a:rPr>
              <a:t> '</a:t>
            </a:r>
            <a:r>
              <a:rPr kumimoji="1" lang="en-US" sz="1800" b="0" i="0" u="none" strike="noStrike" kern="0" cap="none" spc="0" normalizeH="0" baseline="0" noProof="0" dirty="0">
                <a:ln>
                  <a:noFill/>
                </a:ln>
                <a:solidFill>
                  <a:srgbClr val="000000"/>
                </a:solidFill>
                <a:effectLst/>
                <a:uLnTx/>
                <a:uFillTx/>
                <a:latin typeface="Helvetica"/>
                <a:ea typeface="+mn-ea"/>
                <a:cs typeface="+mn-cs"/>
              </a:rPr>
              <a:t>COMP.SC</a:t>
            </a:r>
            <a:r>
              <a:rPr lang="en-US" b="1" kern="0" dirty="0">
                <a:solidFill>
                  <a:srgbClr val="C00000"/>
                </a:solidFill>
                <a:latin typeface="Helvetica"/>
              </a:rPr>
              <a:t>’</a:t>
            </a:r>
            <a:r>
              <a:rPr kumimoji="1" lang="en-US" sz="1800" b="0" i="0" u="none" strike="noStrike" kern="0" cap="none" spc="0" normalizeH="0" baseline="0" noProof="0" dirty="0">
                <a:ln>
                  <a:noFill/>
                </a:ln>
                <a:solidFill>
                  <a:srgbClr val="000000"/>
                </a:solidFill>
                <a:effectLst/>
                <a:uLnTx/>
                <a:uFillTx/>
                <a:latin typeface="Helvetica"/>
                <a:ea typeface="+mn-ea"/>
                <a:cs typeface="+mn-cs"/>
              </a:rPr>
              <a:t>); </a:t>
            </a:r>
            <a:r>
              <a:rPr lang="en-US" kern="0" dirty="0">
                <a:solidFill>
                  <a:srgbClr val="0070C0"/>
                </a:solidFill>
                <a:latin typeface="Helvetica"/>
              </a:rPr>
              <a:t>accepted</a:t>
            </a:r>
          </a:p>
          <a:p>
            <a:pPr lvl="0">
              <a:lnSpc>
                <a:spcPct val="150000"/>
              </a:lnSpc>
              <a:buClr>
                <a:srgbClr val="CC3300"/>
              </a:buClr>
            </a:pPr>
            <a:r>
              <a:rPr lang="en-US" kern="0" dirty="0">
                <a:solidFill>
                  <a:srgbClr val="000000"/>
                </a:solidFill>
                <a:latin typeface="Helvetica"/>
              </a:rPr>
              <a:t>If user enters Branch as –’</a:t>
            </a:r>
            <a:r>
              <a:rPr lang="en-US" kern="0" dirty="0" err="1">
                <a:solidFill>
                  <a:srgbClr val="000000"/>
                </a:solidFill>
                <a:latin typeface="Helvetica"/>
              </a:rPr>
              <a:t>Comp.Sc</a:t>
            </a:r>
            <a:r>
              <a:rPr lang="en-US" kern="0" dirty="0">
                <a:solidFill>
                  <a:srgbClr val="000000"/>
                </a:solidFill>
                <a:latin typeface="Helvetica"/>
              </a:rPr>
              <a:t>’ , it is rejected with constraint error message.</a:t>
            </a:r>
          </a:p>
          <a:p>
            <a:pPr>
              <a:lnSpc>
                <a:spcPct val="150000"/>
              </a:lnSpc>
              <a:buClr>
                <a:srgbClr val="CC3300"/>
              </a:buClr>
            </a:pPr>
            <a:r>
              <a:rPr lang="en-US" kern="0" dirty="0">
                <a:solidFill>
                  <a:srgbClr val="000000"/>
                </a:solidFill>
                <a:latin typeface="Helvetica"/>
              </a:rPr>
              <a:t>INSERT INTO CANDIDATE VALUES</a:t>
            </a:r>
            <a:r>
              <a:rPr lang="en-US" b="1" kern="0" dirty="0">
                <a:solidFill>
                  <a:srgbClr val="000000"/>
                </a:solidFill>
                <a:latin typeface="Helvetica"/>
              </a:rPr>
              <a:t>(</a:t>
            </a:r>
            <a:r>
              <a:rPr lang="en-US" b="1" kern="0" dirty="0">
                <a:solidFill>
                  <a:srgbClr val="C00000"/>
                </a:solidFill>
                <a:latin typeface="Helvetica"/>
              </a:rPr>
              <a:t>'</a:t>
            </a:r>
            <a:r>
              <a:rPr lang="en-US" b="1" kern="0" dirty="0">
                <a:solidFill>
                  <a:srgbClr val="000000"/>
                </a:solidFill>
                <a:latin typeface="Helvetica"/>
              </a:rPr>
              <a:t>MIT1021</a:t>
            </a:r>
            <a:r>
              <a:rPr lang="en-US" b="1" kern="0" dirty="0">
                <a:solidFill>
                  <a:srgbClr val="C00000"/>
                </a:solidFill>
                <a:latin typeface="Helvetica"/>
              </a:rPr>
              <a:t>'</a:t>
            </a:r>
            <a:r>
              <a:rPr lang="en-US" kern="0" dirty="0">
                <a:solidFill>
                  <a:srgbClr val="000000"/>
                </a:solidFill>
                <a:latin typeface="Helvetica"/>
              </a:rPr>
              <a:t>,</a:t>
            </a:r>
            <a:r>
              <a:rPr lang="en-US" b="1" kern="0" dirty="0">
                <a:solidFill>
                  <a:srgbClr val="C00000"/>
                </a:solidFill>
                <a:latin typeface="Helvetica"/>
              </a:rPr>
              <a:t> '</a:t>
            </a:r>
            <a:r>
              <a:rPr lang="en-US" kern="0" dirty="0">
                <a:solidFill>
                  <a:srgbClr val="000000"/>
                </a:solidFill>
                <a:latin typeface="Helvetica"/>
              </a:rPr>
              <a:t>Raj</a:t>
            </a:r>
            <a:r>
              <a:rPr lang="en-US" b="1" kern="0" dirty="0">
                <a:solidFill>
                  <a:srgbClr val="C00000"/>
                </a:solidFill>
                <a:latin typeface="Helvetica"/>
              </a:rPr>
              <a:t>'</a:t>
            </a:r>
            <a:r>
              <a:rPr lang="en-US" kern="0" dirty="0">
                <a:solidFill>
                  <a:srgbClr val="000000"/>
                </a:solidFill>
                <a:latin typeface="Helvetica"/>
              </a:rPr>
              <a:t>,</a:t>
            </a:r>
            <a:r>
              <a:rPr lang="en-US" b="1" kern="0" dirty="0">
                <a:solidFill>
                  <a:srgbClr val="C00000"/>
                </a:solidFill>
                <a:latin typeface="Helvetica"/>
              </a:rPr>
              <a:t> '</a:t>
            </a:r>
            <a:r>
              <a:rPr lang="en-US" kern="0" dirty="0">
                <a:solidFill>
                  <a:srgbClr val="000000"/>
                </a:solidFill>
                <a:latin typeface="Helvetica"/>
              </a:rPr>
              <a:t>Comp Sc</a:t>
            </a:r>
            <a:r>
              <a:rPr lang="en-US" b="1" kern="0" dirty="0">
                <a:solidFill>
                  <a:srgbClr val="C00000"/>
                </a:solidFill>
                <a:latin typeface="Helvetica"/>
              </a:rPr>
              <a:t>'</a:t>
            </a:r>
            <a:r>
              <a:rPr lang="en-US" b="1" kern="0" dirty="0">
                <a:solidFill>
                  <a:srgbClr val="000000"/>
                </a:solidFill>
                <a:latin typeface="Helvetica"/>
              </a:rPr>
              <a:t>);</a:t>
            </a:r>
            <a:r>
              <a:rPr lang="en-US" kern="0" dirty="0">
                <a:solidFill>
                  <a:srgbClr val="000000"/>
                </a:solidFill>
                <a:latin typeface="Helvetica"/>
              </a:rPr>
              <a:t>  </a:t>
            </a:r>
            <a:r>
              <a:rPr lang="en-US" kern="0" dirty="0">
                <a:solidFill>
                  <a:srgbClr val="C00000"/>
                </a:solidFill>
                <a:latin typeface="Helvetica"/>
              </a:rPr>
              <a:t>rejected</a:t>
            </a:r>
          </a:p>
          <a:p>
            <a:pPr lvl="0">
              <a:lnSpc>
                <a:spcPct val="150000"/>
              </a:lnSpc>
              <a:buClr>
                <a:srgbClr val="CC3300"/>
              </a:buClr>
            </a:pPr>
            <a:endParaRPr kumimoji="1" lang="en-US" sz="1800" b="0" i="0" u="none" strike="noStrike" kern="0" cap="none" spc="0" normalizeH="0" baseline="0" noProof="0" dirty="0">
              <a:ln>
                <a:noFill/>
              </a:ln>
              <a:solidFill>
                <a:srgbClr val="000000"/>
              </a:solidFill>
              <a:effectLst/>
              <a:uLnTx/>
              <a:uFillTx/>
              <a:latin typeface="Helvetica"/>
              <a:ea typeface="+mn-ea"/>
              <a:cs typeface="+mn-cs"/>
            </a:endParaRPr>
          </a:p>
        </p:txBody>
      </p:sp>
      <p:sp>
        <p:nvSpPr>
          <p:cNvPr id="3" name="Footer Placeholder 2"/>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36</a:t>
            </a:fld>
            <a:endParaRPr lang="en-US"/>
          </a:p>
        </p:txBody>
      </p:sp>
    </p:spTree>
    <p:extLst>
      <p:ext uri="{BB962C8B-B14F-4D97-AF65-F5344CB8AC3E}">
        <p14:creationId xmlns:p14="http://schemas.microsoft.com/office/powerpoint/2010/main" val="2352242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1024467" y="117475"/>
            <a:ext cx="107696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DEFAULT</a:t>
            </a:r>
            <a:endParaRPr kumimoji="1" lang="en-US" sz="3200" b="0"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endParaRPr>
          </a:p>
        </p:txBody>
      </p:sp>
      <p:sp>
        <p:nvSpPr>
          <p:cNvPr id="3" name="Rectangle 2"/>
          <p:cNvSpPr/>
          <p:nvPr/>
        </p:nvSpPr>
        <p:spPr>
          <a:xfrm>
            <a:off x="1024466" y="819969"/>
            <a:ext cx="10405533" cy="5823133"/>
          </a:xfrm>
          <a:prstGeom prst="rect">
            <a:avLst/>
          </a:prstGeom>
        </p:spPr>
        <p:txBody>
          <a:bodyPr wrap="square">
            <a:spAutoFit/>
          </a:bodyPr>
          <a:lstStyle/>
          <a:p>
            <a:r>
              <a:rPr lang="en-US" sz="2100" dirty="0">
                <a:latin typeface="Helvetica" panose="020B0604020202020204" pitchFamily="34" charset="0"/>
                <a:cs typeface="Helvetica" panose="020B0604020202020204" pitchFamily="34" charset="0"/>
              </a:rPr>
              <a:t>The DEFAULT constraint is used to provide a default value for a column.</a:t>
            </a:r>
          </a:p>
          <a:p>
            <a:endParaRPr lang="en-US" sz="1200" dirty="0"/>
          </a:p>
          <a:p>
            <a:r>
              <a:rPr lang="en-US" sz="2000" b="1" dirty="0">
                <a:latin typeface="Helvetica" panose="020B0604020202020204" pitchFamily="34" charset="0"/>
                <a:cs typeface="Helvetica" panose="020B0604020202020204" pitchFamily="34" charset="0"/>
              </a:rPr>
              <a:t>Example:</a:t>
            </a:r>
          </a:p>
          <a:p>
            <a:endParaRPr lang="en-US" sz="100" dirty="0"/>
          </a:p>
          <a:p>
            <a:pPr>
              <a:lnSpc>
                <a:spcPct val="140000"/>
              </a:lnSpc>
            </a:pPr>
            <a:r>
              <a:rPr kumimoji="1" lang="en-US" sz="2100" b="1" kern="0" dirty="0">
                <a:solidFill>
                  <a:srgbClr val="000000"/>
                </a:solidFill>
                <a:latin typeface="Helvetica"/>
              </a:rPr>
              <a:t>   CREATE TABLE </a:t>
            </a:r>
            <a:r>
              <a:rPr kumimoji="1" lang="en-US" sz="2100" kern="0" dirty="0">
                <a:solidFill>
                  <a:srgbClr val="000000"/>
                </a:solidFill>
                <a:latin typeface="Helvetica"/>
              </a:rPr>
              <a:t>Persons </a:t>
            </a:r>
            <a:r>
              <a:rPr kumimoji="1" lang="en-US" sz="2100" b="1" kern="0" dirty="0">
                <a:solidFill>
                  <a:srgbClr val="C00000"/>
                </a:solidFill>
                <a:latin typeface="Helvetica"/>
              </a:rPr>
              <a:t>(</a:t>
            </a:r>
            <a:br>
              <a:rPr lang="en-US" sz="2100" dirty="0"/>
            </a:br>
            <a:r>
              <a:rPr lang="en-US" sz="2100" dirty="0"/>
              <a:t>   </a:t>
            </a:r>
            <a:r>
              <a:rPr kumimoji="1" lang="en-US" sz="2100" kern="0" dirty="0">
                <a:solidFill>
                  <a:srgbClr val="000000"/>
                </a:solidFill>
                <a:latin typeface="Helvetica"/>
              </a:rPr>
              <a:t> ID Number(3) NOT NULL,</a:t>
            </a:r>
            <a:br>
              <a:rPr kumimoji="1" lang="en-US" sz="2100" kern="0" dirty="0">
                <a:solidFill>
                  <a:srgbClr val="000000"/>
                </a:solidFill>
                <a:latin typeface="Helvetica"/>
              </a:rPr>
            </a:br>
            <a:r>
              <a:rPr kumimoji="1" lang="en-US" sz="2100" kern="0" dirty="0">
                <a:solidFill>
                  <a:srgbClr val="000000"/>
                </a:solidFill>
                <a:latin typeface="Helvetica"/>
              </a:rPr>
              <a:t>    LastName varchar(10) NOT NULL,</a:t>
            </a:r>
            <a:br>
              <a:rPr kumimoji="1" lang="en-US" sz="2100" kern="0" dirty="0">
                <a:solidFill>
                  <a:srgbClr val="000000"/>
                </a:solidFill>
                <a:latin typeface="Helvetica"/>
              </a:rPr>
            </a:br>
            <a:r>
              <a:rPr kumimoji="1" lang="en-US" sz="2100" kern="0" dirty="0">
                <a:solidFill>
                  <a:srgbClr val="000000"/>
                </a:solidFill>
                <a:latin typeface="Helvetica"/>
              </a:rPr>
              <a:t>    FirstName varchar(10), </a:t>
            </a:r>
            <a:br>
              <a:rPr kumimoji="1" lang="en-US" sz="2100" kern="0" dirty="0">
                <a:solidFill>
                  <a:srgbClr val="000000"/>
                </a:solidFill>
                <a:latin typeface="Helvetica"/>
              </a:rPr>
            </a:br>
            <a:r>
              <a:rPr kumimoji="1" lang="en-US" sz="2100" kern="0" dirty="0">
                <a:solidFill>
                  <a:srgbClr val="000000"/>
                </a:solidFill>
                <a:latin typeface="Helvetica"/>
              </a:rPr>
              <a:t>    Age Number(2),</a:t>
            </a:r>
            <a:br>
              <a:rPr kumimoji="1" lang="en-US" sz="2100" kern="0" dirty="0">
                <a:solidFill>
                  <a:srgbClr val="000000"/>
                </a:solidFill>
                <a:latin typeface="Helvetica"/>
              </a:rPr>
            </a:br>
            <a:r>
              <a:rPr kumimoji="1" lang="en-US" sz="2100" kern="0" dirty="0">
                <a:solidFill>
                  <a:srgbClr val="000000"/>
                </a:solidFill>
                <a:latin typeface="Helvetica"/>
              </a:rPr>
              <a:t>    </a:t>
            </a:r>
            <a:r>
              <a:rPr kumimoji="1" lang="en-US" sz="2100" b="1" kern="0" dirty="0">
                <a:solidFill>
                  <a:srgbClr val="C00000"/>
                </a:solidFill>
                <a:latin typeface="Helvetica"/>
              </a:rPr>
              <a:t>City varchar(15) DEFAULT  '</a:t>
            </a:r>
            <a:r>
              <a:rPr kumimoji="1" lang="en-US" sz="2100" b="1" kern="0" dirty="0">
                <a:latin typeface="Helvetica"/>
              </a:rPr>
              <a:t>Manipal</a:t>
            </a:r>
            <a:r>
              <a:rPr kumimoji="1" lang="en-US" sz="2100" b="1" kern="0" dirty="0">
                <a:solidFill>
                  <a:srgbClr val="C00000"/>
                </a:solidFill>
                <a:latin typeface="Helvetica"/>
              </a:rPr>
              <a:t>' )</a:t>
            </a:r>
            <a:r>
              <a:rPr kumimoji="1" lang="en-US" sz="2100" kern="0" dirty="0">
                <a:solidFill>
                  <a:srgbClr val="000000"/>
                </a:solidFill>
                <a:latin typeface="Helvetica"/>
              </a:rPr>
              <a:t>; </a:t>
            </a:r>
          </a:p>
          <a:p>
            <a:pPr>
              <a:lnSpc>
                <a:spcPct val="150000"/>
              </a:lnSpc>
            </a:pPr>
            <a:endParaRPr kumimoji="1" lang="en-US" sz="400" kern="0" dirty="0">
              <a:solidFill>
                <a:srgbClr val="000000"/>
              </a:solidFill>
              <a:latin typeface="Helvetica"/>
            </a:endParaRPr>
          </a:p>
          <a:p>
            <a:pPr>
              <a:lnSpc>
                <a:spcPct val="150000"/>
              </a:lnSpc>
            </a:pPr>
            <a:r>
              <a:rPr lang="en-US" sz="2100" b="1" dirty="0">
                <a:latin typeface="Helvetica" panose="020B0604020202020204" pitchFamily="34" charset="0"/>
                <a:cs typeface="Helvetica" panose="020B0604020202020204" pitchFamily="34" charset="0"/>
              </a:rPr>
              <a:t>INSERT INTO Persons(ID, </a:t>
            </a:r>
            <a:r>
              <a:rPr lang="en-US" sz="2100" b="1" dirty="0" err="1">
                <a:latin typeface="Helvetica" panose="020B0604020202020204" pitchFamily="34" charset="0"/>
                <a:cs typeface="Helvetica" panose="020B0604020202020204" pitchFamily="34" charset="0"/>
              </a:rPr>
              <a:t>Lastname</a:t>
            </a:r>
            <a:r>
              <a:rPr lang="en-US" sz="2100" b="1" dirty="0">
                <a:latin typeface="Helvetica" panose="020B0604020202020204" pitchFamily="34" charset="0"/>
                <a:cs typeface="Helvetica" panose="020B0604020202020204" pitchFamily="34" charset="0"/>
              </a:rPr>
              <a:t>) values(100,'AAA');</a:t>
            </a:r>
          </a:p>
          <a:p>
            <a:pPr>
              <a:lnSpc>
                <a:spcPct val="150000"/>
              </a:lnSpc>
            </a:pPr>
            <a:r>
              <a:rPr lang="en-US" sz="2100" dirty="0">
                <a:latin typeface="Helvetica" panose="020B0604020202020204" pitchFamily="34" charset="0"/>
                <a:cs typeface="Helvetica" panose="020B0604020202020204" pitchFamily="34" charset="0"/>
              </a:rPr>
              <a:t>Inserts value to ID=100 , Lastname=AAA , FirstName= </a:t>
            </a:r>
            <a:r>
              <a:rPr lang="en-US" sz="2100" dirty="0">
                <a:solidFill>
                  <a:srgbClr val="FF0000"/>
                </a:solidFill>
                <a:latin typeface="Helvetica" panose="020B0604020202020204" pitchFamily="34" charset="0"/>
                <a:cs typeface="Helvetica" panose="020B0604020202020204" pitchFamily="34" charset="0"/>
              </a:rPr>
              <a:t>NULL</a:t>
            </a:r>
            <a:r>
              <a:rPr lang="en-US" sz="2100" dirty="0">
                <a:latin typeface="Helvetica" panose="020B0604020202020204" pitchFamily="34" charset="0"/>
                <a:cs typeface="Helvetica" panose="020B0604020202020204" pitchFamily="34" charset="0"/>
              </a:rPr>
              <a:t> , Age=</a:t>
            </a:r>
            <a:r>
              <a:rPr lang="en-US" sz="2100" dirty="0">
                <a:solidFill>
                  <a:srgbClr val="FF0000"/>
                </a:solidFill>
                <a:latin typeface="Helvetica" panose="020B0604020202020204" pitchFamily="34" charset="0"/>
                <a:cs typeface="Helvetica" panose="020B0604020202020204" pitchFamily="34" charset="0"/>
              </a:rPr>
              <a:t>NULL</a:t>
            </a:r>
            <a:r>
              <a:rPr lang="en-US" sz="2100" dirty="0">
                <a:latin typeface="Helvetica" panose="020B0604020202020204" pitchFamily="34" charset="0"/>
                <a:cs typeface="Helvetica" panose="020B0604020202020204" pitchFamily="34" charset="0"/>
              </a:rPr>
              <a:t>  &amp; City takes value </a:t>
            </a:r>
            <a:r>
              <a:rPr lang="en-US" sz="2100" b="1" dirty="0">
                <a:latin typeface="Helvetica" panose="020B0604020202020204" pitchFamily="34" charset="0"/>
                <a:cs typeface="Helvetica" panose="020B0604020202020204" pitchFamily="34" charset="0"/>
              </a:rPr>
              <a:t>Manipal</a:t>
            </a:r>
            <a:r>
              <a:rPr lang="en-US" sz="2100" dirty="0">
                <a:latin typeface="Helvetica" panose="020B0604020202020204" pitchFamily="34" charset="0"/>
                <a:cs typeface="Helvetica" panose="020B0604020202020204" pitchFamily="34" charset="0"/>
              </a:rPr>
              <a:t> automatically even though City value is not specified in the INSERT command.</a:t>
            </a: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37</a:t>
            </a:fld>
            <a:endParaRPr lang="en-US"/>
          </a:p>
        </p:txBody>
      </p:sp>
    </p:spTree>
    <p:extLst>
      <p:ext uri="{BB962C8B-B14F-4D97-AF65-F5344CB8AC3E}">
        <p14:creationId xmlns:p14="http://schemas.microsoft.com/office/powerpoint/2010/main" val="3636937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7275-617D-4174-95A9-42648FF62B4A}"/>
              </a:ext>
            </a:extLst>
          </p:cNvPr>
          <p:cNvSpPr>
            <a:spLocks noGrp="1"/>
          </p:cNvSpPr>
          <p:nvPr>
            <p:ph type="title"/>
          </p:nvPr>
        </p:nvSpPr>
        <p:spPr>
          <a:xfrm>
            <a:off x="838200" y="100673"/>
            <a:ext cx="10515600" cy="461665"/>
          </a:xfrm>
        </p:spPr>
        <p:txBody>
          <a:bodyPr>
            <a:normAutofit fontScale="90000"/>
          </a:bodyPr>
          <a:lstStyle/>
          <a:p>
            <a:r>
              <a:rPr lang="en-IN" b="1" dirty="0">
                <a:solidFill>
                  <a:srgbClr val="C00000"/>
                </a:solidFill>
              </a:rPr>
              <a:t>Example</a:t>
            </a:r>
          </a:p>
        </p:txBody>
      </p:sp>
      <p:sp>
        <p:nvSpPr>
          <p:cNvPr id="4" name="Footer Placeholder 3">
            <a:extLst>
              <a:ext uri="{FF2B5EF4-FFF2-40B4-BE49-F238E27FC236}">
                <a16:creationId xmlns:a16="http://schemas.microsoft.com/office/drawing/2014/main" id="{E30B24BE-0825-4F3A-ABD4-C6FCE2722544}"/>
              </a:ext>
            </a:extLst>
          </p:cNvPr>
          <p:cNvSpPr>
            <a:spLocks noGrp="1"/>
          </p:cNvSpPr>
          <p:nvPr>
            <p:ph type="ftr" sz="quarter" idx="11"/>
          </p:nvPr>
        </p:nvSpPr>
        <p:spPr/>
        <p:txBody>
          <a:bodyPr/>
          <a:lstStyle/>
          <a:p>
            <a:r>
              <a:rPr lang="en-US"/>
              <a:t>SQL</a:t>
            </a:r>
          </a:p>
        </p:txBody>
      </p:sp>
      <p:sp>
        <p:nvSpPr>
          <p:cNvPr id="5" name="Slide Number Placeholder 4">
            <a:extLst>
              <a:ext uri="{FF2B5EF4-FFF2-40B4-BE49-F238E27FC236}">
                <a16:creationId xmlns:a16="http://schemas.microsoft.com/office/drawing/2014/main" id="{CF4D5A8D-B9B0-4D48-81FA-D7ABF320FEFE}"/>
              </a:ext>
            </a:extLst>
          </p:cNvPr>
          <p:cNvSpPr>
            <a:spLocks noGrp="1"/>
          </p:cNvSpPr>
          <p:nvPr>
            <p:ph type="sldNum" sz="quarter" idx="12"/>
          </p:nvPr>
        </p:nvSpPr>
        <p:spPr/>
        <p:txBody>
          <a:bodyPr/>
          <a:lstStyle/>
          <a:p>
            <a:fld id="{03576695-DB63-4967-AFBB-46E84EF49106}" type="slidenum">
              <a:rPr lang="en-US" smtClean="0"/>
              <a:t>38</a:t>
            </a:fld>
            <a:endParaRPr lang="en-US"/>
          </a:p>
        </p:txBody>
      </p:sp>
      <p:sp>
        <p:nvSpPr>
          <p:cNvPr id="6" name="Rectangle 5">
            <a:extLst>
              <a:ext uri="{FF2B5EF4-FFF2-40B4-BE49-F238E27FC236}">
                <a16:creationId xmlns:a16="http://schemas.microsoft.com/office/drawing/2014/main" id="{2BC7FA3C-5579-4E1E-98F6-AF9CBB51F863}"/>
              </a:ext>
            </a:extLst>
          </p:cNvPr>
          <p:cNvSpPr/>
          <p:nvPr/>
        </p:nvSpPr>
        <p:spPr>
          <a:xfrm>
            <a:off x="838200" y="737136"/>
            <a:ext cx="6927217" cy="523220"/>
          </a:xfrm>
          <a:prstGeom prst="rect">
            <a:avLst/>
          </a:prstGeom>
        </p:spPr>
        <p:txBody>
          <a:bodyPr wrap="none">
            <a:spAutoFit/>
          </a:bodyPr>
          <a:lstStyle/>
          <a:p>
            <a:pPr algn="just"/>
            <a:r>
              <a:rPr lang="en-US" sz="2800" dirty="0"/>
              <a:t>Create following tables with constraint names.</a:t>
            </a:r>
          </a:p>
        </p:txBody>
      </p:sp>
      <p:graphicFrame>
        <p:nvGraphicFramePr>
          <p:cNvPr id="10" name="Table 9">
            <a:extLst>
              <a:ext uri="{FF2B5EF4-FFF2-40B4-BE49-F238E27FC236}">
                <a16:creationId xmlns:a16="http://schemas.microsoft.com/office/drawing/2014/main" id="{00021EC5-0C84-4BF3-80B5-A1B8EE30DF51}"/>
              </a:ext>
            </a:extLst>
          </p:cNvPr>
          <p:cNvGraphicFramePr>
            <a:graphicFrameLocks noGrp="1"/>
          </p:cNvGraphicFramePr>
          <p:nvPr>
            <p:extLst>
              <p:ext uri="{D42A27DB-BD31-4B8C-83A1-F6EECF244321}">
                <p14:modId xmlns:p14="http://schemas.microsoft.com/office/powerpoint/2010/main" val="2967816574"/>
              </p:ext>
            </p:extLst>
          </p:nvPr>
        </p:nvGraphicFramePr>
        <p:xfrm>
          <a:off x="838198" y="1221465"/>
          <a:ext cx="7149861" cy="2709220"/>
        </p:xfrm>
        <a:graphic>
          <a:graphicData uri="http://schemas.openxmlformats.org/drawingml/2006/table">
            <a:tbl>
              <a:tblPr/>
              <a:tblGrid>
                <a:gridCol w="1188322">
                  <a:extLst>
                    <a:ext uri="{9D8B030D-6E8A-4147-A177-3AD203B41FA5}">
                      <a16:colId xmlns:a16="http://schemas.microsoft.com/office/drawing/2014/main" val="72691038"/>
                    </a:ext>
                  </a:extLst>
                </a:gridCol>
                <a:gridCol w="1115225">
                  <a:extLst>
                    <a:ext uri="{9D8B030D-6E8A-4147-A177-3AD203B41FA5}">
                      <a16:colId xmlns:a16="http://schemas.microsoft.com/office/drawing/2014/main" val="1787941101"/>
                    </a:ext>
                  </a:extLst>
                </a:gridCol>
                <a:gridCol w="873758">
                  <a:extLst>
                    <a:ext uri="{9D8B030D-6E8A-4147-A177-3AD203B41FA5}">
                      <a16:colId xmlns:a16="http://schemas.microsoft.com/office/drawing/2014/main" val="83181042"/>
                    </a:ext>
                  </a:extLst>
                </a:gridCol>
                <a:gridCol w="1727135">
                  <a:extLst>
                    <a:ext uri="{9D8B030D-6E8A-4147-A177-3AD203B41FA5}">
                      <a16:colId xmlns:a16="http://schemas.microsoft.com/office/drawing/2014/main" val="1926160289"/>
                    </a:ext>
                  </a:extLst>
                </a:gridCol>
                <a:gridCol w="2245421">
                  <a:extLst>
                    <a:ext uri="{9D8B030D-6E8A-4147-A177-3AD203B41FA5}">
                      <a16:colId xmlns:a16="http://schemas.microsoft.com/office/drawing/2014/main" val="2403526819"/>
                    </a:ext>
                  </a:extLst>
                </a:gridCol>
              </a:tblGrid>
              <a:tr h="419924">
                <a:tc gridSpan="2">
                  <a:txBody>
                    <a:bodyPr/>
                    <a:lstStyle/>
                    <a:p>
                      <a:pPr algn="l" fontAlgn="b"/>
                      <a:r>
                        <a:rPr lang="en-IN" sz="2000" b="1" i="0" u="none" strike="noStrike" dirty="0">
                          <a:solidFill>
                            <a:srgbClr val="000000"/>
                          </a:solidFill>
                          <a:effectLst/>
                          <a:latin typeface="Calibri" panose="020F0502020204030204" pitchFamily="34" charset="0"/>
                        </a:rPr>
                        <a:t>CUSTOMER</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IN"/>
                    </a:p>
                  </a:txBody>
                  <a:tcPr/>
                </a:tc>
                <a:tc>
                  <a:txBody>
                    <a:bodyPr/>
                    <a:lstStyle/>
                    <a:p>
                      <a:pPr algn="l" fontAlgn="b"/>
                      <a:endParaRPr lang="en-IN" sz="20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20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20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70437593"/>
                  </a:ext>
                </a:extLst>
              </a:tr>
              <a:tr h="419924">
                <a:tc>
                  <a:txBody>
                    <a:bodyPr/>
                    <a:lstStyle/>
                    <a:p>
                      <a:pPr algn="l" fontAlgn="b"/>
                      <a:r>
                        <a:rPr lang="en-IN" sz="2000" b="1" i="0" u="none" strike="noStrike">
                          <a:solidFill>
                            <a:srgbClr val="000000"/>
                          </a:solidFill>
                          <a:effectLst/>
                          <a:latin typeface="Calibri" panose="020F0502020204030204" pitchFamily="34" charset="0"/>
                        </a:rPr>
                        <a:t>Attribute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2000" b="1" i="0" u="none" strike="noStrike" dirty="0">
                          <a:solidFill>
                            <a:srgbClr val="000000"/>
                          </a:solidFill>
                          <a:effectLst/>
                          <a:latin typeface="Calibri" panose="020F0502020204030204" pitchFamily="34" charset="0"/>
                        </a:rPr>
                        <a:t>Datatype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2000" b="1" i="0" u="none" strike="noStrike" dirty="0">
                          <a:solidFill>
                            <a:srgbClr val="000000"/>
                          </a:solidFill>
                          <a:effectLst/>
                          <a:latin typeface="Calibri" panose="020F0502020204030204" pitchFamily="34" charset="0"/>
                        </a:rPr>
                        <a:t>size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2000" b="1" i="0" u="none" strike="noStrike" dirty="0">
                          <a:solidFill>
                            <a:srgbClr val="000000"/>
                          </a:solidFill>
                          <a:effectLst/>
                          <a:latin typeface="Calibri" panose="020F0502020204030204" pitchFamily="34" charset="0"/>
                        </a:rPr>
                        <a:t>Constraint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2000" b="1" i="0" u="none" strike="noStrike">
                          <a:solidFill>
                            <a:srgbClr val="000000"/>
                          </a:solidFill>
                          <a:effectLst/>
                          <a:latin typeface="Calibri" panose="020F0502020204030204" pitchFamily="34" charset="0"/>
                        </a:rPr>
                        <a:t>Constraint Name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066136247"/>
                  </a:ext>
                </a:extLst>
              </a:tr>
              <a:tr h="419924">
                <a:tc>
                  <a:txBody>
                    <a:bodyPr/>
                    <a:lstStyle/>
                    <a:p>
                      <a:pPr algn="l" fontAlgn="b"/>
                      <a:r>
                        <a:rPr lang="en-IN" sz="2000" b="0" i="0" u="none" strike="noStrike" dirty="0" err="1">
                          <a:solidFill>
                            <a:srgbClr val="000000"/>
                          </a:solidFill>
                          <a:effectLst/>
                          <a:latin typeface="Calibri" panose="020F0502020204030204" pitchFamily="34" charset="0"/>
                        </a:rPr>
                        <a:t>CustNo</a:t>
                      </a:r>
                      <a:endParaRPr lang="en-IN" sz="20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libri" panose="020F0502020204030204" pitchFamily="34" charset="0"/>
                        </a:rPr>
                        <a:t>Number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Primary key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libri" panose="020F0502020204030204" pitchFamily="34" charset="0"/>
                        </a:rPr>
                        <a:t>Pkey_Cust_Number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2905326"/>
                  </a:ext>
                </a:extLst>
              </a:tr>
              <a:tr h="419924">
                <a:tc>
                  <a:txBody>
                    <a:bodyPr/>
                    <a:lstStyle/>
                    <a:p>
                      <a:pPr algn="l" fontAlgn="b"/>
                      <a:r>
                        <a:rPr lang="en-IN" sz="2000" b="0" i="0" u="none" strike="noStrike">
                          <a:solidFill>
                            <a:srgbClr val="000000"/>
                          </a:solidFill>
                          <a:effectLst/>
                          <a:latin typeface="Calibri" panose="020F0502020204030204" pitchFamily="34" charset="0"/>
                        </a:rPr>
                        <a:t>Phone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libri" panose="020F0502020204030204" pitchFamily="34" charset="0"/>
                        </a:rPr>
                        <a:t>number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10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Unique , Can't be Null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libri" panose="020F0502020204030204" pitchFamily="34" charset="0"/>
                        </a:rPr>
                        <a:t>UNQ_Phone; Ph_NoNULL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1539323"/>
                  </a:ext>
                </a:extLst>
              </a:tr>
              <a:tr h="419924">
                <a:tc>
                  <a:txBody>
                    <a:bodyPr/>
                    <a:lstStyle/>
                    <a:p>
                      <a:pPr algn="l" fontAlgn="b"/>
                      <a:r>
                        <a:rPr lang="en-IN" sz="2000" b="0" i="0" u="none" strike="noStrike">
                          <a:solidFill>
                            <a:srgbClr val="000000"/>
                          </a:solidFill>
                          <a:effectLst/>
                          <a:latin typeface="Calibri" panose="020F0502020204030204" pitchFamily="34" charset="0"/>
                        </a:rPr>
                        <a:t>email</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libri" panose="020F0502020204030204" pitchFamily="34" charset="0"/>
                        </a:rPr>
                        <a:t>varchar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Unique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7351906"/>
                  </a:ext>
                </a:extLst>
              </a:tr>
              <a:tr h="419924">
                <a:tc>
                  <a:txBody>
                    <a:bodyPr/>
                    <a:lstStyle/>
                    <a:p>
                      <a:pPr algn="l" fontAlgn="b"/>
                      <a:r>
                        <a:rPr lang="en-IN" sz="2000" b="0" i="0" u="none" strike="noStrike" dirty="0">
                          <a:solidFill>
                            <a:srgbClr val="000000"/>
                          </a:solidFill>
                          <a:effectLst/>
                          <a:latin typeface="Calibri" panose="020F0502020204030204" pitchFamily="34" charset="0"/>
                        </a:rPr>
                        <a:t>City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libri" panose="020F0502020204030204" pitchFamily="34" charset="0"/>
                        </a:rPr>
                        <a:t>varchar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20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BNG/MUB/CHN</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err="1">
                          <a:solidFill>
                            <a:srgbClr val="000000"/>
                          </a:solidFill>
                          <a:effectLst/>
                          <a:latin typeface="Calibri" panose="020F0502020204030204" pitchFamily="34" charset="0"/>
                        </a:rPr>
                        <a:t>Valid_City</a:t>
                      </a:r>
                      <a:endParaRPr lang="en-IN" sz="20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7036326"/>
                  </a:ext>
                </a:extLst>
              </a:tr>
            </a:tbl>
          </a:graphicData>
        </a:graphic>
      </p:graphicFrame>
      <p:graphicFrame>
        <p:nvGraphicFramePr>
          <p:cNvPr id="12" name="Table 11">
            <a:extLst>
              <a:ext uri="{FF2B5EF4-FFF2-40B4-BE49-F238E27FC236}">
                <a16:creationId xmlns:a16="http://schemas.microsoft.com/office/drawing/2014/main" id="{297B742A-6B24-4A22-8F7B-8F0A7D4E9CB0}"/>
              </a:ext>
            </a:extLst>
          </p:cNvPr>
          <p:cNvGraphicFramePr>
            <a:graphicFrameLocks noGrp="1"/>
          </p:cNvGraphicFramePr>
          <p:nvPr>
            <p:extLst>
              <p:ext uri="{D42A27DB-BD31-4B8C-83A1-F6EECF244321}">
                <p14:modId xmlns:p14="http://schemas.microsoft.com/office/powerpoint/2010/main" val="754930185"/>
              </p:ext>
            </p:extLst>
          </p:nvPr>
        </p:nvGraphicFramePr>
        <p:xfrm>
          <a:off x="2984740" y="4186032"/>
          <a:ext cx="7719805" cy="1976393"/>
        </p:xfrm>
        <a:graphic>
          <a:graphicData uri="http://schemas.openxmlformats.org/drawingml/2006/table">
            <a:tbl>
              <a:tblPr/>
              <a:tblGrid>
                <a:gridCol w="1196671">
                  <a:extLst>
                    <a:ext uri="{9D8B030D-6E8A-4147-A177-3AD203B41FA5}">
                      <a16:colId xmlns:a16="http://schemas.microsoft.com/office/drawing/2014/main" val="3762580530"/>
                    </a:ext>
                  </a:extLst>
                </a:gridCol>
                <a:gridCol w="1009691">
                  <a:extLst>
                    <a:ext uri="{9D8B030D-6E8A-4147-A177-3AD203B41FA5}">
                      <a16:colId xmlns:a16="http://schemas.microsoft.com/office/drawing/2014/main" val="2347962203"/>
                    </a:ext>
                  </a:extLst>
                </a:gridCol>
                <a:gridCol w="804014">
                  <a:extLst>
                    <a:ext uri="{9D8B030D-6E8A-4147-A177-3AD203B41FA5}">
                      <a16:colId xmlns:a16="http://schemas.microsoft.com/office/drawing/2014/main" val="2857202314"/>
                    </a:ext>
                  </a:extLst>
                </a:gridCol>
                <a:gridCol w="2692511">
                  <a:extLst>
                    <a:ext uri="{9D8B030D-6E8A-4147-A177-3AD203B41FA5}">
                      <a16:colId xmlns:a16="http://schemas.microsoft.com/office/drawing/2014/main" val="86041379"/>
                    </a:ext>
                  </a:extLst>
                </a:gridCol>
                <a:gridCol w="2016918">
                  <a:extLst>
                    <a:ext uri="{9D8B030D-6E8A-4147-A177-3AD203B41FA5}">
                      <a16:colId xmlns:a16="http://schemas.microsoft.com/office/drawing/2014/main" val="3556885609"/>
                    </a:ext>
                  </a:extLst>
                </a:gridCol>
              </a:tblGrid>
              <a:tr h="320427">
                <a:tc gridSpan="2">
                  <a:txBody>
                    <a:bodyPr/>
                    <a:lstStyle/>
                    <a:p>
                      <a:pPr algn="l" fontAlgn="b"/>
                      <a:r>
                        <a:rPr lang="en-IN" sz="2000" b="1" i="0" u="none" strike="noStrike" dirty="0">
                          <a:solidFill>
                            <a:srgbClr val="000000"/>
                          </a:solidFill>
                          <a:effectLst/>
                          <a:latin typeface="Calibri" panose="020F0502020204030204" pitchFamily="34" charset="0"/>
                        </a:rPr>
                        <a:t>ACCOUNT</a:t>
                      </a: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hMerge="1">
                  <a:txBody>
                    <a:bodyPr/>
                    <a:lstStyle/>
                    <a:p>
                      <a:endParaRPr lang="en-IN"/>
                    </a:p>
                  </a:txBody>
                  <a:tcPr/>
                </a:tc>
                <a:tc>
                  <a:txBody>
                    <a:bodyPr/>
                    <a:lstStyle/>
                    <a:p>
                      <a:pPr algn="l" fontAlgn="b"/>
                      <a:endParaRPr lang="en-IN" sz="20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20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20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4854375"/>
                  </a:ext>
                </a:extLst>
              </a:tr>
              <a:tr h="563952">
                <a:tc>
                  <a:txBody>
                    <a:bodyPr/>
                    <a:lstStyle/>
                    <a:p>
                      <a:pPr algn="l" fontAlgn="b"/>
                      <a:r>
                        <a:rPr lang="en-IN" sz="2000" b="1" i="0" u="none" strike="noStrike" dirty="0">
                          <a:solidFill>
                            <a:srgbClr val="000000"/>
                          </a:solidFill>
                          <a:effectLst/>
                          <a:latin typeface="Calibri" panose="020F0502020204030204" pitchFamily="34" charset="0"/>
                        </a:rPr>
                        <a:t>Attribute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2000" b="1" i="0" u="none" strike="noStrike" dirty="0">
                          <a:solidFill>
                            <a:srgbClr val="000000"/>
                          </a:solidFill>
                          <a:effectLst/>
                          <a:latin typeface="Calibri" panose="020F0502020204030204" pitchFamily="34" charset="0"/>
                        </a:rPr>
                        <a:t>Datatype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2000" b="1" i="0" u="none" strike="noStrike">
                          <a:solidFill>
                            <a:srgbClr val="000000"/>
                          </a:solidFill>
                          <a:effectLst/>
                          <a:latin typeface="Calibri" panose="020F0502020204030204" pitchFamily="34" charset="0"/>
                        </a:rPr>
                        <a:t>size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2000" b="1" i="0" u="none" strike="noStrike">
                          <a:solidFill>
                            <a:srgbClr val="000000"/>
                          </a:solidFill>
                          <a:effectLst/>
                          <a:latin typeface="Calibri" panose="020F0502020204030204" pitchFamily="34" charset="0"/>
                        </a:rPr>
                        <a:t>Constraint</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tc>
                  <a:txBody>
                    <a:bodyPr/>
                    <a:lstStyle/>
                    <a:p>
                      <a:pPr algn="l" fontAlgn="b"/>
                      <a:r>
                        <a:rPr lang="en-IN" sz="2000" b="1" i="0" u="none" strike="noStrike">
                          <a:solidFill>
                            <a:srgbClr val="000000"/>
                          </a:solidFill>
                          <a:effectLst/>
                          <a:latin typeface="Calibri" panose="020F0502020204030204" pitchFamily="34" charset="0"/>
                        </a:rPr>
                        <a:t>Constraint Name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519194742"/>
                  </a:ext>
                </a:extLst>
              </a:tr>
              <a:tr h="320427">
                <a:tc>
                  <a:txBody>
                    <a:bodyPr/>
                    <a:lstStyle/>
                    <a:p>
                      <a:pPr algn="l" fontAlgn="b"/>
                      <a:r>
                        <a:rPr lang="en-IN" sz="2000" b="0" i="0" u="none" strike="noStrike" dirty="0" err="1">
                          <a:solidFill>
                            <a:srgbClr val="000000"/>
                          </a:solidFill>
                          <a:effectLst/>
                          <a:latin typeface="Calibri" panose="020F0502020204030204" pitchFamily="34" charset="0"/>
                        </a:rPr>
                        <a:t>Accno</a:t>
                      </a:r>
                      <a:endParaRPr lang="en-IN" sz="20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Number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3</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libri" panose="020F0502020204030204" pitchFamily="34" charset="0"/>
                        </a:rPr>
                        <a:t>Priamry key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IN" sz="2000" b="0" i="0" u="none" strike="noStrike">
                          <a:solidFill>
                            <a:srgbClr val="000000"/>
                          </a:solidFill>
                          <a:effectLst/>
                          <a:latin typeface="Calibri" panose="020F0502020204030204" pitchFamily="34" charset="0"/>
                        </a:rPr>
                        <a:t>Pkey_AccNo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7677338"/>
                  </a:ext>
                </a:extLst>
              </a:tr>
              <a:tr h="451160">
                <a:tc>
                  <a:txBody>
                    <a:bodyPr/>
                    <a:lstStyle/>
                    <a:p>
                      <a:pPr algn="l" fontAlgn="b"/>
                      <a:r>
                        <a:rPr lang="en-IN" sz="2000" b="0" i="0" u="none" strike="noStrike" dirty="0" err="1">
                          <a:solidFill>
                            <a:srgbClr val="000000"/>
                          </a:solidFill>
                          <a:effectLst/>
                          <a:latin typeface="Calibri" panose="020F0502020204030204" pitchFamily="34" charset="0"/>
                        </a:rPr>
                        <a:t>CustNo</a:t>
                      </a:r>
                      <a:endParaRPr lang="en-IN" sz="20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a:solidFill>
                            <a:srgbClr val="000000"/>
                          </a:solidFill>
                          <a:effectLst/>
                          <a:latin typeface="Calibri" panose="020F0502020204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Primary key; Foreign Key</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endParaRPr lang="en-IN"/>
                    </a:p>
                  </a:txBody>
                  <a:tcPr/>
                </a:tc>
                <a:extLst>
                  <a:ext uri="{0D108BD9-81ED-4DB2-BD59-A6C34878D82A}">
                    <a16:rowId xmlns:a16="http://schemas.microsoft.com/office/drawing/2014/main" val="1417085053"/>
                  </a:ext>
                </a:extLst>
              </a:tr>
              <a:tr h="320427">
                <a:tc>
                  <a:txBody>
                    <a:bodyPr/>
                    <a:lstStyle/>
                    <a:p>
                      <a:pPr algn="l" fontAlgn="b"/>
                      <a:r>
                        <a:rPr lang="en-IN" sz="2000" b="0" i="0" u="none" strike="noStrike">
                          <a:solidFill>
                            <a:srgbClr val="000000"/>
                          </a:solidFill>
                          <a:effectLst/>
                          <a:latin typeface="Calibri" panose="020F0502020204030204" pitchFamily="34" charset="0"/>
                        </a:rPr>
                        <a:t>Balance</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libri" panose="020F0502020204030204" pitchFamily="34" charset="0"/>
                        </a:rPr>
                        <a:t>Number</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a:solidFill>
                            <a:srgbClr val="000000"/>
                          </a:solidFill>
                          <a:effectLst/>
                          <a:latin typeface="Calibri" panose="020F0502020204030204" pitchFamily="34" charset="0"/>
                        </a:rPr>
                        <a:t>7</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libri" panose="020F0502020204030204" pitchFamily="34" charset="0"/>
                        </a:rPr>
                        <a:t>&gt;1000</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IN" sz="2000" b="0" i="0" u="none" strike="noStrike" dirty="0" err="1">
                          <a:solidFill>
                            <a:srgbClr val="000000"/>
                          </a:solidFill>
                          <a:effectLst/>
                          <a:latin typeface="Calibri" panose="020F0502020204030204" pitchFamily="34" charset="0"/>
                        </a:rPr>
                        <a:t>Min_Balance</a:t>
                      </a:r>
                      <a:endParaRPr lang="en-IN" sz="2000" b="0" i="0" u="none" strike="noStrike" dirty="0">
                        <a:solidFill>
                          <a:srgbClr val="000000"/>
                        </a:solidFill>
                        <a:effectLst/>
                        <a:latin typeface="Calibri" panose="020F0502020204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4701210"/>
                  </a:ext>
                </a:extLst>
              </a:tr>
            </a:tbl>
          </a:graphicData>
        </a:graphic>
      </p:graphicFrame>
    </p:spTree>
    <p:extLst>
      <p:ext uri="{BB962C8B-B14F-4D97-AF65-F5344CB8AC3E}">
        <p14:creationId xmlns:p14="http://schemas.microsoft.com/office/powerpoint/2010/main" val="29731548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93DFC9B5-4381-4957-948C-38B5FB50C564}"/>
              </a:ext>
            </a:extLst>
          </p:cNvPr>
          <p:cNvSpPr>
            <a:spLocks noGrp="1"/>
          </p:cNvSpPr>
          <p:nvPr>
            <p:ph type="ftr" sz="quarter" idx="11"/>
          </p:nvPr>
        </p:nvSpPr>
        <p:spPr/>
        <p:txBody>
          <a:bodyPr/>
          <a:lstStyle/>
          <a:p>
            <a:r>
              <a:rPr lang="en-US"/>
              <a:t>SQL</a:t>
            </a:r>
          </a:p>
        </p:txBody>
      </p:sp>
      <p:sp>
        <p:nvSpPr>
          <p:cNvPr id="5" name="Slide Number Placeholder 4">
            <a:extLst>
              <a:ext uri="{FF2B5EF4-FFF2-40B4-BE49-F238E27FC236}">
                <a16:creationId xmlns:a16="http://schemas.microsoft.com/office/drawing/2014/main" id="{4ABDB423-2D5B-412A-8ACF-24212E3ABE94}"/>
              </a:ext>
            </a:extLst>
          </p:cNvPr>
          <p:cNvSpPr>
            <a:spLocks noGrp="1"/>
          </p:cNvSpPr>
          <p:nvPr>
            <p:ph type="sldNum" sz="quarter" idx="12"/>
          </p:nvPr>
        </p:nvSpPr>
        <p:spPr/>
        <p:txBody>
          <a:bodyPr/>
          <a:lstStyle/>
          <a:p>
            <a:fld id="{03576695-DB63-4967-AFBB-46E84EF49106}" type="slidenum">
              <a:rPr lang="en-US" smtClean="0"/>
              <a:t>39</a:t>
            </a:fld>
            <a:endParaRPr lang="en-US"/>
          </a:p>
        </p:txBody>
      </p:sp>
      <p:sp>
        <p:nvSpPr>
          <p:cNvPr id="6" name="Rectangle 5">
            <a:extLst>
              <a:ext uri="{FF2B5EF4-FFF2-40B4-BE49-F238E27FC236}">
                <a16:creationId xmlns:a16="http://schemas.microsoft.com/office/drawing/2014/main" id="{7541572A-6DE2-4D00-B0E0-E68E226B7809}"/>
              </a:ext>
            </a:extLst>
          </p:cNvPr>
          <p:cNvSpPr/>
          <p:nvPr/>
        </p:nvSpPr>
        <p:spPr>
          <a:xfrm>
            <a:off x="753207" y="1609284"/>
            <a:ext cx="10824504" cy="3947747"/>
          </a:xfrm>
          <a:prstGeom prst="rect">
            <a:avLst/>
          </a:prstGeom>
        </p:spPr>
        <p:txBody>
          <a:bodyPr wrap="square">
            <a:spAutoFit/>
          </a:bodyPr>
          <a:lstStyle/>
          <a:p>
            <a:pPr>
              <a:lnSpc>
                <a:spcPct val="130000"/>
              </a:lnSpc>
              <a:spcBef>
                <a:spcPts val="1000"/>
              </a:spcBef>
            </a:pPr>
            <a:r>
              <a:rPr lang="en-US" sz="2600" dirty="0"/>
              <a:t>CREATE TABLE Organization(Dept_name varchar (8) </a:t>
            </a:r>
            <a:r>
              <a:rPr lang="en-US" sz="2600" b="1" dirty="0"/>
              <a:t>PRIMARY KEY</a:t>
            </a:r>
            <a:r>
              <a:rPr lang="en-US" sz="2600" dirty="0"/>
              <a:t>, Head varchar(10)); </a:t>
            </a:r>
          </a:p>
          <a:p>
            <a:pPr>
              <a:lnSpc>
                <a:spcPct val="130000"/>
              </a:lnSpc>
              <a:spcBef>
                <a:spcPts val="1000"/>
              </a:spcBef>
            </a:pPr>
            <a:r>
              <a:rPr lang="en-US" sz="2600" dirty="0"/>
              <a:t>CREATE TABLE Department (</a:t>
            </a:r>
            <a:r>
              <a:rPr lang="en-US" sz="2600" dirty="0" err="1"/>
              <a:t>Dname</a:t>
            </a:r>
            <a:r>
              <a:rPr lang="en-US" sz="2600" dirty="0"/>
              <a:t> varchar (8)   </a:t>
            </a:r>
            <a:r>
              <a:rPr lang="en-US" sz="2600" b="1" dirty="0"/>
              <a:t>PRIMARY KEY REFERENCES </a:t>
            </a:r>
            <a:r>
              <a:rPr lang="en-US" sz="2600" dirty="0"/>
              <a:t>Organization, </a:t>
            </a:r>
            <a:r>
              <a:rPr lang="en-US" sz="2600" dirty="0" err="1"/>
              <a:t>Course_Type</a:t>
            </a:r>
            <a:r>
              <a:rPr lang="en-US" sz="2600" dirty="0"/>
              <a:t> varchar (8) </a:t>
            </a:r>
            <a:r>
              <a:rPr lang="en-US" sz="2600" b="1" dirty="0"/>
              <a:t>CHECK</a:t>
            </a:r>
            <a:r>
              <a:rPr lang="en-US" sz="2600" dirty="0"/>
              <a:t>( </a:t>
            </a:r>
            <a:r>
              <a:rPr lang="en-US" sz="2600" dirty="0" err="1"/>
              <a:t>Course_Type</a:t>
            </a:r>
            <a:r>
              <a:rPr lang="en-US" sz="2600" dirty="0"/>
              <a:t> IN( '</a:t>
            </a:r>
            <a:r>
              <a:rPr lang="en-US" sz="2600" dirty="0" err="1"/>
              <a:t>MCA','MTech</a:t>
            </a:r>
            <a:r>
              <a:rPr lang="en-US" sz="2600" dirty="0"/>
              <a:t>' ,'</a:t>
            </a:r>
            <a:r>
              <a:rPr lang="en-US" sz="2600" dirty="0" err="1"/>
              <a:t>BTech','MS</a:t>
            </a:r>
            <a:r>
              <a:rPr lang="en-US" sz="2600" dirty="0"/>
              <a:t>')), </a:t>
            </a:r>
            <a:r>
              <a:rPr lang="en-US" sz="2600" dirty="0" err="1"/>
              <a:t>Numb_of_Sem</a:t>
            </a:r>
            <a:r>
              <a:rPr lang="en-US" sz="2600" dirty="0"/>
              <a:t>  Number(1)  </a:t>
            </a:r>
            <a:r>
              <a:rPr lang="en-US" sz="2600" b="1" dirty="0"/>
              <a:t>CHECK</a:t>
            </a:r>
            <a:r>
              <a:rPr lang="en-US" sz="2600" dirty="0"/>
              <a:t> (</a:t>
            </a:r>
            <a:r>
              <a:rPr lang="en-US" sz="2600" dirty="0" err="1"/>
              <a:t>Numb_of_Sem</a:t>
            </a:r>
            <a:r>
              <a:rPr lang="en-US" sz="2600" dirty="0"/>
              <a:t> BETWEEN 1 AND 8),  </a:t>
            </a:r>
            <a:r>
              <a:rPr lang="en-US" sz="2600" dirty="0" err="1"/>
              <a:t>In_take_stud</a:t>
            </a:r>
            <a:r>
              <a:rPr lang="en-US" sz="2600" dirty="0"/>
              <a:t>    Number(2), </a:t>
            </a:r>
            <a:r>
              <a:rPr lang="en-US" sz="2600" dirty="0" err="1"/>
              <a:t>Dep_Phone</a:t>
            </a:r>
            <a:r>
              <a:rPr lang="en-US" sz="2600" dirty="0"/>
              <a:t>   Number(10) </a:t>
            </a:r>
            <a:r>
              <a:rPr lang="en-US" sz="2600" b="1" dirty="0"/>
              <a:t>NOT NULL UNIQUE</a:t>
            </a:r>
            <a:r>
              <a:rPr lang="en-US" sz="2600" dirty="0"/>
              <a:t> );</a:t>
            </a:r>
          </a:p>
        </p:txBody>
      </p:sp>
      <p:sp>
        <p:nvSpPr>
          <p:cNvPr id="7" name="Title 1">
            <a:extLst>
              <a:ext uri="{FF2B5EF4-FFF2-40B4-BE49-F238E27FC236}">
                <a16:creationId xmlns:a16="http://schemas.microsoft.com/office/drawing/2014/main" id="{3B1D180D-F988-4F48-A1D4-A27F58FDE67F}"/>
              </a:ext>
            </a:extLst>
          </p:cNvPr>
          <p:cNvSpPr>
            <a:spLocks noGrp="1"/>
          </p:cNvSpPr>
          <p:nvPr>
            <p:ph type="title"/>
          </p:nvPr>
        </p:nvSpPr>
        <p:spPr>
          <a:xfrm>
            <a:off x="838200" y="83431"/>
            <a:ext cx="10515600" cy="623017"/>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Example</a:t>
            </a:r>
          </a:p>
        </p:txBody>
      </p:sp>
      <p:sp>
        <p:nvSpPr>
          <p:cNvPr id="8" name="Rectangle 7">
            <a:extLst>
              <a:ext uri="{FF2B5EF4-FFF2-40B4-BE49-F238E27FC236}">
                <a16:creationId xmlns:a16="http://schemas.microsoft.com/office/drawing/2014/main" id="{DBA56F02-01FC-423E-B505-036292B99841}"/>
              </a:ext>
            </a:extLst>
          </p:cNvPr>
          <p:cNvSpPr/>
          <p:nvPr/>
        </p:nvSpPr>
        <p:spPr>
          <a:xfrm>
            <a:off x="981061" y="896121"/>
            <a:ext cx="6947608" cy="584775"/>
          </a:xfrm>
          <a:prstGeom prst="rect">
            <a:avLst/>
          </a:prstGeom>
        </p:spPr>
        <p:txBody>
          <a:bodyPr wrap="none">
            <a:spAutoFit/>
          </a:bodyPr>
          <a:lstStyle/>
          <a:p>
            <a:r>
              <a:rPr lang="en-IN" sz="3200" dirty="0"/>
              <a:t>Tables created </a:t>
            </a:r>
            <a:r>
              <a:rPr lang="en-IN" sz="3200" dirty="0">
                <a:solidFill>
                  <a:srgbClr val="C00000"/>
                </a:solidFill>
              </a:rPr>
              <a:t>without constraint Name</a:t>
            </a:r>
            <a:r>
              <a:rPr lang="en-IN" sz="3200" dirty="0"/>
              <a:t>:</a:t>
            </a:r>
          </a:p>
        </p:txBody>
      </p:sp>
    </p:spTree>
    <p:extLst>
      <p:ext uri="{BB962C8B-B14F-4D97-AF65-F5344CB8AC3E}">
        <p14:creationId xmlns:p14="http://schemas.microsoft.com/office/powerpoint/2010/main" val="76985009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7C33E62-E5CB-45F6-B969-FEF9573B1EF8}"/>
              </a:ext>
            </a:extLst>
          </p:cNvPr>
          <p:cNvSpPr>
            <a:spLocks noGrp="1"/>
          </p:cNvSpPr>
          <p:nvPr>
            <p:ph type="ftr" sz="quarter" idx="11"/>
          </p:nvPr>
        </p:nvSpPr>
        <p:spPr/>
        <p:txBody>
          <a:bodyPr/>
          <a:lstStyle/>
          <a:p>
            <a:r>
              <a:rPr lang="en-US"/>
              <a:t>SQL</a:t>
            </a:r>
          </a:p>
        </p:txBody>
      </p:sp>
      <p:sp>
        <p:nvSpPr>
          <p:cNvPr id="5" name="Slide Number Placeholder 4">
            <a:extLst>
              <a:ext uri="{FF2B5EF4-FFF2-40B4-BE49-F238E27FC236}">
                <a16:creationId xmlns:a16="http://schemas.microsoft.com/office/drawing/2014/main" id="{3122C289-1D86-4B51-A5EC-FCDF270AE2A7}"/>
              </a:ext>
            </a:extLst>
          </p:cNvPr>
          <p:cNvSpPr>
            <a:spLocks noGrp="1"/>
          </p:cNvSpPr>
          <p:nvPr>
            <p:ph type="sldNum" sz="quarter" idx="12"/>
          </p:nvPr>
        </p:nvSpPr>
        <p:spPr/>
        <p:txBody>
          <a:bodyPr/>
          <a:lstStyle/>
          <a:p>
            <a:fld id="{03576695-DB63-4967-AFBB-46E84EF49106}" type="slidenum">
              <a:rPr lang="en-US" smtClean="0"/>
              <a:t>40</a:t>
            </a:fld>
            <a:endParaRPr lang="en-US"/>
          </a:p>
        </p:txBody>
      </p:sp>
      <p:sp>
        <p:nvSpPr>
          <p:cNvPr id="6" name="Title 1">
            <a:extLst>
              <a:ext uri="{FF2B5EF4-FFF2-40B4-BE49-F238E27FC236}">
                <a16:creationId xmlns:a16="http://schemas.microsoft.com/office/drawing/2014/main" id="{25BCD7C1-645D-4530-987C-76C15C1090C2}"/>
              </a:ext>
            </a:extLst>
          </p:cNvPr>
          <p:cNvSpPr>
            <a:spLocks noGrp="1"/>
          </p:cNvSpPr>
          <p:nvPr>
            <p:ph type="title"/>
          </p:nvPr>
        </p:nvSpPr>
        <p:spPr>
          <a:xfrm>
            <a:off x="838200" y="83431"/>
            <a:ext cx="10515600" cy="623017"/>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..Example</a:t>
            </a:r>
          </a:p>
        </p:txBody>
      </p:sp>
      <p:sp>
        <p:nvSpPr>
          <p:cNvPr id="7" name="Rectangle 6">
            <a:extLst>
              <a:ext uri="{FF2B5EF4-FFF2-40B4-BE49-F238E27FC236}">
                <a16:creationId xmlns:a16="http://schemas.microsoft.com/office/drawing/2014/main" id="{D0C92EBD-1E25-4E6B-9B77-7A7960112144}"/>
              </a:ext>
            </a:extLst>
          </p:cNvPr>
          <p:cNvSpPr/>
          <p:nvPr/>
        </p:nvSpPr>
        <p:spPr>
          <a:xfrm>
            <a:off x="543951" y="819136"/>
            <a:ext cx="11315114" cy="400110"/>
          </a:xfrm>
          <a:prstGeom prst="rect">
            <a:avLst/>
          </a:prstGeom>
        </p:spPr>
        <p:txBody>
          <a:bodyPr wrap="square">
            <a:spAutoFit/>
          </a:bodyPr>
          <a:lstStyle/>
          <a:p>
            <a:r>
              <a:rPr lang="en-IN" sz="2000" b="1" dirty="0"/>
              <a:t>Note the constraint name and error numbers displayed when data being inserted violates constraint</a:t>
            </a:r>
          </a:p>
        </p:txBody>
      </p:sp>
      <p:sp>
        <p:nvSpPr>
          <p:cNvPr id="8" name="Rectangle 7">
            <a:extLst>
              <a:ext uri="{FF2B5EF4-FFF2-40B4-BE49-F238E27FC236}">
                <a16:creationId xmlns:a16="http://schemas.microsoft.com/office/drawing/2014/main" id="{81FBAD0E-A7DD-4450-8A22-8AAAAFC59569}"/>
              </a:ext>
            </a:extLst>
          </p:cNvPr>
          <p:cNvSpPr/>
          <p:nvPr/>
        </p:nvSpPr>
        <p:spPr>
          <a:xfrm>
            <a:off x="838200" y="1518312"/>
            <a:ext cx="6122317" cy="461665"/>
          </a:xfrm>
          <a:prstGeom prst="rect">
            <a:avLst/>
          </a:prstGeom>
        </p:spPr>
        <p:txBody>
          <a:bodyPr wrap="none">
            <a:spAutoFit/>
          </a:bodyPr>
          <a:lstStyle/>
          <a:p>
            <a:r>
              <a:rPr lang="en-US" sz="2400" dirty="0"/>
              <a:t>INSERT INTO organization VALUES('DCSA’,’KAK');</a:t>
            </a:r>
            <a:endParaRPr lang="en-IN" sz="2400" dirty="0"/>
          </a:p>
        </p:txBody>
      </p:sp>
      <p:sp>
        <p:nvSpPr>
          <p:cNvPr id="9" name="Rectangle 8">
            <a:extLst>
              <a:ext uri="{FF2B5EF4-FFF2-40B4-BE49-F238E27FC236}">
                <a16:creationId xmlns:a16="http://schemas.microsoft.com/office/drawing/2014/main" id="{C8B0BDA7-A5E1-4E67-901A-6E57E03C61C0}"/>
              </a:ext>
            </a:extLst>
          </p:cNvPr>
          <p:cNvSpPr/>
          <p:nvPr/>
        </p:nvSpPr>
        <p:spPr>
          <a:xfrm>
            <a:off x="753795" y="2435059"/>
            <a:ext cx="8387489" cy="1200329"/>
          </a:xfrm>
          <a:prstGeom prst="rect">
            <a:avLst/>
          </a:prstGeom>
        </p:spPr>
        <p:txBody>
          <a:bodyPr wrap="none">
            <a:spAutoFit/>
          </a:bodyPr>
          <a:lstStyle/>
          <a:p>
            <a:r>
              <a:rPr lang="en-US" sz="2400" dirty="0"/>
              <a:t>INSERT INTO Department VALUES(‘DCSA','mca',4,66,78899);</a:t>
            </a:r>
          </a:p>
          <a:p>
            <a:endParaRPr lang="en-IN" sz="2400" dirty="0"/>
          </a:p>
          <a:p>
            <a:r>
              <a:rPr lang="en-IN" sz="2400" dirty="0">
                <a:solidFill>
                  <a:srgbClr val="C00000"/>
                </a:solidFill>
              </a:rPr>
              <a:t>      ORA-02290: </a:t>
            </a:r>
            <a:r>
              <a:rPr lang="en-IN" sz="2400" dirty="0"/>
              <a:t>check constraint (DSE123.SYS_C0010498) violated</a:t>
            </a:r>
          </a:p>
        </p:txBody>
      </p:sp>
      <p:sp>
        <p:nvSpPr>
          <p:cNvPr id="10" name="Rectangle 9">
            <a:extLst>
              <a:ext uri="{FF2B5EF4-FFF2-40B4-BE49-F238E27FC236}">
                <a16:creationId xmlns:a16="http://schemas.microsoft.com/office/drawing/2014/main" id="{F9A92B93-E6C7-47FC-8DB1-D79AD9122A9B}"/>
              </a:ext>
            </a:extLst>
          </p:cNvPr>
          <p:cNvSpPr/>
          <p:nvPr/>
        </p:nvSpPr>
        <p:spPr>
          <a:xfrm>
            <a:off x="838200" y="4130425"/>
            <a:ext cx="8318559" cy="1200329"/>
          </a:xfrm>
          <a:prstGeom prst="rect">
            <a:avLst/>
          </a:prstGeom>
        </p:spPr>
        <p:txBody>
          <a:bodyPr wrap="none">
            <a:spAutoFit/>
          </a:bodyPr>
          <a:lstStyle/>
          <a:p>
            <a:r>
              <a:rPr lang="en-IN" sz="2400" dirty="0"/>
              <a:t>INSERT INTO Department VALUES(‘DCSA','MCA',9,66,78899);</a:t>
            </a:r>
          </a:p>
          <a:p>
            <a:endParaRPr lang="en-IN" sz="2400" dirty="0"/>
          </a:p>
          <a:p>
            <a:r>
              <a:rPr lang="en-IN" sz="2400" dirty="0">
                <a:solidFill>
                  <a:srgbClr val="C00000"/>
                </a:solidFill>
              </a:rPr>
              <a:t>     ORA-02290: </a:t>
            </a:r>
            <a:r>
              <a:rPr lang="en-IN" sz="2400" dirty="0"/>
              <a:t>check constraint (DSE123.SYS_C0010499) violated</a:t>
            </a:r>
          </a:p>
        </p:txBody>
      </p:sp>
    </p:spTree>
    <p:extLst>
      <p:ext uri="{BB962C8B-B14F-4D97-AF65-F5344CB8AC3E}">
        <p14:creationId xmlns:p14="http://schemas.microsoft.com/office/powerpoint/2010/main" val="42821813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1219" y="164433"/>
            <a:ext cx="10515600" cy="614056"/>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Naming the Constraints</a:t>
            </a:r>
          </a:p>
        </p:txBody>
      </p:sp>
      <p:sp>
        <p:nvSpPr>
          <p:cNvPr id="3" name="Content Placeholder 2"/>
          <p:cNvSpPr>
            <a:spLocks noGrp="1"/>
          </p:cNvSpPr>
          <p:nvPr>
            <p:ph idx="1"/>
          </p:nvPr>
        </p:nvSpPr>
        <p:spPr>
          <a:xfrm>
            <a:off x="838200" y="778489"/>
            <a:ext cx="10515600" cy="3395786"/>
          </a:xfrm>
        </p:spPr>
        <p:txBody>
          <a:bodyPr>
            <a:normAutofit fontScale="85000" lnSpcReduction="10000"/>
          </a:bodyPr>
          <a:lstStyle/>
          <a:p>
            <a:pPr algn="just">
              <a:lnSpc>
                <a:spcPct val="160000"/>
              </a:lnSpc>
              <a:spcBef>
                <a:spcPts val="600"/>
              </a:spcBef>
            </a:pPr>
            <a:r>
              <a:rPr lang="en-US" sz="2400" dirty="0">
                <a:latin typeface="Helvetica" panose="020B0604020202020204" pitchFamily="34" charset="0"/>
                <a:cs typeface="Helvetica" panose="020B0604020202020204" pitchFamily="34" charset="0"/>
              </a:rPr>
              <a:t>If user do not specifies Constraint Name while defining Constraints, System itself gives a name. System uses auto generate method to give  unique constraints names such as – </a:t>
            </a:r>
            <a:r>
              <a:rPr lang="en-US" sz="2400" dirty="0">
                <a:solidFill>
                  <a:srgbClr val="0070C0"/>
                </a:solidFill>
                <a:latin typeface="Helvetica" panose="020B0604020202020204" pitchFamily="34" charset="0"/>
                <a:cs typeface="Helvetica" panose="020B0604020202020204" pitchFamily="34" charset="0"/>
              </a:rPr>
              <a:t>SYS_C0003461</a:t>
            </a:r>
            <a:r>
              <a:rPr lang="en-US" sz="2400" dirty="0">
                <a:latin typeface="Helvetica" panose="020B0604020202020204" pitchFamily="34" charset="0"/>
                <a:cs typeface="Helvetica" panose="020B0604020202020204" pitchFamily="34" charset="0"/>
              </a:rPr>
              <a:t> etc. As constraint names have to be unique. In case of constraint violation, it is easy to user to track the constraint if user defined constraint name is given</a:t>
            </a:r>
            <a:r>
              <a:rPr lang="en-US" sz="2300" dirty="0">
                <a:latin typeface="Helvetica" panose="020B0604020202020204" pitchFamily="34" charset="0"/>
                <a:cs typeface="Helvetica" panose="020B0604020202020204" pitchFamily="34" charset="0"/>
              </a:rPr>
              <a:t>.</a:t>
            </a:r>
          </a:p>
          <a:p>
            <a:pPr algn="just">
              <a:spcBef>
                <a:spcPts val="600"/>
              </a:spcBef>
            </a:pPr>
            <a:endParaRPr lang="en-US" sz="100" dirty="0"/>
          </a:p>
          <a:p>
            <a:pPr algn="just">
              <a:lnSpc>
                <a:spcPct val="170000"/>
              </a:lnSpc>
              <a:spcBef>
                <a:spcPts val="600"/>
              </a:spcBef>
            </a:pPr>
            <a:r>
              <a:rPr lang="en-US" dirty="0">
                <a:latin typeface="Helvetica" panose="020B0604020202020204" pitchFamily="34" charset="0"/>
                <a:cs typeface="Helvetica" panose="020B0604020202020204" pitchFamily="34" charset="0"/>
              </a:rPr>
              <a:t>Use </a:t>
            </a:r>
            <a:r>
              <a:rPr lang="en-US" b="1" dirty="0">
                <a:solidFill>
                  <a:srgbClr val="C00000"/>
                </a:solidFill>
                <a:latin typeface="Helvetica" panose="020B0604020202020204" pitchFamily="34" charset="0"/>
                <a:cs typeface="Helvetica" panose="020B0604020202020204" pitchFamily="34" charset="0"/>
              </a:rPr>
              <a:t>CONSTRAINT </a:t>
            </a:r>
            <a:r>
              <a:rPr lang="en-US" b="1" i="1" dirty="0">
                <a:solidFill>
                  <a:srgbClr val="C00000"/>
                </a:solidFill>
                <a:latin typeface="Helvetica" panose="020B0604020202020204" pitchFamily="34" charset="0"/>
                <a:cs typeface="Helvetica" panose="020B0604020202020204" pitchFamily="34" charset="0"/>
              </a:rPr>
              <a:t>name_of_constraint</a:t>
            </a:r>
            <a:r>
              <a:rPr lang="en-US" dirty="0">
                <a:latin typeface="Helvetica" panose="020B0604020202020204" pitchFamily="34" charset="0"/>
                <a:cs typeface="Helvetica" panose="020B0604020202020204" pitchFamily="34" charset="0"/>
              </a:rPr>
              <a:t> along with constraint definition in CRETAE or ALTER table.</a:t>
            </a: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41</a:t>
            </a:fld>
            <a:endParaRPr lang="en-US"/>
          </a:p>
        </p:txBody>
      </p:sp>
      <p:sp>
        <p:nvSpPr>
          <p:cNvPr id="6" name="Rectangle 5">
            <a:extLst>
              <a:ext uri="{FF2B5EF4-FFF2-40B4-BE49-F238E27FC236}">
                <a16:creationId xmlns:a16="http://schemas.microsoft.com/office/drawing/2014/main" id="{7928B1EA-C563-4926-9E7B-4E135EBA98F4}"/>
              </a:ext>
            </a:extLst>
          </p:cNvPr>
          <p:cNvSpPr/>
          <p:nvPr/>
        </p:nvSpPr>
        <p:spPr>
          <a:xfrm>
            <a:off x="551565" y="3978605"/>
            <a:ext cx="11088869" cy="2066400"/>
          </a:xfrm>
          <a:prstGeom prst="rect">
            <a:avLst/>
          </a:prstGeom>
        </p:spPr>
        <p:txBody>
          <a:bodyPr wrap="none">
            <a:spAutoFit/>
          </a:bodyPr>
          <a:lstStyle/>
          <a:p>
            <a:r>
              <a:rPr lang="en-IN" sz="2400" b="1" dirty="0"/>
              <a:t>Example</a:t>
            </a:r>
            <a:r>
              <a:rPr lang="en-IN" sz="2400" dirty="0"/>
              <a:t>:  </a:t>
            </a:r>
          </a:p>
          <a:p>
            <a:pPr>
              <a:lnSpc>
                <a:spcPct val="150000"/>
              </a:lnSpc>
            </a:pPr>
            <a:r>
              <a:rPr lang="en-IN" sz="2400" dirty="0"/>
              <a:t>    CREATE TABLE  table_name( </a:t>
            </a:r>
          </a:p>
          <a:p>
            <a:pPr>
              <a:lnSpc>
                <a:spcPct val="150000"/>
              </a:lnSpc>
            </a:pPr>
            <a:r>
              <a:rPr lang="en-IN" sz="2400" dirty="0"/>
              <a:t>     column_name1 datatype(size) </a:t>
            </a:r>
            <a:r>
              <a:rPr lang="en-US" sz="2000" b="1" dirty="0">
                <a:solidFill>
                  <a:srgbClr val="C00000"/>
                </a:solidFill>
                <a:latin typeface="Helvetica" panose="020B0604020202020204" pitchFamily="34" charset="0"/>
                <a:cs typeface="Helvetica" panose="020B0604020202020204" pitchFamily="34" charset="0"/>
              </a:rPr>
              <a:t>CONSTRAINT </a:t>
            </a:r>
            <a:r>
              <a:rPr lang="en-US" sz="2000" b="1" i="1" dirty="0">
                <a:solidFill>
                  <a:srgbClr val="C00000"/>
                </a:solidFill>
                <a:latin typeface="Helvetica" panose="020B0604020202020204" pitchFamily="34" charset="0"/>
                <a:cs typeface="Helvetica" panose="020B0604020202020204" pitchFamily="34" charset="0"/>
              </a:rPr>
              <a:t>name_of_constraint </a:t>
            </a:r>
            <a:r>
              <a:rPr lang="en-IN" sz="2000" b="1" dirty="0"/>
              <a:t>  constraint definition , </a:t>
            </a:r>
          </a:p>
          <a:p>
            <a:pPr>
              <a:lnSpc>
                <a:spcPct val="150000"/>
              </a:lnSpc>
            </a:pPr>
            <a:r>
              <a:rPr lang="en-IN" sz="2000" b="1" dirty="0"/>
              <a:t>      </a:t>
            </a:r>
            <a:r>
              <a:rPr lang="en-IN" sz="2400" dirty="0"/>
              <a:t>column_name2 datatype(size) …., …..);</a:t>
            </a:r>
          </a:p>
        </p:txBody>
      </p:sp>
      <p:sp>
        <p:nvSpPr>
          <p:cNvPr id="7" name="Rectangle 6">
            <a:extLst>
              <a:ext uri="{FF2B5EF4-FFF2-40B4-BE49-F238E27FC236}">
                <a16:creationId xmlns:a16="http://schemas.microsoft.com/office/drawing/2014/main" id="{DF7A620F-CB80-483A-B590-4FA05864A600}"/>
              </a:ext>
            </a:extLst>
          </p:cNvPr>
          <p:cNvSpPr/>
          <p:nvPr/>
        </p:nvSpPr>
        <p:spPr>
          <a:xfrm>
            <a:off x="2749671" y="6079511"/>
            <a:ext cx="8217378" cy="369332"/>
          </a:xfrm>
          <a:prstGeom prst="rect">
            <a:avLst/>
          </a:prstGeom>
        </p:spPr>
        <p:txBody>
          <a:bodyPr wrap="none">
            <a:spAutoFit/>
          </a:bodyPr>
          <a:lstStyle/>
          <a:p>
            <a:r>
              <a:rPr lang="en-IN" b="1" dirty="0"/>
              <a:t>*constraint definition – maybe Primary key, Foreign key, Check, Unique, Not Null etc.</a:t>
            </a:r>
            <a:endParaRPr lang="en-IN" dirty="0"/>
          </a:p>
        </p:txBody>
      </p:sp>
    </p:spTree>
    <p:extLst>
      <p:ext uri="{BB962C8B-B14F-4D97-AF65-F5344CB8AC3E}">
        <p14:creationId xmlns:p14="http://schemas.microsoft.com/office/powerpoint/2010/main" val="6671986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3431"/>
            <a:ext cx="10515600" cy="623017"/>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Example</a:t>
            </a:r>
          </a:p>
        </p:txBody>
      </p:sp>
      <p:sp>
        <p:nvSpPr>
          <p:cNvPr id="3" name="Content Placeholder 2"/>
          <p:cNvSpPr>
            <a:spLocks noGrp="1"/>
          </p:cNvSpPr>
          <p:nvPr>
            <p:ph idx="1"/>
          </p:nvPr>
        </p:nvSpPr>
        <p:spPr>
          <a:xfrm>
            <a:off x="838200" y="802199"/>
            <a:ext cx="10781071" cy="5253601"/>
          </a:xfrm>
        </p:spPr>
        <p:txBody>
          <a:bodyPr>
            <a:normAutofit fontScale="92500" lnSpcReduction="20000"/>
          </a:bodyPr>
          <a:lstStyle/>
          <a:p>
            <a:pPr>
              <a:lnSpc>
                <a:spcPct val="150000"/>
              </a:lnSpc>
            </a:pPr>
            <a:r>
              <a:rPr lang="en-US" dirty="0"/>
              <a:t>CREATE TABLE Organization(Dept_name varchar (8) </a:t>
            </a:r>
            <a:r>
              <a:rPr lang="en-US" dirty="0">
                <a:solidFill>
                  <a:srgbClr val="C00000"/>
                </a:solidFill>
              </a:rPr>
              <a:t>CONSTRAINT </a:t>
            </a:r>
            <a:r>
              <a:rPr lang="en-US" dirty="0" err="1">
                <a:solidFill>
                  <a:srgbClr val="C00000"/>
                </a:solidFill>
              </a:rPr>
              <a:t>Dept_PK</a:t>
            </a:r>
            <a:r>
              <a:rPr lang="en-US" dirty="0">
                <a:solidFill>
                  <a:srgbClr val="C00000"/>
                </a:solidFill>
              </a:rPr>
              <a:t> </a:t>
            </a:r>
            <a:r>
              <a:rPr lang="en-US" b="1" dirty="0"/>
              <a:t>PRIMARY KEY</a:t>
            </a:r>
            <a:r>
              <a:rPr lang="en-US" dirty="0"/>
              <a:t>, Head varchar(10)); </a:t>
            </a:r>
          </a:p>
          <a:p>
            <a:pPr marL="0" indent="0">
              <a:buNone/>
            </a:pPr>
            <a:endParaRPr lang="en-US" dirty="0"/>
          </a:p>
          <a:p>
            <a:pPr>
              <a:lnSpc>
                <a:spcPct val="150000"/>
              </a:lnSpc>
            </a:pPr>
            <a:r>
              <a:rPr lang="en-US" dirty="0"/>
              <a:t>CREATE TABLE Department (</a:t>
            </a:r>
            <a:r>
              <a:rPr lang="en-US" dirty="0" err="1"/>
              <a:t>Dname</a:t>
            </a:r>
            <a:r>
              <a:rPr lang="en-US" dirty="0"/>
              <a:t> varchar (8) </a:t>
            </a:r>
            <a:r>
              <a:rPr lang="en-US" dirty="0">
                <a:solidFill>
                  <a:srgbClr val="C00000"/>
                </a:solidFill>
              </a:rPr>
              <a:t>CONSTRAINT </a:t>
            </a:r>
            <a:r>
              <a:rPr lang="en-US" dirty="0" err="1">
                <a:solidFill>
                  <a:srgbClr val="C00000"/>
                </a:solidFill>
              </a:rPr>
              <a:t>Dname_PK</a:t>
            </a:r>
            <a:r>
              <a:rPr lang="en-US" dirty="0">
                <a:solidFill>
                  <a:srgbClr val="C00000"/>
                </a:solidFill>
              </a:rPr>
              <a:t> </a:t>
            </a:r>
            <a:r>
              <a:rPr lang="en-US" b="1" dirty="0"/>
              <a:t>PRIMARY KEY </a:t>
            </a:r>
            <a:r>
              <a:rPr lang="en-US" dirty="0">
                <a:solidFill>
                  <a:srgbClr val="C00000"/>
                </a:solidFill>
              </a:rPr>
              <a:t>CONSTRAINT </a:t>
            </a:r>
            <a:r>
              <a:rPr lang="en-US" dirty="0" err="1">
                <a:solidFill>
                  <a:srgbClr val="C00000"/>
                </a:solidFill>
              </a:rPr>
              <a:t>fk_Orga</a:t>
            </a:r>
            <a:r>
              <a:rPr lang="en-US" dirty="0"/>
              <a:t> </a:t>
            </a:r>
            <a:r>
              <a:rPr lang="en-US" b="1" dirty="0"/>
              <a:t>REFERENCES Organization</a:t>
            </a:r>
            <a:r>
              <a:rPr lang="en-US" dirty="0"/>
              <a:t>, </a:t>
            </a:r>
            <a:r>
              <a:rPr lang="en-US" dirty="0" err="1"/>
              <a:t>Course_Type</a:t>
            </a:r>
            <a:r>
              <a:rPr lang="en-US" dirty="0"/>
              <a:t> varchar (8) </a:t>
            </a:r>
            <a:r>
              <a:rPr lang="en-US" dirty="0">
                <a:solidFill>
                  <a:srgbClr val="C00000"/>
                </a:solidFill>
              </a:rPr>
              <a:t>CONSTRAINT </a:t>
            </a:r>
            <a:r>
              <a:rPr lang="en-US" dirty="0" err="1">
                <a:solidFill>
                  <a:srgbClr val="C00000"/>
                </a:solidFill>
              </a:rPr>
              <a:t>Course_Chk_Type</a:t>
            </a:r>
            <a:r>
              <a:rPr lang="en-US" dirty="0"/>
              <a:t> </a:t>
            </a:r>
            <a:r>
              <a:rPr lang="en-US" b="1" dirty="0"/>
              <a:t>CHECK( </a:t>
            </a:r>
            <a:r>
              <a:rPr lang="en-US" b="1" dirty="0" err="1"/>
              <a:t>Course_Type</a:t>
            </a:r>
            <a:r>
              <a:rPr lang="en-US" b="1" dirty="0"/>
              <a:t> IN( '</a:t>
            </a:r>
            <a:r>
              <a:rPr lang="en-US" b="1" dirty="0" err="1"/>
              <a:t>MCA','MTech</a:t>
            </a:r>
            <a:r>
              <a:rPr lang="en-US" b="1" dirty="0"/>
              <a:t> ', 'BTech', 'MS'))</a:t>
            </a:r>
            <a:r>
              <a:rPr lang="en-US" dirty="0"/>
              <a:t>, </a:t>
            </a:r>
            <a:r>
              <a:rPr lang="en-US" dirty="0" err="1"/>
              <a:t>Numb_of_Sem</a:t>
            </a:r>
            <a:r>
              <a:rPr lang="en-US" dirty="0"/>
              <a:t>  Number(1) </a:t>
            </a:r>
            <a:r>
              <a:rPr lang="en-US" dirty="0">
                <a:solidFill>
                  <a:srgbClr val="C00000"/>
                </a:solidFill>
              </a:rPr>
              <a:t>CONSTRAINT </a:t>
            </a:r>
            <a:r>
              <a:rPr lang="en-US" dirty="0" err="1">
                <a:solidFill>
                  <a:srgbClr val="C00000"/>
                </a:solidFill>
              </a:rPr>
              <a:t>Sem_Num</a:t>
            </a:r>
            <a:r>
              <a:rPr lang="en-US" dirty="0"/>
              <a:t> </a:t>
            </a:r>
            <a:r>
              <a:rPr lang="en-US" b="1" dirty="0"/>
              <a:t>CHECK(</a:t>
            </a:r>
            <a:r>
              <a:rPr lang="en-US" dirty="0" err="1"/>
              <a:t>Numb_of_Sem</a:t>
            </a:r>
            <a:r>
              <a:rPr lang="en-US" dirty="0"/>
              <a:t> BETWEEN 1 AND 8), </a:t>
            </a:r>
            <a:r>
              <a:rPr lang="en-US" dirty="0" err="1"/>
              <a:t>In_take_stud</a:t>
            </a:r>
            <a:r>
              <a:rPr lang="en-US" dirty="0"/>
              <a:t>    Number(2), </a:t>
            </a:r>
            <a:r>
              <a:rPr lang="en-US" dirty="0" err="1"/>
              <a:t>Dep_Phone</a:t>
            </a:r>
            <a:r>
              <a:rPr lang="en-US" dirty="0"/>
              <a:t>   Number(10)</a:t>
            </a:r>
            <a:r>
              <a:rPr lang="en-US" dirty="0">
                <a:solidFill>
                  <a:srgbClr val="C00000"/>
                </a:solidFill>
              </a:rPr>
              <a:t> CONSTRAINT </a:t>
            </a:r>
            <a:r>
              <a:rPr lang="en-US" dirty="0" err="1">
                <a:solidFill>
                  <a:srgbClr val="C00000"/>
                </a:solidFill>
              </a:rPr>
              <a:t>NoNul</a:t>
            </a:r>
            <a:r>
              <a:rPr lang="en-US" dirty="0"/>
              <a:t> </a:t>
            </a:r>
            <a:r>
              <a:rPr lang="en-US" b="1" dirty="0"/>
              <a:t>NOT NULL  </a:t>
            </a:r>
            <a:r>
              <a:rPr lang="en-US" dirty="0">
                <a:solidFill>
                  <a:srgbClr val="C00000"/>
                </a:solidFill>
              </a:rPr>
              <a:t>CONSTRAINT </a:t>
            </a:r>
            <a:r>
              <a:rPr lang="en-US" dirty="0" err="1">
                <a:solidFill>
                  <a:srgbClr val="C00000"/>
                </a:solidFill>
              </a:rPr>
              <a:t>Unq_Ph</a:t>
            </a:r>
            <a:r>
              <a:rPr lang="en-US" dirty="0"/>
              <a:t> </a:t>
            </a:r>
            <a:r>
              <a:rPr lang="en-US" b="1" dirty="0"/>
              <a:t>UNIQUE</a:t>
            </a:r>
            <a:r>
              <a:rPr lang="en-US" dirty="0"/>
              <a:t>);</a:t>
            </a: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42</a:t>
            </a:fld>
            <a:endParaRPr lang="en-US"/>
          </a:p>
        </p:txBody>
      </p:sp>
    </p:spTree>
    <p:extLst>
      <p:ext uri="{BB962C8B-B14F-4D97-AF65-F5344CB8AC3E}">
        <p14:creationId xmlns:p14="http://schemas.microsoft.com/office/powerpoint/2010/main" val="18503050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67C33E62-E5CB-45F6-B969-FEF9573B1EF8}"/>
              </a:ext>
            </a:extLst>
          </p:cNvPr>
          <p:cNvSpPr>
            <a:spLocks noGrp="1"/>
          </p:cNvSpPr>
          <p:nvPr>
            <p:ph type="ftr" sz="quarter" idx="11"/>
          </p:nvPr>
        </p:nvSpPr>
        <p:spPr/>
        <p:txBody>
          <a:bodyPr/>
          <a:lstStyle/>
          <a:p>
            <a:r>
              <a:rPr lang="en-US"/>
              <a:t>SQL</a:t>
            </a:r>
          </a:p>
        </p:txBody>
      </p:sp>
      <p:sp>
        <p:nvSpPr>
          <p:cNvPr id="5" name="Slide Number Placeholder 4">
            <a:extLst>
              <a:ext uri="{FF2B5EF4-FFF2-40B4-BE49-F238E27FC236}">
                <a16:creationId xmlns:a16="http://schemas.microsoft.com/office/drawing/2014/main" id="{3122C289-1D86-4B51-A5EC-FCDF270AE2A7}"/>
              </a:ext>
            </a:extLst>
          </p:cNvPr>
          <p:cNvSpPr>
            <a:spLocks noGrp="1"/>
          </p:cNvSpPr>
          <p:nvPr>
            <p:ph type="sldNum" sz="quarter" idx="12"/>
          </p:nvPr>
        </p:nvSpPr>
        <p:spPr/>
        <p:txBody>
          <a:bodyPr/>
          <a:lstStyle/>
          <a:p>
            <a:fld id="{03576695-DB63-4967-AFBB-46E84EF49106}" type="slidenum">
              <a:rPr lang="en-US" smtClean="0"/>
              <a:t>43</a:t>
            </a:fld>
            <a:endParaRPr lang="en-US"/>
          </a:p>
        </p:txBody>
      </p:sp>
      <p:sp>
        <p:nvSpPr>
          <p:cNvPr id="6" name="Title 1">
            <a:extLst>
              <a:ext uri="{FF2B5EF4-FFF2-40B4-BE49-F238E27FC236}">
                <a16:creationId xmlns:a16="http://schemas.microsoft.com/office/drawing/2014/main" id="{25BCD7C1-645D-4530-987C-76C15C1090C2}"/>
              </a:ext>
            </a:extLst>
          </p:cNvPr>
          <p:cNvSpPr>
            <a:spLocks noGrp="1"/>
          </p:cNvSpPr>
          <p:nvPr>
            <p:ph type="title"/>
          </p:nvPr>
        </p:nvSpPr>
        <p:spPr>
          <a:xfrm>
            <a:off x="838200" y="83431"/>
            <a:ext cx="10515600" cy="623017"/>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..Example</a:t>
            </a:r>
          </a:p>
        </p:txBody>
      </p:sp>
      <p:sp>
        <p:nvSpPr>
          <p:cNvPr id="7" name="Rectangle 6">
            <a:extLst>
              <a:ext uri="{FF2B5EF4-FFF2-40B4-BE49-F238E27FC236}">
                <a16:creationId xmlns:a16="http://schemas.microsoft.com/office/drawing/2014/main" id="{D0C92EBD-1E25-4E6B-9B77-7A7960112144}"/>
              </a:ext>
            </a:extLst>
          </p:cNvPr>
          <p:cNvSpPr/>
          <p:nvPr/>
        </p:nvSpPr>
        <p:spPr>
          <a:xfrm>
            <a:off x="543951" y="819136"/>
            <a:ext cx="11315114" cy="400110"/>
          </a:xfrm>
          <a:prstGeom prst="rect">
            <a:avLst/>
          </a:prstGeom>
        </p:spPr>
        <p:txBody>
          <a:bodyPr wrap="square">
            <a:spAutoFit/>
          </a:bodyPr>
          <a:lstStyle/>
          <a:p>
            <a:r>
              <a:rPr lang="en-IN" sz="2000" b="1" dirty="0"/>
              <a:t>Note the constraint name displayed when data being inserted violates constraint</a:t>
            </a:r>
          </a:p>
        </p:txBody>
      </p:sp>
      <p:sp>
        <p:nvSpPr>
          <p:cNvPr id="8" name="Rectangle 7">
            <a:extLst>
              <a:ext uri="{FF2B5EF4-FFF2-40B4-BE49-F238E27FC236}">
                <a16:creationId xmlns:a16="http://schemas.microsoft.com/office/drawing/2014/main" id="{81FBAD0E-A7DD-4450-8A22-8AAAAFC59569}"/>
              </a:ext>
            </a:extLst>
          </p:cNvPr>
          <p:cNvSpPr/>
          <p:nvPr/>
        </p:nvSpPr>
        <p:spPr>
          <a:xfrm>
            <a:off x="838200" y="1518312"/>
            <a:ext cx="7149860" cy="461665"/>
          </a:xfrm>
          <a:prstGeom prst="rect">
            <a:avLst/>
          </a:prstGeom>
        </p:spPr>
        <p:txBody>
          <a:bodyPr wrap="square">
            <a:spAutoFit/>
          </a:bodyPr>
          <a:lstStyle/>
          <a:p>
            <a:r>
              <a:rPr lang="en-US" sz="2400" b="1" dirty="0"/>
              <a:t>INSERT INTO organization VALUES(‘DCSA’,’KAK');</a:t>
            </a:r>
            <a:endParaRPr lang="en-IN" sz="2400" b="1" dirty="0"/>
          </a:p>
        </p:txBody>
      </p:sp>
      <p:sp>
        <p:nvSpPr>
          <p:cNvPr id="9" name="Rectangle 8">
            <a:extLst>
              <a:ext uri="{FF2B5EF4-FFF2-40B4-BE49-F238E27FC236}">
                <a16:creationId xmlns:a16="http://schemas.microsoft.com/office/drawing/2014/main" id="{C8B0BDA7-A5E1-4E67-901A-6E57E03C61C0}"/>
              </a:ext>
            </a:extLst>
          </p:cNvPr>
          <p:cNvSpPr/>
          <p:nvPr/>
        </p:nvSpPr>
        <p:spPr>
          <a:xfrm>
            <a:off x="838200" y="2422940"/>
            <a:ext cx="9278309" cy="1200329"/>
          </a:xfrm>
          <a:prstGeom prst="rect">
            <a:avLst/>
          </a:prstGeom>
        </p:spPr>
        <p:txBody>
          <a:bodyPr wrap="none">
            <a:spAutoFit/>
          </a:bodyPr>
          <a:lstStyle/>
          <a:p>
            <a:r>
              <a:rPr lang="en-US" sz="2400" b="1" dirty="0"/>
              <a:t>INSERT INTO Department VALUES(‘DCSA','mca',4,66,78899);</a:t>
            </a:r>
          </a:p>
          <a:p>
            <a:endParaRPr lang="en-IN" sz="2400" dirty="0"/>
          </a:p>
          <a:p>
            <a:r>
              <a:rPr lang="en-IN" sz="2400" dirty="0"/>
              <a:t>      ORA-02290: check constraint (</a:t>
            </a:r>
            <a:r>
              <a:rPr lang="en-IN" sz="2400" dirty="0">
                <a:solidFill>
                  <a:srgbClr val="FF0000"/>
                </a:solidFill>
              </a:rPr>
              <a:t>MCA2020.COURSE_CHK_TYPE</a:t>
            </a:r>
            <a:r>
              <a:rPr lang="en-IN" sz="2400" dirty="0"/>
              <a:t>) violated</a:t>
            </a:r>
          </a:p>
        </p:txBody>
      </p:sp>
      <p:sp>
        <p:nvSpPr>
          <p:cNvPr id="10" name="Rectangle 9">
            <a:extLst>
              <a:ext uri="{FF2B5EF4-FFF2-40B4-BE49-F238E27FC236}">
                <a16:creationId xmlns:a16="http://schemas.microsoft.com/office/drawing/2014/main" id="{F9A92B93-E6C7-47FC-8DB1-D79AD9122A9B}"/>
              </a:ext>
            </a:extLst>
          </p:cNvPr>
          <p:cNvSpPr/>
          <p:nvPr/>
        </p:nvSpPr>
        <p:spPr>
          <a:xfrm>
            <a:off x="838200" y="4112893"/>
            <a:ext cx="9193904" cy="1200329"/>
          </a:xfrm>
          <a:prstGeom prst="rect">
            <a:avLst/>
          </a:prstGeom>
        </p:spPr>
        <p:txBody>
          <a:bodyPr wrap="square">
            <a:spAutoFit/>
          </a:bodyPr>
          <a:lstStyle/>
          <a:p>
            <a:r>
              <a:rPr lang="en-IN" sz="2400" b="1" dirty="0"/>
              <a:t>INSERT INTO Department VALUES(‘DCSA','MCA',9,66,78899);</a:t>
            </a:r>
          </a:p>
          <a:p>
            <a:endParaRPr lang="en-IN" sz="2400" dirty="0"/>
          </a:p>
          <a:p>
            <a:r>
              <a:rPr lang="pt-BR" sz="2400" dirty="0"/>
              <a:t>      ORA-02290: check constraint (</a:t>
            </a:r>
            <a:r>
              <a:rPr lang="pt-BR" sz="2400" dirty="0">
                <a:solidFill>
                  <a:srgbClr val="FF0000"/>
                </a:solidFill>
              </a:rPr>
              <a:t>MCA2020.SEM_NUM</a:t>
            </a:r>
            <a:r>
              <a:rPr lang="pt-BR" sz="2400" dirty="0"/>
              <a:t>) violated</a:t>
            </a:r>
            <a:endParaRPr lang="en-IN" sz="2400" dirty="0"/>
          </a:p>
        </p:txBody>
      </p:sp>
    </p:spTree>
    <p:extLst>
      <p:ext uri="{BB962C8B-B14F-4D97-AF65-F5344CB8AC3E}">
        <p14:creationId xmlns:p14="http://schemas.microsoft.com/office/powerpoint/2010/main" val="29875128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44</a:t>
            </a:fld>
            <a:endParaRPr lang="en-US"/>
          </a:p>
        </p:txBody>
      </p:sp>
      <p:sp>
        <p:nvSpPr>
          <p:cNvPr id="5" name="Rectangle 2"/>
          <p:cNvSpPr txBox="1">
            <a:spLocks noChangeArrowheads="1"/>
          </p:cNvSpPr>
          <p:nvPr/>
        </p:nvSpPr>
        <p:spPr bwMode="auto">
          <a:xfrm>
            <a:off x="1905000" y="250211"/>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Drop Table Constructs</a:t>
            </a:r>
          </a:p>
        </p:txBody>
      </p:sp>
      <p:sp>
        <p:nvSpPr>
          <p:cNvPr id="6" name="Rectangle 5"/>
          <p:cNvSpPr/>
          <p:nvPr/>
        </p:nvSpPr>
        <p:spPr>
          <a:xfrm>
            <a:off x="707923" y="1262286"/>
            <a:ext cx="11031793" cy="2354491"/>
          </a:xfrm>
          <a:prstGeom prst="rect">
            <a:avLst/>
          </a:prstGeom>
        </p:spPr>
        <p:txBody>
          <a:bodyPr wrap="square">
            <a:spAutoFit/>
          </a:bodyPr>
          <a:lstStyle/>
          <a:p>
            <a:r>
              <a:rPr lang="en-US" sz="2100" dirty="0">
                <a:latin typeface="Helvetica" panose="020B0604020202020204" pitchFamily="34" charset="0"/>
                <a:cs typeface="Helvetica" panose="020B0604020202020204" pitchFamily="34" charset="0"/>
              </a:rPr>
              <a:t>The </a:t>
            </a:r>
            <a:r>
              <a:rPr lang="en-US" sz="2100" b="1" dirty="0">
                <a:latin typeface="Helvetica" panose="020B0604020202020204" pitchFamily="34" charset="0"/>
                <a:cs typeface="Helvetica" panose="020B0604020202020204" pitchFamily="34" charset="0"/>
              </a:rPr>
              <a:t>DROP TABLE</a:t>
            </a:r>
            <a:r>
              <a:rPr lang="en-US" sz="2100" dirty="0">
                <a:latin typeface="Helvetica" panose="020B0604020202020204" pitchFamily="34" charset="0"/>
                <a:cs typeface="Helvetica" panose="020B0604020202020204" pitchFamily="34" charset="0"/>
              </a:rPr>
              <a:t> statement allows you to remove or delete a table from the  database.</a:t>
            </a:r>
          </a:p>
          <a:p>
            <a:endParaRPr lang="en-US" sz="2100" dirty="0">
              <a:latin typeface="Helvetica" panose="020B0604020202020204" pitchFamily="34" charset="0"/>
              <a:cs typeface="Helvetica" panose="020B0604020202020204" pitchFamily="34" charset="0"/>
            </a:endParaRPr>
          </a:p>
          <a:p>
            <a:r>
              <a:rPr lang="en-US" sz="2100" b="1" dirty="0">
                <a:latin typeface="Helvetica" panose="020B0604020202020204" pitchFamily="34" charset="0"/>
                <a:cs typeface="Helvetica" panose="020B0604020202020204" pitchFamily="34" charset="0"/>
              </a:rPr>
              <a:t>Syntax:</a:t>
            </a:r>
          </a:p>
          <a:p>
            <a:r>
              <a:rPr lang="en-US" sz="2100" dirty="0">
                <a:latin typeface="Helvetica" panose="020B0604020202020204" pitchFamily="34" charset="0"/>
                <a:cs typeface="Helvetica" panose="020B0604020202020204" pitchFamily="34" charset="0"/>
              </a:rPr>
              <a:t> </a:t>
            </a:r>
          </a:p>
          <a:p>
            <a:r>
              <a:rPr lang="en-US" sz="2100" dirty="0">
                <a:latin typeface="Helvetica" panose="020B0604020202020204" pitchFamily="34" charset="0"/>
                <a:cs typeface="Helvetica" panose="020B0604020202020204" pitchFamily="34" charset="0"/>
              </a:rPr>
              <a:t>	DROP TABLE </a:t>
            </a:r>
            <a:r>
              <a:rPr lang="en-US" sz="2100" dirty="0" err="1">
                <a:latin typeface="Helvetica" panose="020B0604020202020204" pitchFamily="34" charset="0"/>
                <a:cs typeface="Helvetica" panose="020B0604020202020204" pitchFamily="34" charset="0"/>
              </a:rPr>
              <a:t>tablename</a:t>
            </a:r>
            <a:r>
              <a:rPr lang="en-US" sz="2100" dirty="0">
                <a:latin typeface="Helvetica" panose="020B0604020202020204" pitchFamily="34" charset="0"/>
                <a:cs typeface="Helvetica" panose="020B0604020202020204" pitchFamily="34" charset="0"/>
              </a:rPr>
              <a:t>;</a:t>
            </a:r>
          </a:p>
          <a:p>
            <a:endParaRPr lang="en-US" sz="2100" dirty="0">
              <a:latin typeface="Helvetica" panose="020B0604020202020204" pitchFamily="34" charset="0"/>
              <a:cs typeface="Helvetica" panose="020B0604020202020204" pitchFamily="34" charset="0"/>
            </a:endParaRPr>
          </a:p>
          <a:p>
            <a:r>
              <a:rPr lang="en-US" sz="2100" b="1" dirty="0">
                <a:latin typeface="Helvetica" panose="020B0604020202020204" pitchFamily="34" charset="0"/>
                <a:cs typeface="Helvetica" panose="020B0604020202020204" pitchFamily="34" charset="0"/>
              </a:rPr>
              <a:t>Example:</a:t>
            </a:r>
            <a:r>
              <a:rPr lang="en-US" sz="2100" dirty="0">
                <a:latin typeface="Helvetica" panose="020B0604020202020204" pitchFamily="34" charset="0"/>
                <a:cs typeface="Helvetica" panose="020B0604020202020204" pitchFamily="34" charset="0"/>
              </a:rPr>
              <a:t> DROP TABLE Emp;</a:t>
            </a:r>
          </a:p>
        </p:txBody>
      </p:sp>
    </p:spTree>
    <p:extLst>
      <p:ext uri="{BB962C8B-B14F-4D97-AF65-F5344CB8AC3E}">
        <p14:creationId xmlns:p14="http://schemas.microsoft.com/office/powerpoint/2010/main" val="7604423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45</a:t>
            </a:fld>
            <a:endParaRPr lang="en-US"/>
          </a:p>
        </p:txBody>
      </p:sp>
      <p:sp>
        <p:nvSpPr>
          <p:cNvPr id="5" name="Rectangle 2"/>
          <p:cNvSpPr txBox="1">
            <a:spLocks noChangeArrowheads="1"/>
          </p:cNvSpPr>
          <p:nvPr/>
        </p:nvSpPr>
        <p:spPr bwMode="auto">
          <a:xfrm>
            <a:off x="1905000" y="250211"/>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
        <p:nvSpPr>
          <p:cNvPr id="6" name="Rectangle 5"/>
          <p:cNvSpPr/>
          <p:nvPr/>
        </p:nvSpPr>
        <p:spPr>
          <a:xfrm>
            <a:off x="580103" y="977798"/>
            <a:ext cx="11031793" cy="1923604"/>
          </a:xfrm>
          <a:prstGeom prst="rect">
            <a:avLst/>
          </a:prstGeom>
        </p:spPr>
        <p:txBody>
          <a:bodyPr wrap="square">
            <a:spAutoFit/>
          </a:bodyPr>
          <a:lstStyle/>
          <a:p>
            <a:pPr>
              <a:lnSpc>
                <a:spcPct val="150000"/>
              </a:lnSpc>
            </a:pPr>
            <a:r>
              <a:rPr lang="en-US" sz="2100" dirty="0">
                <a:latin typeface="Helvetica" panose="020B0604020202020204" pitchFamily="34" charset="0"/>
                <a:cs typeface="Helvetica" panose="020B0604020202020204" pitchFamily="34" charset="0"/>
              </a:rPr>
              <a:t>The </a:t>
            </a:r>
            <a:r>
              <a:rPr lang="en-US" sz="2100" b="1" dirty="0">
                <a:latin typeface="Helvetica" panose="020B0604020202020204" pitchFamily="34" charset="0"/>
                <a:cs typeface="Helvetica" panose="020B0604020202020204" pitchFamily="34" charset="0"/>
              </a:rPr>
              <a:t>ALTER TABLE</a:t>
            </a:r>
            <a:r>
              <a:rPr lang="en-US" sz="2100" dirty="0">
                <a:latin typeface="Helvetica" panose="020B0604020202020204" pitchFamily="34" charset="0"/>
                <a:cs typeface="Helvetica" panose="020B0604020202020204" pitchFamily="34" charset="0"/>
              </a:rPr>
              <a:t> statement is used to add, modify, or drop/delete columns/constraints in a table. </a:t>
            </a:r>
          </a:p>
          <a:p>
            <a:endParaRPr lang="en-US" sz="1050" dirty="0">
              <a:latin typeface="Helvetica" panose="020B0604020202020204" pitchFamily="34" charset="0"/>
              <a:cs typeface="Helvetica" panose="020B0604020202020204" pitchFamily="34" charset="0"/>
            </a:endParaRPr>
          </a:p>
          <a:p>
            <a:r>
              <a:rPr lang="en-US" sz="2100" dirty="0">
                <a:latin typeface="Helvetica" panose="020B0604020202020204" pitchFamily="34" charset="0"/>
                <a:cs typeface="Helvetica" panose="020B0604020202020204" pitchFamily="34" charset="0"/>
              </a:rPr>
              <a:t>The SQL ALTER TABLE statement is also used to rename a table.</a:t>
            </a:r>
          </a:p>
          <a:p>
            <a:endParaRPr lang="en-US" sz="2100" dirty="0">
              <a:latin typeface="Helvetica" panose="020B0604020202020204" pitchFamily="34" charset="0"/>
              <a:cs typeface="Helvetica" panose="020B0604020202020204" pitchFamily="34" charset="0"/>
            </a:endParaRPr>
          </a:p>
        </p:txBody>
      </p:sp>
      <p:sp>
        <p:nvSpPr>
          <p:cNvPr id="4" name="Rectangle 3"/>
          <p:cNvSpPr/>
          <p:nvPr/>
        </p:nvSpPr>
        <p:spPr>
          <a:xfrm>
            <a:off x="990599" y="2828383"/>
            <a:ext cx="9480755" cy="3323987"/>
          </a:xfrm>
          <a:prstGeom prst="rect">
            <a:avLst/>
          </a:prstGeom>
        </p:spPr>
        <p:txBody>
          <a:bodyPr wrap="square">
            <a:spAutoFit/>
          </a:bodyPr>
          <a:lstStyle/>
          <a:p>
            <a:pPr>
              <a:spcBef>
                <a:spcPts val="600"/>
              </a:spcBef>
            </a:pPr>
            <a:r>
              <a:rPr lang="en-US" sz="2400" b="1" dirty="0">
                <a:solidFill>
                  <a:srgbClr val="C00000"/>
                </a:solidFill>
                <a:latin typeface="Helvetica" panose="020B0604020202020204" pitchFamily="34" charset="0"/>
                <a:cs typeface="Helvetica" panose="020B0604020202020204" pitchFamily="34" charset="0"/>
              </a:rPr>
              <a:t>Adding Column</a:t>
            </a:r>
          </a:p>
          <a:p>
            <a:pPr>
              <a:lnSpc>
                <a:spcPct val="150000"/>
              </a:lnSpc>
              <a:spcBef>
                <a:spcPts val="600"/>
              </a:spcBef>
            </a:pPr>
            <a:r>
              <a:rPr lang="en-US" b="1" dirty="0">
                <a:latin typeface="Helvetica" panose="020B0604020202020204" pitchFamily="34" charset="0"/>
                <a:cs typeface="Helvetica" panose="020B0604020202020204" pitchFamily="34" charset="0"/>
              </a:rPr>
              <a:t>Syntax:</a:t>
            </a:r>
          </a:p>
          <a:p>
            <a:pPr>
              <a:lnSpc>
                <a:spcPct val="150000"/>
              </a:lnSpc>
            </a:pPr>
            <a:r>
              <a:rPr lang="en-US" dirty="0">
                <a:latin typeface="Helvetica" panose="020B0604020202020204" pitchFamily="34" charset="0"/>
                <a:cs typeface="Helvetica" panose="020B0604020202020204" pitchFamily="34" charset="0"/>
              </a:rPr>
              <a:t>	</a:t>
            </a:r>
            <a:r>
              <a:rPr lang="en-US" sz="2400" dirty="0">
                <a:latin typeface="Helvetica" panose="020B0604020202020204" pitchFamily="34" charset="0"/>
                <a:cs typeface="Helvetica" panose="020B0604020202020204" pitchFamily="34" charset="0"/>
              </a:rPr>
              <a:t>ALTER TABLE table_name </a:t>
            </a:r>
            <a:r>
              <a:rPr lang="en-US" sz="2400" b="1" dirty="0">
                <a:solidFill>
                  <a:srgbClr val="C00000"/>
                </a:solidFill>
                <a:latin typeface="Helvetica" panose="020B0604020202020204" pitchFamily="34" charset="0"/>
                <a:cs typeface="Helvetica" panose="020B0604020202020204" pitchFamily="34" charset="0"/>
              </a:rPr>
              <a:t>ADD</a:t>
            </a:r>
            <a:r>
              <a:rPr lang="en-US" sz="2400" dirty="0">
                <a:latin typeface="Helvetica" panose="020B0604020202020204" pitchFamily="34" charset="0"/>
                <a:cs typeface="Helvetica" panose="020B0604020202020204" pitchFamily="34" charset="0"/>
              </a:rPr>
              <a:t> (column_name1 column-definition, 	column_name1 column-definition,…..) ; </a:t>
            </a:r>
          </a:p>
          <a:p>
            <a:endParaRPr lang="en-US" sz="2400" dirty="0">
              <a:latin typeface="Helvetica" panose="020B0604020202020204" pitchFamily="34" charset="0"/>
              <a:cs typeface="Helvetica" panose="020B0604020202020204" pitchFamily="34" charset="0"/>
            </a:endParaRPr>
          </a:p>
          <a:p>
            <a:r>
              <a:rPr lang="en-US" b="1" dirty="0">
                <a:latin typeface="Helvetica" panose="020B0604020202020204" pitchFamily="34" charset="0"/>
                <a:cs typeface="Helvetica" panose="020B0604020202020204" pitchFamily="34" charset="0"/>
              </a:rPr>
              <a:t>Example</a:t>
            </a:r>
            <a:r>
              <a:rPr lang="en-US" sz="2000" b="1" dirty="0">
                <a:latin typeface="Helvetica" panose="020B0604020202020204" pitchFamily="34" charset="0"/>
                <a:cs typeface="Helvetica" panose="020B0604020202020204" pitchFamily="34" charset="0"/>
              </a:rPr>
              <a:t>:</a:t>
            </a:r>
            <a:r>
              <a:rPr lang="en-US" sz="2000" dirty="0">
                <a:latin typeface="Helvetica" panose="020B0604020202020204" pitchFamily="34" charset="0"/>
                <a:cs typeface="Helvetica" panose="020B0604020202020204" pitchFamily="34" charset="0"/>
              </a:rPr>
              <a:t>  Add column Salary and Phone  to Emp table.</a:t>
            </a:r>
          </a:p>
          <a:p>
            <a:endParaRPr lang="en-US" dirty="0">
              <a:latin typeface="Helvetica" panose="020B0604020202020204" pitchFamily="34" charset="0"/>
              <a:cs typeface="Helvetica" panose="020B0604020202020204" pitchFamily="34" charset="0"/>
            </a:endParaRPr>
          </a:p>
          <a:p>
            <a:r>
              <a:rPr lang="en-US" dirty="0">
                <a:latin typeface="Helvetica" panose="020B0604020202020204" pitchFamily="34" charset="0"/>
                <a:cs typeface="Helvetica" panose="020B0604020202020204" pitchFamily="34" charset="0"/>
              </a:rPr>
              <a:t>	   </a:t>
            </a:r>
            <a:r>
              <a:rPr lang="en-US" sz="2000" dirty="0">
                <a:solidFill>
                  <a:srgbClr val="002060"/>
                </a:solidFill>
                <a:latin typeface="Helvetica" panose="020B0604020202020204" pitchFamily="34" charset="0"/>
                <a:cs typeface="Helvetica" panose="020B0604020202020204" pitchFamily="34" charset="0"/>
              </a:rPr>
              <a:t>ALTER TABLE Emp </a:t>
            </a:r>
            <a:r>
              <a:rPr lang="en-US" sz="2000" b="1" dirty="0">
                <a:solidFill>
                  <a:srgbClr val="C00000"/>
                </a:solidFill>
                <a:latin typeface="Helvetica" panose="020B0604020202020204" pitchFamily="34" charset="0"/>
                <a:cs typeface="Helvetica" panose="020B0604020202020204" pitchFamily="34" charset="0"/>
              </a:rPr>
              <a:t>ADD</a:t>
            </a:r>
            <a:r>
              <a:rPr lang="en-US" sz="2000" dirty="0">
                <a:solidFill>
                  <a:srgbClr val="002060"/>
                </a:solidFill>
                <a:latin typeface="Helvetica" panose="020B0604020202020204" pitchFamily="34" charset="0"/>
                <a:cs typeface="Helvetica" panose="020B0604020202020204" pitchFamily="34" charset="0"/>
              </a:rPr>
              <a:t> (Salary Number(7), Phone Number(10));</a:t>
            </a:r>
            <a:endParaRPr lang="en-US" dirty="0">
              <a:solidFill>
                <a:srgbClr val="002060"/>
              </a:solidFill>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1129216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46</a:t>
            </a:fld>
            <a:endParaRPr lang="en-US"/>
          </a:p>
        </p:txBody>
      </p:sp>
      <p:sp>
        <p:nvSpPr>
          <p:cNvPr id="5" name="Rectangle 2"/>
          <p:cNvSpPr txBox="1">
            <a:spLocks noChangeArrowheads="1"/>
          </p:cNvSpPr>
          <p:nvPr/>
        </p:nvSpPr>
        <p:spPr bwMode="auto">
          <a:xfrm>
            <a:off x="1905000" y="250211"/>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
        <p:nvSpPr>
          <p:cNvPr id="4" name="Rectangle 3"/>
          <p:cNvSpPr/>
          <p:nvPr/>
        </p:nvSpPr>
        <p:spPr>
          <a:xfrm>
            <a:off x="828137" y="1180850"/>
            <a:ext cx="10990052" cy="4305474"/>
          </a:xfrm>
          <a:prstGeom prst="rect">
            <a:avLst/>
          </a:prstGeom>
        </p:spPr>
        <p:txBody>
          <a:bodyPr wrap="square">
            <a:spAutoFit/>
          </a:bodyPr>
          <a:lstStyle/>
          <a:p>
            <a:pPr>
              <a:spcBef>
                <a:spcPts val="600"/>
              </a:spcBef>
            </a:pPr>
            <a:r>
              <a:rPr lang="en-US" sz="2800" b="1" dirty="0">
                <a:solidFill>
                  <a:srgbClr val="C00000"/>
                </a:solidFill>
                <a:latin typeface="Helvetica" panose="020B0604020202020204" pitchFamily="34" charset="0"/>
                <a:cs typeface="Helvetica" panose="020B0604020202020204" pitchFamily="34" charset="0"/>
              </a:rPr>
              <a:t>Modifying Column</a:t>
            </a:r>
          </a:p>
          <a:p>
            <a:pPr>
              <a:spcBef>
                <a:spcPts val="600"/>
              </a:spcBef>
            </a:pPr>
            <a:r>
              <a:rPr lang="en-US" b="1" dirty="0">
                <a:latin typeface="Helvetica" panose="020B0604020202020204" pitchFamily="34" charset="0"/>
                <a:cs typeface="Helvetica" panose="020B0604020202020204" pitchFamily="34" charset="0"/>
              </a:rPr>
              <a:t>Syntax:</a:t>
            </a:r>
          </a:p>
          <a:p>
            <a:pPr lvl="0">
              <a:lnSpc>
                <a:spcPct val="150000"/>
              </a:lnSpc>
            </a:pPr>
            <a:r>
              <a:rPr lang="en-US" dirty="0">
                <a:latin typeface="Helvetica" panose="020B0604020202020204" pitchFamily="34" charset="0"/>
                <a:cs typeface="Helvetica" panose="020B0604020202020204" pitchFamily="34" charset="0"/>
              </a:rPr>
              <a:t>	</a:t>
            </a:r>
            <a:r>
              <a:rPr lang="en-US" altLang="en-US" sz="2100" dirty="0">
                <a:latin typeface="Arial Unicode MS"/>
              </a:rPr>
              <a:t>ALTER TABLE table_name </a:t>
            </a:r>
          </a:p>
          <a:p>
            <a:pPr lvl="0">
              <a:lnSpc>
                <a:spcPct val="150000"/>
              </a:lnSpc>
            </a:pPr>
            <a:r>
              <a:rPr lang="en-US" altLang="en-US" sz="2100" dirty="0">
                <a:latin typeface="Arial Unicode MS"/>
              </a:rPr>
              <a:t>	MODIFY (column_1 column_type, column_2 column_type, ... 	</a:t>
            </a:r>
            <a:r>
              <a:rPr lang="en-US" altLang="en-US" sz="2100" dirty="0" err="1">
                <a:latin typeface="Arial Unicode MS"/>
              </a:rPr>
              <a:t>column_n</a:t>
            </a:r>
            <a:r>
              <a:rPr lang="en-US" altLang="en-US" sz="2100" dirty="0">
                <a:latin typeface="Arial Unicode MS"/>
              </a:rPr>
              <a:t>   </a:t>
            </a:r>
          </a:p>
          <a:p>
            <a:pPr lvl="0">
              <a:lnSpc>
                <a:spcPct val="150000"/>
              </a:lnSpc>
            </a:pPr>
            <a:r>
              <a:rPr lang="en-US" altLang="en-US" sz="2100" dirty="0">
                <a:latin typeface="Arial Unicode MS"/>
              </a:rPr>
              <a:t>            </a:t>
            </a:r>
            <a:r>
              <a:rPr lang="en-US" altLang="en-US" sz="2100" dirty="0" err="1">
                <a:latin typeface="Arial Unicode MS"/>
              </a:rPr>
              <a:t>column_type</a:t>
            </a:r>
            <a:r>
              <a:rPr lang="en-US" altLang="en-US" sz="2100" dirty="0">
                <a:latin typeface="Arial Unicode MS"/>
              </a:rPr>
              <a:t>);</a:t>
            </a:r>
            <a:r>
              <a:rPr lang="en-US" altLang="en-US" sz="2100" dirty="0"/>
              <a:t> </a:t>
            </a:r>
            <a:endParaRPr lang="en-US" altLang="en-US" sz="2100" dirty="0">
              <a:latin typeface="Arial" panose="020B0604020202020204" pitchFamily="34" charset="0"/>
            </a:endParaRPr>
          </a:p>
          <a:p>
            <a:endParaRPr lang="en-US" sz="2400" dirty="0"/>
          </a:p>
          <a:p>
            <a:r>
              <a:rPr lang="en-US" b="1" dirty="0">
                <a:latin typeface="Helvetica" panose="020B0604020202020204" pitchFamily="34" charset="0"/>
                <a:cs typeface="Helvetica" panose="020B0604020202020204" pitchFamily="34" charset="0"/>
              </a:rPr>
              <a:t>Example:</a:t>
            </a:r>
            <a:r>
              <a:rPr lang="en-US" dirty="0">
                <a:latin typeface="Helvetica" panose="020B0604020202020204" pitchFamily="34" charset="0"/>
                <a:cs typeface="Helvetica" panose="020B0604020202020204" pitchFamily="34" charset="0"/>
              </a:rPr>
              <a:t>  Modify column Name to size 25 and Salary to 9,2 </a:t>
            </a:r>
            <a:r>
              <a:rPr lang="en-US">
                <a:latin typeface="Helvetica" panose="020B0604020202020204" pitchFamily="34" charset="0"/>
                <a:cs typeface="Helvetica" panose="020B0604020202020204" pitchFamily="34" charset="0"/>
              </a:rPr>
              <a:t>in the </a:t>
            </a:r>
            <a:r>
              <a:rPr lang="en-US" dirty="0">
                <a:latin typeface="Helvetica" panose="020B0604020202020204" pitchFamily="34" charset="0"/>
                <a:cs typeface="Helvetica" panose="020B0604020202020204" pitchFamily="34" charset="0"/>
              </a:rPr>
              <a:t>Emp table.</a:t>
            </a:r>
          </a:p>
          <a:p>
            <a:endParaRPr lang="en-US" dirty="0">
              <a:latin typeface="Helvetica" panose="020B0604020202020204" pitchFamily="34" charset="0"/>
              <a:cs typeface="Helvetica" panose="020B0604020202020204" pitchFamily="34" charset="0"/>
            </a:endParaRPr>
          </a:p>
          <a:p>
            <a:pPr>
              <a:lnSpc>
                <a:spcPct val="150000"/>
              </a:lnSpc>
            </a:pPr>
            <a:r>
              <a:rPr lang="en-US" dirty="0">
                <a:latin typeface="Helvetica" panose="020B0604020202020204" pitchFamily="34" charset="0"/>
                <a:cs typeface="Helvetica" panose="020B0604020202020204" pitchFamily="34" charset="0"/>
              </a:rPr>
              <a:t>	</a:t>
            </a:r>
            <a:r>
              <a:rPr lang="en-US" sz="2400" dirty="0"/>
              <a:t>ALTER TABLE Emp MODIFY ( Name VARCHAR(</a:t>
            </a:r>
            <a:r>
              <a:rPr lang="en-US" sz="2400" b="1" dirty="0"/>
              <a:t>25</a:t>
            </a:r>
            <a:r>
              <a:rPr lang="en-US" sz="2400" dirty="0"/>
              <a:t>) </a:t>
            </a:r>
            <a:r>
              <a:rPr lang="en-US" sz="2400" b="1" dirty="0"/>
              <a:t>NOT NULL</a:t>
            </a:r>
            <a:r>
              <a:rPr lang="en-US" sz="2400" dirty="0"/>
              <a:t>, Salary 	Number(</a:t>
            </a:r>
            <a:r>
              <a:rPr lang="en-US" sz="2400" b="1" dirty="0"/>
              <a:t>9,2</a:t>
            </a:r>
            <a:r>
              <a:rPr lang="en-US" sz="2400" dirty="0"/>
              <a:t>));</a:t>
            </a:r>
          </a:p>
        </p:txBody>
      </p:sp>
    </p:spTree>
    <p:extLst>
      <p:ext uri="{BB962C8B-B14F-4D97-AF65-F5344CB8AC3E}">
        <p14:creationId xmlns:p14="http://schemas.microsoft.com/office/powerpoint/2010/main" val="37132217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47</a:t>
            </a:fld>
            <a:endParaRPr lang="en-US"/>
          </a:p>
        </p:txBody>
      </p:sp>
      <p:sp>
        <p:nvSpPr>
          <p:cNvPr id="5" name="Rectangle 2"/>
          <p:cNvSpPr txBox="1">
            <a:spLocks noChangeArrowheads="1"/>
          </p:cNvSpPr>
          <p:nvPr/>
        </p:nvSpPr>
        <p:spPr bwMode="auto">
          <a:xfrm>
            <a:off x="1905000" y="250211"/>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
        <p:nvSpPr>
          <p:cNvPr id="4" name="Rectangle 3"/>
          <p:cNvSpPr/>
          <p:nvPr/>
        </p:nvSpPr>
        <p:spPr>
          <a:xfrm>
            <a:off x="1005347" y="1284367"/>
            <a:ext cx="10226245" cy="3200876"/>
          </a:xfrm>
          <a:prstGeom prst="rect">
            <a:avLst/>
          </a:prstGeom>
        </p:spPr>
        <p:txBody>
          <a:bodyPr wrap="square">
            <a:spAutoFit/>
          </a:bodyPr>
          <a:lstStyle/>
          <a:p>
            <a:pPr>
              <a:spcBef>
                <a:spcPts val="600"/>
              </a:spcBef>
            </a:pPr>
            <a:r>
              <a:rPr lang="en-US" sz="2400" b="1" dirty="0">
                <a:solidFill>
                  <a:srgbClr val="C00000"/>
                </a:solidFill>
                <a:latin typeface="Helvetica" panose="020B0604020202020204" pitchFamily="34" charset="0"/>
                <a:cs typeface="Helvetica" panose="020B0604020202020204" pitchFamily="34" charset="0"/>
              </a:rPr>
              <a:t>DROP a  Column</a:t>
            </a:r>
          </a:p>
          <a:p>
            <a:pPr>
              <a:spcBef>
                <a:spcPts val="600"/>
              </a:spcBef>
            </a:pPr>
            <a:r>
              <a:rPr lang="en-US" b="1" dirty="0">
                <a:latin typeface="Helvetica" panose="020B0604020202020204" pitchFamily="34" charset="0"/>
                <a:cs typeface="Helvetica" panose="020B0604020202020204" pitchFamily="34" charset="0"/>
              </a:rPr>
              <a:t>Syntax:</a:t>
            </a:r>
          </a:p>
          <a:p>
            <a:pPr lvl="0">
              <a:lnSpc>
                <a:spcPct val="150000"/>
              </a:lnSpc>
            </a:pPr>
            <a:r>
              <a:rPr lang="en-US" dirty="0">
                <a:latin typeface="Helvetica" panose="020B0604020202020204" pitchFamily="34" charset="0"/>
                <a:cs typeface="Helvetica" panose="020B0604020202020204" pitchFamily="34" charset="0"/>
              </a:rPr>
              <a:t>	</a:t>
            </a:r>
            <a:r>
              <a:rPr lang="en-US" altLang="en-US" sz="2100" dirty="0">
                <a:latin typeface="Arial Unicode MS"/>
              </a:rPr>
              <a:t>ALTER TABLE table_name </a:t>
            </a:r>
          </a:p>
          <a:p>
            <a:pPr lvl="0">
              <a:lnSpc>
                <a:spcPct val="150000"/>
              </a:lnSpc>
            </a:pPr>
            <a:r>
              <a:rPr lang="en-US" altLang="en-US" sz="2100" dirty="0">
                <a:latin typeface="Arial Unicode MS"/>
              </a:rPr>
              <a:t>	DROP column_name;</a:t>
            </a:r>
            <a:r>
              <a:rPr lang="en-US" altLang="en-US" sz="2100" dirty="0"/>
              <a:t> </a:t>
            </a:r>
            <a:endParaRPr lang="en-US" altLang="en-US" sz="2100" dirty="0">
              <a:latin typeface="Arial" panose="020B0604020202020204" pitchFamily="34" charset="0"/>
            </a:endParaRPr>
          </a:p>
          <a:p>
            <a:endParaRPr lang="en-US" sz="2400" dirty="0"/>
          </a:p>
          <a:p>
            <a:r>
              <a:rPr lang="en-US" b="1" dirty="0">
                <a:latin typeface="Helvetica" panose="020B0604020202020204" pitchFamily="34" charset="0"/>
                <a:cs typeface="Helvetica" panose="020B0604020202020204" pitchFamily="34" charset="0"/>
              </a:rPr>
              <a:t>Example:</a:t>
            </a:r>
            <a:r>
              <a:rPr lang="en-US" dirty="0">
                <a:latin typeface="Helvetica" panose="020B0604020202020204" pitchFamily="34" charset="0"/>
                <a:cs typeface="Helvetica" panose="020B0604020202020204" pitchFamily="34" charset="0"/>
              </a:rPr>
              <a:t>  Add column Name to Emp table.</a:t>
            </a:r>
          </a:p>
          <a:p>
            <a:endParaRPr lang="en-US" dirty="0">
              <a:latin typeface="Helvetica" panose="020B0604020202020204" pitchFamily="34" charset="0"/>
              <a:cs typeface="Helvetica" panose="020B0604020202020204" pitchFamily="34" charset="0"/>
            </a:endParaRPr>
          </a:p>
          <a:p>
            <a:pPr>
              <a:lnSpc>
                <a:spcPct val="150000"/>
              </a:lnSpc>
            </a:pPr>
            <a:r>
              <a:rPr lang="en-US" dirty="0">
                <a:latin typeface="Helvetica" panose="020B0604020202020204" pitchFamily="34" charset="0"/>
                <a:cs typeface="Helvetica" panose="020B0604020202020204" pitchFamily="34" charset="0"/>
              </a:rPr>
              <a:t>	</a:t>
            </a:r>
            <a:r>
              <a:rPr lang="en-US" sz="2400" b="1" dirty="0"/>
              <a:t>ALTER TABLE Emp  DROP  COLUMN Name;</a:t>
            </a:r>
          </a:p>
        </p:txBody>
      </p:sp>
    </p:spTree>
    <p:extLst>
      <p:ext uri="{BB962C8B-B14F-4D97-AF65-F5344CB8AC3E}">
        <p14:creationId xmlns:p14="http://schemas.microsoft.com/office/powerpoint/2010/main" val="31247923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48</a:t>
            </a:fld>
            <a:endParaRPr lang="en-US"/>
          </a:p>
        </p:txBody>
      </p:sp>
      <p:sp>
        <p:nvSpPr>
          <p:cNvPr id="5" name="Rectangle 2"/>
          <p:cNvSpPr txBox="1">
            <a:spLocks noChangeArrowheads="1"/>
          </p:cNvSpPr>
          <p:nvPr/>
        </p:nvSpPr>
        <p:spPr bwMode="auto">
          <a:xfrm>
            <a:off x="1905000" y="250211"/>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
        <p:nvSpPr>
          <p:cNvPr id="4" name="Rectangle 3"/>
          <p:cNvSpPr/>
          <p:nvPr/>
        </p:nvSpPr>
        <p:spPr>
          <a:xfrm>
            <a:off x="1005347" y="1284367"/>
            <a:ext cx="10226245" cy="2716128"/>
          </a:xfrm>
          <a:prstGeom prst="rect">
            <a:avLst/>
          </a:prstGeom>
        </p:spPr>
        <p:txBody>
          <a:bodyPr wrap="square">
            <a:spAutoFit/>
          </a:bodyPr>
          <a:lstStyle/>
          <a:p>
            <a:pPr>
              <a:spcBef>
                <a:spcPts val="600"/>
              </a:spcBef>
            </a:pPr>
            <a:r>
              <a:rPr lang="en-US" sz="2400" b="1" dirty="0">
                <a:solidFill>
                  <a:srgbClr val="C00000"/>
                </a:solidFill>
                <a:latin typeface="Helvetica" panose="020B0604020202020204" pitchFamily="34" charset="0"/>
                <a:cs typeface="Helvetica" panose="020B0604020202020204" pitchFamily="34" charset="0"/>
              </a:rPr>
              <a:t>RENAME a Table</a:t>
            </a:r>
          </a:p>
          <a:p>
            <a:pPr>
              <a:spcBef>
                <a:spcPts val="600"/>
              </a:spcBef>
            </a:pPr>
            <a:r>
              <a:rPr lang="en-US" b="1" dirty="0">
                <a:latin typeface="Helvetica" panose="020B0604020202020204" pitchFamily="34" charset="0"/>
                <a:cs typeface="Helvetica" panose="020B0604020202020204" pitchFamily="34" charset="0"/>
              </a:rPr>
              <a:t>Syntax:</a:t>
            </a:r>
          </a:p>
          <a:p>
            <a:pPr lvl="0">
              <a:lnSpc>
                <a:spcPct val="150000"/>
              </a:lnSpc>
            </a:pPr>
            <a:r>
              <a:rPr lang="en-US" dirty="0">
                <a:latin typeface="Helvetica" panose="020B0604020202020204" pitchFamily="34" charset="0"/>
                <a:cs typeface="Helvetica" panose="020B0604020202020204" pitchFamily="34" charset="0"/>
              </a:rPr>
              <a:t>	</a:t>
            </a:r>
            <a:r>
              <a:rPr lang="en-US" altLang="en-US" sz="2100" dirty="0">
                <a:latin typeface="Helvetica" panose="020B0604020202020204" pitchFamily="34" charset="0"/>
                <a:cs typeface="Helvetica" panose="020B0604020202020204" pitchFamily="34" charset="0"/>
              </a:rPr>
              <a:t>ALTER TABLE table_name RENAME TO  New_table_name; </a:t>
            </a:r>
          </a:p>
          <a:p>
            <a:endParaRPr lang="en-US" sz="2400" dirty="0">
              <a:latin typeface="Helvetica" panose="020B0604020202020204" pitchFamily="34" charset="0"/>
              <a:cs typeface="Helvetica" panose="020B0604020202020204" pitchFamily="34" charset="0"/>
            </a:endParaRPr>
          </a:p>
          <a:p>
            <a:r>
              <a:rPr lang="en-US" b="1" dirty="0">
                <a:latin typeface="Helvetica" panose="020B0604020202020204" pitchFamily="34" charset="0"/>
                <a:cs typeface="Helvetica" panose="020B0604020202020204" pitchFamily="34" charset="0"/>
              </a:rPr>
              <a:t>Example:</a:t>
            </a:r>
            <a:r>
              <a:rPr lang="en-US" dirty="0">
                <a:latin typeface="Helvetica" panose="020B0604020202020204" pitchFamily="34" charset="0"/>
                <a:cs typeface="Helvetica" panose="020B0604020202020204" pitchFamily="34" charset="0"/>
              </a:rPr>
              <a:t>  Add column Salary to Emp table.</a:t>
            </a:r>
          </a:p>
          <a:p>
            <a:endParaRPr lang="en-US" dirty="0">
              <a:latin typeface="Helvetica" panose="020B0604020202020204" pitchFamily="34" charset="0"/>
              <a:cs typeface="Helvetica" panose="020B0604020202020204" pitchFamily="34" charset="0"/>
            </a:endParaRPr>
          </a:p>
          <a:p>
            <a:pPr>
              <a:lnSpc>
                <a:spcPct val="150000"/>
              </a:lnSpc>
            </a:pPr>
            <a:r>
              <a:rPr lang="en-US" dirty="0">
                <a:latin typeface="Helvetica" panose="020B0604020202020204" pitchFamily="34" charset="0"/>
                <a:cs typeface="Helvetica" panose="020B0604020202020204" pitchFamily="34" charset="0"/>
              </a:rPr>
              <a:t>	</a:t>
            </a:r>
            <a:r>
              <a:rPr lang="en-US" sz="2400" dirty="0">
                <a:latin typeface="Helvetica" panose="020B0604020202020204" pitchFamily="34" charset="0"/>
                <a:cs typeface="Helvetica" panose="020B0604020202020204" pitchFamily="34" charset="0"/>
              </a:rPr>
              <a:t>ALTER TABLE Emp  RENAME TO  Employee;</a:t>
            </a:r>
          </a:p>
        </p:txBody>
      </p:sp>
    </p:spTree>
    <p:extLst>
      <p:ext uri="{BB962C8B-B14F-4D97-AF65-F5344CB8AC3E}">
        <p14:creationId xmlns:p14="http://schemas.microsoft.com/office/powerpoint/2010/main" val="13581083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49</a:t>
            </a:fld>
            <a:endParaRPr lang="en-US"/>
          </a:p>
        </p:txBody>
      </p:sp>
      <p:sp>
        <p:nvSpPr>
          <p:cNvPr id="5" name="Rectangle 2"/>
          <p:cNvSpPr txBox="1">
            <a:spLocks noChangeArrowheads="1"/>
          </p:cNvSpPr>
          <p:nvPr/>
        </p:nvSpPr>
        <p:spPr bwMode="auto">
          <a:xfrm>
            <a:off x="1905000" y="250211"/>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
        <p:nvSpPr>
          <p:cNvPr id="4" name="Rectangle 3"/>
          <p:cNvSpPr/>
          <p:nvPr/>
        </p:nvSpPr>
        <p:spPr>
          <a:xfrm>
            <a:off x="982877" y="1038146"/>
            <a:ext cx="10226245" cy="5139869"/>
          </a:xfrm>
          <a:prstGeom prst="rect">
            <a:avLst/>
          </a:prstGeom>
        </p:spPr>
        <p:txBody>
          <a:bodyPr wrap="square">
            <a:spAutoFit/>
          </a:bodyPr>
          <a:lstStyle/>
          <a:p>
            <a:pPr>
              <a:spcBef>
                <a:spcPts val="600"/>
              </a:spcBef>
            </a:pPr>
            <a:r>
              <a:rPr lang="en-US" sz="2400" b="1" dirty="0">
                <a:solidFill>
                  <a:srgbClr val="C00000"/>
                </a:solidFill>
                <a:latin typeface="Helvetica" panose="020B0604020202020204" pitchFamily="34" charset="0"/>
                <a:cs typeface="Helvetica" panose="020B0604020202020204" pitchFamily="34" charset="0"/>
              </a:rPr>
              <a:t>Adding CHECK Constraint to a column</a:t>
            </a:r>
          </a:p>
          <a:p>
            <a:pPr>
              <a:spcBef>
                <a:spcPts val="600"/>
              </a:spcBef>
            </a:pPr>
            <a:r>
              <a:rPr lang="en-US" sz="2100" b="1" dirty="0">
                <a:latin typeface="Helvetica" panose="020B0604020202020204" pitchFamily="34" charset="0"/>
                <a:cs typeface="Helvetica" panose="020B0604020202020204" pitchFamily="34" charset="0"/>
              </a:rPr>
              <a:t>Syntax:</a:t>
            </a:r>
          </a:p>
          <a:p>
            <a:pPr lvl="0">
              <a:lnSpc>
                <a:spcPct val="150000"/>
              </a:lnSpc>
            </a:pPr>
            <a:r>
              <a:rPr lang="en-US" sz="2100" dirty="0">
                <a:latin typeface="Helvetica" panose="020B0604020202020204" pitchFamily="34" charset="0"/>
                <a:cs typeface="Helvetica" panose="020B0604020202020204" pitchFamily="34" charset="0"/>
              </a:rPr>
              <a:t>	</a:t>
            </a:r>
            <a:r>
              <a:rPr lang="en-US" altLang="en-US" sz="2100" dirty="0">
                <a:latin typeface="Helvetica" panose="020B0604020202020204" pitchFamily="34" charset="0"/>
                <a:cs typeface="Helvetica" panose="020B0604020202020204" pitchFamily="34" charset="0"/>
              </a:rPr>
              <a:t>ALTER TABLE table_name </a:t>
            </a:r>
          </a:p>
          <a:p>
            <a:pPr lvl="0">
              <a:lnSpc>
                <a:spcPct val="150000"/>
              </a:lnSpc>
            </a:pPr>
            <a:r>
              <a:rPr lang="en-US" altLang="en-US" sz="2100" dirty="0">
                <a:latin typeface="Helvetica" panose="020B0604020202020204" pitchFamily="34" charset="0"/>
                <a:cs typeface="Helvetica" panose="020B0604020202020204" pitchFamily="34" charset="0"/>
              </a:rPr>
              <a:t>	        ADD CONSTRAINT </a:t>
            </a:r>
            <a:r>
              <a:rPr lang="en-US" altLang="en-US" sz="2100" dirty="0" err="1">
                <a:latin typeface="Helvetica" panose="020B0604020202020204" pitchFamily="34" charset="0"/>
                <a:cs typeface="Helvetica" panose="020B0604020202020204" pitchFamily="34" charset="0"/>
              </a:rPr>
              <a:t>constraint_name</a:t>
            </a:r>
            <a:r>
              <a:rPr lang="en-US" altLang="en-US" sz="2100" dirty="0">
                <a:latin typeface="Helvetica" panose="020B0604020202020204" pitchFamily="34" charset="0"/>
                <a:cs typeface="Helvetica" panose="020B0604020202020204" pitchFamily="34" charset="0"/>
              </a:rPr>
              <a:t>  CHECK( </a:t>
            </a:r>
            <a:r>
              <a:rPr lang="en-US" altLang="en-US" sz="2100" b="1" dirty="0">
                <a:latin typeface="Helvetica" panose="020B0604020202020204" pitchFamily="34" charset="0"/>
                <a:cs typeface="Helvetica" panose="020B0604020202020204" pitchFamily="34" charset="0"/>
              </a:rPr>
              <a:t>p </a:t>
            </a:r>
            <a:r>
              <a:rPr lang="en-US" altLang="en-US" sz="2100" dirty="0">
                <a:latin typeface="Helvetica" panose="020B0604020202020204" pitchFamily="34" charset="0"/>
                <a:cs typeface="Helvetica" panose="020B0604020202020204" pitchFamily="34" charset="0"/>
              </a:rPr>
              <a:t>) </a:t>
            </a:r>
            <a:r>
              <a:rPr lang="en-US" altLang="en-US" sz="2100" b="1" dirty="0">
                <a:latin typeface="Helvetica" panose="020B0604020202020204" pitchFamily="34" charset="0"/>
                <a:cs typeface="Helvetica" panose="020B0604020202020204" pitchFamily="34" charset="0"/>
              </a:rPr>
              <a:t>)</a:t>
            </a:r>
            <a:r>
              <a:rPr lang="en-US" altLang="en-US" sz="2100" dirty="0">
                <a:latin typeface="Helvetica" panose="020B0604020202020204" pitchFamily="34" charset="0"/>
                <a:cs typeface="Helvetica" panose="020B0604020202020204" pitchFamily="34" charset="0"/>
              </a:rPr>
              <a:t>; </a:t>
            </a:r>
          </a:p>
          <a:p>
            <a:pPr lvl="0">
              <a:lnSpc>
                <a:spcPct val="150000"/>
              </a:lnSpc>
            </a:pPr>
            <a:r>
              <a:rPr lang="en-US" altLang="en-US" sz="2100" dirty="0">
                <a:latin typeface="Helvetica" panose="020B0604020202020204" pitchFamily="34" charset="0"/>
                <a:cs typeface="Helvetica" panose="020B0604020202020204" pitchFamily="34" charset="0"/>
              </a:rPr>
              <a:t> Where </a:t>
            </a:r>
            <a:r>
              <a:rPr lang="en-US" altLang="en-US" sz="2100" b="1" dirty="0">
                <a:latin typeface="Helvetica" panose="020B0604020202020204" pitchFamily="34" charset="0"/>
                <a:cs typeface="Helvetica" panose="020B0604020202020204" pitchFamily="34" charset="0"/>
              </a:rPr>
              <a:t>p</a:t>
            </a:r>
            <a:r>
              <a:rPr lang="en-US" altLang="en-US" sz="2100" dirty="0">
                <a:latin typeface="Helvetica" panose="020B0604020202020204" pitchFamily="34" charset="0"/>
                <a:cs typeface="Helvetica" panose="020B0604020202020204" pitchFamily="34" charset="0"/>
              </a:rPr>
              <a:t> - predicate</a:t>
            </a:r>
          </a:p>
          <a:p>
            <a:r>
              <a:rPr lang="en-US" sz="2100" dirty="0">
                <a:latin typeface="Helvetica" panose="020B0604020202020204" pitchFamily="34" charset="0"/>
                <a:cs typeface="Helvetica" panose="020B0604020202020204" pitchFamily="34" charset="0"/>
              </a:rPr>
              <a:t> </a:t>
            </a:r>
          </a:p>
          <a:p>
            <a:r>
              <a:rPr lang="en-US" sz="2100" b="1" dirty="0">
                <a:latin typeface="Helvetica" panose="020B0604020202020204" pitchFamily="34" charset="0"/>
                <a:cs typeface="Helvetica" panose="020B0604020202020204" pitchFamily="34" charset="0"/>
              </a:rPr>
              <a:t>Example:</a:t>
            </a:r>
            <a:r>
              <a:rPr lang="en-US" sz="2100" dirty="0">
                <a:latin typeface="Helvetica" panose="020B0604020202020204" pitchFamily="34" charset="0"/>
                <a:cs typeface="Helvetica" panose="020B0604020202020204" pitchFamily="34" charset="0"/>
              </a:rPr>
              <a:t>  Add constraint to </a:t>
            </a:r>
            <a:r>
              <a:rPr lang="en-US" sz="2100" b="1" dirty="0">
                <a:latin typeface="Helvetica" panose="020B0604020202020204" pitchFamily="34" charset="0"/>
                <a:cs typeface="Helvetica" panose="020B0604020202020204" pitchFamily="34" charset="0"/>
              </a:rPr>
              <a:t>Students</a:t>
            </a:r>
            <a:r>
              <a:rPr lang="en-US" sz="2100" dirty="0">
                <a:latin typeface="Helvetica" panose="020B0604020202020204" pitchFamily="34" charset="0"/>
                <a:cs typeface="Helvetica" panose="020B0604020202020204" pitchFamily="34" charset="0"/>
              </a:rPr>
              <a:t> table to check </a:t>
            </a:r>
            <a:r>
              <a:rPr lang="en-US" sz="2100" b="1" dirty="0">
                <a:latin typeface="Helvetica" panose="020B0604020202020204" pitchFamily="34" charset="0"/>
                <a:cs typeface="Helvetica" panose="020B0604020202020204" pitchFamily="34" charset="0"/>
              </a:rPr>
              <a:t>Mark2</a:t>
            </a:r>
            <a:r>
              <a:rPr lang="en-US" sz="2100" dirty="0">
                <a:latin typeface="Helvetica" panose="020B0604020202020204" pitchFamily="34" charset="0"/>
                <a:cs typeface="Helvetica" panose="020B0604020202020204" pitchFamily="34" charset="0"/>
              </a:rPr>
              <a:t> column takes values only in the </a:t>
            </a:r>
            <a:r>
              <a:rPr lang="en-US" sz="2100" b="1" dirty="0">
                <a:latin typeface="Helvetica" panose="020B0604020202020204" pitchFamily="34" charset="0"/>
                <a:cs typeface="Helvetica" panose="020B0604020202020204" pitchFamily="34" charset="0"/>
              </a:rPr>
              <a:t>range 0 to 100.</a:t>
            </a:r>
          </a:p>
          <a:p>
            <a:endParaRPr lang="en-US" sz="2100" dirty="0">
              <a:latin typeface="Helvetica" panose="020B0604020202020204" pitchFamily="34" charset="0"/>
              <a:cs typeface="Helvetica" panose="020B0604020202020204" pitchFamily="34" charset="0"/>
            </a:endParaRPr>
          </a:p>
          <a:p>
            <a:pPr>
              <a:lnSpc>
                <a:spcPct val="150000"/>
              </a:lnSpc>
            </a:pPr>
            <a:r>
              <a:rPr lang="en-US" sz="2100" dirty="0">
                <a:latin typeface="Helvetica" panose="020B0604020202020204" pitchFamily="34" charset="0"/>
                <a:cs typeface="Helvetica" panose="020B0604020202020204" pitchFamily="34" charset="0"/>
              </a:rPr>
              <a:t>	ALTER TABLE Student</a:t>
            </a:r>
          </a:p>
          <a:p>
            <a:pPr>
              <a:lnSpc>
                <a:spcPct val="150000"/>
              </a:lnSpc>
            </a:pPr>
            <a:r>
              <a:rPr lang="en-US" sz="2100" dirty="0">
                <a:latin typeface="Helvetica" panose="020B0604020202020204" pitchFamily="34" charset="0"/>
                <a:cs typeface="Helvetica" panose="020B0604020202020204" pitchFamily="34" charset="0"/>
              </a:rPr>
              <a:t>	ADD </a:t>
            </a:r>
            <a:r>
              <a:rPr lang="en-US" sz="2100" b="1" dirty="0">
                <a:latin typeface="Helvetica" panose="020B0604020202020204" pitchFamily="34" charset="0"/>
                <a:cs typeface="Helvetica" panose="020B0604020202020204" pitchFamily="34" charset="0"/>
              </a:rPr>
              <a:t>CONSTRAINT</a:t>
            </a:r>
            <a:r>
              <a:rPr lang="en-US" sz="2100" dirty="0">
                <a:latin typeface="Helvetica" panose="020B0604020202020204" pitchFamily="34" charset="0"/>
                <a:cs typeface="Helvetica" panose="020B0604020202020204" pitchFamily="34" charset="0"/>
              </a:rPr>
              <a:t> </a:t>
            </a:r>
            <a:r>
              <a:rPr lang="en-US" sz="2100" b="1" dirty="0">
                <a:solidFill>
                  <a:srgbClr val="C00000"/>
                </a:solidFill>
                <a:latin typeface="Helvetica" panose="020B0604020202020204" pitchFamily="34" charset="0"/>
                <a:cs typeface="Helvetica" panose="020B0604020202020204" pitchFamily="34" charset="0"/>
              </a:rPr>
              <a:t>check_mark_range</a:t>
            </a:r>
          </a:p>
          <a:p>
            <a:pPr>
              <a:lnSpc>
                <a:spcPct val="150000"/>
              </a:lnSpc>
            </a:pPr>
            <a:r>
              <a:rPr lang="en-US" sz="2100" dirty="0">
                <a:latin typeface="Helvetica" panose="020B0604020202020204" pitchFamily="34" charset="0"/>
                <a:cs typeface="Helvetica" panose="020B0604020202020204" pitchFamily="34" charset="0"/>
              </a:rPr>
              <a:t>	</a:t>
            </a:r>
            <a:r>
              <a:rPr lang="en-US" sz="2100" b="1" dirty="0">
                <a:latin typeface="Helvetica" panose="020B0604020202020204" pitchFamily="34" charset="0"/>
                <a:cs typeface="Helvetica" panose="020B0604020202020204" pitchFamily="34" charset="0"/>
              </a:rPr>
              <a:t>CHECK (</a:t>
            </a:r>
            <a:r>
              <a:rPr lang="en-US" sz="2100" b="1" dirty="0">
                <a:solidFill>
                  <a:srgbClr val="C00000"/>
                </a:solidFill>
                <a:latin typeface="Helvetica" panose="020B0604020202020204" pitchFamily="34" charset="0"/>
                <a:cs typeface="Helvetica" panose="020B0604020202020204" pitchFamily="34" charset="0"/>
              </a:rPr>
              <a:t>mark2</a:t>
            </a:r>
            <a:r>
              <a:rPr lang="en-US" sz="2100" b="1" dirty="0">
                <a:solidFill>
                  <a:srgbClr val="0070C0"/>
                </a:solidFill>
                <a:latin typeface="Helvetica" panose="020B0604020202020204" pitchFamily="34" charset="0"/>
                <a:cs typeface="Helvetica" panose="020B0604020202020204" pitchFamily="34" charset="0"/>
              </a:rPr>
              <a:t>&gt;=</a:t>
            </a:r>
            <a:r>
              <a:rPr lang="en-US" sz="2100" b="1" dirty="0">
                <a:solidFill>
                  <a:srgbClr val="C00000"/>
                </a:solidFill>
                <a:latin typeface="Helvetica" panose="020B0604020202020204" pitchFamily="34" charset="0"/>
                <a:cs typeface="Helvetica" panose="020B0604020202020204" pitchFamily="34" charset="0"/>
              </a:rPr>
              <a:t>0 </a:t>
            </a:r>
            <a:r>
              <a:rPr lang="en-US" sz="2100" b="1" dirty="0">
                <a:latin typeface="Helvetica" panose="020B0604020202020204" pitchFamily="34" charset="0"/>
                <a:cs typeface="Helvetica" panose="020B0604020202020204" pitchFamily="34" charset="0"/>
              </a:rPr>
              <a:t>AND</a:t>
            </a:r>
            <a:r>
              <a:rPr lang="en-US" sz="2100" b="1" dirty="0">
                <a:solidFill>
                  <a:srgbClr val="C00000"/>
                </a:solidFill>
                <a:latin typeface="Helvetica" panose="020B0604020202020204" pitchFamily="34" charset="0"/>
                <a:cs typeface="Helvetica" panose="020B0604020202020204" pitchFamily="34" charset="0"/>
              </a:rPr>
              <a:t> mark2</a:t>
            </a:r>
            <a:r>
              <a:rPr lang="en-US" sz="2100" b="1" dirty="0">
                <a:solidFill>
                  <a:srgbClr val="0070C0"/>
                </a:solidFill>
                <a:latin typeface="Helvetica" panose="020B0604020202020204" pitchFamily="34" charset="0"/>
                <a:cs typeface="Helvetica" panose="020B0604020202020204" pitchFamily="34" charset="0"/>
              </a:rPr>
              <a:t>&lt;=</a:t>
            </a:r>
            <a:r>
              <a:rPr lang="en-US" sz="2100" b="1" dirty="0">
                <a:solidFill>
                  <a:srgbClr val="C00000"/>
                </a:solidFill>
                <a:latin typeface="Helvetica" panose="020B0604020202020204" pitchFamily="34" charset="0"/>
                <a:cs typeface="Helvetica" panose="020B0604020202020204" pitchFamily="34" charset="0"/>
              </a:rPr>
              <a:t>100</a:t>
            </a:r>
            <a:r>
              <a:rPr lang="en-US" sz="2100" b="1" dirty="0">
                <a:latin typeface="Helvetica" panose="020B0604020202020204" pitchFamily="34" charset="0"/>
                <a:cs typeface="Helvetica" panose="020B0604020202020204" pitchFamily="34" charset="0"/>
              </a:rPr>
              <a:t>)</a:t>
            </a:r>
            <a:r>
              <a:rPr lang="en-US" sz="2100"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25453986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dirty="0"/>
              <a:t>SQL</a:t>
            </a:r>
          </a:p>
        </p:txBody>
      </p:sp>
      <p:sp>
        <p:nvSpPr>
          <p:cNvPr id="3" name="Slide Number Placeholder 2"/>
          <p:cNvSpPr>
            <a:spLocks noGrp="1"/>
          </p:cNvSpPr>
          <p:nvPr>
            <p:ph type="sldNum" sz="quarter" idx="12"/>
          </p:nvPr>
        </p:nvSpPr>
        <p:spPr/>
        <p:txBody>
          <a:bodyPr/>
          <a:lstStyle/>
          <a:p>
            <a:fld id="{03576695-DB63-4967-AFBB-46E84EF49106}" type="slidenum">
              <a:rPr lang="en-US" smtClean="0"/>
              <a:t>50</a:t>
            </a:fld>
            <a:endParaRPr lang="en-US"/>
          </a:p>
        </p:txBody>
      </p:sp>
      <p:sp>
        <p:nvSpPr>
          <p:cNvPr id="5" name="Rectangle 2"/>
          <p:cNvSpPr txBox="1">
            <a:spLocks noChangeArrowheads="1"/>
          </p:cNvSpPr>
          <p:nvPr/>
        </p:nvSpPr>
        <p:spPr bwMode="auto">
          <a:xfrm>
            <a:off x="1905000" y="250211"/>
            <a:ext cx="8077200" cy="6096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
        <p:nvSpPr>
          <p:cNvPr id="4" name="Rectangle 3"/>
          <p:cNvSpPr/>
          <p:nvPr/>
        </p:nvSpPr>
        <p:spPr>
          <a:xfrm>
            <a:off x="982877" y="1216481"/>
            <a:ext cx="10919071" cy="4356705"/>
          </a:xfrm>
          <a:prstGeom prst="rect">
            <a:avLst/>
          </a:prstGeom>
        </p:spPr>
        <p:txBody>
          <a:bodyPr wrap="square">
            <a:spAutoFit/>
          </a:bodyPr>
          <a:lstStyle/>
          <a:p>
            <a:pPr>
              <a:spcBef>
                <a:spcPts val="600"/>
              </a:spcBef>
            </a:pPr>
            <a:r>
              <a:rPr lang="en-US" sz="2400" b="1" dirty="0">
                <a:solidFill>
                  <a:srgbClr val="C00000"/>
                </a:solidFill>
                <a:latin typeface="Helvetica" panose="020B0604020202020204" pitchFamily="34" charset="0"/>
                <a:cs typeface="Helvetica" panose="020B0604020202020204" pitchFamily="34" charset="0"/>
              </a:rPr>
              <a:t>Adding UNIQUE Constraint to a column</a:t>
            </a:r>
          </a:p>
          <a:p>
            <a:pPr>
              <a:spcBef>
                <a:spcPts val="600"/>
              </a:spcBef>
            </a:pPr>
            <a:r>
              <a:rPr lang="en-US" sz="2100" b="1" dirty="0">
                <a:latin typeface="Helvetica" panose="020B0604020202020204" pitchFamily="34" charset="0"/>
                <a:cs typeface="Helvetica" panose="020B0604020202020204" pitchFamily="34" charset="0"/>
              </a:rPr>
              <a:t>Syntax:</a:t>
            </a:r>
          </a:p>
          <a:p>
            <a:pPr lvl="0">
              <a:lnSpc>
                <a:spcPct val="150000"/>
              </a:lnSpc>
            </a:pPr>
            <a:r>
              <a:rPr lang="en-US" sz="2100" dirty="0">
                <a:latin typeface="Helvetica" panose="020B0604020202020204" pitchFamily="34" charset="0"/>
                <a:cs typeface="Helvetica" panose="020B0604020202020204" pitchFamily="34" charset="0"/>
              </a:rPr>
              <a:t>	</a:t>
            </a:r>
            <a:r>
              <a:rPr lang="en-US" altLang="en-US" sz="2100" dirty="0">
                <a:latin typeface="Helvetica" panose="020B0604020202020204" pitchFamily="34" charset="0"/>
                <a:cs typeface="Helvetica" panose="020B0604020202020204" pitchFamily="34" charset="0"/>
              </a:rPr>
              <a:t>ALTER TABLE table_name </a:t>
            </a:r>
          </a:p>
          <a:p>
            <a:pPr lvl="0">
              <a:lnSpc>
                <a:spcPct val="150000"/>
              </a:lnSpc>
            </a:pPr>
            <a:r>
              <a:rPr lang="en-US" altLang="en-US" sz="2100" dirty="0">
                <a:latin typeface="Helvetica" panose="020B0604020202020204" pitchFamily="34" charset="0"/>
                <a:cs typeface="Helvetica" panose="020B0604020202020204" pitchFamily="34" charset="0"/>
              </a:rPr>
              <a:t>	ADD CONSTRAINT constraint_name 	UNIQUE</a:t>
            </a:r>
            <a:r>
              <a:rPr lang="en-US" altLang="en-US" sz="2100" b="1" dirty="0">
                <a:latin typeface="Helvetica" panose="020B0604020202020204" pitchFamily="34" charset="0"/>
                <a:cs typeface="Helvetica" panose="020B0604020202020204" pitchFamily="34" charset="0"/>
              </a:rPr>
              <a:t>(</a:t>
            </a:r>
            <a:r>
              <a:rPr lang="en-US" altLang="en-US" sz="2100" dirty="0">
                <a:latin typeface="Helvetica" panose="020B0604020202020204" pitchFamily="34" charset="0"/>
                <a:cs typeface="Helvetica" panose="020B0604020202020204" pitchFamily="34" charset="0"/>
              </a:rPr>
              <a:t> </a:t>
            </a:r>
            <a:r>
              <a:rPr lang="en-US" altLang="en-US" sz="2100" b="1" dirty="0">
                <a:latin typeface="Helvetica" panose="020B0604020202020204" pitchFamily="34" charset="0"/>
                <a:cs typeface="Helvetica" panose="020B0604020202020204" pitchFamily="34" charset="0"/>
              </a:rPr>
              <a:t>column</a:t>
            </a:r>
            <a:r>
              <a:rPr lang="en-US" altLang="en-US" sz="2100" b="1" i="1" dirty="0">
                <a:latin typeface="Helvetica" panose="020B0604020202020204" pitchFamily="34" charset="0"/>
                <a:cs typeface="Helvetica" panose="020B0604020202020204" pitchFamily="34" charset="0"/>
              </a:rPr>
              <a:t>1</a:t>
            </a:r>
            <a:r>
              <a:rPr lang="en-US" altLang="en-US" sz="2100" b="1" dirty="0">
                <a:latin typeface="Helvetica" panose="020B0604020202020204" pitchFamily="34" charset="0"/>
                <a:cs typeface="Helvetica" panose="020B0604020202020204" pitchFamily="34" charset="0"/>
              </a:rPr>
              <a:t>,column</a:t>
            </a:r>
            <a:r>
              <a:rPr lang="en-US" altLang="en-US" sz="2100" b="1" i="1" dirty="0">
                <a:latin typeface="Helvetica" panose="020B0604020202020204" pitchFamily="34" charset="0"/>
                <a:cs typeface="Helvetica" panose="020B0604020202020204" pitchFamily="34" charset="0"/>
              </a:rPr>
              <a:t>2</a:t>
            </a:r>
            <a:r>
              <a:rPr lang="en-US" altLang="en-US" sz="2100" b="1" dirty="0">
                <a:latin typeface="Helvetica" panose="020B0604020202020204" pitchFamily="34" charset="0"/>
                <a:cs typeface="Helvetica" panose="020B0604020202020204" pitchFamily="34" charset="0"/>
              </a:rPr>
              <a:t>,..column</a:t>
            </a:r>
            <a:r>
              <a:rPr lang="en-US" altLang="en-US" sz="2100" b="1" i="1" dirty="0">
                <a:latin typeface="Helvetica" panose="020B0604020202020204" pitchFamily="34" charset="0"/>
                <a:cs typeface="Helvetica" panose="020B0604020202020204" pitchFamily="34" charset="0"/>
              </a:rPr>
              <a:t>n</a:t>
            </a:r>
            <a:r>
              <a:rPr lang="en-US" altLang="en-US" sz="2100" b="1" dirty="0">
                <a:latin typeface="Helvetica" panose="020B0604020202020204" pitchFamily="34" charset="0"/>
                <a:cs typeface="Helvetica" panose="020B0604020202020204" pitchFamily="34" charset="0"/>
              </a:rPr>
              <a:t> </a:t>
            </a:r>
            <a:r>
              <a:rPr lang="en-US" altLang="en-US" sz="2100" dirty="0">
                <a:latin typeface="Helvetica" panose="020B0604020202020204" pitchFamily="34" charset="0"/>
                <a:cs typeface="Helvetica" panose="020B0604020202020204" pitchFamily="34" charset="0"/>
              </a:rPr>
              <a:t>) </a:t>
            </a:r>
            <a:r>
              <a:rPr lang="en-US" altLang="en-US" sz="2100" b="1" dirty="0">
                <a:latin typeface="Helvetica" panose="020B0604020202020204" pitchFamily="34" charset="0"/>
                <a:cs typeface="Helvetica" panose="020B0604020202020204" pitchFamily="34" charset="0"/>
              </a:rPr>
              <a:t>)</a:t>
            </a:r>
            <a:r>
              <a:rPr lang="en-US" altLang="en-US" sz="2100" dirty="0">
                <a:latin typeface="Helvetica" panose="020B0604020202020204" pitchFamily="34" charset="0"/>
                <a:cs typeface="Helvetica" panose="020B0604020202020204" pitchFamily="34" charset="0"/>
              </a:rPr>
              <a:t>; </a:t>
            </a:r>
          </a:p>
          <a:p>
            <a:pPr lvl="0">
              <a:lnSpc>
                <a:spcPct val="150000"/>
              </a:lnSpc>
            </a:pPr>
            <a:r>
              <a:rPr lang="en-US" altLang="en-US" sz="2100" dirty="0">
                <a:latin typeface="Helvetica" panose="020B0604020202020204" pitchFamily="34" charset="0"/>
                <a:cs typeface="Helvetica" panose="020B0604020202020204" pitchFamily="34" charset="0"/>
              </a:rPr>
              <a:t> </a:t>
            </a:r>
            <a:r>
              <a:rPr lang="en-US" sz="2100" dirty="0">
                <a:latin typeface="Helvetica" panose="020B0604020202020204" pitchFamily="34" charset="0"/>
                <a:cs typeface="Helvetica" panose="020B0604020202020204" pitchFamily="34" charset="0"/>
              </a:rPr>
              <a:t> </a:t>
            </a:r>
          </a:p>
          <a:p>
            <a:r>
              <a:rPr lang="en-US" sz="2100" b="1" dirty="0">
                <a:latin typeface="Helvetica" panose="020B0604020202020204" pitchFamily="34" charset="0"/>
                <a:cs typeface="Helvetica" panose="020B0604020202020204" pitchFamily="34" charset="0"/>
              </a:rPr>
              <a:t>Example:</a:t>
            </a:r>
            <a:r>
              <a:rPr lang="en-US" sz="2100" dirty="0">
                <a:latin typeface="Helvetica" panose="020B0604020202020204" pitchFamily="34" charset="0"/>
                <a:cs typeface="Helvetica" panose="020B0604020202020204" pitchFamily="34" charset="0"/>
              </a:rPr>
              <a:t>  Add constraint to </a:t>
            </a:r>
            <a:r>
              <a:rPr lang="en-US" sz="2100" b="1" dirty="0">
                <a:latin typeface="Helvetica" panose="020B0604020202020204" pitchFamily="34" charset="0"/>
                <a:cs typeface="Helvetica" panose="020B0604020202020204" pitchFamily="34" charset="0"/>
              </a:rPr>
              <a:t>Students</a:t>
            </a:r>
            <a:r>
              <a:rPr lang="en-US" sz="2100" dirty="0">
                <a:latin typeface="Helvetica" panose="020B0604020202020204" pitchFamily="34" charset="0"/>
                <a:cs typeface="Helvetica" panose="020B0604020202020204" pitchFamily="34" charset="0"/>
              </a:rPr>
              <a:t> table make </a:t>
            </a:r>
            <a:r>
              <a:rPr lang="en-US" sz="2100" b="1" dirty="0">
                <a:latin typeface="Helvetica" panose="020B0604020202020204" pitchFamily="34" charset="0"/>
                <a:cs typeface="Helvetica" panose="020B0604020202020204" pitchFamily="34" charset="0"/>
              </a:rPr>
              <a:t>Phone </a:t>
            </a:r>
            <a:r>
              <a:rPr lang="en-US" sz="2100" dirty="0">
                <a:latin typeface="Helvetica" panose="020B0604020202020204" pitchFamily="34" charset="0"/>
                <a:cs typeface="Helvetica" panose="020B0604020202020204" pitchFamily="34" charset="0"/>
              </a:rPr>
              <a:t>column as Unique</a:t>
            </a:r>
            <a:r>
              <a:rPr lang="en-US" sz="2100" b="1" dirty="0">
                <a:latin typeface="Helvetica" panose="020B0604020202020204" pitchFamily="34" charset="0"/>
                <a:cs typeface="Helvetica" panose="020B0604020202020204" pitchFamily="34" charset="0"/>
              </a:rPr>
              <a:t>.</a:t>
            </a:r>
          </a:p>
          <a:p>
            <a:endParaRPr lang="en-US" sz="2100" dirty="0">
              <a:latin typeface="Helvetica" panose="020B0604020202020204" pitchFamily="34" charset="0"/>
              <a:cs typeface="Helvetica" panose="020B0604020202020204" pitchFamily="34" charset="0"/>
            </a:endParaRPr>
          </a:p>
          <a:p>
            <a:pPr>
              <a:lnSpc>
                <a:spcPct val="150000"/>
              </a:lnSpc>
            </a:pPr>
            <a:r>
              <a:rPr lang="en-US" sz="2100" dirty="0">
                <a:latin typeface="Helvetica" panose="020B0604020202020204" pitchFamily="34" charset="0"/>
                <a:cs typeface="Helvetica" panose="020B0604020202020204" pitchFamily="34" charset="0"/>
              </a:rPr>
              <a:t>	ALTER TABLE Student</a:t>
            </a:r>
          </a:p>
          <a:p>
            <a:pPr>
              <a:lnSpc>
                <a:spcPct val="150000"/>
              </a:lnSpc>
            </a:pPr>
            <a:r>
              <a:rPr lang="en-US" sz="2100" dirty="0">
                <a:latin typeface="Helvetica" panose="020B0604020202020204" pitchFamily="34" charset="0"/>
                <a:cs typeface="Helvetica" panose="020B0604020202020204" pitchFamily="34" charset="0"/>
              </a:rPr>
              <a:t>	ADD </a:t>
            </a:r>
            <a:r>
              <a:rPr lang="en-US" sz="2100" b="1" dirty="0">
                <a:latin typeface="Helvetica" panose="020B0604020202020204" pitchFamily="34" charset="0"/>
                <a:cs typeface="Helvetica" panose="020B0604020202020204" pitchFamily="34" charset="0"/>
              </a:rPr>
              <a:t>CONSTRAINT</a:t>
            </a:r>
            <a:r>
              <a:rPr lang="en-US" sz="2100" dirty="0">
                <a:latin typeface="Helvetica" panose="020B0604020202020204" pitchFamily="34" charset="0"/>
                <a:cs typeface="Helvetica" panose="020B0604020202020204" pitchFamily="34" charset="0"/>
              </a:rPr>
              <a:t> </a:t>
            </a:r>
            <a:r>
              <a:rPr lang="en-US" sz="2100" b="1" dirty="0" err="1">
                <a:solidFill>
                  <a:srgbClr val="C00000"/>
                </a:solidFill>
                <a:latin typeface="Helvetica" panose="020B0604020202020204" pitchFamily="34" charset="0"/>
                <a:cs typeface="Helvetica" panose="020B0604020202020204" pitchFamily="34" charset="0"/>
              </a:rPr>
              <a:t>uniq_phone</a:t>
            </a:r>
            <a:endParaRPr lang="en-US" sz="2100" b="1" dirty="0">
              <a:solidFill>
                <a:srgbClr val="C00000"/>
              </a:solidFill>
              <a:latin typeface="Helvetica" panose="020B0604020202020204" pitchFamily="34" charset="0"/>
              <a:cs typeface="Helvetica" panose="020B0604020202020204" pitchFamily="34" charset="0"/>
            </a:endParaRPr>
          </a:p>
          <a:p>
            <a:pPr>
              <a:lnSpc>
                <a:spcPct val="150000"/>
              </a:lnSpc>
            </a:pPr>
            <a:r>
              <a:rPr lang="en-US" sz="2100" dirty="0">
                <a:latin typeface="Helvetica" panose="020B0604020202020204" pitchFamily="34" charset="0"/>
                <a:cs typeface="Helvetica" panose="020B0604020202020204" pitchFamily="34" charset="0"/>
              </a:rPr>
              <a:t>	</a:t>
            </a:r>
            <a:r>
              <a:rPr lang="en-US" sz="2100" b="1" dirty="0">
                <a:latin typeface="Helvetica" panose="020B0604020202020204" pitchFamily="34" charset="0"/>
                <a:cs typeface="Helvetica" panose="020B0604020202020204" pitchFamily="34" charset="0"/>
              </a:rPr>
              <a:t>UNIQUE</a:t>
            </a:r>
            <a:r>
              <a:rPr lang="en-US" sz="2100" dirty="0">
                <a:latin typeface="Helvetica" panose="020B0604020202020204" pitchFamily="34" charset="0"/>
                <a:cs typeface="Helvetica" panose="020B0604020202020204" pitchFamily="34" charset="0"/>
              </a:rPr>
              <a:t>(</a:t>
            </a:r>
            <a:r>
              <a:rPr lang="en-US" sz="2100" dirty="0">
                <a:solidFill>
                  <a:srgbClr val="C00000"/>
                </a:solidFill>
                <a:latin typeface="Helvetica" panose="020B0604020202020204" pitchFamily="34" charset="0"/>
                <a:cs typeface="Helvetica" panose="020B0604020202020204" pitchFamily="34" charset="0"/>
              </a:rPr>
              <a:t>Phone</a:t>
            </a:r>
            <a:r>
              <a:rPr lang="en-US" sz="2100"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13358411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51</a:t>
            </a:fld>
            <a:endParaRPr lang="en-US"/>
          </a:p>
        </p:txBody>
      </p:sp>
      <p:sp>
        <p:nvSpPr>
          <p:cNvPr id="6" name="Rectangle 2"/>
          <p:cNvSpPr txBox="1">
            <a:spLocks noGrp="1" noChangeArrowheads="1"/>
          </p:cNvSpPr>
          <p:nvPr>
            <p:ph type="title"/>
          </p:nvPr>
        </p:nvSpPr>
        <p:spPr bwMode="auto">
          <a:xfrm>
            <a:off x="838200" y="-111116"/>
            <a:ext cx="10515600" cy="726256"/>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kern="0" dirty="0">
                <a:solidFill>
                  <a:srgbClr val="CC3300"/>
                </a:solidFill>
                <a:latin typeface="Helvetica"/>
              </a:rPr>
              <a:t>..</a:t>
            </a: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
        <p:nvSpPr>
          <p:cNvPr id="7" name="Rectangle 6"/>
          <p:cNvSpPr/>
          <p:nvPr/>
        </p:nvSpPr>
        <p:spPr>
          <a:xfrm>
            <a:off x="619433" y="845690"/>
            <a:ext cx="11208773" cy="4550605"/>
          </a:xfrm>
          <a:prstGeom prst="rect">
            <a:avLst/>
          </a:prstGeom>
        </p:spPr>
        <p:txBody>
          <a:bodyPr wrap="square">
            <a:spAutoFit/>
          </a:bodyPr>
          <a:lstStyle/>
          <a:p>
            <a:pPr>
              <a:spcBef>
                <a:spcPts val="600"/>
              </a:spcBef>
            </a:pPr>
            <a:r>
              <a:rPr lang="en-US" sz="2400" b="1" dirty="0">
                <a:solidFill>
                  <a:srgbClr val="C00000"/>
                </a:solidFill>
                <a:latin typeface="Helvetica" panose="020B0604020202020204" pitchFamily="34" charset="0"/>
                <a:cs typeface="Helvetica" panose="020B0604020202020204" pitchFamily="34" charset="0"/>
              </a:rPr>
              <a:t>Adding PRIMARY KEY Constraint to a column</a:t>
            </a:r>
          </a:p>
          <a:p>
            <a:pPr>
              <a:spcBef>
                <a:spcPts val="600"/>
              </a:spcBef>
            </a:pPr>
            <a:r>
              <a:rPr lang="en-US" sz="2100" b="1" dirty="0">
                <a:latin typeface="Helvetica" panose="020B0604020202020204" pitchFamily="34" charset="0"/>
                <a:cs typeface="Helvetica" panose="020B0604020202020204" pitchFamily="34" charset="0"/>
              </a:rPr>
              <a:t>Syntax:</a:t>
            </a:r>
          </a:p>
          <a:p>
            <a:pPr lvl="1">
              <a:lnSpc>
                <a:spcPct val="140000"/>
              </a:lnSpc>
            </a:pPr>
            <a:r>
              <a:rPr lang="en-US" sz="2100" dirty="0">
                <a:latin typeface="Helvetica" panose="020B0604020202020204" pitchFamily="34" charset="0"/>
                <a:cs typeface="Helvetica" panose="020B0604020202020204" pitchFamily="34" charset="0"/>
              </a:rPr>
              <a:t>ALTER TABLE table_name </a:t>
            </a:r>
          </a:p>
          <a:p>
            <a:pPr lvl="1">
              <a:lnSpc>
                <a:spcPct val="140000"/>
              </a:lnSpc>
            </a:pPr>
            <a:r>
              <a:rPr lang="en-US" sz="2100" dirty="0">
                <a:latin typeface="Helvetica" panose="020B0604020202020204" pitchFamily="34" charset="0"/>
                <a:cs typeface="Helvetica" panose="020B0604020202020204" pitchFamily="34" charset="0"/>
              </a:rPr>
              <a:t>ADD CONSTRAINT constraint_name </a:t>
            </a:r>
          </a:p>
          <a:p>
            <a:pPr lvl="1">
              <a:lnSpc>
                <a:spcPct val="140000"/>
              </a:lnSpc>
            </a:pPr>
            <a:r>
              <a:rPr lang="en-US" sz="2100" dirty="0">
                <a:latin typeface="Helvetica" panose="020B0604020202020204" pitchFamily="34" charset="0"/>
                <a:cs typeface="Helvetica" panose="020B0604020202020204" pitchFamily="34" charset="0"/>
              </a:rPr>
              <a:t>PRIMARY  KEY (column1, column2, ... column_n) ;</a:t>
            </a:r>
          </a:p>
          <a:p>
            <a:pPr lvl="1">
              <a:lnSpc>
                <a:spcPct val="140000"/>
              </a:lnSpc>
            </a:pPr>
            <a:endParaRPr lang="en-US" sz="2100" dirty="0">
              <a:latin typeface="Helvetica" panose="020B0604020202020204" pitchFamily="34" charset="0"/>
              <a:cs typeface="Helvetica" panose="020B0604020202020204" pitchFamily="34" charset="0"/>
            </a:endParaRPr>
          </a:p>
          <a:p>
            <a:pPr>
              <a:lnSpc>
                <a:spcPct val="150000"/>
              </a:lnSpc>
            </a:pPr>
            <a:r>
              <a:rPr lang="en-US" sz="2100" b="1" dirty="0">
                <a:latin typeface="Helvetica" panose="020B0604020202020204" pitchFamily="34" charset="0"/>
                <a:cs typeface="Helvetica" panose="020B0604020202020204" pitchFamily="34" charset="0"/>
              </a:rPr>
              <a:t>Example:</a:t>
            </a:r>
            <a:r>
              <a:rPr lang="en-US" sz="2100" dirty="0">
                <a:latin typeface="Helvetica" panose="020B0604020202020204" pitchFamily="34" charset="0"/>
                <a:cs typeface="Helvetica" panose="020B0604020202020204" pitchFamily="34" charset="0"/>
              </a:rPr>
              <a:t>  Assume that Person(</a:t>
            </a:r>
            <a:r>
              <a:rPr lang="en-US" sz="2100" dirty="0" err="1">
                <a:latin typeface="Helvetica" panose="020B0604020202020204" pitchFamily="34" charset="0"/>
                <a:cs typeface="Helvetica" panose="020B0604020202020204" pitchFamily="34" charset="0"/>
              </a:rPr>
              <a:t>Fname</a:t>
            </a:r>
            <a:r>
              <a:rPr lang="en-US" sz="2100" dirty="0">
                <a:latin typeface="Helvetica" panose="020B0604020202020204" pitchFamily="34" charset="0"/>
                <a:cs typeface="Helvetica" panose="020B0604020202020204" pitchFamily="34" charset="0"/>
              </a:rPr>
              <a:t>, </a:t>
            </a:r>
            <a:r>
              <a:rPr lang="en-US" sz="2100" dirty="0" err="1">
                <a:latin typeface="Helvetica" panose="020B0604020202020204" pitchFamily="34" charset="0"/>
                <a:cs typeface="Helvetica" panose="020B0604020202020204" pitchFamily="34" charset="0"/>
              </a:rPr>
              <a:t>Lname</a:t>
            </a:r>
            <a:r>
              <a:rPr lang="en-US" sz="2100" dirty="0">
                <a:latin typeface="Helvetica" panose="020B0604020202020204" pitchFamily="34" charset="0"/>
                <a:cs typeface="Helvetica" panose="020B0604020202020204" pitchFamily="34" charset="0"/>
              </a:rPr>
              <a:t>, Address) table is already created. Add constraint to </a:t>
            </a:r>
            <a:r>
              <a:rPr lang="en-US" sz="2100" b="1" dirty="0">
                <a:latin typeface="Helvetica" panose="020B0604020202020204" pitchFamily="34" charset="0"/>
                <a:cs typeface="Helvetica" panose="020B0604020202020204" pitchFamily="34" charset="0"/>
              </a:rPr>
              <a:t>Person</a:t>
            </a:r>
            <a:r>
              <a:rPr lang="en-US" sz="2100" dirty="0">
                <a:latin typeface="Helvetica" panose="020B0604020202020204" pitchFamily="34" charset="0"/>
                <a:cs typeface="Helvetica" panose="020B0604020202020204" pitchFamily="34" charset="0"/>
              </a:rPr>
              <a:t> table to  make (</a:t>
            </a:r>
            <a:r>
              <a:rPr lang="en-US" sz="2100" b="1" dirty="0" err="1">
                <a:latin typeface="Helvetica" panose="020B0604020202020204" pitchFamily="34" charset="0"/>
                <a:cs typeface="Helvetica" panose="020B0604020202020204" pitchFamily="34" charset="0"/>
              </a:rPr>
              <a:t>FName,LName</a:t>
            </a:r>
            <a:r>
              <a:rPr lang="en-US" sz="2100" b="1" dirty="0">
                <a:latin typeface="Helvetica" panose="020B0604020202020204" pitchFamily="34" charset="0"/>
                <a:cs typeface="Helvetica" panose="020B0604020202020204" pitchFamily="34" charset="0"/>
              </a:rPr>
              <a:t>) </a:t>
            </a:r>
            <a:r>
              <a:rPr lang="en-US" sz="2100" dirty="0">
                <a:latin typeface="Helvetica" panose="020B0604020202020204" pitchFamily="34" charset="0"/>
                <a:cs typeface="Helvetica" panose="020B0604020202020204" pitchFamily="34" charset="0"/>
              </a:rPr>
              <a:t>column as Primary Key</a:t>
            </a:r>
            <a:r>
              <a:rPr lang="en-US" sz="2100" b="1" dirty="0">
                <a:latin typeface="Helvetica" panose="020B0604020202020204" pitchFamily="34" charset="0"/>
                <a:cs typeface="Helvetica" panose="020B0604020202020204" pitchFamily="34" charset="0"/>
              </a:rPr>
              <a:t>.</a:t>
            </a:r>
          </a:p>
          <a:p>
            <a:pPr>
              <a:lnSpc>
                <a:spcPct val="150000"/>
              </a:lnSpc>
            </a:pPr>
            <a:r>
              <a:rPr lang="en-US" sz="2100" dirty="0">
                <a:latin typeface="Helvetica" panose="020B0604020202020204" pitchFamily="34" charset="0"/>
                <a:cs typeface="Helvetica" panose="020B0604020202020204" pitchFamily="34" charset="0"/>
              </a:rPr>
              <a:t>	ALTER TABLE Person ADD </a:t>
            </a:r>
            <a:r>
              <a:rPr lang="en-US" sz="2100" b="1" dirty="0">
                <a:latin typeface="Helvetica" panose="020B0604020202020204" pitchFamily="34" charset="0"/>
                <a:cs typeface="Helvetica" panose="020B0604020202020204" pitchFamily="34" charset="0"/>
              </a:rPr>
              <a:t>CONSTRAINT</a:t>
            </a:r>
            <a:r>
              <a:rPr lang="en-US" sz="2100" dirty="0">
                <a:latin typeface="Helvetica" panose="020B0604020202020204" pitchFamily="34" charset="0"/>
                <a:cs typeface="Helvetica" panose="020B0604020202020204" pitchFamily="34" charset="0"/>
              </a:rPr>
              <a:t> </a:t>
            </a:r>
            <a:r>
              <a:rPr lang="en-US" sz="2100" b="1" dirty="0" err="1">
                <a:solidFill>
                  <a:srgbClr val="C00000"/>
                </a:solidFill>
                <a:latin typeface="Helvetica" panose="020B0604020202020204" pitchFamily="34" charset="0"/>
                <a:cs typeface="Helvetica" panose="020B0604020202020204" pitchFamily="34" charset="0"/>
              </a:rPr>
              <a:t>F_L_Name_FK</a:t>
            </a:r>
            <a:endParaRPr lang="en-US" sz="2100" b="1" dirty="0">
              <a:solidFill>
                <a:srgbClr val="C00000"/>
              </a:solidFill>
              <a:latin typeface="Helvetica" panose="020B0604020202020204" pitchFamily="34" charset="0"/>
              <a:cs typeface="Helvetica" panose="020B0604020202020204" pitchFamily="34" charset="0"/>
            </a:endParaRPr>
          </a:p>
          <a:p>
            <a:pPr>
              <a:lnSpc>
                <a:spcPct val="150000"/>
              </a:lnSpc>
            </a:pPr>
            <a:r>
              <a:rPr lang="en-US" sz="2100" dirty="0">
                <a:latin typeface="Helvetica" panose="020B0604020202020204" pitchFamily="34" charset="0"/>
                <a:cs typeface="Helvetica" panose="020B0604020202020204" pitchFamily="34" charset="0"/>
              </a:rPr>
              <a:t>	</a:t>
            </a:r>
            <a:r>
              <a:rPr lang="en-US" sz="2100" b="1" dirty="0">
                <a:latin typeface="Helvetica" panose="020B0604020202020204" pitchFamily="34" charset="0"/>
                <a:cs typeface="Helvetica" panose="020B0604020202020204" pitchFamily="34" charset="0"/>
              </a:rPr>
              <a:t>PRIMARY KEY </a:t>
            </a:r>
            <a:r>
              <a:rPr lang="en-US" sz="2100" dirty="0">
                <a:latin typeface="Helvetica" panose="020B0604020202020204" pitchFamily="34" charset="0"/>
                <a:cs typeface="Helvetica" panose="020B0604020202020204" pitchFamily="34" charset="0"/>
              </a:rPr>
              <a:t>(</a:t>
            </a:r>
            <a:r>
              <a:rPr lang="en-US" sz="2100" b="1" dirty="0" err="1">
                <a:solidFill>
                  <a:srgbClr val="C00000"/>
                </a:solidFill>
                <a:latin typeface="Helvetica" panose="020B0604020202020204" pitchFamily="34" charset="0"/>
                <a:cs typeface="Helvetica" panose="020B0604020202020204" pitchFamily="34" charset="0"/>
              </a:rPr>
              <a:t>FName,LName</a:t>
            </a:r>
            <a:r>
              <a:rPr lang="en-US" sz="2100" dirty="0">
                <a:latin typeface="Helvetica" panose="020B0604020202020204" pitchFamily="34" charset="0"/>
                <a:cs typeface="Helvetica" panose="020B0604020202020204" pitchFamily="34" charset="0"/>
              </a:rPr>
              <a:t>);</a:t>
            </a:r>
          </a:p>
        </p:txBody>
      </p:sp>
    </p:spTree>
    <p:extLst>
      <p:ext uri="{BB962C8B-B14F-4D97-AF65-F5344CB8AC3E}">
        <p14:creationId xmlns:p14="http://schemas.microsoft.com/office/powerpoint/2010/main" val="40157023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52</a:t>
            </a:fld>
            <a:endParaRPr lang="en-US"/>
          </a:p>
        </p:txBody>
      </p:sp>
      <p:sp>
        <p:nvSpPr>
          <p:cNvPr id="6" name="Rectangle 2"/>
          <p:cNvSpPr txBox="1">
            <a:spLocks noGrp="1" noChangeArrowheads="1"/>
          </p:cNvSpPr>
          <p:nvPr>
            <p:ph type="title"/>
          </p:nvPr>
        </p:nvSpPr>
        <p:spPr bwMode="auto">
          <a:xfrm>
            <a:off x="838200" y="-111116"/>
            <a:ext cx="10515600" cy="726256"/>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kern="0" dirty="0">
                <a:solidFill>
                  <a:srgbClr val="CC3300"/>
                </a:solidFill>
                <a:latin typeface="Helvetica"/>
              </a:rPr>
              <a:t>..</a:t>
            </a: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
        <p:nvSpPr>
          <p:cNvPr id="7" name="Rectangle 6"/>
          <p:cNvSpPr/>
          <p:nvPr/>
        </p:nvSpPr>
        <p:spPr>
          <a:xfrm>
            <a:off x="648930" y="742451"/>
            <a:ext cx="11208773" cy="5349157"/>
          </a:xfrm>
          <a:prstGeom prst="rect">
            <a:avLst/>
          </a:prstGeom>
        </p:spPr>
        <p:txBody>
          <a:bodyPr wrap="square">
            <a:spAutoFit/>
          </a:bodyPr>
          <a:lstStyle/>
          <a:p>
            <a:pPr>
              <a:spcBef>
                <a:spcPts val="600"/>
              </a:spcBef>
            </a:pPr>
            <a:r>
              <a:rPr lang="en-US" sz="2400" b="1" dirty="0">
                <a:solidFill>
                  <a:srgbClr val="C00000"/>
                </a:solidFill>
                <a:latin typeface="Helvetica" panose="020B0604020202020204" pitchFamily="34" charset="0"/>
                <a:cs typeface="Helvetica" panose="020B0604020202020204" pitchFamily="34" charset="0"/>
              </a:rPr>
              <a:t>Adding FOREIGN KEY Constraint to a column</a:t>
            </a:r>
          </a:p>
          <a:p>
            <a:pPr>
              <a:spcBef>
                <a:spcPts val="600"/>
              </a:spcBef>
            </a:pPr>
            <a:r>
              <a:rPr lang="en-US" b="1" dirty="0">
                <a:latin typeface="Helvetica" panose="020B0604020202020204" pitchFamily="34" charset="0"/>
                <a:cs typeface="Helvetica" panose="020B0604020202020204" pitchFamily="34" charset="0"/>
              </a:rPr>
              <a:t>Syntax:</a:t>
            </a:r>
            <a:endParaRPr lang="en-US" sz="400" b="1" dirty="0">
              <a:latin typeface="Helvetica" panose="020B0604020202020204" pitchFamily="34" charset="0"/>
              <a:cs typeface="Helvetica" panose="020B0604020202020204" pitchFamily="34" charset="0"/>
            </a:endParaRPr>
          </a:p>
          <a:p>
            <a:pPr lvl="1">
              <a:lnSpc>
                <a:spcPct val="140000"/>
              </a:lnSpc>
            </a:pPr>
            <a:r>
              <a:rPr lang="en-US" sz="2100" dirty="0">
                <a:latin typeface="Arial Unicode MS"/>
              </a:rPr>
              <a:t>ALTER TABLE table_name </a:t>
            </a:r>
          </a:p>
          <a:p>
            <a:pPr lvl="1">
              <a:lnSpc>
                <a:spcPct val="140000"/>
              </a:lnSpc>
            </a:pPr>
            <a:r>
              <a:rPr lang="en-US" sz="2100" dirty="0">
                <a:latin typeface="Arial Unicode MS"/>
              </a:rPr>
              <a:t>ADD CONSTRAINT constraint_name </a:t>
            </a:r>
          </a:p>
          <a:p>
            <a:pPr lvl="1">
              <a:lnSpc>
                <a:spcPct val="140000"/>
              </a:lnSpc>
            </a:pPr>
            <a:r>
              <a:rPr lang="en-US" sz="2100" b="1" dirty="0">
                <a:latin typeface="Arial Unicode MS"/>
              </a:rPr>
              <a:t>FOREIGN KEY </a:t>
            </a:r>
            <a:r>
              <a:rPr lang="en-US" sz="2400" dirty="0">
                <a:latin typeface="Arial Unicode MS"/>
              </a:rPr>
              <a:t>(</a:t>
            </a:r>
            <a:r>
              <a:rPr lang="en-US" sz="2100" dirty="0">
                <a:latin typeface="Arial Unicode MS"/>
              </a:rPr>
              <a:t>column1, column2, ... column_n</a:t>
            </a:r>
            <a:r>
              <a:rPr lang="en-US" sz="2400" dirty="0">
                <a:latin typeface="Arial Unicode MS"/>
              </a:rPr>
              <a:t>)</a:t>
            </a:r>
            <a:r>
              <a:rPr lang="en-US" sz="2100" dirty="0">
                <a:latin typeface="Arial Unicode MS"/>
              </a:rPr>
              <a:t> </a:t>
            </a:r>
          </a:p>
          <a:p>
            <a:pPr lvl="1">
              <a:lnSpc>
                <a:spcPct val="140000"/>
              </a:lnSpc>
            </a:pPr>
            <a:r>
              <a:rPr lang="en-US" sz="2100" b="1" dirty="0">
                <a:latin typeface="Arial Unicode MS"/>
              </a:rPr>
              <a:t>REFERENCES parent_table </a:t>
            </a:r>
            <a:r>
              <a:rPr lang="en-US" sz="2400" dirty="0">
                <a:latin typeface="Arial Unicode MS"/>
              </a:rPr>
              <a:t>(</a:t>
            </a:r>
            <a:r>
              <a:rPr lang="en-US" sz="2100" dirty="0">
                <a:latin typeface="Arial Unicode MS"/>
              </a:rPr>
              <a:t>column1, column2, ... column_n</a:t>
            </a:r>
            <a:r>
              <a:rPr lang="en-US" sz="2400" dirty="0">
                <a:latin typeface="Arial Unicode MS"/>
              </a:rPr>
              <a:t>)</a:t>
            </a:r>
            <a:r>
              <a:rPr lang="en-US" sz="2100" dirty="0">
                <a:latin typeface="Arial Unicode MS"/>
              </a:rPr>
              <a:t>; </a:t>
            </a:r>
          </a:p>
          <a:p>
            <a:pPr lvl="1">
              <a:lnSpc>
                <a:spcPct val="140000"/>
              </a:lnSpc>
            </a:pPr>
            <a:r>
              <a:rPr lang="en-US" sz="500" dirty="0">
                <a:latin typeface="Arial Unicode MS"/>
              </a:rPr>
              <a:t> </a:t>
            </a:r>
          </a:p>
          <a:p>
            <a:pPr>
              <a:lnSpc>
                <a:spcPct val="150000"/>
              </a:lnSpc>
            </a:pPr>
            <a:r>
              <a:rPr lang="en-US" b="1" dirty="0">
                <a:latin typeface="Helvetica" panose="020B0604020202020204" pitchFamily="34" charset="0"/>
                <a:cs typeface="Helvetica" panose="020B0604020202020204" pitchFamily="34" charset="0"/>
              </a:rPr>
              <a:t>Example:</a:t>
            </a:r>
            <a:r>
              <a:rPr lang="en-US" dirty="0">
                <a:latin typeface="Helvetica" panose="020B0604020202020204" pitchFamily="34" charset="0"/>
                <a:cs typeface="Helvetica" panose="020B0604020202020204" pitchFamily="34" charset="0"/>
              </a:rPr>
              <a:t> Assume that </a:t>
            </a:r>
            <a:r>
              <a:rPr lang="en-US" b="1" dirty="0">
                <a:latin typeface="Helvetica" panose="020B0604020202020204" pitchFamily="34" charset="0"/>
                <a:cs typeface="Helvetica" panose="020B0604020202020204" pitchFamily="34" charset="0"/>
              </a:rPr>
              <a:t>Person(</a:t>
            </a:r>
            <a:r>
              <a:rPr lang="en-US" b="1" dirty="0" err="1">
                <a:solidFill>
                  <a:srgbClr val="C00000"/>
                </a:solidFill>
                <a:latin typeface="Helvetica" panose="020B0604020202020204" pitchFamily="34" charset="0"/>
                <a:cs typeface="Helvetica" panose="020B0604020202020204" pitchFamily="34" charset="0"/>
              </a:rPr>
              <a:t>Fname</a:t>
            </a:r>
            <a:r>
              <a:rPr lang="en-US" b="1" dirty="0">
                <a:solidFill>
                  <a:srgbClr val="C00000"/>
                </a:solidFill>
                <a:latin typeface="Helvetica" panose="020B0604020202020204" pitchFamily="34" charset="0"/>
                <a:cs typeface="Helvetica" panose="020B0604020202020204" pitchFamily="34" charset="0"/>
              </a:rPr>
              <a:t>, </a:t>
            </a:r>
            <a:r>
              <a:rPr lang="en-US" b="1" dirty="0" err="1">
                <a:solidFill>
                  <a:srgbClr val="C00000"/>
                </a:solidFill>
                <a:latin typeface="Helvetica" panose="020B0604020202020204" pitchFamily="34" charset="0"/>
                <a:cs typeface="Helvetica" panose="020B0604020202020204" pitchFamily="34" charset="0"/>
              </a:rPr>
              <a:t>Lname</a:t>
            </a:r>
            <a:r>
              <a:rPr lang="en-US" b="1" dirty="0">
                <a:latin typeface="Helvetica" panose="020B0604020202020204" pitchFamily="34" charset="0"/>
                <a:cs typeface="Helvetica" panose="020B0604020202020204" pitchFamily="34" charset="0"/>
              </a:rPr>
              <a:t>, Address) </a:t>
            </a:r>
            <a:r>
              <a:rPr lang="en-US" dirty="0">
                <a:latin typeface="Helvetica" panose="020B0604020202020204" pitchFamily="34" charset="0"/>
                <a:cs typeface="Helvetica" panose="020B0604020202020204" pitchFamily="34" charset="0"/>
              </a:rPr>
              <a:t>table is already created with </a:t>
            </a:r>
            <a:r>
              <a:rPr lang="en-US" b="1" dirty="0">
                <a:latin typeface="Helvetica" panose="020B0604020202020204" pitchFamily="34" charset="0"/>
                <a:cs typeface="Helvetica" panose="020B0604020202020204" pitchFamily="34" charset="0"/>
              </a:rPr>
              <a:t>(</a:t>
            </a:r>
            <a:r>
              <a:rPr lang="en-US" b="1" dirty="0" err="1">
                <a:latin typeface="Helvetica" panose="020B0604020202020204" pitchFamily="34" charset="0"/>
                <a:cs typeface="Helvetica" panose="020B0604020202020204" pitchFamily="34" charset="0"/>
              </a:rPr>
              <a:t>Fname</a:t>
            </a:r>
            <a:r>
              <a:rPr lang="en-US" b="1" dirty="0">
                <a:latin typeface="Helvetica" panose="020B0604020202020204" pitchFamily="34" charset="0"/>
                <a:cs typeface="Helvetica" panose="020B0604020202020204" pitchFamily="34" charset="0"/>
              </a:rPr>
              <a:t>, </a:t>
            </a:r>
            <a:r>
              <a:rPr lang="en-US" b="1" dirty="0" err="1">
                <a:latin typeface="Helvetica" panose="020B0604020202020204" pitchFamily="34" charset="0"/>
                <a:cs typeface="Helvetica" panose="020B0604020202020204" pitchFamily="34" charset="0"/>
              </a:rPr>
              <a:t>LName</a:t>
            </a:r>
            <a:r>
              <a:rPr lang="en-US" b="1" dirty="0">
                <a:latin typeface="Helvetica" panose="020B0604020202020204" pitchFamily="34" charset="0"/>
                <a:cs typeface="Helvetica" panose="020B0604020202020204" pitchFamily="34" charset="0"/>
              </a:rPr>
              <a:t>)</a:t>
            </a:r>
            <a:r>
              <a:rPr lang="en-US" dirty="0">
                <a:latin typeface="Helvetica" panose="020B0604020202020204" pitchFamily="34" charset="0"/>
                <a:cs typeface="Helvetica" panose="020B0604020202020204" pitchFamily="34" charset="0"/>
              </a:rPr>
              <a:t> as </a:t>
            </a:r>
            <a:r>
              <a:rPr lang="en-US" b="1" dirty="0">
                <a:solidFill>
                  <a:srgbClr val="C00000"/>
                </a:solidFill>
                <a:latin typeface="Helvetica" panose="020B0604020202020204" pitchFamily="34" charset="0"/>
                <a:cs typeface="Helvetica" panose="020B0604020202020204" pitchFamily="34" charset="0"/>
              </a:rPr>
              <a:t>Primary Key.</a:t>
            </a:r>
            <a:r>
              <a:rPr lang="en-US" dirty="0">
                <a:latin typeface="Helvetica" panose="020B0604020202020204" pitchFamily="34" charset="0"/>
                <a:cs typeface="Helvetica" panose="020B0604020202020204" pitchFamily="34" charset="0"/>
              </a:rPr>
              <a:t> Also a table </a:t>
            </a:r>
            <a:r>
              <a:rPr lang="en-US" b="1" dirty="0">
                <a:latin typeface="Helvetica" panose="020B0604020202020204" pitchFamily="34" charset="0"/>
                <a:cs typeface="Helvetica" panose="020B0604020202020204" pitchFamily="34" charset="0"/>
              </a:rPr>
              <a:t>Customer(</a:t>
            </a:r>
            <a:r>
              <a:rPr lang="en-US" dirty="0" err="1">
                <a:solidFill>
                  <a:srgbClr val="C00000"/>
                </a:solidFill>
                <a:latin typeface="Helvetica" panose="020B0604020202020204" pitchFamily="34" charset="0"/>
                <a:cs typeface="Helvetica" panose="020B0604020202020204" pitchFamily="34" charset="0"/>
              </a:rPr>
              <a:t>Cust_Id</a:t>
            </a:r>
            <a:r>
              <a:rPr lang="en-US" dirty="0">
                <a:solidFill>
                  <a:srgbClr val="C00000"/>
                </a:solidFill>
                <a:latin typeface="Helvetica" panose="020B0604020202020204" pitchFamily="34" charset="0"/>
                <a:cs typeface="Helvetica" panose="020B0604020202020204" pitchFamily="34" charset="0"/>
              </a:rPr>
              <a:t>, </a:t>
            </a:r>
            <a:r>
              <a:rPr lang="en-US" dirty="0" err="1">
                <a:solidFill>
                  <a:srgbClr val="C00000"/>
                </a:solidFill>
                <a:latin typeface="Helvetica" panose="020B0604020202020204" pitchFamily="34" charset="0"/>
                <a:cs typeface="Helvetica" panose="020B0604020202020204" pitchFamily="34" charset="0"/>
              </a:rPr>
              <a:t>Cust_FName,Cust_Lname,Credits</a:t>
            </a:r>
            <a:r>
              <a:rPr lang="en-US" b="1" dirty="0">
                <a:latin typeface="Helvetica" panose="020B0604020202020204" pitchFamily="34" charset="0"/>
                <a:cs typeface="Helvetica" panose="020B0604020202020204" pitchFamily="34" charset="0"/>
              </a:rPr>
              <a:t>)</a:t>
            </a:r>
            <a:r>
              <a:rPr lang="en-US" dirty="0">
                <a:latin typeface="Helvetica" panose="020B0604020202020204" pitchFamily="34" charset="0"/>
                <a:cs typeface="Helvetica" panose="020B0604020202020204" pitchFamily="34" charset="0"/>
              </a:rPr>
              <a:t> is also created already. Now we want to </a:t>
            </a:r>
            <a:r>
              <a:rPr lang="en-US" b="1" u="sng" dirty="0">
                <a:latin typeface="Helvetica" panose="020B0604020202020204" pitchFamily="34" charset="0"/>
                <a:cs typeface="Helvetica" panose="020B0604020202020204" pitchFamily="34" charset="0"/>
              </a:rPr>
              <a:t>make</a:t>
            </a:r>
            <a:r>
              <a:rPr lang="en-US" u="sng" dirty="0">
                <a:latin typeface="Helvetica" panose="020B0604020202020204" pitchFamily="34" charset="0"/>
                <a:cs typeface="Helvetica" panose="020B0604020202020204" pitchFamily="34" charset="0"/>
              </a:rPr>
              <a:t> </a:t>
            </a:r>
            <a:r>
              <a:rPr lang="en-US" b="1" u="sng" dirty="0">
                <a:latin typeface="Helvetica" panose="020B0604020202020204" pitchFamily="34" charset="0"/>
                <a:cs typeface="Helvetica" panose="020B0604020202020204" pitchFamily="34" charset="0"/>
              </a:rPr>
              <a:t>(</a:t>
            </a:r>
            <a:r>
              <a:rPr lang="en-US" b="1" u="sng" dirty="0" err="1">
                <a:latin typeface="Helvetica" panose="020B0604020202020204" pitchFamily="34" charset="0"/>
                <a:cs typeface="Helvetica" panose="020B0604020202020204" pitchFamily="34" charset="0"/>
              </a:rPr>
              <a:t>Cust_FName,Cust_Lname</a:t>
            </a:r>
            <a:r>
              <a:rPr lang="en-US" b="1" u="sng" dirty="0">
                <a:latin typeface="Helvetica" panose="020B0604020202020204" pitchFamily="34" charset="0"/>
                <a:cs typeface="Helvetica" panose="020B0604020202020204" pitchFamily="34" charset="0"/>
              </a:rPr>
              <a:t>) as foreign key </a:t>
            </a:r>
            <a:r>
              <a:rPr lang="en-US" b="1" dirty="0">
                <a:latin typeface="Helvetica" panose="020B0604020202020204" pitchFamily="34" charset="0"/>
                <a:cs typeface="Helvetica" panose="020B0604020202020204" pitchFamily="34" charset="0"/>
              </a:rPr>
              <a:t>referencing Person</a:t>
            </a:r>
          </a:p>
          <a:p>
            <a:pPr>
              <a:lnSpc>
                <a:spcPct val="120000"/>
              </a:lnSpc>
            </a:pPr>
            <a:endParaRPr lang="en-US" dirty="0">
              <a:latin typeface="Helvetica" panose="020B0604020202020204" pitchFamily="34" charset="0"/>
              <a:cs typeface="Helvetica" panose="020B0604020202020204" pitchFamily="34" charset="0"/>
            </a:endParaRPr>
          </a:p>
          <a:p>
            <a:pPr>
              <a:lnSpc>
                <a:spcPct val="150000"/>
              </a:lnSpc>
            </a:pPr>
            <a:r>
              <a:rPr lang="en-US" dirty="0">
                <a:latin typeface="Helvetica" panose="020B0604020202020204" pitchFamily="34" charset="0"/>
                <a:cs typeface="Helvetica" panose="020B0604020202020204" pitchFamily="34" charset="0"/>
              </a:rPr>
              <a:t>	</a:t>
            </a:r>
            <a:r>
              <a:rPr lang="en-US" sz="2100" dirty="0">
                <a:latin typeface="Arial Unicode MS"/>
              </a:rPr>
              <a:t>ALTER TABLE Customer ADD CONSTRAINT </a:t>
            </a:r>
            <a:r>
              <a:rPr lang="en-US" sz="2100" b="1" dirty="0" err="1">
                <a:solidFill>
                  <a:srgbClr val="C00000"/>
                </a:solidFill>
                <a:latin typeface="Arial Unicode MS"/>
              </a:rPr>
              <a:t>Cust_FLName_FK</a:t>
            </a:r>
            <a:endParaRPr lang="en-US" sz="2100" b="1" dirty="0">
              <a:solidFill>
                <a:srgbClr val="C00000"/>
              </a:solidFill>
              <a:latin typeface="Arial Unicode MS"/>
            </a:endParaRPr>
          </a:p>
          <a:p>
            <a:pPr>
              <a:lnSpc>
                <a:spcPct val="150000"/>
              </a:lnSpc>
            </a:pPr>
            <a:r>
              <a:rPr lang="en-US" sz="2100" dirty="0">
                <a:latin typeface="Arial Unicode MS"/>
              </a:rPr>
              <a:t>	</a:t>
            </a:r>
            <a:r>
              <a:rPr lang="en-US" sz="2100" b="1" dirty="0">
                <a:latin typeface="Arial Unicode MS"/>
              </a:rPr>
              <a:t>FOREIGN KEY(Cust_FName, Cust_Lname) </a:t>
            </a:r>
            <a:r>
              <a:rPr lang="en-US" sz="2100" b="1" dirty="0">
                <a:solidFill>
                  <a:srgbClr val="C00000"/>
                </a:solidFill>
                <a:latin typeface="Arial Unicode MS"/>
              </a:rPr>
              <a:t>REFERENCES Person</a:t>
            </a:r>
            <a:r>
              <a:rPr lang="en-US" sz="2100" b="1" dirty="0">
                <a:latin typeface="Arial Unicode MS"/>
              </a:rPr>
              <a:t>;</a:t>
            </a:r>
          </a:p>
        </p:txBody>
      </p:sp>
    </p:spTree>
    <p:extLst>
      <p:ext uri="{BB962C8B-B14F-4D97-AF65-F5344CB8AC3E}">
        <p14:creationId xmlns:p14="http://schemas.microsoft.com/office/powerpoint/2010/main" val="26069484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53</a:t>
            </a:fld>
            <a:endParaRPr lang="en-US"/>
          </a:p>
        </p:txBody>
      </p:sp>
      <p:sp>
        <p:nvSpPr>
          <p:cNvPr id="6" name="Rectangle 2"/>
          <p:cNvSpPr txBox="1">
            <a:spLocks noGrp="1" noChangeArrowheads="1"/>
          </p:cNvSpPr>
          <p:nvPr>
            <p:ph type="title"/>
          </p:nvPr>
        </p:nvSpPr>
        <p:spPr bwMode="auto">
          <a:xfrm>
            <a:off x="838200" y="-111116"/>
            <a:ext cx="10515600" cy="726256"/>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kern="0" dirty="0">
                <a:solidFill>
                  <a:srgbClr val="CC3300"/>
                </a:solidFill>
                <a:latin typeface="Helvetica"/>
              </a:rPr>
              <a:t>..</a:t>
            </a: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
        <p:nvSpPr>
          <p:cNvPr id="7" name="Rectangle 6"/>
          <p:cNvSpPr/>
          <p:nvPr/>
        </p:nvSpPr>
        <p:spPr>
          <a:xfrm>
            <a:off x="648930" y="816193"/>
            <a:ext cx="11208773" cy="5156925"/>
          </a:xfrm>
          <a:prstGeom prst="rect">
            <a:avLst/>
          </a:prstGeom>
        </p:spPr>
        <p:txBody>
          <a:bodyPr wrap="square">
            <a:spAutoFit/>
          </a:bodyPr>
          <a:lstStyle/>
          <a:p>
            <a:pPr>
              <a:spcBef>
                <a:spcPts val="600"/>
              </a:spcBef>
            </a:pPr>
            <a:r>
              <a:rPr lang="en-US" sz="2400" b="1" dirty="0">
                <a:solidFill>
                  <a:srgbClr val="C00000"/>
                </a:solidFill>
                <a:latin typeface="Helvetica" panose="020B0604020202020204" pitchFamily="34" charset="0"/>
                <a:cs typeface="Helvetica" panose="020B0604020202020204" pitchFamily="34" charset="0"/>
              </a:rPr>
              <a:t>Removing Constraints </a:t>
            </a:r>
          </a:p>
          <a:p>
            <a:pPr>
              <a:spcBef>
                <a:spcPts val="600"/>
              </a:spcBef>
            </a:pPr>
            <a:r>
              <a:rPr lang="en-US" sz="2100" b="1" dirty="0">
                <a:latin typeface="Helvetica" panose="020B0604020202020204" pitchFamily="34" charset="0"/>
                <a:cs typeface="Helvetica" panose="020B0604020202020204" pitchFamily="34" charset="0"/>
              </a:rPr>
              <a:t>Syntax:</a:t>
            </a:r>
          </a:p>
          <a:p>
            <a:pPr lvl="1">
              <a:lnSpc>
                <a:spcPct val="140000"/>
              </a:lnSpc>
            </a:pPr>
            <a:r>
              <a:rPr lang="en-US" sz="2100" dirty="0">
                <a:latin typeface="Helvetica" panose="020B0604020202020204" pitchFamily="34" charset="0"/>
                <a:cs typeface="Helvetica" panose="020B0604020202020204" pitchFamily="34" charset="0"/>
              </a:rPr>
              <a:t>ALTER TABLE table_name </a:t>
            </a:r>
          </a:p>
          <a:p>
            <a:pPr lvl="1">
              <a:lnSpc>
                <a:spcPct val="140000"/>
              </a:lnSpc>
            </a:pPr>
            <a:r>
              <a:rPr lang="en-US" sz="2100" b="1" dirty="0">
                <a:latin typeface="Helvetica" panose="020B0604020202020204" pitchFamily="34" charset="0"/>
                <a:cs typeface="Helvetica" panose="020B0604020202020204" pitchFamily="34" charset="0"/>
              </a:rPr>
              <a:t>DROP CONSTRAINT </a:t>
            </a:r>
            <a:r>
              <a:rPr lang="en-US" sz="2100" dirty="0">
                <a:latin typeface="Helvetica" panose="020B0604020202020204" pitchFamily="34" charset="0"/>
                <a:cs typeface="Helvetica" panose="020B0604020202020204" pitchFamily="34" charset="0"/>
              </a:rPr>
              <a:t>constraint_name ;</a:t>
            </a:r>
          </a:p>
          <a:p>
            <a:pPr lvl="1">
              <a:lnSpc>
                <a:spcPct val="140000"/>
              </a:lnSpc>
            </a:pPr>
            <a:r>
              <a:rPr lang="en-US" sz="800" dirty="0">
                <a:latin typeface="Helvetica" panose="020B0604020202020204" pitchFamily="34" charset="0"/>
                <a:cs typeface="Helvetica" panose="020B0604020202020204" pitchFamily="34" charset="0"/>
              </a:rPr>
              <a:t> </a:t>
            </a:r>
            <a:endParaRPr lang="en-US" sz="2100" dirty="0">
              <a:latin typeface="Helvetica" panose="020B0604020202020204" pitchFamily="34" charset="0"/>
              <a:cs typeface="Helvetica" panose="020B0604020202020204" pitchFamily="34" charset="0"/>
            </a:endParaRPr>
          </a:p>
          <a:p>
            <a:pPr>
              <a:lnSpc>
                <a:spcPct val="150000"/>
              </a:lnSpc>
            </a:pPr>
            <a:r>
              <a:rPr lang="en-US" sz="2100" b="1" dirty="0">
                <a:latin typeface="Helvetica" panose="020B0604020202020204" pitchFamily="34" charset="0"/>
                <a:cs typeface="Helvetica" panose="020B0604020202020204" pitchFamily="34" charset="0"/>
              </a:rPr>
              <a:t>Example:</a:t>
            </a:r>
            <a:r>
              <a:rPr lang="en-US" sz="2100" dirty="0">
                <a:latin typeface="Helvetica" panose="020B0604020202020204" pitchFamily="34" charset="0"/>
                <a:cs typeface="Helvetica" panose="020B0604020202020204" pitchFamily="34" charset="0"/>
              </a:rPr>
              <a:t> Assume that </a:t>
            </a:r>
            <a:r>
              <a:rPr lang="en-US" sz="2400" b="1" dirty="0">
                <a:latin typeface="Helvetica" panose="020B0604020202020204" pitchFamily="34" charset="0"/>
                <a:cs typeface="Helvetica" panose="020B0604020202020204" pitchFamily="34" charset="0"/>
              </a:rPr>
              <a:t>Person(</a:t>
            </a:r>
            <a:r>
              <a:rPr lang="en-US" sz="2400" b="1" dirty="0" err="1">
                <a:solidFill>
                  <a:srgbClr val="C00000"/>
                </a:solidFill>
                <a:latin typeface="Helvetica" panose="020B0604020202020204" pitchFamily="34" charset="0"/>
                <a:cs typeface="Helvetica" panose="020B0604020202020204" pitchFamily="34" charset="0"/>
              </a:rPr>
              <a:t>Fname</a:t>
            </a:r>
            <a:r>
              <a:rPr lang="en-US" sz="2400" b="1" dirty="0">
                <a:solidFill>
                  <a:srgbClr val="C00000"/>
                </a:solidFill>
                <a:latin typeface="Helvetica" panose="020B0604020202020204" pitchFamily="34" charset="0"/>
                <a:cs typeface="Helvetica" panose="020B0604020202020204" pitchFamily="34" charset="0"/>
              </a:rPr>
              <a:t>, </a:t>
            </a:r>
            <a:r>
              <a:rPr lang="en-US" sz="2400" b="1" dirty="0" err="1">
                <a:solidFill>
                  <a:srgbClr val="C00000"/>
                </a:solidFill>
                <a:latin typeface="Helvetica" panose="020B0604020202020204" pitchFamily="34" charset="0"/>
                <a:cs typeface="Helvetica" panose="020B0604020202020204" pitchFamily="34" charset="0"/>
              </a:rPr>
              <a:t>Lname</a:t>
            </a:r>
            <a:r>
              <a:rPr lang="en-US" sz="2400" b="1" dirty="0">
                <a:latin typeface="Helvetica" panose="020B0604020202020204" pitchFamily="34" charset="0"/>
                <a:cs typeface="Helvetica" panose="020B0604020202020204" pitchFamily="34" charset="0"/>
              </a:rPr>
              <a:t>, Address) </a:t>
            </a:r>
            <a:r>
              <a:rPr lang="en-US" sz="2100" dirty="0">
                <a:latin typeface="Helvetica" panose="020B0604020202020204" pitchFamily="34" charset="0"/>
                <a:cs typeface="Helvetica" panose="020B0604020202020204" pitchFamily="34" charset="0"/>
              </a:rPr>
              <a:t>table is already created with </a:t>
            </a:r>
            <a:r>
              <a:rPr lang="en-US" sz="2100" b="1" dirty="0">
                <a:latin typeface="Helvetica" panose="020B0604020202020204" pitchFamily="34" charset="0"/>
                <a:cs typeface="Helvetica" panose="020B0604020202020204" pitchFamily="34" charset="0"/>
              </a:rPr>
              <a:t>(</a:t>
            </a:r>
            <a:r>
              <a:rPr lang="en-US" sz="2400" b="1" dirty="0" err="1">
                <a:latin typeface="Helvetica" panose="020B0604020202020204" pitchFamily="34" charset="0"/>
                <a:cs typeface="Helvetica" panose="020B0604020202020204" pitchFamily="34" charset="0"/>
              </a:rPr>
              <a:t>Fname,LName</a:t>
            </a:r>
            <a:r>
              <a:rPr lang="en-US" sz="2400" b="1" dirty="0">
                <a:latin typeface="Helvetica" panose="020B0604020202020204" pitchFamily="34" charset="0"/>
                <a:cs typeface="Helvetica" panose="020B0604020202020204" pitchFamily="34" charset="0"/>
              </a:rPr>
              <a:t>)</a:t>
            </a:r>
            <a:r>
              <a:rPr lang="en-US" sz="2400" dirty="0">
                <a:latin typeface="Helvetica" panose="020B0604020202020204" pitchFamily="34" charset="0"/>
                <a:cs typeface="Helvetica" panose="020B0604020202020204" pitchFamily="34" charset="0"/>
              </a:rPr>
              <a:t> as </a:t>
            </a:r>
            <a:r>
              <a:rPr lang="en-US" sz="2400" b="1" dirty="0">
                <a:solidFill>
                  <a:srgbClr val="C00000"/>
                </a:solidFill>
                <a:latin typeface="Helvetica" panose="020B0604020202020204" pitchFamily="34" charset="0"/>
                <a:cs typeface="Helvetica" panose="020B0604020202020204" pitchFamily="34" charset="0"/>
              </a:rPr>
              <a:t>Primary Key</a:t>
            </a:r>
            <a:r>
              <a:rPr lang="en-US" sz="2100" b="1" dirty="0">
                <a:solidFill>
                  <a:srgbClr val="C00000"/>
                </a:solidFill>
                <a:latin typeface="Helvetica" panose="020B0604020202020204" pitchFamily="34" charset="0"/>
                <a:cs typeface="Helvetica" panose="020B0604020202020204" pitchFamily="34" charset="0"/>
              </a:rPr>
              <a:t>.</a:t>
            </a:r>
            <a:r>
              <a:rPr lang="en-US" sz="2100" dirty="0">
                <a:latin typeface="Helvetica" panose="020B0604020202020204" pitchFamily="34" charset="0"/>
                <a:cs typeface="Helvetica" panose="020B0604020202020204" pitchFamily="34" charset="0"/>
              </a:rPr>
              <a:t> Also a table </a:t>
            </a:r>
            <a:r>
              <a:rPr lang="en-US" sz="2100" b="1" dirty="0">
                <a:latin typeface="Helvetica" panose="020B0604020202020204" pitchFamily="34" charset="0"/>
                <a:cs typeface="Helvetica" panose="020B0604020202020204" pitchFamily="34" charset="0"/>
              </a:rPr>
              <a:t>Customer(</a:t>
            </a:r>
            <a:r>
              <a:rPr lang="en-US" sz="2100" b="1" dirty="0" err="1">
                <a:latin typeface="Helvetica" panose="020B0604020202020204" pitchFamily="34" charset="0"/>
                <a:cs typeface="Helvetica" panose="020B0604020202020204" pitchFamily="34" charset="0"/>
              </a:rPr>
              <a:t>Cust_Id</a:t>
            </a:r>
            <a:r>
              <a:rPr lang="en-US" sz="2100" b="1" dirty="0">
                <a:latin typeface="Helvetica" panose="020B0604020202020204" pitchFamily="34" charset="0"/>
                <a:cs typeface="Helvetica" panose="020B0604020202020204" pitchFamily="34" charset="0"/>
              </a:rPr>
              <a:t>, </a:t>
            </a:r>
            <a:r>
              <a:rPr lang="en-US" sz="2100" b="1" dirty="0" err="1">
                <a:latin typeface="Helvetica" panose="020B0604020202020204" pitchFamily="34" charset="0"/>
                <a:cs typeface="Helvetica" panose="020B0604020202020204" pitchFamily="34" charset="0"/>
              </a:rPr>
              <a:t>Cust_FName,Cust_Lname,Credits</a:t>
            </a:r>
            <a:r>
              <a:rPr lang="en-US" sz="2100" b="1" dirty="0">
                <a:latin typeface="Helvetica" panose="020B0604020202020204" pitchFamily="34" charset="0"/>
                <a:cs typeface="Helvetica" panose="020B0604020202020204" pitchFamily="34" charset="0"/>
              </a:rPr>
              <a:t>)</a:t>
            </a:r>
            <a:r>
              <a:rPr lang="en-US" sz="2100" dirty="0">
                <a:latin typeface="Helvetica" panose="020B0604020202020204" pitchFamily="34" charset="0"/>
                <a:cs typeface="Helvetica" panose="020B0604020202020204" pitchFamily="34" charset="0"/>
              </a:rPr>
              <a:t> is also created already. </a:t>
            </a:r>
          </a:p>
          <a:p>
            <a:pPr marL="342900" indent="-342900">
              <a:lnSpc>
                <a:spcPct val="150000"/>
              </a:lnSpc>
              <a:buFont typeface="Arial" panose="020B0604020202020204" pitchFamily="34" charset="0"/>
              <a:buChar char="•"/>
            </a:pPr>
            <a:r>
              <a:rPr lang="en-US" sz="2200" dirty="0">
                <a:latin typeface="Helvetica" panose="020B0604020202020204" pitchFamily="34" charset="0"/>
                <a:cs typeface="Helvetica" panose="020B0604020202020204" pitchFamily="34" charset="0"/>
              </a:rPr>
              <a:t>Now we want to </a:t>
            </a:r>
            <a:r>
              <a:rPr lang="en-US" sz="2200" b="1" u="sng" dirty="0">
                <a:solidFill>
                  <a:srgbClr val="C00000"/>
                </a:solidFill>
                <a:latin typeface="Helvetica" panose="020B0604020202020204" pitchFamily="34" charset="0"/>
                <a:cs typeface="Helvetica" panose="020B0604020202020204" pitchFamily="34" charset="0"/>
              </a:rPr>
              <a:t>remove foreign key constraint</a:t>
            </a:r>
            <a:r>
              <a:rPr lang="en-US" sz="2200" dirty="0">
                <a:latin typeface="Helvetica" panose="020B0604020202020204" pitchFamily="34" charset="0"/>
                <a:cs typeface="Helvetica" panose="020B0604020202020204" pitchFamily="34" charset="0"/>
              </a:rPr>
              <a:t> from </a:t>
            </a:r>
            <a:r>
              <a:rPr lang="en-US" sz="2200" b="1" dirty="0">
                <a:latin typeface="Helvetica" panose="020B0604020202020204" pitchFamily="34" charset="0"/>
                <a:cs typeface="Helvetica" panose="020B0604020202020204" pitchFamily="34" charset="0"/>
              </a:rPr>
              <a:t>(</a:t>
            </a:r>
            <a:r>
              <a:rPr lang="en-US" sz="2200" b="1" dirty="0" err="1">
                <a:latin typeface="Helvetica" panose="020B0604020202020204" pitchFamily="34" charset="0"/>
                <a:cs typeface="Helvetica" panose="020B0604020202020204" pitchFamily="34" charset="0"/>
              </a:rPr>
              <a:t>Cust_FName,Cust_Lname</a:t>
            </a:r>
            <a:r>
              <a:rPr lang="en-US" sz="2200" b="1" dirty="0">
                <a:latin typeface="Helvetica" panose="020B0604020202020204" pitchFamily="34" charset="0"/>
                <a:cs typeface="Helvetica" panose="020B0604020202020204" pitchFamily="34" charset="0"/>
              </a:rPr>
              <a:t>).</a:t>
            </a:r>
          </a:p>
          <a:p>
            <a:pPr>
              <a:lnSpc>
                <a:spcPct val="150000"/>
              </a:lnSpc>
            </a:pPr>
            <a:endParaRPr lang="en-US" sz="1100" dirty="0">
              <a:latin typeface="Helvetica" panose="020B0604020202020204" pitchFamily="34" charset="0"/>
              <a:cs typeface="Helvetica" panose="020B0604020202020204" pitchFamily="34" charset="0"/>
            </a:endParaRPr>
          </a:p>
          <a:p>
            <a:pPr>
              <a:lnSpc>
                <a:spcPct val="150000"/>
              </a:lnSpc>
            </a:pPr>
            <a:r>
              <a:rPr lang="en-US" sz="2100" dirty="0">
                <a:latin typeface="Helvetica" panose="020B0604020202020204" pitchFamily="34" charset="0"/>
                <a:cs typeface="Helvetica" panose="020B0604020202020204" pitchFamily="34" charset="0"/>
              </a:rPr>
              <a:t>	ALTER TABLE Customer </a:t>
            </a:r>
            <a:r>
              <a:rPr lang="en-US" sz="2100" b="1" dirty="0">
                <a:latin typeface="Helvetica" panose="020B0604020202020204" pitchFamily="34" charset="0"/>
                <a:cs typeface="Helvetica" panose="020B0604020202020204" pitchFamily="34" charset="0"/>
              </a:rPr>
              <a:t>DROP CONSTRAINT </a:t>
            </a:r>
            <a:r>
              <a:rPr lang="en-US" sz="2100" b="1" dirty="0" err="1">
                <a:solidFill>
                  <a:srgbClr val="C00000"/>
                </a:solidFill>
                <a:latin typeface="Helvetica" panose="020B0604020202020204" pitchFamily="34" charset="0"/>
                <a:cs typeface="Helvetica" panose="020B0604020202020204" pitchFamily="34" charset="0"/>
              </a:rPr>
              <a:t>Cust_FLName_FK</a:t>
            </a:r>
            <a:r>
              <a:rPr lang="en-US" sz="2100" b="1" dirty="0">
                <a:solidFill>
                  <a:srgbClr val="C00000"/>
                </a:solidFill>
                <a:latin typeface="Helvetica" panose="020B0604020202020204" pitchFamily="34" charset="0"/>
                <a:cs typeface="Helvetica" panose="020B0604020202020204" pitchFamily="34" charset="0"/>
              </a:rPr>
              <a:t>;</a:t>
            </a:r>
          </a:p>
          <a:p>
            <a:pPr>
              <a:lnSpc>
                <a:spcPct val="150000"/>
              </a:lnSpc>
            </a:pPr>
            <a:r>
              <a:rPr lang="en-US" sz="2100" dirty="0">
                <a:latin typeface="Helvetica" panose="020B0604020202020204" pitchFamily="34" charset="0"/>
                <a:cs typeface="Helvetica" panose="020B0604020202020204" pitchFamily="34" charset="0"/>
              </a:rPr>
              <a:t>	</a:t>
            </a:r>
            <a:endParaRPr lang="en-US" sz="2100" b="1"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4678254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345FFB-0DF7-49DD-AE47-4ABA01E93915}"/>
              </a:ext>
            </a:extLst>
          </p:cNvPr>
          <p:cNvSpPr>
            <a:spLocks noGrp="1"/>
          </p:cNvSpPr>
          <p:nvPr>
            <p:ph idx="1"/>
          </p:nvPr>
        </p:nvSpPr>
        <p:spPr>
          <a:xfrm>
            <a:off x="542440" y="728422"/>
            <a:ext cx="11422251" cy="5780868"/>
          </a:xfrm>
        </p:spPr>
        <p:txBody>
          <a:bodyPr/>
          <a:lstStyle/>
          <a:p>
            <a:pPr marL="0" indent="0">
              <a:spcBef>
                <a:spcPts val="600"/>
              </a:spcBef>
              <a:buNone/>
            </a:pPr>
            <a:r>
              <a:rPr lang="en-IN" sz="2400" b="1" dirty="0">
                <a:solidFill>
                  <a:srgbClr val="C00000"/>
                </a:solidFill>
                <a:latin typeface="Helvetica" panose="020B0604020202020204" pitchFamily="34" charset="0"/>
                <a:cs typeface="Helvetica" panose="020B0604020202020204" pitchFamily="34" charset="0"/>
              </a:rPr>
              <a:t>Renaming Constraints </a:t>
            </a:r>
          </a:p>
          <a:p>
            <a:pPr marL="0" indent="0">
              <a:lnSpc>
                <a:spcPct val="150000"/>
              </a:lnSpc>
              <a:spcBef>
                <a:spcPts val="600"/>
              </a:spcBef>
              <a:buNone/>
            </a:pPr>
            <a:r>
              <a:rPr lang="en-US" sz="2100" dirty="0">
                <a:latin typeface="Helvetica" panose="020B0604020202020204" pitchFamily="34" charset="0"/>
                <a:cs typeface="Helvetica" panose="020B0604020202020204" pitchFamily="34" charset="0"/>
              </a:rPr>
              <a:t>The</a:t>
            </a:r>
            <a:r>
              <a:rPr lang="en-US" sz="2000" dirty="0">
                <a:latin typeface="Helvetica" panose="020B0604020202020204" pitchFamily="34" charset="0"/>
                <a:cs typeface="Helvetica" panose="020B0604020202020204" pitchFamily="34" charset="0"/>
              </a:rPr>
              <a:t> </a:t>
            </a:r>
            <a:r>
              <a:rPr lang="en-US" sz="2100" dirty="0">
                <a:latin typeface="Helvetica" panose="020B0604020202020204" pitchFamily="34" charset="0"/>
                <a:cs typeface="Helvetica" panose="020B0604020202020204" pitchFamily="34" charset="0"/>
              </a:rPr>
              <a:t>ALTER TABLE...RENAME CONSTRAINT statement enables you to rename any currently existing constraint for a table. The new constraint name must not conflict with any existing constraint names for a user.</a:t>
            </a:r>
            <a:endParaRPr lang="en-IN" sz="2100" dirty="0">
              <a:latin typeface="Helvetica" panose="020B0604020202020204" pitchFamily="34" charset="0"/>
              <a:cs typeface="Helvetica" panose="020B0604020202020204" pitchFamily="34" charset="0"/>
            </a:endParaRPr>
          </a:p>
          <a:p>
            <a:pPr marL="0" indent="0">
              <a:spcBef>
                <a:spcPts val="600"/>
              </a:spcBef>
              <a:buNone/>
            </a:pPr>
            <a:r>
              <a:rPr lang="en-IN" sz="2000" b="1" dirty="0">
                <a:latin typeface="Helvetica" panose="020B0604020202020204" pitchFamily="34" charset="0"/>
                <a:cs typeface="Helvetica" panose="020B0604020202020204" pitchFamily="34" charset="0"/>
              </a:rPr>
              <a:t>Syntax:</a:t>
            </a:r>
          </a:p>
          <a:p>
            <a:pPr marL="0" indent="0">
              <a:lnSpc>
                <a:spcPct val="112000"/>
              </a:lnSpc>
              <a:spcBef>
                <a:spcPts val="600"/>
              </a:spcBef>
              <a:buNone/>
            </a:pPr>
            <a:r>
              <a:rPr lang="fr-FR" sz="2000" b="1"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ALTER TABLE </a:t>
            </a:r>
            <a:r>
              <a:rPr lang="fr-FR" sz="2000" dirty="0" err="1">
                <a:latin typeface="Helvetica" panose="020B0604020202020204" pitchFamily="34" charset="0"/>
                <a:cs typeface="Helvetica" panose="020B0604020202020204" pitchFamily="34" charset="0"/>
              </a:rPr>
              <a:t>table_name</a:t>
            </a:r>
            <a:r>
              <a:rPr lang="fr-FR" sz="2000" b="1" dirty="0">
                <a:latin typeface="Helvetica" panose="020B0604020202020204" pitchFamily="34" charset="0"/>
                <a:cs typeface="Helvetica" panose="020B0604020202020204" pitchFamily="34" charset="0"/>
              </a:rPr>
              <a:t>     RENAME CONSTRAINT </a:t>
            </a:r>
            <a:r>
              <a:rPr lang="fr-FR" sz="2000" b="1" dirty="0" err="1">
                <a:latin typeface="Helvetica" panose="020B0604020202020204" pitchFamily="34" charset="0"/>
                <a:cs typeface="Helvetica" panose="020B0604020202020204" pitchFamily="34" charset="0"/>
              </a:rPr>
              <a:t>old_constraint_name</a:t>
            </a:r>
            <a:r>
              <a:rPr lang="fr-FR" sz="2000" b="1" dirty="0">
                <a:latin typeface="Helvetica" panose="020B0604020202020204" pitchFamily="34" charset="0"/>
                <a:cs typeface="Helvetica" panose="020B0604020202020204" pitchFamily="34" charset="0"/>
              </a:rPr>
              <a:t> TO    </a:t>
            </a:r>
          </a:p>
          <a:p>
            <a:pPr marL="0" indent="0">
              <a:lnSpc>
                <a:spcPct val="112000"/>
              </a:lnSpc>
              <a:spcBef>
                <a:spcPts val="600"/>
              </a:spcBef>
              <a:buNone/>
            </a:pPr>
            <a:r>
              <a:rPr lang="fr-FR" sz="2000" b="1" dirty="0">
                <a:latin typeface="Helvetica" panose="020B0604020202020204" pitchFamily="34" charset="0"/>
                <a:cs typeface="Helvetica" panose="020B0604020202020204" pitchFamily="34" charset="0"/>
              </a:rPr>
              <a:t>	</a:t>
            </a:r>
            <a:r>
              <a:rPr lang="fr-FR" sz="2000" b="1" dirty="0" err="1">
                <a:latin typeface="Helvetica" panose="020B0604020202020204" pitchFamily="34" charset="0"/>
                <a:cs typeface="Helvetica" panose="020B0604020202020204" pitchFamily="34" charset="0"/>
              </a:rPr>
              <a:t>new_constraint_name</a:t>
            </a:r>
            <a:r>
              <a:rPr lang="fr-FR" sz="2000" b="1" dirty="0">
                <a:latin typeface="Helvetica" panose="020B0604020202020204" pitchFamily="34" charset="0"/>
                <a:cs typeface="Helvetica" panose="020B0604020202020204" pitchFamily="34" charset="0"/>
              </a:rPr>
              <a:t>;</a:t>
            </a:r>
          </a:p>
          <a:p>
            <a:pPr marL="0" indent="0">
              <a:lnSpc>
                <a:spcPct val="150000"/>
              </a:lnSpc>
              <a:spcBef>
                <a:spcPts val="600"/>
              </a:spcBef>
              <a:buNone/>
            </a:pPr>
            <a:r>
              <a:rPr lang="en-US" sz="2000" b="1" dirty="0">
                <a:latin typeface="Helvetica" panose="020B0604020202020204" pitchFamily="34" charset="0"/>
                <a:cs typeface="Helvetica" panose="020B0604020202020204" pitchFamily="34" charset="0"/>
              </a:rPr>
              <a:t>Example:</a:t>
            </a:r>
            <a:r>
              <a:rPr lang="en-US" sz="2000" dirty="0">
                <a:latin typeface="Helvetica" panose="020B0604020202020204" pitchFamily="34" charset="0"/>
                <a:cs typeface="Helvetica" panose="020B0604020202020204" pitchFamily="34" charset="0"/>
              </a:rPr>
              <a:t> Assume that </a:t>
            </a:r>
            <a:r>
              <a:rPr lang="en-US" sz="2000" b="1" dirty="0">
                <a:latin typeface="Helvetica" panose="020B0604020202020204" pitchFamily="34" charset="0"/>
                <a:cs typeface="Helvetica" panose="020B0604020202020204" pitchFamily="34" charset="0"/>
              </a:rPr>
              <a:t>Person(</a:t>
            </a:r>
            <a:r>
              <a:rPr lang="en-US" sz="2000" b="1" dirty="0" err="1">
                <a:solidFill>
                  <a:srgbClr val="C00000"/>
                </a:solidFill>
                <a:latin typeface="Helvetica" panose="020B0604020202020204" pitchFamily="34" charset="0"/>
                <a:cs typeface="Helvetica" panose="020B0604020202020204" pitchFamily="34" charset="0"/>
              </a:rPr>
              <a:t>Fname</a:t>
            </a:r>
            <a:r>
              <a:rPr lang="en-US" sz="2000" b="1" dirty="0">
                <a:solidFill>
                  <a:srgbClr val="C00000"/>
                </a:solidFill>
                <a:latin typeface="Helvetica" panose="020B0604020202020204" pitchFamily="34" charset="0"/>
                <a:cs typeface="Helvetica" panose="020B0604020202020204" pitchFamily="34" charset="0"/>
              </a:rPr>
              <a:t>, </a:t>
            </a:r>
            <a:r>
              <a:rPr lang="en-US" sz="2000" b="1" dirty="0" err="1">
                <a:solidFill>
                  <a:srgbClr val="C00000"/>
                </a:solidFill>
                <a:latin typeface="Helvetica" panose="020B0604020202020204" pitchFamily="34" charset="0"/>
                <a:cs typeface="Helvetica" panose="020B0604020202020204" pitchFamily="34" charset="0"/>
              </a:rPr>
              <a:t>Lname</a:t>
            </a:r>
            <a:r>
              <a:rPr lang="en-US" sz="2000" b="1" dirty="0">
                <a:latin typeface="Helvetica" panose="020B0604020202020204" pitchFamily="34" charset="0"/>
                <a:cs typeface="Helvetica" panose="020B0604020202020204" pitchFamily="34" charset="0"/>
              </a:rPr>
              <a:t>, </a:t>
            </a:r>
            <a:r>
              <a:rPr lang="en-US" sz="2000" b="1" dirty="0" err="1">
                <a:latin typeface="Helvetica" panose="020B0604020202020204" pitchFamily="34" charset="0"/>
                <a:cs typeface="Helvetica" panose="020B0604020202020204" pitchFamily="34" charset="0"/>
              </a:rPr>
              <a:t>Address,Phone</a:t>
            </a:r>
            <a:r>
              <a:rPr lang="en-US" sz="2000" b="1" dirty="0">
                <a:latin typeface="Helvetica" panose="020B0604020202020204" pitchFamily="34" charset="0"/>
                <a:cs typeface="Helvetica" panose="020B0604020202020204" pitchFamily="34" charset="0"/>
              </a:rPr>
              <a:t>) </a:t>
            </a:r>
            <a:r>
              <a:rPr lang="en-US" sz="2000" dirty="0">
                <a:latin typeface="Helvetica" panose="020B0604020202020204" pitchFamily="34" charset="0"/>
                <a:cs typeface="Helvetica" panose="020B0604020202020204" pitchFamily="34" charset="0"/>
              </a:rPr>
              <a:t>table is already created with </a:t>
            </a:r>
            <a:r>
              <a:rPr lang="en-US" sz="2000" b="1" dirty="0">
                <a:latin typeface="Helvetica" panose="020B0604020202020204" pitchFamily="34" charset="0"/>
                <a:cs typeface="Helvetica" panose="020B0604020202020204" pitchFamily="34" charset="0"/>
              </a:rPr>
              <a:t>(</a:t>
            </a:r>
            <a:r>
              <a:rPr lang="en-US" sz="2000" b="1" dirty="0" err="1">
                <a:latin typeface="Helvetica" panose="020B0604020202020204" pitchFamily="34" charset="0"/>
                <a:cs typeface="Helvetica" panose="020B0604020202020204" pitchFamily="34" charset="0"/>
              </a:rPr>
              <a:t>Fname,LName</a:t>
            </a:r>
            <a:r>
              <a:rPr lang="en-US" sz="2000" b="1" dirty="0">
                <a:latin typeface="Helvetica" panose="020B0604020202020204" pitchFamily="34" charset="0"/>
                <a:cs typeface="Helvetica" panose="020B0604020202020204" pitchFamily="34" charset="0"/>
              </a:rPr>
              <a:t>)</a:t>
            </a:r>
            <a:r>
              <a:rPr lang="en-US" sz="2000" dirty="0">
                <a:latin typeface="Helvetica" panose="020B0604020202020204" pitchFamily="34" charset="0"/>
                <a:cs typeface="Helvetica" panose="020B0604020202020204" pitchFamily="34" charset="0"/>
              </a:rPr>
              <a:t> as </a:t>
            </a:r>
            <a:r>
              <a:rPr lang="en-US" sz="2000" dirty="0">
                <a:solidFill>
                  <a:srgbClr val="C00000"/>
                </a:solidFill>
                <a:latin typeface="Helvetica" panose="020B0604020202020204" pitchFamily="34" charset="0"/>
                <a:cs typeface="Helvetica" panose="020B0604020202020204" pitchFamily="34" charset="0"/>
              </a:rPr>
              <a:t>Primary Key</a:t>
            </a:r>
            <a:r>
              <a:rPr lang="en-US" sz="2000" dirty="0">
                <a:latin typeface="Helvetica" panose="020B0604020202020204" pitchFamily="34" charset="0"/>
                <a:cs typeface="Helvetica" panose="020B0604020202020204" pitchFamily="34" charset="0"/>
              </a:rPr>
              <a:t> </a:t>
            </a:r>
            <a:r>
              <a:rPr lang="en-US" sz="2000" b="1" dirty="0">
                <a:latin typeface="Helvetica" panose="020B0604020202020204" pitchFamily="34" charset="0"/>
                <a:cs typeface="Helvetica" panose="020B0604020202020204" pitchFamily="34" charset="0"/>
              </a:rPr>
              <a:t>and </a:t>
            </a:r>
            <a:r>
              <a:rPr lang="en-US" sz="2000" dirty="0">
                <a:latin typeface="Helvetica" panose="020B0604020202020204" pitchFamily="34" charset="0"/>
                <a:cs typeface="Helvetica" panose="020B0604020202020204" pitchFamily="34" charset="0"/>
              </a:rPr>
              <a:t>Unique constraint</a:t>
            </a:r>
            <a:r>
              <a:rPr lang="en-US" sz="2000" b="1" dirty="0">
                <a:latin typeface="Helvetica" panose="020B0604020202020204" pitchFamily="34" charset="0"/>
                <a:cs typeface="Helvetica" panose="020B0604020202020204" pitchFamily="34" charset="0"/>
              </a:rPr>
              <a:t> </a:t>
            </a:r>
            <a:r>
              <a:rPr lang="en-US" sz="2000" dirty="0">
                <a:latin typeface="Helvetica" panose="020B0604020202020204" pitchFamily="34" charset="0"/>
                <a:cs typeface="Helvetica" panose="020B0604020202020204" pitchFamily="34" charset="0"/>
              </a:rPr>
              <a:t>on Phone with constraint name – </a:t>
            </a:r>
            <a:r>
              <a:rPr lang="en-US" sz="2000" b="1" dirty="0">
                <a:latin typeface="Helvetica" panose="020B0604020202020204" pitchFamily="34" charset="0"/>
                <a:cs typeface="Helvetica" panose="020B0604020202020204" pitchFamily="34" charset="0"/>
              </a:rPr>
              <a:t>‘PHONE_UNQ’. Rename the PHONE_UNQ  to UNIQUE_PHONE.</a:t>
            </a:r>
          </a:p>
          <a:p>
            <a:pPr marL="0" indent="0">
              <a:lnSpc>
                <a:spcPct val="112000"/>
              </a:lnSpc>
              <a:spcBef>
                <a:spcPts val="600"/>
              </a:spcBef>
              <a:buNone/>
            </a:pPr>
            <a:endParaRPr lang="en-US" sz="2000" b="1" dirty="0">
              <a:latin typeface="Helvetica" panose="020B0604020202020204" pitchFamily="34" charset="0"/>
              <a:cs typeface="Helvetica" panose="020B0604020202020204" pitchFamily="34" charset="0"/>
            </a:endParaRPr>
          </a:p>
          <a:p>
            <a:pPr marL="0" indent="0">
              <a:lnSpc>
                <a:spcPct val="112000"/>
              </a:lnSpc>
              <a:spcBef>
                <a:spcPts val="600"/>
              </a:spcBef>
              <a:buNone/>
            </a:pPr>
            <a:r>
              <a:rPr lang="en-IN" sz="2000" b="1"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 ALTER TABLE </a:t>
            </a:r>
            <a:r>
              <a:rPr lang="en-US" sz="2000" b="1" dirty="0">
                <a:latin typeface="Helvetica" panose="020B0604020202020204" pitchFamily="34" charset="0"/>
                <a:cs typeface="Helvetica" panose="020B0604020202020204" pitchFamily="34" charset="0"/>
              </a:rPr>
              <a:t>Person RENAME CONSTRAINT </a:t>
            </a:r>
            <a:r>
              <a:rPr lang="en-US" sz="2000" dirty="0">
                <a:latin typeface="Helvetica" panose="020B0604020202020204" pitchFamily="34" charset="0"/>
                <a:cs typeface="Helvetica" panose="020B0604020202020204" pitchFamily="34" charset="0"/>
              </a:rPr>
              <a:t>PHONE_UNQ  </a:t>
            </a:r>
            <a:r>
              <a:rPr lang="en-US" sz="2000" b="1" dirty="0">
                <a:latin typeface="Helvetica" panose="020B0604020202020204" pitchFamily="34" charset="0"/>
                <a:cs typeface="Helvetica" panose="020B0604020202020204" pitchFamily="34" charset="0"/>
              </a:rPr>
              <a:t>TO </a:t>
            </a:r>
            <a:r>
              <a:rPr lang="en-US" sz="2000" dirty="0">
                <a:latin typeface="Helvetica" panose="020B0604020202020204" pitchFamily="34" charset="0"/>
                <a:cs typeface="Helvetica" panose="020B0604020202020204" pitchFamily="34" charset="0"/>
              </a:rPr>
              <a:t>UNIQUE_PHONE</a:t>
            </a:r>
            <a:r>
              <a:rPr lang="en-US" sz="2000" b="1" dirty="0">
                <a:latin typeface="Helvetica" panose="020B0604020202020204" pitchFamily="34" charset="0"/>
                <a:cs typeface="Helvetica" panose="020B0604020202020204" pitchFamily="34" charset="0"/>
              </a:rPr>
              <a:t>;</a:t>
            </a:r>
            <a:endParaRPr lang="en-IN" sz="2000" b="1" dirty="0">
              <a:latin typeface="Helvetica" panose="020B0604020202020204" pitchFamily="34" charset="0"/>
              <a:cs typeface="Helvetica" panose="020B0604020202020204" pitchFamily="34" charset="0"/>
            </a:endParaRPr>
          </a:p>
        </p:txBody>
      </p:sp>
      <p:sp>
        <p:nvSpPr>
          <p:cNvPr id="4" name="Footer Placeholder 3">
            <a:extLst>
              <a:ext uri="{FF2B5EF4-FFF2-40B4-BE49-F238E27FC236}">
                <a16:creationId xmlns:a16="http://schemas.microsoft.com/office/drawing/2014/main" id="{9415219E-97BF-437A-B6DE-2D9D16DB7C0D}"/>
              </a:ext>
            </a:extLst>
          </p:cNvPr>
          <p:cNvSpPr>
            <a:spLocks noGrp="1"/>
          </p:cNvSpPr>
          <p:nvPr>
            <p:ph type="ftr" sz="quarter" idx="11"/>
          </p:nvPr>
        </p:nvSpPr>
        <p:spPr/>
        <p:txBody>
          <a:bodyPr/>
          <a:lstStyle/>
          <a:p>
            <a:r>
              <a:rPr lang="en-US" dirty="0"/>
              <a:t>SQL</a:t>
            </a:r>
          </a:p>
        </p:txBody>
      </p:sp>
      <p:sp>
        <p:nvSpPr>
          <p:cNvPr id="5" name="Slide Number Placeholder 4">
            <a:extLst>
              <a:ext uri="{FF2B5EF4-FFF2-40B4-BE49-F238E27FC236}">
                <a16:creationId xmlns:a16="http://schemas.microsoft.com/office/drawing/2014/main" id="{EDF6C1DA-BCDF-4B79-906B-10BEF5D2EC5E}"/>
              </a:ext>
            </a:extLst>
          </p:cNvPr>
          <p:cNvSpPr>
            <a:spLocks noGrp="1"/>
          </p:cNvSpPr>
          <p:nvPr>
            <p:ph type="sldNum" sz="quarter" idx="12"/>
          </p:nvPr>
        </p:nvSpPr>
        <p:spPr/>
        <p:txBody>
          <a:bodyPr/>
          <a:lstStyle/>
          <a:p>
            <a:fld id="{03576695-DB63-4967-AFBB-46E84EF49106}" type="slidenum">
              <a:rPr lang="en-US" smtClean="0"/>
              <a:t>54</a:t>
            </a:fld>
            <a:endParaRPr lang="en-US"/>
          </a:p>
        </p:txBody>
      </p:sp>
      <p:sp>
        <p:nvSpPr>
          <p:cNvPr id="8" name="Rectangle 2">
            <a:extLst>
              <a:ext uri="{FF2B5EF4-FFF2-40B4-BE49-F238E27FC236}">
                <a16:creationId xmlns:a16="http://schemas.microsoft.com/office/drawing/2014/main" id="{B6B56A21-6207-4F6E-9A09-9094AF5FEA59}"/>
              </a:ext>
            </a:extLst>
          </p:cNvPr>
          <p:cNvSpPr txBox="1">
            <a:spLocks noGrp="1" noChangeArrowheads="1"/>
          </p:cNvSpPr>
          <p:nvPr>
            <p:ph type="title"/>
          </p:nvPr>
        </p:nvSpPr>
        <p:spPr bwMode="auto">
          <a:xfrm>
            <a:off x="838200" y="-111116"/>
            <a:ext cx="10515600" cy="726256"/>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kern="0" dirty="0">
                <a:solidFill>
                  <a:srgbClr val="CC3300"/>
                </a:solidFill>
                <a:latin typeface="Helvetica"/>
              </a:rPr>
              <a:t>..</a:t>
            </a: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Tree>
    <p:extLst>
      <p:ext uri="{BB962C8B-B14F-4D97-AF65-F5344CB8AC3E}">
        <p14:creationId xmlns:p14="http://schemas.microsoft.com/office/powerpoint/2010/main" val="38806213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345FFB-0DF7-49DD-AE47-4ABA01E93915}"/>
              </a:ext>
            </a:extLst>
          </p:cNvPr>
          <p:cNvSpPr>
            <a:spLocks noGrp="1"/>
          </p:cNvSpPr>
          <p:nvPr>
            <p:ph idx="1"/>
          </p:nvPr>
        </p:nvSpPr>
        <p:spPr>
          <a:xfrm>
            <a:off x="542440" y="728422"/>
            <a:ext cx="11422251" cy="5780868"/>
          </a:xfrm>
        </p:spPr>
        <p:txBody>
          <a:bodyPr>
            <a:normAutofit fontScale="92500" lnSpcReduction="10000"/>
          </a:bodyPr>
          <a:lstStyle/>
          <a:p>
            <a:pPr marL="0" indent="0">
              <a:spcBef>
                <a:spcPts val="600"/>
              </a:spcBef>
              <a:buNone/>
            </a:pPr>
            <a:r>
              <a:rPr lang="en-IN" sz="2400" b="1" dirty="0">
                <a:solidFill>
                  <a:srgbClr val="C00000"/>
                </a:solidFill>
                <a:latin typeface="Helvetica" panose="020B0604020202020204" pitchFamily="34" charset="0"/>
                <a:cs typeface="Helvetica" panose="020B0604020202020204" pitchFamily="34" charset="0"/>
              </a:rPr>
              <a:t>Disabling Constraints</a:t>
            </a:r>
          </a:p>
          <a:p>
            <a:pPr marL="0" indent="0">
              <a:spcBef>
                <a:spcPts val="600"/>
              </a:spcBef>
              <a:buNone/>
            </a:pPr>
            <a:r>
              <a:rPr lang="en-IN" sz="2400" b="1" dirty="0">
                <a:solidFill>
                  <a:srgbClr val="C00000"/>
                </a:solidFill>
                <a:latin typeface="Helvetica" panose="020B0604020202020204" pitchFamily="34" charset="0"/>
                <a:cs typeface="Helvetica" panose="020B0604020202020204" pitchFamily="34" charset="0"/>
              </a:rPr>
              <a:t> </a:t>
            </a:r>
            <a:r>
              <a:rPr lang="en-US" sz="2100" dirty="0">
                <a:latin typeface="Helvetica" panose="020B0604020202020204" pitchFamily="34" charset="0"/>
                <a:cs typeface="Helvetica" panose="020B0604020202020204" pitchFamily="34" charset="0"/>
              </a:rPr>
              <a:t>The</a:t>
            </a:r>
            <a:r>
              <a:rPr lang="en-US" sz="2000" dirty="0">
                <a:latin typeface="Helvetica" panose="020B0604020202020204" pitchFamily="34" charset="0"/>
                <a:cs typeface="Helvetica" panose="020B0604020202020204" pitchFamily="34" charset="0"/>
              </a:rPr>
              <a:t> </a:t>
            </a:r>
            <a:r>
              <a:rPr lang="en-US" sz="2100" dirty="0">
                <a:latin typeface="Helvetica" panose="020B0604020202020204" pitchFamily="34" charset="0"/>
                <a:cs typeface="Helvetica" panose="020B0604020202020204" pitchFamily="34" charset="0"/>
              </a:rPr>
              <a:t>ALTER TABLE...DISABLE CONSTRAINT statement disables constraint defined. </a:t>
            </a:r>
            <a:endParaRPr lang="en-IN" sz="2100" dirty="0">
              <a:latin typeface="Helvetica" panose="020B0604020202020204" pitchFamily="34" charset="0"/>
              <a:cs typeface="Helvetica" panose="020B0604020202020204" pitchFamily="34" charset="0"/>
            </a:endParaRPr>
          </a:p>
          <a:p>
            <a:pPr marL="0" indent="0">
              <a:spcBef>
                <a:spcPts val="600"/>
              </a:spcBef>
              <a:buNone/>
            </a:pPr>
            <a:r>
              <a:rPr lang="en-IN" sz="2000" b="1" dirty="0">
                <a:latin typeface="Helvetica" panose="020B0604020202020204" pitchFamily="34" charset="0"/>
                <a:cs typeface="Helvetica" panose="020B0604020202020204" pitchFamily="34" charset="0"/>
              </a:rPr>
              <a:t>Syntax:</a:t>
            </a:r>
          </a:p>
          <a:p>
            <a:pPr marL="0" indent="0">
              <a:lnSpc>
                <a:spcPct val="112000"/>
              </a:lnSpc>
              <a:spcBef>
                <a:spcPts val="600"/>
              </a:spcBef>
              <a:buNone/>
            </a:pPr>
            <a:r>
              <a:rPr lang="fr-FR" sz="2000" b="1"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ALTER TABLE table_name</a:t>
            </a:r>
            <a:r>
              <a:rPr lang="fr-FR" sz="2000" b="1" dirty="0">
                <a:latin typeface="Helvetica" panose="020B0604020202020204" pitchFamily="34" charset="0"/>
                <a:cs typeface="Helvetica" panose="020B0604020202020204" pitchFamily="34" charset="0"/>
              </a:rPr>
              <a:t>     DISABLE CONSTRAINT constraint_name;</a:t>
            </a:r>
          </a:p>
          <a:p>
            <a:pPr marL="0" indent="0">
              <a:lnSpc>
                <a:spcPct val="112000"/>
              </a:lnSpc>
              <a:spcBef>
                <a:spcPts val="600"/>
              </a:spcBef>
              <a:buNone/>
            </a:pPr>
            <a:r>
              <a:rPr lang="fr-FR" sz="2000" b="1"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ALTER TABLE table_name  DISABLE PRIMARY KEY;</a:t>
            </a:r>
          </a:p>
          <a:p>
            <a:pPr marL="0" indent="0">
              <a:lnSpc>
                <a:spcPct val="112000"/>
              </a:lnSpc>
              <a:spcBef>
                <a:spcPts val="600"/>
              </a:spcBef>
              <a:buNone/>
            </a:pPr>
            <a:r>
              <a:rPr lang="fr-FR" sz="2000" b="1"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ALTER TABLE table_name  DISABLE UNIQUE(column1,column2,..);</a:t>
            </a:r>
          </a:p>
          <a:p>
            <a:pPr marL="0" indent="0">
              <a:lnSpc>
                <a:spcPct val="150000"/>
              </a:lnSpc>
              <a:spcBef>
                <a:spcPts val="600"/>
              </a:spcBef>
              <a:buNone/>
            </a:pPr>
            <a:r>
              <a:rPr lang="en-US" sz="2000" b="1" dirty="0">
                <a:latin typeface="Helvetica" panose="020B0604020202020204" pitchFamily="34" charset="0"/>
                <a:cs typeface="Helvetica" panose="020B0604020202020204" pitchFamily="34" charset="0"/>
              </a:rPr>
              <a:t>Example:</a:t>
            </a:r>
            <a:r>
              <a:rPr lang="en-US" sz="2000" dirty="0">
                <a:latin typeface="Helvetica" panose="020B0604020202020204" pitchFamily="34" charset="0"/>
                <a:cs typeface="Helvetica" panose="020B0604020202020204" pitchFamily="34" charset="0"/>
              </a:rPr>
              <a:t> Assume that </a:t>
            </a:r>
            <a:r>
              <a:rPr lang="en-US" sz="2000" b="1" dirty="0">
                <a:latin typeface="Helvetica" panose="020B0604020202020204" pitchFamily="34" charset="0"/>
                <a:cs typeface="Helvetica" panose="020B0604020202020204" pitchFamily="34" charset="0"/>
              </a:rPr>
              <a:t>Person(</a:t>
            </a:r>
            <a:r>
              <a:rPr lang="en-US" sz="2000" b="1" dirty="0" err="1">
                <a:solidFill>
                  <a:srgbClr val="C00000"/>
                </a:solidFill>
                <a:latin typeface="Helvetica" panose="020B0604020202020204" pitchFamily="34" charset="0"/>
                <a:cs typeface="Helvetica" panose="020B0604020202020204" pitchFamily="34" charset="0"/>
              </a:rPr>
              <a:t>Fname</a:t>
            </a:r>
            <a:r>
              <a:rPr lang="en-US" sz="2000" b="1" dirty="0">
                <a:solidFill>
                  <a:srgbClr val="C00000"/>
                </a:solidFill>
                <a:latin typeface="Helvetica" panose="020B0604020202020204" pitchFamily="34" charset="0"/>
                <a:cs typeface="Helvetica" panose="020B0604020202020204" pitchFamily="34" charset="0"/>
              </a:rPr>
              <a:t>, </a:t>
            </a:r>
            <a:r>
              <a:rPr lang="en-US" sz="2000" b="1" dirty="0" err="1">
                <a:solidFill>
                  <a:srgbClr val="C00000"/>
                </a:solidFill>
                <a:latin typeface="Helvetica" panose="020B0604020202020204" pitchFamily="34" charset="0"/>
                <a:cs typeface="Helvetica" panose="020B0604020202020204" pitchFamily="34" charset="0"/>
              </a:rPr>
              <a:t>Lname</a:t>
            </a:r>
            <a:r>
              <a:rPr lang="en-US" sz="2000" b="1" dirty="0">
                <a:latin typeface="Helvetica" panose="020B0604020202020204" pitchFamily="34" charset="0"/>
                <a:cs typeface="Helvetica" panose="020B0604020202020204" pitchFamily="34" charset="0"/>
              </a:rPr>
              <a:t>, </a:t>
            </a:r>
            <a:r>
              <a:rPr lang="en-US" sz="2000" b="1" dirty="0" err="1">
                <a:latin typeface="Helvetica" panose="020B0604020202020204" pitchFamily="34" charset="0"/>
                <a:cs typeface="Helvetica" panose="020B0604020202020204" pitchFamily="34" charset="0"/>
              </a:rPr>
              <a:t>Address,Phone</a:t>
            </a:r>
            <a:r>
              <a:rPr lang="en-US" sz="2000" b="1" dirty="0">
                <a:latin typeface="Helvetica" panose="020B0604020202020204" pitchFamily="34" charset="0"/>
                <a:cs typeface="Helvetica" panose="020B0604020202020204" pitchFamily="34" charset="0"/>
              </a:rPr>
              <a:t>) </a:t>
            </a:r>
            <a:r>
              <a:rPr lang="en-US" sz="2000" dirty="0">
                <a:latin typeface="Helvetica" panose="020B0604020202020204" pitchFamily="34" charset="0"/>
                <a:cs typeface="Helvetica" panose="020B0604020202020204" pitchFamily="34" charset="0"/>
              </a:rPr>
              <a:t>table is already created with </a:t>
            </a:r>
            <a:r>
              <a:rPr lang="en-US" sz="2000" b="1" dirty="0">
                <a:latin typeface="Helvetica" panose="020B0604020202020204" pitchFamily="34" charset="0"/>
                <a:cs typeface="Helvetica" panose="020B0604020202020204" pitchFamily="34" charset="0"/>
              </a:rPr>
              <a:t>(</a:t>
            </a:r>
            <a:r>
              <a:rPr lang="en-US" sz="2000" b="1" dirty="0" err="1">
                <a:latin typeface="Helvetica" panose="020B0604020202020204" pitchFamily="34" charset="0"/>
                <a:cs typeface="Helvetica" panose="020B0604020202020204" pitchFamily="34" charset="0"/>
              </a:rPr>
              <a:t>Fname,LName</a:t>
            </a:r>
            <a:r>
              <a:rPr lang="en-US" sz="2000" b="1" dirty="0">
                <a:latin typeface="Helvetica" panose="020B0604020202020204" pitchFamily="34" charset="0"/>
                <a:cs typeface="Helvetica" panose="020B0604020202020204" pitchFamily="34" charset="0"/>
              </a:rPr>
              <a:t>)</a:t>
            </a:r>
            <a:r>
              <a:rPr lang="en-US" sz="2000" dirty="0">
                <a:latin typeface="Helvetica" panose="020B0604020202020204" pitchFamily="34" charset="0"/>
                <a:cs typeface="Helvetica" panose="020B0604020202020204" pitchFamily="34" charset="0"/>
              </a:rPr>
              <a:t> as </a:t>
            </a:r>
            <a:r>
              <a:rPr lang="en-US" sz="2000" dirty="0">
                <a:solidFill>
                  <a:srgbClr val="C00000"/>
                </a:solidFill>
                <a:latin typeface="Helvetica" panose="020B0604020202020204" pitchFamily="34" charset="0"/>
                <a:cs typeface="Helvetica" panose="020B0604020202020204" pitchFamily="34" charset="0"/>
              </a:rPr>
              <a:t>Primary Key </a:t>
            </a:r>
            <a:r>
              <a:rPr lang="en-US" sz="2000" dirty="0">
                <a:latin typeface="Helvetica" panose="020B0604020202020204" pitchFamily="34" charset="0"/>
                <a:cs typeface="Helvetica" panose="020B0604020202020204" pitchFamily="34" charset="0"/>
              </a:rPr>
              <a:t>with constraint name </a:t>
            </a:r>
            <a:r>
              <a:rPr lang="en-US" sz="2000" dirty="0" err="1">
                <a:latin typeface="Helvetica" panose="020B0604020202020204" pitchFamily="34" charset="0"/>
                <a:cs typeface="Helvetica" panose="020B0604020202020204" pitchFamily="34" charset="0"/>
              </a:rPr>
              <a:t>FLName_PKey</a:t>
            </a:r>
            <a:r>
              <a:rPr lang="en-US" sz="2000" dirty="0">
                <a:latin typeface="Helvetica" panose="020B0604020202020204" pitchFamily="34" charset="0"/>
                <a:cs typeface="Helvetica" panose="020B0604020202020204" pitchFamily="34" charset="0"/>
              </a:rPr>
              <a:t> </a:t>
            </a:r>
            <a:r>
              <a:rPr lang="en-US" sz="2000" b="1" dirty="0">
                <a:latin typeface="Helvetica" panose="020B0604020202020204" pitchFamily="34" charset="0"/>
                <a:cs typeface="Helvetica" panose="020B0604020202020204" pitchFamily="34" charset="0"/>
              </a:rPr>
              <a:t>and </a:t>
            </a:r>
            <a:r>
              <a:rPr lang="en-US" sz="2000" dirty="0">
                <a:latin typeface="Helvetica" panose="020B0604020202020204" pitchFamily="34" charset="0"/>
                <a:cs typeface="Helvetica" panose="020B0604020202020204" pitchFamily="34" charset="0"/>
              </a:rPr>
              <a:t>Unique constraint</a:t>
            </a:r>
            <a:r>
              <a:rPr lang="en-US" sz="2000" b="1" dirty="0">
                <a:latin typeface="Helvetica" panose="020B0604020202020204" pitchFamily="34" charset="0"/>
                <a:cs typeface="Helvetica" panose="020B0604020202020204" pitchFamily="34" charset="0"/>
              </a:rPr>
              <a:t> </a:t>
            </a:r>
            <a:r>
              <a:rPr lang="en-US" sz="2000" dirty="0">
                <a:latin typeface="Helvetica" panose="020B0604020202020204" pitchFamily="34" charset="0"/>
                <a:cs typeface="Helvetica" panose="020B0604020202020204" pitchFamily="34" charset="0"/>
              </a:rPr>
              <a:t>on Phone with constraint name – </a:t>
            </a:r>
            <a:r>
              <a:rPr lang="en-US" sz="2000" b="1" dirty="0">
                <a:latin typeface="Helvetica" panose="020B0604020202020204" pitchFamily="34" charset="0"/>
                <a:cs typeface="Helvetica" panose="020B0604020202020204" pitchFamily="34" charset="0"/>
              </a:rPr>
              <a:t>‘PHONE_UNQ’.  </a:t>
            </a:r>
          </a:p>
          <a:p>
            <a:pPr marL="0" indent="0">
              <a:lnSpc>
                <a:spcPct val="150000"/>
              </a:lnSpc>
              <a:spcBef>
                <a:spcPts val="600"/>
              </a:spcBef>
              <a:buNone/>
            </a:pPr>
            <a:r>
              <a:rPr lang="en-US" sz="2000" b="1" dirty="0">
                <a:latin typeface="Helvetica" panose="020B0604020202020204" pitchFamily="34" charset="0"/>
                <a:cs typeface="Helvetica" panose="020B0604020202020204" pitchFamily="34" charset="0"/>
              </a:rPr>
              <a:t>Disable the PHONE_UNQ  Constraint.</a:t>
            </a:r>
          </a:p>
          <a:p>
            <a:pPr marL="0" indent="0">
              <a:lnSpc>
                <a:spcPct val="112000"/>
              </a:lnSpc>
              <a:spcBef>
                <a:spcPts val="600"/>
              </a:spcBef>
              <a:buNone/>
            </a:pPr>
            <a:endParaRPr lang="en-US" sz="1050" b="1" dirty="0">
              <a:latin typeface="Helvetica" panose="020B0604020202020204" pitchFamily="34" charset="0"/>
              <a:cs typeface="Helvetica" panose="020B0604020202020204" pitchFamily="34" charset="0"/>
            </a:endParaRPr>
          </a:p>
          <a:p>
            <a:pPr marL="0" indent="0">
              <a:lnSpc>
                <a:spcPct val="112000"/>
              </a:lnSpc>
              <a:spcBef>
                <a:spcPts val="600"/>
              </a:spcBef>
              <a:buNone/>
            </a:pPr>
            <a:r>
              <a:rPr lang="en-IN" sz="2000" b="1"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 ALTER TABLE </a:t>
            </a:r>
            <a:r>
              <a:rPr lang="en-US" sz="2000" b="1" dirty="0">
                <a:latin typeface="Helvetica" panose="020B0604020202020204" pitchFamily="34" charset="0"/>
                <a:cs typeface="Helvetica" panose="020B0604020202020204" pitchFamily="34" charset="0"/>
              </a:rPr>
              <a:t>Person DISABLE CONSTRAINT </a:t>
            </a:r>
            <a:r>
              <a:rPr lang="en-US" sz="2000" dirty="0">
                <a:latin typeface="Helvetica" panose="020B0604020202020204" pitchFamily="34" charset="0"/>
                <a:cs typeface="Helvetica" panose="020B0604020202020204" pitchFamily="34" charset="0"/>
              </a:rPr>
              <a:t>PHONE_UNQ;  </a:t>
            </a:r>
            <a:r>
              <a:rPr lang="en-US" sz="2000" b="1" dirty="0">
                <a:solidFill>
                  <a:srgbClr val="C00000"/>
                </a:solidFill>
                <a:latin typeface="Helvetica" panose="020B0604020202020204" pitchFamily="34" charset="0"/>
                <a:cs typeface="Helvetica" panose="020B0604020202020204" pitchFamily="34" charset="0"/>
              </a:rPr>
              <a:t>or</a:t>
            </a:r>
          </a:p>
          <a:p>
            <a:pPr marL="0" indent="0">
              <a:lnSpc>
                <a:spcPct val="112000"/>
              </a:lnSpc>
              <a:spcBef>
                <a:spcPts val="600"/>
              </a:spcBef>
              <a:buNone/>
            </a:pPr>
            <a:r>
              <a:rPr lang="en-US" sz="2000"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 ALTER TABLE </a:t>
            </a:r>
            <a:r>
              <a:rPr lang="en-US" sz="2000" b="1" dirty="0">
                <a:latin typeface="Helvetica" panose="020B0604020202020204" pitchFamily="34" charset="0"/>
                <a:cs typeface="Helvetica" panose="020B0604020202020204" pitchFamily="34" charset="0"/>
              </a:rPr>
              <a:t>Person DISABLE UNIQUE(Phone);</a:t>
            </a:r>
            <a:endParaRPr lang="en-US" sz="2000" dirty="0">
              <a:latin typeface="Helvetica" panose="020B0604020202020204" pitchFamily="34" charset="0"/>
              <a:cs typeface="Helvetica" panose="020B0604020202020204" pitchFamily="34" charset="0"/>
            </a:endParaRPr>
          </a:p>
          <a:p>
            <a:pPr marL="0" indent="0">
              <a:lnSpc>
                <a:spcPct val="112000"/>
              </a:lnSpc>
              <a:spcBef>
                <a:spcPts val="600"/>
              </a:spcBef>
              <a:buNone/>
            </a:pPr>
            <a:r>
              <a:rPr lang="en-US" sz="2000" b="1" dirty="0">
                <a:latin typeface="Helvetica" panose="020B0604020202020204" pitchFamily="34" charset="0"/>
                <a:cs typeface="Helvetica" panose="020B0604020202020204" pitchFamily="34" charset="0"/>
              </a:rPr>
              <a:t>Disable Primary key</a:t>
            </a:r>
          </a:p>
          <a:p>
            <a:pPr marL="0" indent="0">
              <a:lnSpc>
                <a:spcPct val="112000"/>
              </a:lnSpc>
              <a:spcBef>
                <a:spcPts val="600"/>
              </a:spcBef>
              <a:buNone/>
            </a:pPr>
            <a:r>
              <a:rPr lang="fr-FR" sz="2000" dirty="0">
                <a:latin typeface="Helvetica" panose="020B0604020202020204" pitchFamily="34" charset="0"/>
                <a:cs typeface="Helvetica" panose="020B0604020202020204" pitchFamily="34" charset="0"/>
              </a:rPr>
              <a:t>	 ALTER TABLE </a:t>
            </a:r>
            <a:r>
              <a:rPr lang="en-US" sz="2000" b="1" dirty="0">
                <a:latin typeface="Helvetica" panose="020B0604020202020204" pitchFamily="34" charset="0"/>
                <a:cs typeface="Helvetica" panose="020B0604020202020204" pitchFamily="34" charset="0"/>
              </a:rPr>
              <a:t>Person DISABLE </a:t>
            </a:r>
            <a:r>
              <a:rPr lang="fr-FR" sz="2000" dirty="0">
                <a:latin typeface="Helvetica" panose="020B0604020202020204" pitchFamily="34" charset="0"/>
                <a:cs typeface="Helvetica" panose="020B0604020202020204" pitchFamily="34" charset="0"/>
              </a:rPr>
              <a:t>PRIMARY KEY;</a:t>
            </a:r>
          </a:p>
          <a:p>
            <a:pPr marL="0" indent="0">
              <a:lnSpc>
                <a:spcPct val="112000"/>
              </a:lnSpc>
              <a:spcBef>
                <a:spcPts val="600"/>
              </a:spcBef>
              <a:buNone/>
            </a:pPr>
            <a:endParaRPr lang="en-IN" sz="2000" b="1" dirty="0">
              <a:latin typeface="Helvetica" panose="020B0604020202020204" pitchFamily="34" charset="0"/>
              <a:cs typeface="Helvetica" panose="020B0604020202020204" pitchFamily="34" charset="0"/>
            </a:endParaRPr>
          </a:p>
        </p:txBody>
      </p:sp>
      <p:sp>
        <p:nvSpPr>
          <p:cNvPr id="4" name="Footer Placeholder 3">
            <a:extLst>
              <a:ext uri="{FF2B5EF4-FFF2-40B4-BE49-F238E27FC236}">
                <a16:creationId xmlns:a16="http://schemas.microsoft.com/office/drawing/2014/main" id="{9415219E-97BF-437A-B6DE-2D9D16DB7C0D}"/>
              </a:ext>
            </a:extLst>
          </p:cNvPr>
          <p:cNvSpPr>
            <a:spLocks noGrp="1"/>
          </p:cNvSpPr>
          <p:nvPr>
            <p:ph type="ftr" sz="quarter" idx="11"/>
          </p:nvPr>
        </p:nvSpPr>
        <p:spPr/>
        <p:txBody>
          <a:bodyPr/>
          <a:lstStyle/>
          <a:p>
            <a:r>
              <a:rPr lang="en-US" dirty="0"/>
              <a:t>SQL</a:t>
            </a:r>
          </a:p>
        </p:txBody>
      </p:sp>
      <p:sp>
        <p:nvSpPr>
          <p:cNvPr id="5" name="Slide Number Placeholder 4">
            <a:extLst>
              <a:ext uri="{FF2B5EF4-FFF2-40B4-BE49-F238E27FC236}">
                <a16:creationId xmlns:a16="http://schemas.microsoft.com/office/drawing/2014/main" id="{EDF6C1DA-BCDF-4B79-906B-10BEF5D2EC5E}"/>
              </a:ext>
            </a:extLst>
          </p:cNvPr>
          <p:cNvSpPr>
            <a:spLocks noGrp="1"/>
          </p:cNvSpPr>
          <p:nvPr>
            <p:ph type="sldNum" sz="quarter" idx="12"/>
          </p:nvPr>
        </p:nvSpPr>
        <p:spPr/>
        <p:txBody>
          <a:bodyPr/>
          <a:lstStyle/>
          <a:p>
            <a:fld id="{03576695-DB63-4967-AFBB-46E84EF49106}" type="slidenum">
              <a:rPr lang="en-US" smtClean="0"/>
              <a:t>55</a:t>
            </a:fld>
            <a:endParaRPr lang="en-US"/>
          </a:p>
        </p:txBody>
      </p:sp>
      <p:sp>
        <p:nvSpPr>
          <p:cNvPr id="8" name="Rectangle 2">
            <a:extLst>
              <a:ext uri="{FF2B5EF4-FFF2-40B4-BE49-F238E27FC236}">
                <a16:creationId xmlns:a16="http://schemas.microsoft.com/office/drawing/2014/main" id="{B6B56A21-6207-4F6E-9A09-9094AF5FEA59}"/>
              </a:ext>
            </a:extLst>
          </p:cNvPr>
          <p:cNvSpPr txBox="1">
            <a:spLocks noGrp="1" noChangeArrowheads="1"/>
          </p:cNvSpPr>
          <p:nvPr>
            <p:ph type="title"/>
          </p:nvPr>
        </p:nvSpPr>
        <p:spPr bwMode="auto">
          <a:xfrm>
            <a:off x="838200" y="-111116"/>
            <a:ext cx="10515600" cy="726256"/>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kern="0" dirty="0">
                <a:solidFill>
                  <a:srgbClr val="CC3300"/>
                </a:solidFill>
                <a:latin typeface="Helvetica"/>
              </a:rPr>
              <a:t>..</a:t>
            </a: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Tree>
    <p:extLst>
      <p:ext uri="{BB962C8B-B14F-4D97-AF65-F5344CB8AC3E}">
        <p14:creationId xmlns:p14="http://schemas.microsoft.com/office/powerpoint/2010/main" val="401184134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345FFB-0DF7-49DD-AE47-4ABA01E93915}"/>
              </a:ext>
            </a:extLst>
          </p:cNvPr>
          <p:cNvSpPr>
            <a:spLocks noGrp="1"/>
          </p:cNvSpPr>
          <p:nvPr>
            <p:ph idx="1"/>
          </p:nvPr>
        </p:nvSpPr>
        <p:spPr>
          <a:xfrm>
            <a:off x="542440" y="728422"/>
            <a:ext cx="11422251" cy="5780868"/>
          </a:xfrm>
        </p:spPr>
        <p:txBody>
          <a:bodyPr>
            <a:normAutofit fontScale="92500" lnSpcReduction="10000"/>
          </a:bodyPr>
          <a:lstStyle/>
          <a:p>
            <a:pPr marL="0" indent="0">
              <a:spcBef>
                <a:spcPts val="600"/>
              </a:spcBef>
              <a:buNone/>
            </a:pPr>
            <a:r>
              <a:rPr lang="en-IN" sz="2400" b="1" dirty="0">
                <a:solidFill>
                  <a:srgbClr val="C00000"/>
                </a:solidFill>
                <a:latin typeface="Helvetica" panose="020B0604020202020204" pitchFamily="34" charset="0"/>
                <a:cs typeface="Helvetica" panose="020B0604020202020204" pitchFamily="34" charset="0"/>
              </a:rPr>
              <a:t>Enabling disabled Constraints</a:t>
            </a:r>
          </a:p>
          <a:p>
            <a:pPr marL="0" indent="0">
              <a:spcBef>
                <a:spcPts val="600"/>
              </a:spcBef>
              <a:buNone/>
            </a:pPr>
            <a:r>
              <a:rPr lang="en-IN" sz="2400" b="1" dirty="0">
                <a:solidFill>
                  <a:srgbClr val="C00000"/>
                </a:solidFill>
                <a:latin typeface="Helvetica" panose="020B0604020202020204" pitchFamily="34" charset="0"/>
                <a:cs typeface="Helvetica" panose="020B0604020202020204" pitchFamily="34" charset="0"/>
              </a:rPr>
              <a:t> </a:t>
            </a:r>
            <a:r>
              <a:rPr lang="en-US" sz="2100" dirty="0">
                <a:latin typeface="Helvetica" panose="020B0604020202020204" pitchFamily="34" charset="0"/>
                <a:cs typeface="Helvetica" panose="020B0604020202020204" pitchFamily="34" charset="0"/>
              </a:rPr>
              <a:t>The</a:t>
            </a:r>
            <a:r>
              <a:rPr lang="en-US" sz="2000" dirty="0">
                <a:latin typeface="Helvetica" panose="020B0604020202020204" pitchFamily="34" charset="0"/>
                <a:cs typeface="Helvetica" panose="020B0604020202020204" pitchFamily="34" charset="0"/>
              </a:rPr>
              <a:t> </a:t>
            </a:r>
            <a:r>
              <a:rPr lang="en-US" sz="2100" dirty="0">
                <a:latin typeface="Helvetica" panose="020B0604020202020204" pitchFamily="34" charset="0"/>
                <a:cs typeface="Helvetica" panose="020B0604020202020204" pitchFamily="34" charset="0"/>
              </a:rPr>
              <a:t>ALTER TABLE...ENABLE CONSTRAINT statement enables the constraint defined which is presently disable state.. </a:t>
            </a:r>
            <a:endParaRPr lang="en-IN" sz="2100" dirty="0">
              <a:latin typeface="Helvetica" panose="020B0604020202020204" pitchFamily="34" charset="0"/>
              <a:cs typeface="Helvetica" panose="020B0604020202020204" pitchFamily="34" charset="0"/>
            </a:endParaRPr>
          </a:p>
          <a:p>
            <a:pPr marL="0" indent="0">
              <a:spcBef>
                <a:spcPts val="600"/>
              </a:spcBef>
              <a:buNone/>
            </a:pPr>
            <a:r>
              <a:rPr lang="en-IN" sz="2000" b="1" dirty="0">
                <a:latin typeface="Helvetica" panose="020B0604020202020204" pitchFamily="34" charset="0"/>
                <a:cs typeface="Helvetica" panose="020B0604020202020204" pitchFamily="34" charset="0"/>
              </a:rPr>
              <a:t>Syntax:</a:t>
            </a:r>
          </a:p>
          <a:p>
            <a:pPr marL="0" indent="0">
              <a:lnSpc>
                <a:spcPct val="112000"/>
              </a:lnSpc>
              <a:spcBef>
                <a:spcPts val="600"/>
              </a:spcBef>
              <a:buNone/>
            </a:pPr>
            <a:r>
              <a:rPr lang="fr-FR" sz="2000" b="1"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ALTER TABLE table_name</a:t>
            </a:r>
            <a:r>
              <a:rPr lang="fr-FR" sz="2000" b="1" dirty="0">
                <a:latin typeface="Helvetica" panose="020B0604020202020204" pitchFamily="34" charset="0"/>
                <a:cs typeface="Helvetica" panose="020B0604020202020204" pitchFamily="34" charset="0"/>
              </a:rPr>
              <a:t>     ENABLE CONSTRAINT constraint_name;</a:t>
            </a:r>
          </a:p>
          <a:p>
            <a:pPr marL="0" indent="0">
              <a:lnSpc>
                <a:spcPct val="112000"/>
              </a:lnSpc>
              <a:spcBef>
                <a:spcPts val="600"/>
              </a:spcBef>
              <a:buNone/>
            </a:pPr>
            <a:r>
              <a:rPr lang="fr-FR" sz="2000" b="1"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ALTER TABLE table_name  ENABLE PRIMARY KEY;</a:t>
            </a:r>
          </a:p>
          <a:p>
            <a:pPr marL="0" indent="0">
              <a:lnSpc>
                <a:spcPct val="112000"/>
              </a:lnSpc>
              <a:spcBef>
                <a:spcPts val="600"/>
              </a:spcBef>
              <a:buNone/>
            </a:pPr>
            <a:r>
              <a:rPr lang="fr-FR" sz="2000" b="1"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ALTER TABLE table_name  ENABLE UNIQUE(column1,column2,..);</a:t>
            </a:r>
          </a:p>
          <a:p>
            <a:pPr marL="0" indent="0">
              <a:lnSpc>
                <a:spcPct val="150000"/>
              </a:lnSpc>
              <a:spcBef>
                <a:spcPts val="600"/>
              </a:spcBef>
              <a:buNone/>
            </a:pPr>
            <a:r>
              <a:rPr lang="en-US" sz="2000" b="1" dirty="0">
                <a:latin typeface="Helvetica" panose="020B0604020202020204" pitchFamily="34" charset="0"/>
                <a:cs typeface="Helvetica" panose="020B0604020202020204" pitchFamily="34" charset="0"/>
              </a:rPr>
              <a:t>Example:</a:t>
            </a:r>
            <a:r>
              <a:rPr lang="en-US" sz="2000" dirty="0">
                <a:latin typeface="Helvetica" panose="020B0604020202020204" pitchFamily="34" charset="0"/>
                <a:cs typeface="Helvetica" panose="020B0604020202020204" pitchFamily="34" charset="0"/>
              </a:rPr>
              <a:t> Assume that </a:t>
            </a:r>
            <a:r>
              <a:rPr lang="en-US" sz="2000" b="1" dirty="0">
                <a:latin typeface="Helvetica" panose="020B0604020202020204" pitchFamily="34" charset="0"/>
                <a:cs typeface="Helvetica" panose="020B0604020202020204" pitchFamily="34" charset="0"/>
              </a:rPr>
              <a:t>Person(</a:t>
            </a:r>
            <a:r>
              <a:rPr lang="en-US" sz="2000" b="1" dirty="0" err="1">
                <a:solidFill>
                  <a:srgbClr val="C00000"/>
                </a:solidFill>
                <a:latin typeface="Helvetica" panose="020B0604020202020204" pitchFamily="34" charset="0"/>
                <a:cs typeface="Helvetica" panose="020B0604020202020204" pitchFamily="34" charset="0"/>
              </a:rPr>
              <a:t>Fname</a:t>
            </a:r>
            <a:r>
              <a:rPr lang="en-US" sz="2000" b="1" dirty="0">
                <a:solidFill>
                  <a:srgbClr val="C00000"/>
                </a:solidFill>
                <a:latin typeface="Helvetica" panose="020B0604020202020204" pitchFamily="34" charset="0"/>
                <a:cs typeface="Helvetica" panose="020B0604020202020204" pitchFamily="34" charset="0"/>
              </a:rPr>
              <a:t>, </a:t>
            </a:r>
            <a:r>
              <a:rPr lang="en-US" sz="2000" b="1" dirty="0" err="1">
                <a:solidFill>
                  <a:srgbClr val="C00000"/>
                </a:solidFill>
                <a:latin typeface="Helvetica" panose="020B0604020202020204" pitchFamily="34" charset="0"/>
                <a:cs typeface="Helvetica" panose="020B0604020202020204" pitchFamily="34" charset="0"/>
              </a:rPr>
              <a:t>Lname</a:t>
            </a:r>
            <a:r>
              <a:rPr lang="en-US" sz="2000" b="1" dirty="0">
                <a:latin typeface="Helvetica" panose="020B0604020202020204" pitchFamily="34" charset="0"/>
                <a:cs typeface="Helvetica" panose="020B0604020202020204" pitchFamily="34" charset="0"/>
              </a:rPr>
              <a:t>, </a:t>
            </a:r>
            <a:r>
              <a:rPr lang="en-US" sz="2000" b="1" dirty="0" err="1">
                <a:latin typeface="Helvetica" panose="020B0604020202020204" pitchFamily="34" charset="0"/>
                <a:cs typeface="Helvetica" panose="020B0604020202020204" pitchFamily="34" charset="0"/>
              </a:rPr>
              <a:t>Address,Phone</a:t>
            </a:r>
            <a:r>
              <a:rPr lang="en-US" sz="2000" b="1" dirty="0">
                <a:latin typeface="Helvetica" panose="020B0604020202020204" pitchFamily="34" charset="0"/>
                <a:cs typeface="Helvetica" panose="020B0604020202020204" pitchFamily="34" charset="0"/>
              </a:rPr>
              <a:t>) </a:t>
            </a:r>
            <a:r>
              <a:rPr lang="en-US" sz="2000" dirty="0">
                <a:latin typeface="Helvetica" panose="020B0604020202020204" pitchFamily="34" charset="0"/>
                <a:cs typeface="Helvetica" panose="020B0604020202020204" pitchFamily="34" charset="0"/>
              </a:rPr>
              <a:t>table is already created with </a:t>
            </a:r>
            <a:r>
              <a:rPr lang="en-US" sz="2000" b="1" dirty="0">
                <a:latin typeface="Helvetica" panose="020B0604020202020204" pitchFamily="34" charset="0"/>
                <a:cs typeface="Helvetica" panose="020B0604020202020204" pitchFamily="34" charset="0"/>
              </a:rPr>
              <a:t>(</a:t>
            </a:r>
            <a:r>
              <a:rPr lang="en-US" sz="2000" b="1" dirty="0" err="1">
                <a:latin typeface="Helvetica" panose="020B0604020202020204" pitchFamily="34" charset="0"/>
                <a:cs typeface="Helvetica" panose="020B0604020202020204" pitchFamily="34" charset="0"/>
              </a:rPr>
              <a:t>Fname,LName</a:t>
            </a:r>
            <a:r>
              <a:rPr lang="en-US" sz="2000" b="1" dirty="0">
                <a:latin typeface="Helvetica" panose="020B0604020202020204" pitchFamily="34" charset="0"/>
                <a:cs typeface="Helvetica" panose="020B0604020202020204" pitchFamily="34" charset="0"/>
              </a:rPr>
              <a:t>)</a:t>
            </a:r>
            <a:r>
              <a:rPr lang="en-US" sz="2000" dirty="0">
                <a:latin typeface="Helvetica" panose="020B0604020202020204" pitchFamily="34" charset="0"/>
                <a:cs typeface="Helvetica" panose="020B0604020202020204" pitchFamily="34" charset="0"/>
              </a:rPr>
              <a:t> as </a:t>
            </a:r>
            <a:r>
              <a:rPr lang="en-US" sz="2000" dirty="0">
                <a:solidFill>
                  <a:srgbClr val="C00000"/>
                </a:solidFill>
                <a:latin typeface="Helvetica" panose="020B0604020202020204" pitchFamily="34" charset="0"/>
                <a:cs typeface="Helvetica" panose="020B0604020202020204" pitchFamily="34" charset="0"/>
              </a:rPr>
              <a:t>Primary Key </a:t>
            </a:r>
            <a:r>
              <a:rPr lang="en-US" sz="2000" dirty="0">
                <a:latin typeface="Helvetica" panose="020B0604020202020204" pitchFamily="34" charset="0"/>
                <a:cs typeface="Helvetica" panose="020B0604020202020204" pitchFamily="34" charset="0"/>
              </a:rPr>
              <a:t>with constraint name </a:t>
            </a:r>
            <a:r>
              <a:rPr lang="en-US" sz="2000" dirty="0" err="1">
                <a:latin typeface="Helvetica" panose="020B0604020202020204" pitchFamily="34" charset="0"/>
                <a:cs typeface="Helvetica" panose="020B0604020202020204" pitchFamily="34" charset="0"/>
              </a:rPr>
              <a:t>FLName_PKey</a:t>
            </a:r>
            <a:r>
              <a:rPr lang="en-US" sz="2000" dirty="0">
                <a:latin typeface="Helvetica" panose="020B0604020202020204" pitchFamily="34" charset="0"/>
                <a:cs typeface="Helvetica" panose="020B0604020202020204" pitchFamily="34" charset="0"/>
              </a:rPr>
              <a:t> </a:t>
            </a:r>
            <a:r>
              <a:rPr lang="en-US" sz="2000" b="1" dirty="0">
                <a:latin typeface="Helvetica" panose="020B0604020202020204" pitchFamily="34" charset="0"/>
                <a:cs typeface="Helvetica" panose="020B0604020202020204" pitchFamily="34" charset="0"/>
              </a:rPr>
              <a:t>and </a:t>
            </a:r>
            <a:r>
              <a:rPr lang="en-US" sz="2000" dirty="0">
                <a:latin typeface="Helvetica" panose="020B0604020202020204" pitchFamily="34" charset="0"/>
                <a:cs typeface="Helvetica" panose="020B0604020202020204" pitchFamily="34" charset="0"/>
              </a:rPr>
              <a:t>Unique constraint</a:t>
            </a:r>
            <a:r>
              <a:rPr lang="en-US" sz="2000" b="1" dirty="0">
                <a:latin typeface="Helvetica" panose="020B0604020202020204" pitchFamily="34" charset="0"/>
                <a:cs typeface="Helvetica" panose="020B0604020202020204" pitchFamily="34" charset="0"/>
              </a:rPr>
              <a:t> </a:t>
            </a:r>
            <a:r>
              <a:rPr lang="en-US" sz="2000" dirty="0">
                <a:latin typeface="Helvetica" panose="020B0604020202020204" pitchFamily="34" charset="0"/>
                <a:cs typeface="Helvetica" panose="020B0604020202020204" pitchFamily="34" charset="0"/>
              </a:rPr>
              <a:t>on Phone with constraint name – </a:t>
            </a:r>
            <a:r>
              <a:rPr lang="en-US" sz="2000" b="1" dirty="0">
                <a:latin typeface="Helvetica" panose="020B0604020202020204" pitchFamily="34" charset="0"/>
                <a:cs typeface="Helvetica" panose="020B0604020202020204" pitchFamily="34" charset="0"/>
              </a:rPr>
              <a:t>‘PHONE_UNQ’.  </a:t>
            </a:r>
          </a:p>
          <a:p>
            <a:pPr marL="0" indent="0">
              <a:lnSpc>
                <a:spcPct val="150000"/>
              </a:lnSpc>
              <a:spcBef>
                <a:spcPts val="600"/>
              </a:spcBef>
              <a:buNone/>
            </a:pPr>
            <a:r>
              <a:rPr lang="en-US" sz="2000" b="1" dirty="0">
                <a:solidFill>
                  <a:schemeClr val="accent5">
                    <a:lumMod val="50000"/>
                  </a:schemeClr>
                </a:solidFill>
                <a:latin typeface="Helvetica" panose="020B0604020202020204" pitchFamily="34" charset="0"/>
                <a:cs typeface="Helvetica" panose="020B0604020202020204" pitchFamily="34" charset="0"/>
              </a:rPr>
              <a:t>Enable the PHONE_UNQ  Constraint</a:t>
            </a:r>
            <a:r>
              <a:rPr lang="en-US" sz="2000" b="1" dirty="0">
                <a:latin typeface="Helvetica" panose="020B0604020202020204" pitchFamily="34" charset="0"/>
                <a:cs typeface="Helvetica" panose="020B0604020202020204" pitchFamily="34" charset="0"/>
              </a:rPr>
              <a:t>.</a:t>
            </a:r>
          </a:p>
          <a:p>
            <a:pPr marL="0" indent="0">
              <a:lnSpc>
                <a:spcPct val="112000"/>
              </a:lnSpc>
              <a:spcBef>
                <a:spcPts val="600"/>
              </a:spcBef>
              <a:buNone/>
            </a:pPr>
            <a:r>
              <a:rPr lang="en-IN" sz="2000" b="1"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 ALTER TABLE </a:t>
            </a:r>
            <a:r>
              <a:rPr lang="en-US" sz="2000" b="1" dirty="0">
                <a:latin typeface="Helvetica" panose="020B0604020202020204" pitchFamily="34" charset="0"/>
                <a:cs typeface="Helvetica" panose="020B0604020202020204" pitchFamily="34" charset="0"/>
              </a:rPr>
              <a:t>Person CONSTRAINT ENABLE </a:t>
            </a:r>
            <a:r>
              <a:rPr lang="en-US" sz="2000" dirty="0">
                <a:latin typeface="Helvetica" panose="020B0604020202020204" pitchFamily="34" charset="0"/>
                <a:cs typeface="Helvetica" panose="020B0604020202020204" pitchFamily="34" charset="0"/>
              </a:rPr>
              <a:t>PHONE_UNQ;  </a:t>
            </a:r>
            <a:r>
              <a:rPr lang="en-US" sz="2000" b="1" dirty="0">
                <a:solidFill>
                  <a:srgbClr val="C00000"/>
                </a:solidFill>
                <a:latin typeface="Helvetica" panose="020B0604020202020204" pitchFamily="34" charset="0"/>
                <a:cs typeface="Helvetica" panose="020B0604020202020204" pitchFamily="34" charset="0"/>
              </a:rPr>
              <a:t>or</a:t>
            </a:r>
          </a:p>
          <a:p>
            <a:pPr marL="0" indent="0">
              <a:lnSpc>
                <a:spcPct val="112000"/>
              </a:lnSpc>
              <a:spcBef>
                <a:spcPts val="600"/>
              </a:spcBef>
              <a:buNone/>
            </a:pPr>
            <a:r>
              <a:rPr lang="en-US" sz="2000" dirty="0">
                <a:latin typeface="Helvetica" panose="020B0604020202020204" pitchFamily="34" charset="0"/>
                <a:cs typeface="Helvetica" panose="020B0604020202020204" pitchFamily="34" charset="0"/>
              </a:rPr>
              <a:t>	</a:t>
            </a:r>
            <a:r>
              <a:rPr lang="fr-FR" sz="2000" dirty="0">
                <a:latin typeface="Helvetica" panose="020B0604020202020204" pitchFamily="34" charset="0"/>
                <a:cs typeface="Helvetica" panose="020B0604020202020204" pitchFamily="34" charset="0"/>
              </a:rPr>
              <a:t> ALTER TABLE </a:t>
            </a:r>
            <a:r>
              <a:rPr lang="en-US" sz="2000" b="1" dirty="0">
                <a:latin typeface="Helvetica" panose="020B0604020202020204" pitchFamily="34" charset="0"/>
                <a:cs typeface="Helvetica" panose="020B0604020202020204" pitchFamily="34" charset="0"/>
              </a:rPr>
              <a:t>Person ENABLE UNIQUE(Phone);</a:t>
            </a:r>
            <a:endParaRPr lang="en-US" sz="2000" dirty="0">
              <a:latin typeface="Helvetica" panose="020B0604020202020204" pitchFamily="34" charset="0"/>
              <a:cs typeface="Helvetica" panose="020B0604020202020204" pitchFamily="34" charset="0"/>
            </a:endParaRPr>
          </a:p>
          <a:p>
            <a:pPr marL="0" indent="0">
              <a:lnSpc>
                <a:spcPct val="112000"/>
              </a:lnSpc>
              <a:spcBef>
                <a:spcPts val="600"/>
              </a:spcBef>
              <a:buNone/>
            </a:pPr>
            <a:r>
              <a:rPr lang="en-US" sz="2000" b="1" dirty="0">
                <a:solidFill>
                  <a:schemeClr val="accent5">
                    <a:lumMod val="50000"/>
                  </a:schemeClr>
                </a:solidFill>
                <a:latin typeface="Helvetica" panose="020B0604020202020204" pitchFamily="34" charset="0"/>
                <a:cs typeface="Helvetica" panose="020B0604020202020204" pitchFamily="34" charset="0"/>
              </a:rPr>
              <a:t>Enable Primary key</a:t>
            </a:r>
          </a:p>
          <a:p>
            <a:pPr marL="0" indent="0">
              <a:lnSpc>
                <a:spcPct val="112000"/>
              </a:lnSpc>
              <a:spcBef>
                <a:spcPts val="600"/>
              </a:spcBef>
              <a:buNone/>
            </a:pPr>
            <a:r>
              <a:rPr lang="fr-FR" sz="2000" dirty="0">
                <a:latin typeface="Helvetica" panose="020B0604020202020204" pitchFamily="34" charset="0"/>
                <a:cs typeface="Helvetica" panose="020B0604020202020204" pitchFamily="34" charset="0"/>
              </a:rPr>
              <a:t>	 ALTER TABLE </a:t>
            </a:r>
            <a:r>
              <a:rPr lang="en-US" sz="2000" b="1" dirty="0">
                <a:latin typeface="Helvetica" panose="020B0604020202020204" pitchFamily="34" charset="0"/>
                <a:cs typeface="Helvetica" panose="020B0604020202020204" pitchFamily="34" charset="0"/>
              </a:rPr>
              <a:t>Person ENABLE </a:t>
            </a:r>
            <a:r>
              <a:rPr lang="fr-FR" sz="2000" dirty="0">
                <a:latin typeface="Helvetica" panose="020B0604020202020204" pitchFamily="34" charset="0"/>
                <a:cs typeface="Helvetica" panose="020B0604020202020204" pitchFamily="34" charset="0"/>
              </a:rPr>
              <a:t>PRIMARY KEY;</a:t>
            </a:r>
          </a:p>
          <a:p>
            <a:pPr marL="0" indent="0">
              <a:lnSpc>
                <a:spcPct val="112000"/>
              </a:lnSpc>
              <a:spcBef>
                <a:spcPts val="600"/>
              </a:spcBef>
              <a:buNone/>
            </a:pPr>
            <a:endParaRPr lang="en-IN" sz="2000" b="1" dirty="0">
              <a:latin typeface="Helvetica" panose="020B0604020202020204" pitchFamily="34" charset="0"/>
              <a:cs typeface="Helvetica" panose="020B0604020202020204" pitchFamily="34" charset="0"/>
            </a:endParaRPr>
          </a:p>
        </p:txBody>
      </p:sp>
      <p:sp>
        <p:nvSpPr>
          <p:cNvPr id="4" name="Footer Placeholder 3">
            <a:extLst>
              <a:ext uri="{FF2B5EF4-FFF2-40B4-BE49-F238E27FC236}">
                <a16:creationId xmlns:a16="http://schemas.microsoft.com/office/drawing/2014/main" id="{9415219E-97BF-437A-B6DE-2D9D16DB7C0D}"/>
              </a:ext>
            </a:extLst>
          </p:cNvPr>
          <p:cNvSpPr>
            <a:spLocks noGrp="1"/>
          </p:cNvSpPr>
          <p:nvPr>
            <p:ph type="ftr" sz="quarter" idx="11"/>
          </p:nvPr>
        </p:nvSpPr>
        <p:spPr/>
        <p:txBody>
          <a:bodyPr/>
          <a:lstStyle/>
          <a:p>
            <a:r>
              <a:rPr lang="en-US" dirty="0"/>
              <a:t>SQL</a:t>
            </a:r>
          </a:p>
        </p:txBody>
      </p:sp>
      <p:sp>
        <p:nvSpPr>
          <p:cNvPr id="5" name="Slide Number Placeholder 4">
            <a:extLst>
              <a:ext uri="{FF2B5EF4-FFF2-40B4-BE49-F238E27FC236}">
                <a16:creationId xmlns:a16="http://schemas.microsoft.com/office/drawing/2014/main" id="{EDF6C1DA-BCDF-4B79-906B-10BEF5D2EC5E}"/>
              </a:ext>
            </a:extLst>
          </p:cNvPr>
          <p:cNvSpPr>
            <a:spLocks noGrp="1"/>
          </p:cNvSpPr>
          <p:nvPr>
            <p:ph type="sldNum" sz="quarter" idx="12"/>
          </p:nvPr>
        </p:nvSpPr>
        <p:spPr/>
        <p:txBody>
          <a:bodyPr/>
          <a:lstStyle/>
          <a:p>
            <a:fld id="{03576695-DB63-4967-AFBB-46E84EF49106}" type="slidenum">
              <a:rPr lang="en-US" smtClean="0"/>
              <a:t>56</a:t>
            </a:fld>
            <a:endParaRPr lang="en-US"/>
          </a:p>
        </p:txBody>
      </p:sp>
      <p:sp>
        <p:nvSpPr>
          <p:cNvPr id="8" name="Rectangle 2">
            <a:extLst>
              <a:ext uri="{FF2B5EF4-FFF2-40B4-BE49-F238E27FC236}">
                <a16:creationId xmlns:a16="http://schemas.microsoft.com/office/drawing/2014/main" id="{B6B56A21-6207-4F6E-9A09-9094AF5FEA59}"/>
              </a:ext>
            </a:extLst>
          </p:cNvPr>
          <p:cNvSpPr txBox="1">
            <a:spLocks noGrp="1" noChangeArrowheads="1"/>
          </p:cNvSpPr>
          <p:nvPr>
            <p:ph type="title"/>
          </p:nvPr>
        </p:nvSpPr>
        <p:spPr bwMode="auto">
          <a:xfrm>
            <a:off x="838200" y="-111116"/>
            <a:ext cx="10515600" cy="726256"/>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mj-lt"/>
                <a:ea typeface="+mj-ea"/>
                <a:cs typeface="+mj-cs"/>
              </a:defRPr>
            </a:lvl1pPr>
            <a:lvl2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2pPr>
            <a:lvl3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3pPr>
            <a:lvl4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4pPr>
            <a:lvl5pPr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5pPr>
            <a:lvl6pPr marL="4572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6pPr>
            <a:lvl7pPr marL="9144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7pPr>
            <a:lvl8pPr marL="13716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8pPr>
            <a:lvl9pPr marL="1828800" algn="ctr" rtl="0" eaLnBrk="0" fontAlgn="base" hangingPunct="0">
              <a:spcBef>
                <a:spcPct val="0"/>
              </a:spcBef>
              <a:spcAft>
                <a:spcPct val="0"/>
              </a:spcAft>
              <a:defRPr kumimoji="1" sz="3200" b="1">
                <a:solidFill>
                  <a:schemeClr val="tx2"/>
                </a:solidFill>
                <a:effectLst>
                  <a:outerShdw blurRad="38100" dist="38100" dir="2700000" algn="tl">
                    <a:srgbClr val="C0C0C0"/>
                  </a:outerShdw>
                </a:effectLst>
                <a:latin typeface="Helvetica"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lang="en-US" kern="0" dirty="0">
                <a:solidFill>
                  <a:srgbClr val="CC3300"/>
                </a:solidFill>
                <a:latin typeface="Helvetica"/>
              </a:rPr>
              <a:t>..</a:t>
            </a:r>
            <a:r>
              <a:rPr kumimoji="1" lang="en-US" sz="3200" b="1" i="0" u="none" strike="noStrike" kern="0" cap="none" spc="0" normalizeH="0" baseline="0" noProof="0" dirty="0">
                <a:ln>
                  <a:noFill/>
                </a:ln>
                <a:solidFill>
                  <a:srgbClr val="CC3300"/>
                </a:solidFill>
                <a:effectLst>
                  <a:outerShdw blurRad="38100" dist="38100" dir="2700000" algn="tl">
                    <a:srgbClr val="C0C0C0"/>
                  </a:outerShdw>
                </a:effectLst>
                <a:uLnTx/>
                <a:uFillTx/>
                <a:latin typeface="Helvetica"/>
                <a:ea typeface="+mj-ea"/>
                <a:cs typeface="+mj-cs"/>
              </a:rPr>
              <a:t>Alter Table Constructs</a:t>
            </a:r>
          </a:p>
        </p:txBody>
      </p:sp>
    </p:spTree>
    <p:extLst>
      <p:ext uri="{BB962C8B-B14F-4D97-AF65-F5344CB8AC3E}">
        <p14:creationId xmlns:p14="http://schemas.microsoft.com/office/powerpoint/2010/main" val="38965197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
            <a:ext cx="10515600" cy="693174"/>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INSERT</a:t>
            </a:r>
          </a:p>
        </p:txBody>
      </p:sp>
      <p:sp>
        <p:nvSpPr>
          <p:cNvPr id="3" name="Content Placeholder 2"/>
          <p:cNvSpPr>
            <a:spLocks noGrp="1"/>
          </p:cNvSpPr>
          <p:nvPr>
            <p:ph idx="1"/>
          </p:nvPr>
        </p:nvSpPr>
        <p:spPr>
          <a:xfrm>
            <a:off x="285134" y="894786"/>
            <a:ext cx="11621729" cy="5461563"/>
          </a:xfrm>
        </p:spPr>
        <p:txBody>
          <a:bodyPr>
            <a:noAutofit/>
          </a:bodyPr>
          <a:lstStyle/>
          <a:p>
            <a:pPr marL="0" indent="0">
              <a:buNone/>
            </a:pPr>
            <a:r>
              <a:rPr lang="en-US" b="1" dirty="0"/>
              <a:t>Inserts a new record at the end of given table.</a:t>
            </a:r>
          </a:p>
          <a:p>
            <a:pPr marL="0" indent="0">
              <a:buNone/>
            </a:pPr>
            <a:r>
              <a:rPr lang="en-US" sz="2300" b="1" dirty="0"/>
              <a:t>Syntax</a:t>
            </a:r>
            <a:r>
              <a:rPr lang="en-US" sz="2300" dirty="0"/>
              <a:t>-</a:t>
            </a:r>
          </a:p>
          <a:p>
            <a:pPr marL="457200" lvl="1" indent="0">
              <a:buNone/>
            </a:pPr>
            <a:r>
              <a:rPr lang="en-US" sz="1900" dirty="0"/>
              <a:t>  </a:t>
            </a:r>
            <a:r>
              <a:rPr lang="en-US" dirty="0">
                <a:solidFill>
                  <a:srgbClr val="C00000"/>
                </a:solidFill>
              </a:rPr>
              <a:t>INSERT INTO table_name VALUES (value1,value2,….)</a:t>
            </a:r>
          </a:p>
          <a:p>
            <a:pPr marL="0" indent="0">
              <a:buNone/>
            </a:pPr>
            <a:endParaRPr lang="en-US" sz="1050" dirty="0"/>
          </a:p>
          <a:p>
            <a:pPr marL="0" indent="0">
              <a:buNone/>
            </a:pPr>
            <a:r>
              <a:rPr lang="en-US" sz="2300" dirty="0"/>
              <a:t> </a:t>
            </a:r>
            <a:r>
              <a:rPr lang="en-US" sz="2300" b="1" dirty="0"/>
              <a:t>Example: </a:t>
            </a:r>
            <a:r>
              <a:rPr lang="en-US" sz="2300" dirty="0"/>
              <a:t>Insert a record to a table </a:t>
            </a:r>
            <a:r>
              <a:rPr lang="en-US" sz="2400" b="1" dirty="0"/>
              <a:t>Course(</a:t>
            </a:r>
            <a:r>
              <a:rPr lang="en-US" sz="2400" b="1" dirty="0" err="1"/>
              <a:t>Course_id,title,Dept_Name,Credits</a:t>
            </a:r>
            <a:r>
              <a:rPr lang="en-US" sz="2400" b="1" dirty="0"/>
              <a:t>)</a:t>
            </a:r>
          </a:p>
          <a:p>
            <a:pPr marL="0" indent="0">
              <a:buNone/>
            </a:pPr>
            <a:endParaRPr lang="en-US" sz="500" dirty="0"/>
          </a:p>
          <a:p>
            <a:pPr marL="0" indent="0">
              <a:lnSpc>
                <a:spcPct val="120000"/>
              </a:lnSpc>
              <a:buNone/>
            </a:pPr>
            <a:r>
              <a:rPr lang="en-US" altLang="en-US" sz="2400" b="1" dirty="0"/>
              <a:t>insert into </a:t>
            </a:r>
            <a:r>
              <a:rPr lang="en-US" altLang="en-US" sz="2400" i="1" dirty="0"/>
              <a:t>course</a:t>
            </a:r>
            <a:br>
              <a:rPr lang="en-US" altLang="en-US" sz="2400" i="1" dirty="0"/>
            </a:br>
            <a:r>
              <a:rPr lang="en-US" altLang="en-US" sz="2400" i="1" dirty="0"/>
              <a:t>             </a:t>
            </a:r>
            <a:r>
              <a:rPr lang="en-US" altLang="en-US" sz="2400" b="1" dirty="0"/>
              <a:t>values </a:t>
            </a:r>
            <a:r>
              <a:rPr lang="en-US" altLang="en-US" sz="2400" dirty="0"/>
              <a:t>(’CS-437’, ’Database Systems’, ’Comp. Sci.’, 4);</a:t>
            </a:r>
          </a:p>
          <a:p>
            <a:pPr marL="0" indent="0">
              <a:lnSpc>
                <a:spcPct val="120000"/>
              </a:lnSpc>
              <a:buNone/>
            </a:pPr>
            <a:r>
              <a:rPr lang="en-US" sz="2300" dirty="0"/>
              <a:t>There will be </a:t>
            </a:r>
            <a:r>
              <a:rPr lang="en-US" sz="2300" b="1" dirty="0"/>
              <a:t>1 to 1 mapping </a:t>
            </a:r>
            <a:r>
              <a:rPr lang="en-US" sz="2300" dirty="0"/>
              <a:t>between values given and order in which columns are created in relation Course. </a:t>
            </a:r>
          </a:p>
          <a:p>
            <a:pPr marL="0" indent="0">
              <a:lnSpc>
                <a:spcPct val="120000"/>
              </a:lnSpc>
              <a:buNone/>
            </a:pPr>
            <a:r>
              <a:rPr lang="en-US" sz="2300" dirty="0"/>
              <a:t>1</a:t>
            </a:r>
            <a:r>
              <a:rPr lang="en-US" sz="2300" baseline="30000" dirty="0"/>
              <a:t>st</a:t>
            </a:r>
            <a:r>
              <a:rPr lang="en-US" sz="2300" dirty="0"/>
              <a:t> value ‘</a:t>
            </a:r>
            <a:r>
              <a:rPr lang="en-US" sz="2300" dirty="0">
                <a:solidFill>
                  <a:srgbClr val="C00000"/>
                </a:solidFill>
              </a:rPr>
              <a:t>CS-437</a:t>
            </a:r>
            <a:r>
              <a:rPr lang="en-US" sz="2300" dirty="0"/>
              <a:t>’ is mapped to column </a:t>
            </a:r>
            <a:r>
              <a:rPr lang="en-US" sz="2300" dirty="0" err="1"/>
              <a:t>Course_id</a:t>
            </a:r>
            <a:r>
              <a:rPr lang="en-US" sz="2300" dirty="0"/>
              <a:t>, </a:t>
            </a:r>
          </a:p>
          <a:p>
            <a:pPr marL="0" indent="0">
              <a:lnSpc>
                <a:spcPct val="120000"/>
              </a:lnSpc>
              <a:buNone/>
            </a:pPr>
            <a:r>
              <a:rPr lang="en-US" sz="2300" dirty="0"/>
              <a:t>2</a:t>
            </a:r>
            <a:r>
              <a:rPr lang="en-US" sz="2300" baseline="30000" dirty="0"/>
              <a:t>nd</a:t>
            </a:r>
            <a:r>
              <a:rPr lang="en-US" sz="2300" dirty="0"/>
              <a:t> value ‘</a:t>
            </a:r>
            <a:r>
              <a:rPr lang="en-US" sz="2300" dirty="0">
                <a:solidFill>
                  <a:srgbClr val="0070C0"/>
                </a:solidFill>
              </a:rPr>
              <a:t>Database Systems</a:t>
            </a:r>
            <a:r>
              <a:rPr lang="en-US" sz="2300" dirty="0"/>
              <a:t>’ is mapped to column </a:t>
            </a:r>
            <a:r>
              <a:rPr lang="en-US" sz="2300" dirty="0">
                <a:solidFill>
                  <a:srgbClr val="0070C0"/>
                </a:solidFill>
              </a:rPr>
              <a:t>title</a:t>
            </a:r>
            <a:r>
              <a:rPr lang="en-US" sz="2300" dirty="0"/>
              <a:t>   and so on.</a:t>
            </a: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57</a:t>
            </a:fld>
            <a:endParaRPr lang="en-US"/>
          </a:p>
        </p:txBody>
      </p:sp>
    </p:spTree>
    <p:extLst>
      <p:ext uri="{BB962C8B-B14F-4D97-AF65-F5344CB8AC3E}">
        <p14:creationId xmlns:p14="http://schemas.microsoft.com/office/powerpoint/2010/main" val="32717884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0"/>
            <a:ext cx="10515600" cy="589935"/>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..INSERT</a:t>
            </a:r>
          </a:p>
        </p:txBody>
      </p:sp>
      <p:sp>
        <p:nvSpPr>
          <p:cNvPr id="3" name="Content Placeholder 2"/>
          <p:cNvSpPr>
            <a:spLocks noGrp="1"/>
          </p:cNvSpPr>
          <p:nvPr>
            <p:ph idx="1"/>
          </p:nvPr>
        </p:nvSpPr>
        <p:spPr>
          <a:xfrm>
            <a:off x="285134" y="1419681"/>
            <a:ext cx="11621729" cy="4351338"/>
          </a:xfrm>
        </p:spPr>
        <p:txBody>
          <a:bodyPr>
            <a:noAutofit/>
          </a:bodyPr>
          <a:lstStyle/>
          <a:p>
            <a:pPr marL="0" indent="0">
              <a:buNone/>
            </a:pPr>
            <a:r>
              <a:rPr lang="en-US" sz="2300" b="1" dirty="0"/>
              <a:t>Syntax</a:t>
            </a:r>
            <a:r>
              <a:rPr lang="en-US" sz="2300" dirty="0"/>
              <a:t>-</a:t>
            </a:r>
          </a:p>
          <a:p>
            <a:pPr marL="457200" lvl="1" indent="0">
              <a:buNone/>
            </a:pPr>
            <a:r>
              <a:rPr lang="en-US" sz="1900" dirty="0"/>
              <a:t>  </a:t>
            </a:r>
            <a:r>
              <a:rPr lang="en-US" dirty="0">
                <a:solidFill>
                  <a:srgbClr val="C00000"/>
                </a:solidFill>
              </a:rPr>
              <a:t>INSERT INTO table_name(column1,column2,..) VALUES (value1,value2,….)</a:t>
            </a:r>
          </a:p>
          <a:p>
            <a:pPr marL="0" indent="0">
              <a:buNone/>
            </a:pPr>
            <a:endParaRPr lang="en-US" sz="1050" dirty="0"/>
          </a:p>
          <a:p>
            <a:pPr marL="0" indent="0">
              <a:lnSpc>
                <a:spcPct val="150000"/>
              </a:lnSpc>
              <a:buNone/>
            </a:pPr>
            <a:r>
              <a:rPr lang="en-US" sz="2300" dirty="0"/>
              <a:t> </a:t>
            </a:r>
            <a:r>
              <a:rPr lang="en-US" sz="2300" b="1" dirty="0"/>
              <a:t>Example: </a:t>
            </a:r>
            <a:r>
              <a:rPr lang="en-US" sz="2300" dirty="0"/>
              <a:t>Insert a record into Course table having values to </a:t>
            </a:r>
            <a:r>
              <a:rPr lang="en-US" sz="2300" dirty="0" err="1"/>
              <a:t>Course_id</a:t>
            </a:r>
            <a:r>
              <a:rPr lang="en-US" sz="2300" dirty="0"/>
              <a:t>, </a:t>
            </a:r>
            <a:r>
              <a:rPr lang="en-US" sz="2300" dirty="0" err="1"/>
              <a:t>Dept_Name</a:t>
            </a:r>
            <a:r>
              <a:rPr lang="en-US" sz="2300" dirty="0"/>
              <a:t> columns only. </a:t>
            </a:r>
            <a:r>
              <a:rPr lang="en-US" sz="2400" b="1" dirty="0"/>
              <a:t>Course(</a:t>
            </a:r>
            <a:r>
              <a:rPr lang="en-US" sz="2400" b="1" dirty="0" err="1"/>
              <a:t>Course_id,title,Dept_Name,Credits</a:t>
            </a:r>
            <a:r>
              <a:rPr lang="en-US" sz="2400" b="1" dirty="0"/>
              <a:t>)</a:t>
            </a:r>
          </a:p>
          <a:p>
            <a:pPr marL="0" indent="0">
              <a:buNone/>
            </a:pPr>
            <a:endParaRPr lang="en-US" sz="500" dirty="0"/>
          </a:p>
          <a:p>
            <a:pPr marL="0" indent="0">
              <a:lnSpc>
                <a:spcPct val="120000"/>
              </a:lnSpc>
              <a:buNone/>
            </a:pPr>
            <a:r>
              <a:rPr lang="en-US" altLang="en-US" dirty="0"/>
              <a:t> </a:t>
            </a:r>
            <a:r>
              <a:rPr lang="en-US" altLang="en-US" b="1" dirty="0"/>
              <a:t>insert into </a:t>
            </a:r>
            <a:r>
              <a:rPr lang="en-US" altLang="en-US" i="1" dirty="0"/>
              <a:t>course </a:t>
            </a:r>
            <a:r>
              <a:rPr lang="en-US" altLang="en-US" dirty="0"/>
              <a:t>(</a:t>
            </a:r>
            <a:r>
              <a:rPr lang="en-US" altLang="en-US" i="1" dirty="0" err="1"/>
              <a:t>course_id,dept_name</a:t>
            </a:r>
            <a:r>
              <a:rPr lang="en-US" altLang="en-US" dirty="0"/>
              <a:t>) </a:t>
            </a:r>
            <a:r>
              <a:rPr lang="en-US" altLang="en-US" b="1" dirty="0"/>
              <a:t>values </a:t>
            </a:r>
            <a:r>
              <a:rPr lang="en-US" altLang="en-US" dirty="0"/>
              <a:t>(’CS-438’, ’Comp. Sci.’);</a:t>
            </a:r>
          </a:p>
          <a:p>
            <a:pPr marL="0" indent="0">
              <a:lnSpc>
                <a:spcPct val="120000"/>
              </a:lnSpc>
              <a:buNone/>
            </a:pPr>
            <a:r>
              <a:rPr lang="en-US" sz="2400" dirty="0"/>
              <a:t>It is </a:t>
            </a:r>
            <a:r>
              <a:rPr lang="en-US" sz="2400" b="1" dirty="0">
                <a:solidFill>
                  <a:srgbClr val="C00000"/>
                </a:solidFill>
              </a:rPr>
              <a:t>equivalent</a:t>
            </a:r>
            <a:r>
              <a:rPr lang="en-US" sz="2400" dirty="0"/>
              <a:t> to –</a:t>
            </a:r>
          </a:p>
          <a:p>
            <a:pPr marL="0" indent="0">
              <a:lnSpc>
                <a:spcPct val="120000"/>
              </a:lnSpc>
              <a:buNone/>
            </a:pPr>
            <a:r>
              <a:rPr lang="en-US" altLang="en-US" sz="2400" dirty="0"/>
              <a:t> </a:t>
            </a:r>
            <a:r>
              <a:rPr lang="en-US" altLang="en-US" b="1" dirty="0"/>
              <a:t>insert into </a:t>
            </a:r>
            <a:r>
              <a:rPr lang="en-US" altLang="en-US" i="1" dirty="0"/>
              <a:t>course </a:t>
            </a:r>
            <a:r>
              <a:rPr lang="en-US" altLang="en-US" b="1" dirty="0"/>
              <a:t>values </a:t>
            </a:r>
            <a:r>
              <a:rPr lang="en-US" altLang="en-US" dirty="0"/>
              <a:t>(’CS-438’, </a:t>
            </a:r>
            <a:r>
              <a:rPr lang="en-US" altLang="en-US" dirty="0">
                <a:solidFill>
                  <a:srgbClr val="C00000"/>
                </a:solidFill>
              </a:rPr>
              <a:t>NULL</a:t>
            </a:r>
            <a:r>
              <a:rPr lang="en-US" altLang="en-US" dirty="0"/>
              <a:t>, ’Comp. Sci.’, </a:t>
            </a:r>
            <a:r>
              <a:rPr lang="en-US" altLang="en-US" dirty="0">
                <a:solidFill>
                  <a:srgbClr val="C00000"/>
                </a:solidFill>
              </a:rPr>
              <a:t>NULL</a:t>
            </a:r>
            <a:r>
              <a:rPr lang="en-US" altLang="en-US" dirty="0"/>
              <a:t>);</a:t>
            </a:r>
            <a:endParaRPr lang="en-US" sz="2300" dirty="0"/>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58</a:t>
            </a:fld>
            <a:endParaRPr lang="en-US"/>
          </a:p>
        </p:txBody>
      </p:sp>
      <p:sp>
        <p:nvSpPr>
          <p:cNvPr id="6" name="Rectangle 5"/>
          <p:cNvSpPr/>
          <p:nvPr/>
        </p:nvSpPr>
        <p:spPr>
          <a:xfrm>
            <a:off x="3905250" y="5806778"/>
            <a:ext cx="3321487" cy="369332"/>
          </a:xfrm>
          <a:prstGeom prst="rect">
            <a:avLst/>
          </a:prstGeom>
        </p:spPr>
        <p:txBody>
          <a:bodyPr wrap="none">
            <a:spAutoFit/>
          </a:bodyPr>
          <a:lstStyle/>
          <a:p>
            <a:r>
              <a:rPr lang="en-US" b="1" dirty="0"/>
              <a:t>Note: </a:t>
            </a:r>
            <a:r>
              <a:rPr lang="en-US" b="1" dirty="0">
                <a:solidFill>
                  <a:srgbClr val="C00000"/>
                </a:solidFill>
              </a:rPr>
              <a:t>NULL </a:t>
            </a:r>
            <a:r>
              <a:rPr lang="en-US" b="1" dirty="0"/>
              <a:t>is not same as </a:t>
            </a:r>
            <a:r>
              <a:rPr lang="en-US" b="1" dirty="0">
                <a:solidFill>
                  <a:srgbClr val="C00000"/>
                </a:solidFill>
              </a:rPr>
              <a:t>‘NULL’</a:t>
            </a:r>
          </a:p>
        </p:txBody>
      </p:sp>
      <p:sp>
        <p:nvSpPr>
          <p:cNvPr id="7" name="Rectangle 6">
            <a:extLst>
              <a:ext uri="{FF2B5EF4-FFF2-40B4-BE49-F238E27FC236}">
                <a16:creationId xmlns:a16="http://schemas.microsoft.com/office/drawing/2014/main" id="{9BEFEB15-0D0F-47E6-8958-AA0B34C463FA}"/>
              </a:ext>
            </a:extLst>
          </p:cNvPr>
          <p:cNvSpPr/>
          <p:nvPr/>
        </p:nvSpPr>
        <p:spPr>
          <a:xfrm>
            <a:off x="285134" y="712420"/>
            <a:ext cx="5910144" cy="584775"/>
          </a:xfrm>
          <a:prstGeom prst="rect">
            <a:avLst/>
          </a:prstGeom>
        </p:spPr>
        <p:txBody>
          <a:bodyPr wrap="none">
            <a:spAutoFit/>
          </a:bodyPr>
          <a:lstStyle/>
          <a:p>
            <a:r>
              <a:rPr lang="en-US" sz="3200" b="1" dirty="0"/>
              <a:t>Inserting values to fewer columns</a:t>
            </a:r>
          </a:p>
        </p:txBody>
      </p:sp>
    </p:spTree>
    <p:extLst>
      <p:ext uri="{BB962C8B-B14F-4D97-AF65-F5344CB8AC3E}">
        <p14:creationId xmlns:p14="http://schemas.microsoft.com/office/powerpoint/2010/main" val="36020467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59</a:t>
            </a:fld>
            <a:endParaRPr lang="en-US"/>
          </a:p>
        </p:txBody>
      </p:sp>
      <p:sp>
        <p:nvSpPr>
          <p:cNvPr id="6" name="Title 1"/>
          <p:cNvSpPr>
            <a:spLocks noGrp="1"/>
          </p:cNvSpPr>
          <p:nvPr>
            <p:ph type="title"/>
          </p:nvPr>
        </p:nvSpPr>
        <p:spPr>
          <a:xfrm>
            <a:off x="838199" y="1"/>
            <a:ext cx="10515600" cy="619432"/>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..INSERT (date value)</a:t>
            </a:r>
          </a:p>
        </p:txBody>
      </p:sp>
      <p:sp>
        <p:nvSpPr>
          <p:cNvPr id="7" name="Rectangle 6"/>
          <p:cNvSpPr/>
          <p:nvPr/>
        </p:nvSpPr>
        <p:spPr>
          <a:xfrm>
            <a:off x="621222" y="802156"/>
            <a:ext cx="10515600" cy="5371470"/>
          </a:xfrm>
          <a:prstGeom prst="rect">
            <a:avLst/>
          </a:prstGeom>
        </p:spPr>
        <p:txBody>
          <a:bodyPr wrap="square">
            <a:spAutoFit/>
          </a:bodyPr>
          <a:lstStyle/>
          <a:p>
            <a:pPr>
              <a:lnSpc>
                <a:spcPct val="150000"/>
              </a:lnSpc>
            </a:pPr>
            <a:r>
              <a:rPr lang="en-US" sz="2300" b="1" dirty="0"/>
              <a:t>Example: </a:t>
            </a:r>
            <a:r>
              <a:rPr lang="en-US" sz="2300" dirty="0"/>
              <a:t>Assume we have a table </a:t>
            </a:r>
            <a:r>
              <a:rPr lang="en-US" sz="2300" b="1" dirty="0"/>
              <a:t>STUD</a:t>
            </a:r>
            <a:r>
              <a:rPr lang="en-US" sz="2300" dirty="0"/>
              <a:t> (</a:t>
            </a:r>
            <a:r>
              <a:rPr lang="en-US" sz="2300" dirty="0" err="1"/>
              <a:t>Rno</a:t>
            </a:r>
            <a:r>
              <a:rPr lang="en-US" sz="2300" dirty="0"/>
              <a:t>, Name, </a:t>
            </a:r>
            <a:r>
              <a:rPr lang="en-US" sz="2300" dirty="0" err="1"/>
              <a:t>Birth_Date</a:t>
            </a:r>
            <a:r>
              <a:rPr lang="en-US" sz="2300" dirty="0"/>
              <a:t>) </a:t>
            </a:r>
          </a:p>
          <a:p>
            <a:pPr>
              <a:lnSpc>
                <a:spcPct val="150000"/>
              </a:lnSpc>
            </a:pPr>
            <a:r>
              <a:rPr lang="en-US" sz="2300" b="1" dirty="0"/>
              <a:t>Insert a record into STUD table.</a:t>
            </a:r>
          </a:p>
          <a:p>
            <a:endParaRPr lang="en-US" sz="1400" dirty="0"/>
          </a:p>
          <a:p>
            <a:r>
              <a:rPr lang="en-US" sz="2300" dirty="0"/>
              <a:t>   INSERT INTO Stud VALUES(19011102, ‘Ajay’, </a:t>
            </a:r>
            <a:r>
              <a:rPr lang="en-US" sz="2300" b="1" dirty="0">
                <a:solidFill>
                  <a:srgbClr val="C00000"/>
                </a:solidFill>
              </a:rPr>
              <a:t>TO_DATE</a:t>
            </a:r>
            <a:r>
              <a:rPr lang="en-US" sz="2300" b="1" dirty="0"/>
              <a:t>(</a:t>
            </a:r>
            <a:r>
              <a:rPr lang="en-US" sz="2300" b="1" dirty="0">
                <a:solidFill>
                  <a:srgbClr val="C00000"/>
                </a:solidFill>
              </a:rPr>
              <a:t>‘</a:t>
            </a:r>
            <a:r>
              <a:rPr lang="en-US" sz="2300" b="1" dirty="0"/>
              <a:t>21-09-2001</a:t>
            </a:r>
            <a:r>
              <a:rPr lang="en-US" sz="2300" dirty="0">
                <a:solidFill>
                  <a:srgbClr val="C00000"/>
                </a:solidFill>
              </a:rPr>
              <a:t>’</a:t>
            </a:r>
            <a:r>
              <a:rPr lang="en-US" sz="2300" dirty="0"/>
              <a:t>,</a:t>
            </a:r>
            <a:r>
              <a:rPr lang="en-US" sz="2300" dirty="0">
                <a:solidFill>
                  <a:srgbClr val="C00000"/>
                </a:solidFill>
              </a:rPr>
              <a:t>’</a:t>
            </a:r>
            <a:r>
              <a:rPr lang="en-US" sz="2300" b="1" dirty="0"/>
              <a:t>DD-MM-YYYY</a:t>
            </a:r>
            <a:r>
              <a:rPr lang="en-US" sz="2300" dirty="0">
                <a:solidFill>
                  <a:srgbClr val="C00000"/>
                </a:solidFill>
              </a:rPr>
              <a:t>’</a:t>
            </a:r>
            <a:r>
              <a:rPr lang="en-US" sz="2300" dirty="0"/>
              <a:t>));</a:t>
            </a:r>
          </a:p>
          <a:p>
            <a:endParaRPr lang="en-US" sz="1200" dirty="0"/>
          </a:p>
          <a:p>
            <a:pPr>
              <a:lnSpc>
                <a:spcPct val="112000"/>
              </a:lnSpc>
            </a:pPr>
            <a:r>
              <a:rPr lang="en-US" sz="2300" b="1" dirty="0"/>
              <a:t>TO_DATE () </a:t>
            </a:r>
            <a:r>
              <a:rPr lang="en-US" sz="2300" dirty="0"/>
              <a:t>is a oracle inbuilt function, which converts given date value (in the form character value) into date type.</a:t>
            </a:r>
          </a:p>
          <a:p>
            <a:pPr>
              <a:lnSpc>
                <a:spcPct val="112000"/>
              </a:lnSpc>
            </a:pPr>
            <a:r>
              <a:rPr lang="en-US" sz="2300" dirty="0"/>
              <a:t>More details about formats we will discuss latter.</a:t>
            </a:r>
          </a:p>
          <a:p>
            <a:endParaRPr lang="en-US" sz="1050" dirty="0"/>
          </a:p>
          <a:p>
            <a:pPr>
              <a:lnSpc>
                <a:spcPct val="112000"/>
              </a:lnSpc>
            </a:pPr>
            <a:r>
              <a:rPr lang="en-US" sz="2300" dirty="0"/>
              <a:t>Date has a default format set. </a:t>
            </a:r>
          </a:p>
          <a:p>
            <a:pPr>
              <a:lnSpc>
                <a:spcPct val="112000"/>
              </a:lnSpc>
            </a:pPr>
            <a:r>
              <a:rPr lang="en-US" sz="2300" b="1" dirty="0"/>
              <a:t>Default format </a:t>
            </a:r>
            <a:r>
              <a:rPr lang="en-US" sz="2300" dirty="0"/>
              <a:t>is  :  </a:t>
            </a:r>
            <a:r>
              <a:rPr lang="en-US" sz="2300" b="1" dirty="0"/>
              <a:t>DD-MON-YY</a:t>
            </a:r>
            <a:r>
              <a:rPr lang="en-US" sz="2300" dirty="0"/>
              <a:t> , then you can enter data as below without TO_DATE()</a:t>
            </a:r>
          </a:p>
          <a:p>
            <a:r>
              <a:rPr lang="en-US" sz="2300" b="1" dirty="0"/>
              <a:t>Example:</a:t>
            </a:r>
          </a:p>
          <a:p>
            <a:endParaRPr lang="en-US" sz="1400" dirty="0"/>
          </a:p>
          <a:p>
            <a:r>
              <a:rPr lang="en-US" sz="2300" dirty="0"/>
              <a:t>	INSERT INTO Stud VALUES(19011103, ‘Aman’, </a:t>
            </a:r>
            <a:r>
              <a:rPr lang="en-US" sz="2300" b="1" dirty="0"/>
              <a:t>‘</a:t>
            </a:r>
            <a:r>
              <a:rPr lang="en-US" sz="2300" dirty="0">
                <a:solidFill>
                  <a:srgbClr val="C00000"/>
                </a:solidFill>
              </a:rPr>
              <a:t>21-OCT-2001</a:t>
            </a:r>
            <a:r>
              <a:rPr lang="en-US" sz="2300" b="1" dirty="0"/>
              <a:t>’</a:t>
            </a:r>
            <a:r>
              <a:rPr lang="en-US" sz="2300" dirty="0"/>
              <a:t>);</a:t>
            </a:r>
          </a:p>
        </p:txBody>
      </p:sp>
    </p:spTree>
    <p:extLst>
      <p:ext uri="{BB962C8B-B14F-4D97-AF65-F5344CB8AC3E}">
        <p14:creationId xmlns:p14="http://schemas.microsoft.com/office/powerpoint/2010/main" val="33472925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634"/>
            <a:ext cx="10515600" cy="593520"/>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Insert into… Select .. From…</a:t>
            </a:r>
          </a:p>
        </p:txBody>
      </p:sp>
      <p:sp>
        <p:nvSpPr>
          <p:cNvPr id="3" name="Content Placeholder 2"/>
          <p:cNvSpPr>
            <a:spLocks noGrp="1"/>
          </p:cNvSpPr>
          <p:nvPr>
            <p:ph idx="1"/>
          </p:nvPr>
        </p:nvSpPr>
        <p:spPr>
          <a:xfrm>
            <a:off x="629264" y="639021"/>
            <a:ext cx="10943303" cy="2687381"/>
          </a:xfrm>
        </p:spPr>
        <p:txBody>
          <a:bodyPr>
            <a:normAutofit/>
          </a:bodyPr>
          <a:lstStyle/>
          <a:p>
            <a:r>
              <a:rPr lang="en-US" sz="2500" dirty="0"/>
              <a:t>Some time instead of giving data for every tuple in the INSERT INTO command, we can insert tuples  </a:t>
            </a:r>
            <a:r>
              <a:rPr lang="en-US" sz="2500" dirty="0">
                <a:latin typeface="Times New Roman" panose="02020603050405020304" pitchFamily="18" charset="0"/>
              </a:rPr>
              <a:t>on the basis of the result of a query.</a:t>
            </a:r>
          </a:p>
          <a:p>
            <a:r>
              <a:rPr lang="en-US" sz="2500" dirty="0">
                <a:latin typeface="Times New Roman" panose="02020603050405020304" pitchFamily="18" charset="0"/>
              </a:rPr>
              <a:t>Using </a:t>
            </a:r>
            <a:r>
              <a:rPr lang="en-US" sz="2500" b="1" dirty="0">
                <a:latin typeface="Times New Roman" panose="02020603050405020304" pitchFamily="18" charset="0"/>
              </a:rPr>
              <a:t>SELECT statement as sub query </a:t>
            </a:r>
            <a:r>
              <a:rPr lang="en-US" sz="2500" dirty="0">
                <a:latin typeface="Times New Roman" panose="02020603050405020304" pitchFamily="18" charset="0"/>
              </a:rPr>
              <a:t>in the INSERT INTO, we can select (copy) some set of records from a relation(source)  and insert into another relation(Destination).</a:t>
            </a:r>
          </a:p>
          <a:p>
            <a:r>
              <a:rPr lang="en-US" sz="2500" dirty="0">
                <a:latin typeface="Times New Roman" panose="02020603050405020304" pitchFamily="18" charset="0"/>
              </a:rPr>
              <a:t>Note that we </a:t>
            </a:r>
            <a:r>
              <a:rPr lang="en-US" sz="2500" b="1" dirty="0">
                <a:latin typeface="Times New Roman" panose="02020603050405020304" pitchFamily="18" charset="0"/>
              </a:rPr>
              <a:t>need to take care of datatype </a:t>
            </a:r>
            <a:r>
              <a:rPr lang="en-US" sz="2500" dirty="0">
                <a:latin typeface="Times New Roman" panose="02020603050405020304" pitchFamily="18" charset="0"/>
              </a:rPr>
              <a:t>and </a:t>
            </a:r>
            <a:r>
              <a:rPr lang="en-US" sz="2500" b="1" dirty="0">
                <a:latin typeface="Times New Roman" panose="02020603050405020304" pitchFamily="18" charset="0"/>
              </a:rPr>
              <a:t>size compatibility</a:t>
            </a:r>
            <a:r>
              <a:rPr lang="en-US" sz="2500" dirty="0">
                <a:latin typeface="Times New Roman" panose="02020603050405020304" pitchFamily="18" charset="0"/>
              </a:rPr>
              <a:t>.</a:t>
            </a:r>
            <a:endParaRPr lang="en-US" sz="2500" dirty="0"/>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60</a:t>
            </a:fld>
            <a:endParaRPr lang="en-US"/>
          </a:p>
        </p:txBody>
      </p:sp>
      <p:graphicFrame>
        <p:nvGraphicFramePr>
          <p:cNvPr id="6" name="Table 5"/>
          <p:cNvGraphicFramePr>
            <a:graphicFrameLocks noGrp="1"/>
          </p:cNvGraphicFramePr>
          <p:nvPr>
            <p:extLst>
              <p:ext uri="{D42A27DB-BD31-4B8C-83A1-F6EECF244321}">
                <p14:modId xmlns:p14="http://schemas.microsoft.com/office/powerpoint/2010/main" val="1783336316"/>
              </p:ext>
            </p:extLst>
          </p:nvPr>
        </p:nvGraphicFramePr>
        <p:xfrm>
          <a:off x="1769805" y="3229697"/>
          <a:ext cx="3521741" cy="1849197"/>
        </p:xfrm>
        <a:graphic>
          <a:graphicData uri="http://schemas.openxmlformats.org/drawingml/2006/table">
            <a:tbl>
              <a:tblPr firstRow="1" firstCol="1" bandRow="1">
                <a:tableStyleId>{5C22544A-7EE6-4342-B048-85BDC9FD1C3A}</a:tableStyleId>
              </a:tblPr>
              <a:tblGrid>
                <a:gridCol w="765596">
                  <a:extLst>
                    <a:ext uri="{9D8B030D-6E8A-4147-A177-3AD203B41FA5}">
                      <a16:colId xmlns:a16="http://schemas.microsoft.com/office/drawing/2014/main" val="802821822"/>
                    </a:ext>
                  </a:extLst>
                </a:gridCol>
                <a:gridCol w="833253">
                  <a:extLst>
                    <a:ext uri="{9D8B030D-6E8A-4147-A177-3AD203B41FA5}">
                      <a16:colId xmlns:a16="http://schemas.microsoft.com/office/drawing/2014/main" val="2615889648"/>
                    </a:ext>
                  </a:extLst>
                </a:gridCol>
                <a:gridCol w="1089639">
                  <a:extLst>
                    <a:ext uri="{9D8B030D-6E8A-4147-A177-3AD203B41FA5}">
                      <a16:colId xmlns:a16="http://schemas.microsoft.com/office/drawing/2014/main" val="312140111"/>
                    </a:ext>
                  </a:extLst>
                </a:gridCol>
                <a:gridCol w="833253">
                  <a:extLst>
                    <a:ext uri="{9D8B030D-6E8A-4147-A177-3AD203B41FA5}">
                      <a16:colId xmlns:a16="http://schemas.microsoft.com/office/drawing/2014/main" val="4058137438"/>
                    </a:ext>
                  </a:extLst>
                </a:gridCol>
              </a:tblGrid>
              <a:tr h="206681">
                <a:tc>
                  <a:txBody>
                    <a:bodyPr/>
                    <a:lstStyle/>
                    <a:p>
                      <a:pPr marL="0" marR="0">
                        <a:lnSpc>
                          <a:spcPct val="107000"/>
                        </a:lnSpc>
                        <a:spcBef>
                          <a:spcPts val="0"/>
                        </a:spcBef>
                        <a:spcAft>
                          <a:spcPts val="0"/>
                        </a:spcAft>
                      </a:pPr>
                      <a:r>
                        <a:rPr lang="en-US" sz="1600">
                          <a:effectLst/>
                        </a:rPr>
                        <a:t>Rollno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Name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Course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Dept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0394602"/>
                  </a:ext>
                </a:extLst>
              </a:tr>
              <a:tr h="399974">
                <a:tc>
                  <a:txBody>
                    <a:bodyPr/>
                    <a:lstStyle/>
                    <a:p>
                      <a:pPr marL="0" marR="0">
                        <a:lnSpc>
                          <a:spcPct val="107000"/>
                        </a:lnSpc>
                        <a:spcBef>
                          <a:spcPts val="0"/>
                        </a:spcBef>
                        <a:spcAft>
                          <a:spcPts val="0"/>
                        </a:spcAft>
                      </a:pPr>
                      <a:r>
                        <a:rPr lang="en-US" sz="1400">
                          <a:effectLst/>
                        </a:rPr>
                        <a:t>101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a:effectLst/>
                        </a:rPr>
                        <a:t>Ajit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a:effectLst/>
                        </a:rPr>
                        <a:t>Algorithms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dirty="0">
                          <a:effectLst/>
                        </a:rPr>
                        <a:t>CS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40607654"/>
                  </a:ext>
                </a:extLst>
              </a:tr>
              <a:tr h="399974">
                <a:tc>
                  <a:txBody>
                    <a:bodyPr/>
                    <a:lstStyle/>
                    <a:p>
                      <a:pPr marL="0" marR="0">
                        <a:lnSpc>
                          <a:spcPct val="107000"/>
                        </a:lnSpc>
                        <a:spcBef>
                          <a:spcPts val="0"/>
                        </a:spcBef>
                        <a:spcAft>
                          <a:spcPts val="0"/>
                        </a:spcAft>
                      </a:pPr>
                      <a:r>
                        <a:rPr lang="en-US" sz="1400" dirty="0">
                          <a:effectLst/>
                        </a:rPr>
                        <a:t>102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a:effectLst/>
                        </a:rPr>
                        <a:t>Ravi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a:effectLst/>
                        </a:rPr>
                        <a:t>IoT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a:effectLst/>
                        </a:rPr>
                        <a:t>IT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285281952"/>
                  </a:ext>
                </a:extLst>
              </a:tr>
              <a:tr h="399974">
                <a:tc>
                  <a:txBody>
                    <a:bodyPr/>
                    <a:lstStyle/>
                    <a:p>
                      <a:pPr marL="0" marR="0">
                        <a:lnSpc>
                          <a:spcPct val="107000"/>
                        </a:lnSpc>
                        <a:spcBef>
                          <a:spcPts val="0"/>
                        </a:spcBef>
                        <a:spcAft>
                          <a:spcPts val="0"/>
                        </a:spcAft>
                      </a:pPr>
                      <a:r>
                        <a:rPr lang="en-US" sz="1400">
                          <a:effectLst/>
                        </a:rPr>
                        <a:t>103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a:effectLst/>
                        </a:rPr>
                        <a:t>Anish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a:effectLst/>
                        </a:rPr>
                        <a:t>Algorithms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a:effectLst/>
                        </a:rPr>
                        <a:t>MCA</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04179833"/>
                  </a:ext>
                </a:extLst>
              </a:tr>
              <a:tr h="399974">
                <a:tc>
                  <a:txBody>
                    <a:bodyPr/>
                    <a:lstStyle/>
                    <a:p>
                      <a:pPr marL="0" marR="0">
                        <a:lnSpc>
                          <a:spcPct val="107000"/>
                        </a:lnSpc>
                        <a:spcBef>
                          <a:spcPts val="0"/>
                        </a:spcBef>
                        <a:spcAft>
                          <a:spcPts val="0"/>
                        </a:spcAft>
                      </a:pPr>
                      <a:r>
                        <a:rPr lang="en-US" sz="1400" dirty="0">
                          <a:effectLst/>
                        </a:rPr>
                        <a:t>101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a:effectLst/>
                        </a:rPr>
                        <a:t>Ram</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a:effectLst/>
                        </a:rPr>
                        <a:t>ML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nSpc>
                          <a:spcPct val="107000"/>
                        </a:lnSpc>
                        <a:spcBef>
                          <a:spcPts val="0"/>
                        </a:spcBef>
                        <a:spcAft>
                          <a:spcPts val="0"/>
                        </a:spcAft>
                      </a:pPr>
                      <a:r>
                        <a:rPr lang="en-US" sz="1400" dirty="0">
                          <a:effectLst/>
                        </a:rPr>
                        <a:t>MCA</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60051472"/>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762541294"/>
              </p:ext>
            </p:extLst>
          </p:nvPr>
        </p:nvGraphicFramePr>
        <p:xfrm>
          <a:off x="6533532" y="3344506"/>
          <a:ext cx="3768725" cy="855612"/>
        </p:xfrm>
        <a:graphic>
          <a:graphicData uri="http://schemas.openxmlformats.org/drawingml/2006/table">
            <a:tbl>
              <a:tblPr firstRow="1" firstCol="1" bandRow="1">
                <a:tableStyleId>{5C22544A-7EE6-4342-B048-85BDC9FD1C3A}</a:tableStyleId>
              </a:tblPr>
              <a:tblGrid>
                <a:gridCol w="854075">
                  <a:extLst>
                    <a:ext uri="{9D8B030D-6E8A-4147-A177-3AD203B41FA5}">
                      <a16:colId xmlns:a16="http://schemas.microsoft.com/office/drawing/2014/main" val="2331669639"/>
                    </a:ext>
                  </a:extLst>
                </a:gridCol>
                <a:gridCol w="857250">
                  <a:extLst>
                    <a:ext uri="{9D8B030D-6E8A-4147-A177-3AD203B41FA5}">
                      <a16:colId xmlns:a16="http://schemas.microsoft.com/office/drawing/2014/main" val="3401514117"/>
                    </a:ext>
                  </a:extLst>
                </a:gridCol>
                <a:gridCol w="857250">
                  <a:extLst>
                    <a:ext uri="{9D8B030D-6E8A-4147-A177-3AD203B41FA5}">
                      <a16:colId xmlns:a16="http://schemas.microsoft.com/office/drawing/2014/main" val="3228107353"/>
                    </a:ext>
                  </a:extLst>
                </a:gridCol>
                <a:gridCol w="1200150">
                  <a:extLst>
                    <a:ext uri="{9D8B030D-6E8A-4147-A177-3AD203B41FA5}">
                      <a16:colId xmlns:a16="http://schemas.microsoft.com/office/drawing/2014/main" val="1559015629"/>
                    </a:ext>
                  </a:extLst>
                </a:gridCol>
              </a:tblGrid>
              <a:tr h="360190">
                <a:tc>
                  <a:txBody>
                    <a:bodyPr/>
                    <a:lstStyle/>
                    <a:p>
                      <a:pPr marL="0" marR="0">
                        <a:lnSpc>
                          <a:spcPct val="107000"/>
                        </a:lnSpc>
                        <a:spcBef>
                          <a:spcPts val="0"/>
                        </a:spcBef>
                        <a:spcAft>
                          <a:spcPts val="0"/>
                        </a:spcAft>
                      </a:pPr>
                      <a:r>
                        <a:rPr lang="en-US" sz="1600" dirty="0" err="1">
                          <a:effectLst/>
                        </a:rPr>
                        <a:t>Rno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Course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dirty="0">
                          <a:effectLst/>
                        </a:rPr>
                        <a:t>Marks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600">
                          <a:effectLst/>
                        </a:rPr>
                        <a:t>Attendance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83879316"/>
                  </a:ext>
                </a:extLst>
              </a:tr>
              <a:tr h="247711">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27103129"/>
                  </a:ext>
                </a:extLst>
              </a:tr>
              <a:tr h="247711">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5984208"/>
                  </a:ext>
                </a:extLst>
              </a:tr>
            </a:tbl>
          </a:graphicData>
        </a:graphic>
      </p:graphicFrame>
      <p:sp>
        <p:nvSpPr>
          <p:cNvPr id="8" name="TextBox 7"/>
          <p:cNvSpPr txBox="1"/>
          <p:nvPr/>
        </p:nvSpPr>
        <p:spPr>
          <a:xfrm>
            <a:off x="1029927" y="3229697"/>
            <a:ext cx="722672" cy="369332"/>
          </a:xfrm>
          <a:prstGeom prst="rect">
            <a:avLst/>
          </a:prstGeom>
          <a:noFill/>
        </p:spPr>
        <p:txBody>
          <a:bodyPr wrap="square" rtlCol="0">
            <a:spAutoFit/>
          </a:bodyPr>
          <a:lstStyle/>
          <a:p>
            <a:r>
              <a:rPr lang="en-US" b="1" dirty="0"/>
              <a:t>STUD</a:t>
            </a:r>
          </a:p>
        </p:txBody>
      </p:sp>
      <p:sp>
        <p:nvSpPr>
          <p:cNvPr id="9" name="TextBox 8"/>
          <p:cNvSpPr txBox="1"/>
          <p:nvPr/>
        </p:nvSpPr>
        <p:spPr>
          <a:xfrm>
            <a:off x="5574889" y="3229697"/>
            <a:ext cx="958643" cy="369332"/>
          </a:xfrm>
          <a:prstGeom prst="rect">
            <a:avLst/>
          </a:prstGeom>
          <a:noFill/>
        </p:spPr>
        <p:txBody>
          <a:bodyPr wrap="square" rtlCol="0">
            <a:spAutoFit/>
          </a:bodyPr>
          <a:lstStyle/>
          <a:p>
            <a:r>
              <a:rPr lang="en-US" b="1" dirty="0"/>
              <a:t>MARKS</a:t>
            </a:r>
          </a:p>
        </p:txBody>
      </p:sp>
      <p:sp>
        <p:nvSpPr>
          <p:cNvPr id="10" name="Rectangle 9"/>
          <p:cNvSpPr/>
          <p:nvPr/>
        </p:nvSpPr>
        <p:spPr>
          <a:xfrm>
            <a:off x="599099" y="5126738"/>
            <a:ext cx="10240965" cy="1384995"/>
          </a:xfrm>
          <a:prstGeom prst="rect">
            <a:avLst/>
          </a:prstGeom>
        </p:spPr>
        <p:txBody>
          <a:bodyPr wrap="square">
            <a:spAutoFit/>
          </a:bodyPr>
          <a:lstStyle/>
          <a:p>
            <a:r>
              <a:rPr lang="en-US" sz="2100" b="1" dirty="0"/>
              <a:t>Example:</a:t>
            </a:r>
            <a:r>
              <a:rPr lang="en-US" sz="2100" dirty="0"/>
              <a:t> Insert </a:t>
            </a:r>
            <a:r>
              <a:rPr lang="en-US" sz="2100" dirty="0" err="1"/>
              <a:t>Rollno</a:t>
            </a:r>
            <a:r>
              <a:rPr lang="en-US" sz="2100" dirty="0"/>
              <a:t> and course information of students enrolled to MCA department into MARKS relation.</a:t>
            </a:r>
          </a:p>
          <a:p>
            <a:endParaRPr lang="en-US" sz="2100" dirty="0"/>
          </a:p>
          <a:p>
            <a:r>
              <a:rPr lang="en-US" sz="2100" dirty="0"/>
              <a:t>INSERT INTO MARKS(</a:t>
            </a:r>
            <a:r>
              <a:rPr lang="en-US" sz="2100" dirty="0" err="1"/>
              <a:t>RNo</a:t>
            </a:r>
            <a:r>
              <a:rPr lang="en-US" sz="2100" dirty="0"/>
              <a:t>, Course) </a:t>
            </a:r>
            <a:r>
              <a:rPr lang="en-US" sz="2100" b="1" dirty="0"/>
              <a:t>SELECT </a:t>
            </a:r>
            <a:r>
              <a:rPr lang="en-US" sz="2100" b="1" dirty="0" err="1"/>
              <a:t>Rollno</a:t>
            </a:r>
            <a:r>
              <a:rPr lang="en-US" sz="2100" b="1" dirty="0"/>
              <a:t>, Course FROM STUD WHERE </a:t>
            </a:r>
            <a:r>
              <a:rPr lang="en-US" sz="2100" b="1" dirty="0" err="1"/>
              <a:t>Dept</a:t>
            </a:r>
            <a:r>
              <a:rPr lang="en-US" sz="2100" b="1" dirty="0"/>
              <a:t>=‘MCA’;</a:t>
            </a:r>
          </a:p>
        </p:txBody>
      </p:sp>
    </p:spTree>
    <p:extLst>
      <p:ext uri="{BB962C8B-B14F-4D97-AF65-F5344CB8AC3E}">
        <p14:creationId xmlns:p14="http://schemas.microsoft.com/office/powerpoint/2010/main" val="14431967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1"/>
            <a:ext cx="10515600" cy="619432"/>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..INSERT</a:t>
            </a:r>
          </a:p>
        </p:txBody>
      </p:sp>
      <p:sp>
        <p:nvSpPr>
          <p:cNvPr id="3" name="Content Placeholder 2"/>
          <p:cNvSpPr>
            <a:spLocks noGrp="1"/>
          </p:cNvSpPr>
          <p:nvPr>
            <p:ph idx="1"/>
          </p:nvPr>
        </p:nvSpPr>
        <p:spPr>
          <a:xfrm>
            <a:off x="227985" y="1065468"/>
            <a:ext cx="12116415" cy="5473444"/>
          </a:xfrm>
        </p:spPr>
        <p:txBody>
          <a:bodyPr>
            <a:noAutofit/>
          </a:bodyPr>
          <a:lstStyle/>
          <a:p>
            <a:pPr marL="0" indent="0">
              <a:buNone/>
            </a:pPr>
            <a:r>
              <a:rPr lang="en-US" sz="2300" b="1" dirty="0"/>
              <a:t>Syntax</a:t>
            </a:r>
            <a:r>
              <a:rPr lang="en-US" sz="2300" dirty="0"/>
              <a:t>-</a:t>
            </a:r>
          </a:p>
          <a:p>
            <a:pPr marL="0" indent="0">
              <a:buNone/>
            </a:pPr>
            <a:r>
              <a:rPr lang="en-US" sz="2300" dirty="0">
                <a:solidFill>
                  <a:srgbClr val="C00000"/>
                </a:solidFill>
              </a:rPr>
              <a:t>           </a:t>
            </a:r>
            <a:r>
              <a:rPr lang="en-US" sz="2300" b="1" dirty="0">
                <a:solidFill>
                  <a:srgbClr val="C00000"/>
                </a:solidFill>
              </a:rPr>
              <a:t>INSERT INTO </a:t>
            </a:r>
            <a:r>
              <a:rPr lang="en-US" sz="2300" dirty="0">
                <a:solidFill>
                  <a:srgbClr val="C00000"/>
                </a:solidFill>
              </a:rPr>
              <a:t>table1(column1,column2,..) </a:t>
            </a:r>
            <a:r>
              <a:rPr lang="en-US" sz="2300" b="1" dirty="0">
                <a:solidFill>
                  <a:srgbClr val="C00000"/>
                </a:solidFill>
              </a:rPr>
              <a:t>SELECT</a:t>
            </a:r>
            <a:r>
              <a:rPr lang="en-US" sz="2300" dirty="0">
                <a:solidFill>
                  <a:srgbClr val="C00000"/>
                </a:solidFill>
              </a:rPr>
              <a:t> column1,column2,.. </a:t>
            </a:r>
            <a:r>
              <a:rPr lang="en-US" sz="2300" b="1" dirty="0">
                <a:solidFill>
                  <a:srgbClr val="C00000"/>
                </a:solidFill>
              </a:rPr>
              <a:t>FROM</a:t>
            </a:r>
            <a:r>
              <a:rPr lang="en-US" sz="2300" dirty="0">
                <a:solidFill>
                  <a:srgbClr val="C00000"/>
                </a:solidFill>
              </a:rPr>
              <a:t> table2;</a:t>
            </a:r>
          </a:p>
          <a:p>
            <a:pPr marL="0" indent="0">
              <a:buNone/>
            </a:pPr>
            <a:endParaRPr lang="en-US" sz="100" dirty="0"/>
          </a:p>
          <a:p>
            <a:pPr marL="342900" lvl="0" indent="-342900" eaLnBrk="0" fontAlgn="base" hangingPunct="0">
              <a:lnSpc>
                <a:spcPct val="100000"/>
              </a:lnSpc>
              <a:spcBef>
                <a:spcPct val="35000"/>
              </a:spcBef>
              <a:spcAft>
                <a:spcPct val="0"/>
              </a:spcAft>
              <a:buClr>
                <a:srgbClr val="CC3300"/>
              </a:buClr>
              <a:buSzPct val="90000"/>
              <a:buFont typeface="Monotype Sorts" charset="2"/>
              <a:buChar char="n"/>
              <a:tabLst>
                <a:tab pos="908050" algn="l"/>
              </a:tabLst>
            </a:pPr>
            <a:r>
              <a:rPr lang="en-US" sz="2300" dirty="0"/>
              <a:t> </a:t>
            </a:r>
            <a:r>
              <a:rPr lang="en-US" sz="2300" b="1" dirty="0"/>
              <a:t>Example: </a:t>
            </a:r>
            <a:r>
              <a:rPr lang="en-US" sz="2300" dirty="0"/>
              <a:t>Consider the tables </a:t>
            </a:r>
            <a:r>
              <a:rPr lang="en-US" sz="2300" b="1" dirty="0"/>
              <a:t>Student(Id, Name, </a:t>
            </a:r>
            <a:r>
              <a:rPr lang="en-US" sz="2300" b="1" dirty="0" err="1"/>
              <a:t>D_name</a:t>
            </a:r>
            <a:r>
              <a:rPr lang="en-US" sz="2300" b="1" dirty="0"/>
              <a:t>, </a:t>
            </a:r>
            <a:r>
              <a:rPr lang="en-US" sz="2300" b="1" dirty="0" err="1"/>
              <a:t>tot_cred</a:t>
            </a:r>
            <a:r>
              <a:rPr lang="en-US" sz="2300" b="1" dirty="0"/>
              <a:t>) </a:t>
            </a:r>
            <a:r>
              <a:rPr lang="en-US" sz="2300" dirty="0"/>
              <a:t>and Instructor(Id, Name, Dept_name, Salary). </a:t>
            </a:r>
            <a:r>
              <a:rPr kumimoji="1" lang="en-US" altLang="en-US" sz="2000" kern="0" dirty="0">
                <a:solidFill>
                  <a:srgbClr val="000000"/>
                </a:solidFill>
                <a:latin typeface="Helvetica"/>
              </a:rPr>
              <a:t>Add all instructors to the </a:t>
            </a:r>
            <a:r>
              <a:rPr kumimoji="1" lang="en-US" altLang="en-US" sz="2000" i="1" kern="0" dirty="0">
                <a:solidFill>
                  <a:srgbClr val="000000"/>
                </a:solidFill>
                <a:latin typeface="Helvetica"/>
              </a:rPr>
              <a:t>student</a:t>
            </a:r>
            <a:r>
              <a:rPr kumimoji="1" lang="en-US" altLang="en-US" sz="2000" kern="0" dirty="0">
                <a:solidFill>
                  <a:srgbClr val="000000"/>
                </a:solidFill>
                <a:latin typeface="Helvetica"/>
              </a:rPr>
              <a:t> relation with </a:t>
            </a:r>
            <a:r>
              <a:rPr kumimoji="1" lang="en-US" altLang="en-US" sz="2000" kern="0" dirty="0" err="1">
                <a:solidFill>
                  <a:srgbClr val="000000"/>
                </a:solidFill>
                <a:latin typeface="Helvetica"/>
              </a:rPr>
              <a:t>tot_creds</a:t>
            </a:r>
            <a:r>
              <a:rPr kumimoji="1" lang="en-US" altLang="en-US" sz="2000" kern="0" dirty="0">
                <a:solidFill>
                  <a:srgbClr val="000000"/>
                </a:solidFill>
                <a:latin typeface="Helvetica"/>
              </a:rPr>
              <a:t> set to 0</a:t>
            </a:r>
            <a:endParaRPr kumimoji="1" lang="en-US" altLang="en-US" sz="1800" kern="0" dirty="0">
              <a:solidFill>
                <a:srgbClr val="000000"/>
              </a:solidFill>
              <a:latin typeface="Helvetica"/>
            </a:endParaRPr>
          </a:p>
          <a:p>
            <a:pPr marL="342900" lvl="0" indent="-342900" eaLnBrk="0" fontAlgn="base" hangingPunct="0">
              <a:lnSpc>
                <a:spcPct val="100000"/>
              </a:lnSpc>
              <a:spcBef>
                <a:spcPct val="35000"/>
              </a:spcBef>
              <a:spcAft>
                <a:spcPct val="0"/>
              </a:spcAft>
              <a:buClr>
                <a:srgbClr val="CC3300"/>
              </a:buClr>
              <a:buSzPct val="90000"/>
              <a:buNone/>
              <a:tabLst>
                <a:tab pos="908050" algn="l"/>
              </a:tabLst>
            </a:pPr>
            <a:r>
              <a:rPr kumimoji="1" lang="en-US" altLang="en-US" sz="1800" kern="0" dirty="0">
                <a:solidFill>
                  <a:srgbClr val="000000"/>
                </a:solidFill>
                <a:latin typeface="Helvetica"/>
              </a:rPr>
              <a:t>	</a:t>
            </a:r>
            <a:r>
              <a:rPr kumimoji="1" lang="en-US" altLang="en-US" sz="2000" kern="0" dirty="0">
                <a:solidFill>
                  <a:srgbClr val="000000"/>
                </a:solidFill>
                <a:latin typeface="Helvetica"/>
              </a:rPr>
              <a:t>    </a:t>
            </a:r>
            <a:r>
              <a:rPr lang="en-US" altLang="en-US" b="1" dirty="0"/>
              <a:t>insert into </a:t>
            </a:r>
            <a:r>
              <a:rPr kumimoji="1" lang="en-US" altLang="en-US" sz="2400" i="1" kern="0" dirty="0">
                <a:solidFill>
                  <a:srgbClr val="000000"/>
                </a:solidFill>
                <a:latin typeface="Helvetica"/>
              </a:rPr>
              <a:t>student</a:t>
            </a:r>
            <a:br>
              <a:rPr kumimoji="1" lang="en-US" altLang="en-US" sz="2400" i="1" kern="0" dirty="0">
                <a:solidFill>
                  <a:srgbClr val="000000"/>
                </a:solidFill>
                <a:latin typeface="Helvetica"/>
              </a:rPr>
            </a:br>
            <a:r>
              <a:rPr kumimoji="1" lang="en-US" altLang="en-US" sz="2400" i="1" kern="0" dirty="0">
                <a:solidFill>
                  <a:srgbClr val="000000"/>
                </a:solidFill>
                <a:latin typeface="Helvetica"/>
              </a:rPr>
              <a:t>	</a:t>
            </a:r>
            <a:r>
              <a:rPr lang="en-US" altLang="en-US" b="1" dirty="0"/>
              <a:t>select </a:t>
            </a:r>
            <a:r>
              <a:rPr kumimoji="1" lang="en-US" altLang="en-US" sz="2400" i="1" kern="0" dirty="0">
                <a:solidFill>
                  <a:srgbClr val="000000"/>
                </a:solidFill>
                <a:latin typeface="Helvetica"/>
              </a:rPr>
              <a:t>ID, name, dept_name, 0</a:t>
            </a:r>
            <a:br>
              <a:rPr kumimoji="1" lang="en-US" altLang="en-US" sz="2400" i="1" kern="0" dirty="0">
                <a:solidFill>
                  <a:srgbClr val="000000"/>
                </a:solidFill>
                <a:latin typeface="Helvetica"/>
              </a:rPr>
            </a:br>
            <a:r>
              <a:rPr kumimoji="1" lang="en-US" altLang="en-US" sz="2400" i="1" kern="0" dirty="0">
                <a:solidFill>
                  <a:srgbClr val="000000"/>
                </a:solidFill>
                <a:latin typeface="Helvetica"/>
              </a:rPr>
              <a:t>         </a:t>
            </a:r>
            <a:r>
              <a:rPr lang="en-US" altLang="en-US" b="1" dirty="0"/>
              <a:t>from</a:t>
            </a:r>
            <a:r>
              <a:rPr kumimoji="1" lang="en-US" altLang="en-US" sz="2400" b="1" kern="0" dirty="0">
                <a:solidFill>
                  <a:srgbClr val="000000"/>
                </a:solidFill>
                <a:latin typeface="Helvetica"/>
              </a:rPr>
              <a:t> </a:t>
            </a:r>
            <a:r>
              <a:rPr kumimoji="1" lang="en-US" altLang="en-US" sz="2400" i="1" kern="0" dirty="0">
                <a:solidFill>
                  <a:srgbClr val="000000"/>
                </a:solidFill>
                <a:latin typeface="Helvetica"/>
              </a:rPr>
              <a:t>  instructor;</a:t>
            </a:r>
          </a:p>
          <a:p>
            <a:pPr marL="342900" lvl="0" indent="-342900" eaLnBrk="0" fontAlgn="base" hangingPunct="0">
              <a:lnSpc>
                <a:spcPct val="100000"/>
              </a:lnSpc>
              <a:spcBef>
                <a:spcPct val="35000"/>
              </a:spcBef>
              <a:spcAft>
                <a:spcPct val="0"/>
              </a:spcAft>
              <a:buClr>
                <a:srgbClr val="CC3300"/>
              </a:buClr>
              <a:buSzPct val="90000"/>
              <a:buNone/>
              <a:tabLst>
                <a:tab pos="908050" algn="l"/>
              </a:tabLst>
            </a:pPr>
            <a:r>
              <a:rPr kumimoji="1" lang="en-US" altLang="en-US" sz="2000" b="1" i="1" kern="0" dirty="0">
                <a:solidFill>
                  <a:srgbClr val="FF0000"/>
                </a:solidFill>
                <a:latin typeface="Helvetica"/>
              </a:rPr>
              <a:t>OR</a:t>
            </a:r>
          </a:p>
          <a:p>
            <a:pPr marL="342900" lvl="0" indent="-342900" eaLnBrk="0" fontAlgn="base" hangingPunct="0">
              <a:lnSpc>
                <a:spcPct val="100000"/>
              </a:lnSpc>
              <a:spcBef>
                <a:spcPct val="35000"/>
              </a:spcBef>
              <a:spcAft>
                <a:spcPct val="0"/>
              </a:spcAft>
              <a:buClr>
                <a:srgbClr val="CC3300"/>
              </a:buClr>
              <a:buSzPct val="90000"/>
              <a:buNone/>
              <a:tabLst>
                <a:tab pos="908050" algn="l"/>
              </a:tabLst>
            </a:pPr>
            <a:r>
              <a:rPr kumimoji="1" lang="en-US" altLang="en-US" sz="1800" kern="0" dirty="0">
                <a:solidFill>
                  <a:srgbClr val="000000"/>
                </a:solidFill>
                <a:latin typeface="Helvetica"/>
              </a:rPr>
              <a:t> </a:t>
            </a:r>
            <a:r>
              <a:rPr lang="en-US" altLang="en-US" b="1" dirty="0"/>
              <a:t>insert into </a:t>
            </a:r>
            <a:r>
              <a:rPr kumimoji="1" lang="en-US" altLang="en-US" sz="2400" i="1" kern="0" dirty="0">
                <a:solidFill>
                  <a:srgbClr val="000000"/>
                </a:solidFill>
                <a:latin typeface="Helvetica"/>
              </a:rPr>
              <a:t>student(</a:t>
            </a:r>
            <a:r>
              <a:rPr kumimoji="1" lang="en-US" altLang="en-US" sz="2400" i="1" kern="0" dirty="0" err="1">
                <a:solidFill>
                  <a:srgbClr val="000000"/>
                </a:solidFill>
                <a:latin typeface="Helvetica"/>
              </a:rPr>
              <a:t>ID,name,D_name</a:t>
            </a:r>
            <a:r>
              <a:rPr kumimoji="1" lang="en-US" altLang="en-US" sz="2400" i="1" kern="0" dirty="0">
                <a:solidFill>
                  <a:srgbClr val="000000"/>
                </a:solidFill>
                <a:latin typeface="Helvetica"/>
              </a:rPr>
              <a:t>)</a:t>
            </a:r>
            <a:br>
              <a:rPr kumimoji="1" lang="en-US" altLang="en-US" sz="2400" i="1" kern="0" dirty="0">
                <a:solidFill>
                  <a:srgbClr val="000000"/>
                </a:solidFill>
                <a:latin typeface="Helvetica"/>
              </a:rPr>
            </a:br>
            <a:r>
              <a:rPr kumimoji="1" lang="en-US" altLang="en-US" sz="2400" i="1" kern="0" dirty="0">
                <a:solidFill>
                  <a:srgbClr val="000000"/>
                </a:solidFill>
                <a:latin typeface="Helvetica"/>
              </a:rPr>
              <a:t>	</a:t>
            </a:r>
            <a:r>
              <a:rPr lang="en-US" altLang="en-US" b="1" dirty="0"/>
              <a:t>select </a:t>
            </a:r>
            <a:r>
              <a:rPr kumimoji="1" lang="en-US" altLang="en-US" sz="2400" i="1" kern="0" dirty="0">
                <a:solidFill>
                  <a:srgbClr val="000000"/>
                </a:solidFill>
                <a:latin typeface="Helvetica"/>
              </a:rPr>
              <a:t>ID, name, dept_name</a:t>
            </a:r>
            <a:br>
              <a:rPr kumimoji="1" lang="en-US" altLang="en-US" sz="2400" i="1" kern="0" dirty="0">
                <a:solidFill>
                  <a:srgbClr val="000000"/>
                </a:solidFill>
                <a:latin typeface="Helvetica"/>
              </a:rPr>
            </a:br>
            <a:r>
              <a:rPr kumimoji="1" lang="en-US" altLang="en-US" sz="2400" i="1" kern="0" dirty="0">
                <a:solidFill>
                  <a:srgbClr val="000000"/>
                </a:solidFill>
                <a:latin typeface="Helvetica"/>
              </a:rPr>
              <a:t>         </a:t>
            </a:r>
            <a:r>
              <a:rPr lang="en-US" altLang="en-US" b="1" dirty="0"/>
              <a:t>from</a:t>
            </a:r>
            <a:r>
              <a:rPr kumimoji="1" lang="en-US" altLang="en-US" sz="2400" b="1" kern="0" dirty="0">
                <a:solidFill>
                  <a:srgbClr val="000000"/>
                </a:solidFill>
                <a:latin typeface="Helvetica"/>
              </a:rPr>
              <a:t> </a:t>
            </a:r>
            <a:r>
              <a:rPr kumimoji="1" lang="en-US" altLang="en-US" sz="2400" i="1" kern="0" dirty="0">
                <a:solidFill>
                  <a:srgbClr val="000000"/>
                </a:solidFill>
                <a:latin typeface="Helvetica"/>
              </a:rPr>
              <a:t>  instructor;</a:t>
            </a:r>
          </a:p>
          <a:p>
            <a:pPr marL="342900" lvl="0" indent="-342900" eaLnBrk="0" fontAlgn="base" hangingPunct="0">
              <a:lnSpc>
                <a:spcPct val="100000"/>
              </a:lnSpc>
              <a:spcBef>
                <a:spcPct val="35000"/>
              </a:spcBef>
              <a:spcAft>
                <a:spcPct val="0"/>
              </a:spcAft>
              <a:buClr>
                <a:srgbClr val="CC3300"/>
              </a:buClr>
              <a:buSzPct val="90000"/>
              <a:buNone/>
              <a:tabLst>
                <a:tab pos="908050" algn="l"/>
              </a:tabLst>
            </a:pPr>
            <a:r>
              <a:rPr kumimoji="1" lang="en-US" altLang="en-US" sz="2000" kern="0" dirty="0">
                <a:solidFill>
                  <a:srgbClr val="000000"/>
                </a:solidFill>
                <a:latin typeface="Helvetica"/>
              </a:rPr>
              <a:t>The </a:t>
            </a:r>
            <a:r>
              <a:rPr kumimoji="1" lang="en-US" altLang="en-US" sz="2000" b="1" kern="0" dirty="0">
                <a:solidFill>
                  <a:srgbClr val="000000"/>
                </a:solidFill>
                <a:latin typeface="Helvetica"/>
              </a:rPr>
              <a:t>select from where</a:t>
            </a:r>
            <a:r>
              <a:rPr kumimoji="1" lang="en-US" altLang="en-US" sz="2000" kern="0" dirty="0">
                <a:solidFill>
                  <a:srgbClr val="000000"/>
                </a:solidFill>
                <a:latin typeface="Helvetica"/>
              </a:rPr>
              <a:t> statement is evaluated fully before any of its results are inserted into the relation</a:t>
            </a:r>
            <a:endParaRPr lang="en-US" sz="500" dirty="0"/>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61</a:t>
            </a:fld>
            <a:endParaRPr lang="en-US"/>
          </a:p>
        </p:txBody>
      </p:sp>
      <p:sp>
        <p:nvSpPr>
          <p:cNvPr id="6" name="Rectangle 5">
            <a:extLst>
              <a:ext uri="{FF2B5EF4-FFF2-40B4-BE49-F238E27FC236}">
                <a16:creationId xmlns:a16="http://schemas.microsoft.com/office/drawing/2014/main" id="{FDA0B92B-01EF-47B4-8DC8-90543F7BBE03}"/>
              </a:ext>
            </a:extLst>
          </p:cNvPr>
          <p:cNvSpPr/>
          <p:nvPr/>
        </p:nvSpPr>
        <p:spPr>
          <a:xfrm>
            <a:off x="531842" y="542248"/>
            <a:ext cx="4016933" cy="523220"/>
          </a:xfrm>
          <a:prstGeom prst="rect">
            <a:avLst/>
          </a:prstGeom>
        </p:spPr>
        <p:txBody>
          <a:bodyPr wrap="none">
            <a:spAutoFit/>
          </a:bodyPr>
          <a:lstStyle/>
          <a:p>
            <a:r>
              <a:rPr lang="en-IN" sz="2800" b="1" dirty="0"/>
              <a:t>Inserting multiple records</a:t>
            </a:r>
          </a:p>
        </p:txBody>
      </p:sp>
    </p:spTree>
    <p:extLst>
      <p:ext uri="{BB962C8B-B14F-4D97-AF65-F5344CB8AC3E}">
        <p14:creationId xmlns:p14="http://schemas.microsoft.com/office/powerpoint/2010/main" val="102321141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735422"/>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UPDATE</a:t>
            </a:r>
          </a:p>
        </p:txBody>
      </p:sp>
      <p:sp>
        <p:nvSpPr>
          <p:cNvPr id="3" name="Content Placeholder 2"/>
          <p:cNvSpPr>
            <a:spLocks noGrp="1"/>
          </p:cNvSpPr>
          <p:nvPr>
            <p:ph idx="1"/>
          </p:nvPr>
        </p:nvSpPr>
        <p:spPr>
          <a:xfrm>
            <a:off x="838200" y="1309431"/>
            <a:ext cx="10886768" cy="4351338"/>
          </a:xfrm>
        </p:spPr>
        <p:txBody>
          <a:bodyPr>
            <a:normAutofit/>
          </a:bodyPr>
          <a:lstStyle/>
          <a:p>
            <a:pPr marL="0" indent="0">
              <a:buNone/>
            </a:pPr>
            <a:r>
              <a:rPr lang="en-US" dirty="0"/>
              <a:t>To modify any column/s value in a already existing record.</a:t>
            </a:r>
          </a:p>
          <a:p>
            <a:pPr marL="0" indent="0">
              <a:buNone/>
            </a:pPr>
            <a:r>
              <a:rPr lang="en-US" dirty="0"/>
              <a:t>Syntax:</a:t>
            </a:r>
          </a:p>
          <a:p>
            <a:pPr marL="457200" lvl="1" indent="0">
              <a:lnSpc>
                <a:spcPct val="100000"/>
              </a:lnSpc>
              <a:buNone/>
            </a:pPr>
            <a:r>
              <a:rPr lang="en-US" sz="2500" dirty="0">
                <a:solidFill>
                  <a:srgbClr val="C00000"/>
                </a:solidFill>
              </a:rPr>
              <a:t>       </a:t>
            </a:r>
            <a:r>
              <a:rPr lang="en-US" sz="2500" b="1" dirty="0">
                <a:solidFill>
                  <a:srgbClr val="C00000"/>
                </a:solidFill>
              </a:rPr>
              <a:t>UPDATE</a:t>
            </a:r>
            <a:r>
              <a:rPr lang="en-US" sz="2500" dirty="0">
                <a:solidFill>
                  <a:srgbClr val="C00000"/>
                </a:solidFill>
              </a:rPr>
              <a:t> table_name  </a:t>
            </a:r>
            <a:r>
              <a:rPr lang="en-US" sz="2500" b="1" dirty="0">
                <a:solidFill>
                  <a:srgbClr val="C00000"/>
                </a:solidFill>
              </a:rPr>
              <a:t>SET</a:t>
            </a:r>
            <a:r>
              <a:rPr lang="en-US" sz="2500" dirty="0">
                <a:solidFill>
                  <a:srgbClr val="C00000"/>
                </a:solidFill>
              </a:rPr>
              <a:t> column1=value1,column2=value2,…</a:t>
            </a:r>
          </a:p>
          <a:p>
            <a:pPr marL="457200" lvl="1" indent="0">
              <a:lnSpc>
                <a:spcPct val="100000"/>
              </a:lnSpc>
              <a:buNone/>
            </a:pPr>
            <a:r>
              <a:rPr lang="en-US" sz="2500" dirty="0">
                <a:solidFill>
                  <a:srgbClr val="C00000"/>
                </a:solidFill>
              </a:rPr>
              <a:t>       </a:t>
            </a:r>
            <a:r>
              <a:rPr lang="en-US" sz="2500" b="1" dirty="0">
                <a:solidFill>
                  <a:srgbClr val="C00000"/>
                </a:solidFill>
              </a:rPr>
              <a:t>WHERE</a:t>
            </a:r>
            <a:r>
              <a:rPr lang="en-US" sz="2500" dirty="0">
                <a:solidFill>
                  <a:srgbClr val="C00000"/>
                </a:solidFill>
              </a:rPr>
              <a:t> </a:t>
            </a:r>
            <a:r>
              <a:rPr lang="en-US" sz="2500" i="1" dirty="0">
                <a:solidFill>
                  <a:srgbClr val="C00000"/>
                </a:solidFill>
              </a:rPr>
              <a:t>condition involving any of column/s in the table</a:t>
            </a:r>
            <a:r>
              <a:rPr lang="en-US" sz="2500" dirty="0">
                <a:solidFill>
                  <a:srgbClr val="C00000"/>
                </a:solidFill>
              </a:rPr>
              <a:t> ;</a:t>
            </a:r>
          </a:p>
          <a:p>
            <a:pPr marL="0" indent="0">
              <a:buNone/>
            </a:pPr>
            <a:endParaRPr lang="en-US" sz="1600" dirty="0"/>
          </a:p>
          <a:p>
            <a:pPr marL="0" indent="0">
              <a:lnSpc>
                <a:spcPct val="112000"/>
              </a:lnSpc>
              <a:spcBef>
                <a:spcPts val="600"/>
              </a:spcBef>
              <a:buNone/>
            </a:pPr>
            <a:r>
              <a:rPr lang="en-US" b="1" dirty="0"/>
              <a:t>Example: </a:t>
            </a:r>
            <a:r>
              <a:rPr lang="en-US" dirty="0"/>
              <a:t>Consider the table Instructor(Id, Name, Dept_name, Salary).  Increase the salary of instructor with ID I201 by 10%.</a:t>
            </a:r>
          </a:p>
          <a:p>
            <a:pPr marL="0" indent="0">
              <a:buNone/>
            </a:pPr>
            <a:endParaRPr lang="en-US" dirty="0"/>
          </a:p>
          <a:p>
            <a:pPr marL="0" indent="0">
              <a:buNone/>
            </a:pPr>
            <a:r>
              <a:rPr lang="en-US" dirty="0"/>
              <a:t>	</a:t>
            </a:r>
            <a:r>
              <a:rPr lang="en-US" b="1" dirty="0"/>
              <a:t>UPDATE</a:t>
            </a:r>
            <a:r>
              <a:rPr lang="en-US" dirty="0"/>
              <a:t> Instructor </a:t>
            </a:r>
            <a:r>
              <a:rPr lang="en-US" b="1" dirty="0"/>
              <a:t>SET</a:t>
            </a:r>
            <a:r>
              <a:rPr lang="en-US" dirty="0"/>
              <a:t> Salary=</a:t>
            </a:r>
            <a:r>
              <a:rPr lang="en-US" dirty="0" err="1"/>
              <a:t>Salary+Salary</a:t>
            </a:r>
            <a:r>
              <a:rPr lang="en-US" dirty="0"/>
              <a:t>*0.1 </a:t>
            </a:r>
            <a:r>
              <a:rPr lang="en-US" b="1" dirty="0"/>
              <a:t>WHERE</a:t>
            </a:r>
            <a:r>
              <a:rPr lang="en-US" dirty="0"/>
              <a:t> Id=‘I201’;</a:t>
            </a: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62</a:t>
            </a:fld>
            <a:endParaRPr lang="en-US"/>
          </a:p>
        </p:txBody>
      </p:sp>
    </p:spTree>
    <p:extLst>
      <p:ext uri="{BB962C8B-B14F-4D97-AF65-F5344CB8AC3E}">
        <p14:creationId xmlns:p14="http://schemas.microsoft.com/office/powerpoint/2010/main" val="28603638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4400"/>
            <a:ext cx="10515600" cy="623017"/>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..UPDATE</a:t>
            </a:r>
          </a:p>
        </p:txBody>
      </p:sp>
      <p:sp>
        <p:nvSpPr>
          <p:cNvPr id="3" name="Content Placeholder 2"/>
          <p:cNvSpPr>
            <a:spLocks noGrp="1"/>
          </p:cNvSpPr>
          <p:nvPr>
            <p:ph idx="1"/>
          </p:nvPr>
        </p:nvSpPr>
        <p:spPr>
          <a:xfrm>
            <a:off x="838200" y="1012057"/>
            <a:ext cx="10886768" cy="5344293"/>
          </a:xfrm>
        </p:spPr>
        <p:txBody>
          <a:bodyPr>
            <a:normAutofit fontScale="92500" lnSpcReduction="20000"/>
          </a:bodyPr>
          <a:lstStyle/>
          <a:p>
            <a:pPr>
              <a:lnSpc>
                <a:spcPct val="122000"/>
              </a:lnSpc>
              <a:tabLst>
                <a:tab pos="2336800" algn="l"/>
              </a:tabLst>
            </a:pPr>
            <a:r>
              <a:rPr lang="en-US" b="1" dirty="0"/>
              <a:t>Example: </a:t>
            </a:r>
            <a:r>
              <a:rPr lang="en-US" dirty="0"/>
              <a:t>Consider the table </a:t>
            </a:r>
            <a:r>
              <a:rPr lang="en-US" b="1" dirty="0"/>
              <a:t>Instructor(</a:t>
            </a:r>
            <a:r>
              <a:rPr lang="en-US" dirty="0"/>
              <a:t>Id, Name, Dept_name, Salary</a:t>
            </a:r>
            <a:r>
              <a:rPr lang="en-US" b="1" dirty="0"/>
              <a:t>). </a:t>
            </a:r>
            <a:r>
              <a:rPr lang="en-US" altLang="en-US" dirty="0"/>
              <a:t>Increase salaries of instructors whose salary is over </a:t>
            </a:r>
            <a:r>
              <a:rPr lang="en-US" altLang="en-US" b="1" dirty="0"/>
              <a:t>$</a:t>
            </a:r>
            <a:r>
              <a:rPr lang="en-US" altLang="en-US" dirty="0"/>
              <a:t>100,000 by 3%, and all others receive a 5% raise</a:t>
            </a:r>
          </a:p>
          <a:p>
            <a:pPr lvl="1">
              <a:lnSpc>
                <a:spcPct val="122000"/>
              </a:lnSpc>
              <a:tabLst>
                <a:tab pos="2336800" algn="l"/>
              </a:tabLst>
            </a:pPr>
            <a:r>
              <a:rPr lang="en-US" altLang="en-US" sz="2800" dirty="0"/>
              <a:t>Write two update statements:</a:t>
            </a:r>
          </a:p>
          <a:p>
            <a:pPr lvl="1">
              <a:lnSpc>
                <a:spcPct val="122000"/>
              </a:lnSpc>
              <a:spcBef>
                <a:spcPts val="1200"/>
              </a:spcBef>
              <a:buFont typeface="Monotype Sorts" charset="2"/>
              <a:buNone/>
              <a:tabLst>
                <a:tab pos="2336800" algn="l"/>
              </a:tabLst>
            </a:pPr>
            <a:r>
              <a:rPr lang="en-US" altLang="en-US" sz="2800" dirty="0"/>
              <a:t>	           </a:t>
            </a:r>
            <a:r>
              <a:rPr lang="en-US" altLang="en-US" sz="2800" dirty="0">
                <a:sym typeface="Symbol" panose="05050102010706020507" pitchFamily="18" charset="2"/>
              </a:rPr>
              <a:t>UPDATE instructor</a:t>
            </a:r>
            <a:br>
              <a:rPr lang="en-US" altLang="en-US" sz="2800" dirty="0">
                <a:sym typeface="Symbol" panose="05050102010706020507" pitchFamily="18" charset="2"/>
              </a:rPr>
            </a:br>
            <a:r>
              <a:rPr lang="en-US" altLang="en-US" sz="2800" dirty="0">
                <a:sym typeface="Symbol" panose="05050102010706020507" pitchFamily="18" charset="2"/>
              </a:rPr>
              <a:t>               SET salary = salary * 1.03</a:t>
            </a:r>
            <a:br>
              <a:rPr lang="en-US" altLang="en-US" sz="2800" dirty="0">
                <a:sym typeface="Symbol" panose="05050102010706020507" pitchFamily="18" charset="2"/>
              </a:rPr>
            </a:br>
            <a:r>
              <a:rPr lang="en-US" altLang="en-US" sz="2800" dirty="0">
                <a:sym typeface="Symbol" panose="05050102010706020507" pitchFamily="18" charset="2"/>
              </a:rPr>
              <a:t>               WHERE salary &gt; 100000;</a:t>
            </a:r>
          </a:p>
          <a:p>
            <a:pPr lvl="1">
              <a:lnSpc>
                <a:spcPct val="122000"/>
              </a:lnSpc>
              <a:spcBef>
                <a:spcPts val="1200"/>
              </a:spcBef>
              <a:spcAft>
                <a:spcPts val="600"/>
              </a:spcAft>
              <a:buFont typeface="Monotype Sorts" charset="2"/>
              <a:buNone/>
              <a:tabLst>
                <a:tab pos="2336800" algn="l"/>
              </a:tabLst>
            </a:pPr>
            <a:br>
              <a:rPr lang="en-US" altLang="en-US" sz="800" dirty="0">
                <a:sym typeface="Symbol" panose="05050102010706020507" pitchFamily="18" charset="2"/>
              </a:rPr>
            </a:br>
            <a:r>
              <a:rPr lang="en-US" altLang="en-US" sz="2800" dirty="0">
                <a:sym typeface="Symbol" panose="05050102010706020507" pitchFamily="18" charset="2"/>
              </a:rPr>
              <a:t>           UPDATE instructor</a:t>
            </a:r>
            <a:br>
              <a:rPr lang="en-US" altLang="en-US" sz="2800" dirty="0">
                <a:sym typeface="Symbol" panose="05050102010706020507" pitchFamily="18" charset="2"/>
              </a:rPr>
            </a:br>
            <a:r>
              <a:rPr lang="en-US" altLang="en-US" sz="2800" dirty="0">
                <a:sym typeface="Symbol" panose="05050102010706020507" pitchFamily="18" charset="2"/>
              </a:rPr>
              <a:t>                SET salary = salary * 1.05</a:t>
            </a:r>
            <a:br>
              <a:rPr lang="en-US" altLang="en-US" sz="2800" dirty="0">
                <a:sym typeface="Symbol" panose="05050102010706020507" pitchFamily="18" charset="2"/>
              </a:rPr>
            </a:br>
            <a:r>
              <a:rPr lang="en-US" altLang="en-US" sz="2800" dirty="0">
                <a:sym typeface="Symbol" panose="05050102010706020507" pitchFamily="18" charset="2"/>
              </a:rPr>
              <a:t>                WHERE salary &lt;= 100000;</a:t>
            </a:r>
          </a:p>
          <a:p>
            <a:pPr lvl="1">
              <a:lnSpc>
                <a:spcPct val="122000"/>
              </a:lnSpc>
              <a:tabLst>
                <a:tab pos="2336800" algn="l"/>
              </a:tabLst>
            </a:pPr>
            <a:r>
              <a:rPr lang="en-US" altLang="en-US" sz="2800" dirty="0">
                <a:sym typeface="Symbol" panose="05050102010706020507" pitchFamily="18" charset="2"/>
              </a:rPr>
              <a:t>The </a:t>
            </a:r>
            <a:r>
              <a:rPr lang="en-US" altLang="en-US" sz="2800" b="1" dirty="0">
                <a:sym typeface="Symbol" panose="05050102010706020507" pitchFamily="18" charset="2"/>
              </a:rPr>
              <a:t>order is important</a:t>
            </a: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63</a:t>
            </a:fld>
            <a:endParaRPr lang="en-US"/>
          </a:p>
        </p:txBody>
      </p:sp>
    </p:spTree>
    <p:extLst>
      <p:ext uri="{BB962C8B-B14F-4D97-AF65-F5344CB8AC3E}">
        <p14:creationId xmlns:p14="http://schemas.microsoft.com/office/powerpoint/2010/main" val="16095410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3899"/>
            <a:ext cx="10515600" cy="608269"/>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..UPDATE –using CASE</a:t>
            </a:r>
          </a:p>
        </p:txBody>
      </p:sp>
      <p:sp>
        <p:nvSpPr>
          <p:cNvPr id="3" name="Content Placeholder 2"/>
          <p:cNvSpPr>
            <a:spLocks noGrp="1"/>
          </p:cNvSpPr>
          <p:nvPr>
            <p:ph idx="1"/>
          </p:nvPr>
        </p:nvSpPr>
        <p:spPr>
          <a:xfrm>
            <a:off x="674077" y="937058"/>
            <a:ext cx="10515600" cy="5650345"/>
          </a:xfrm>
        </p:spPr>
        <p:txBody>
          <a:bodyPr/>
          <a:lstStyle/>
          <a:p>
            <a:r>
              <a:rPr lang="en-US" altLang="en-US" dirty="0"/>
              <a:t>Same query(previous slide) as before but with case statement</a:t>
            </a:r>
          </a:p>
          <a:p>
            <a:pPr>
              <a:buFont typeface="Monotype Sorts" charset="2"/>
              <a:buNone/>
            </a:pPr>
            <a:r>
              <a:rPr lang="en-US" altLang="en-US" dirty="0"/>
              <a:t>		 </a:t>
            </a:r>
            <a:r>
              <a:rPr lang="en-US" altLang="en-US" b="1" dirty="0"/>
              <a:t>UPDATE </a:t>
            </a:r>
            <a:r>
              <a:rPr lang="en-US" altLang="en-US" i="1" dirty="0"/>
              <a:t>instructor</a:t>
            </a:r>
            <a:br>
              <a:rPr lang="en-US" altLang="en-US" i="1" dirty="0"/>
            </a:br>
            <a:r>
              <a:rPr lang="en-US" altLang="en-US" i="1" dirty="0"/>
              <a:t>               </a:t>
            </a:r>
            <a:r>
              <a:rPr lang="en-US" altLang="en-US" b="1" dirty="0"/>
              <a:t>SET </a:t>
            </a:r>
            <a:r>
              <a:rPr lang="en-US" altLang="en-US" i="1" dirty="0"/>
              <a:t>salary </a:t>
            </a:r>
            <a:r>
              <a:rPr lang="en-US" altLang="en-US" dirty="0"/>
              <a:t>= </a:t>
            </a:r>
            <a:r>
              <a:rPr lang="en-US" altLang="en-US" b="1" dirty="0">
                <a:solidFill>
                  <a:srgbClr val="0070C0"/>
                </a:solidFill>
              </a:rPr>
              <a:t>CASE</a:t>
            </a:r>
            <a:br>
              <a:rPr lang="en-US" altLang="en-US" b="1" dirty="0"/>
            </a:br>
            <a:r>
              <a:rPr lang="en-US" altLang="en-US" b="1" dirty="0"/>
              <a:t>                                      </a:t>
            </a:r>
            <a:r>
              <a:rPr lang="en-US" altLang="en-US" b="1" dirty="0">
                <a:solidFill>
                  <a:srgbClr val="C00000"/>
                </a:solidFill>
              </a:rPr>
              <a:t>WHEN</a:t>
            </a:r>
            <a:r>
              <a:rPr lang="en-US" altLang="en-US" b="1" dirty="0"/>
              <a:t> </a:t>
            </a:r>
            <a:r>
              <a:rPr lang="en-US" altLang="en-US" i="1" dirty="0"/>
              <a:t>salary </a:t>
            </a:r>
            <a:r>
              <a:rPr lang="en-US" altLang="en-US" dirty="0"/>
              <a:t>&lt;= 100000 </a:t>
            </a:r>
            <a:r>
              <a:rPr lang="en-US" altLang="en-US" b="1" dirty="0"/>
              <a:t>THEN </a:t>
            </a:r>
            <a:r>
              <a:rPr lang="en-US" altLang="en-US" i="1" dirty="0"/>
              <a:t>salary </a:t>
            </a:r>
            <a:r>
              <a:rPr lang="en-US" altLang="en-US" dirty="0"/>
              <a:t>* 1.05</a:t>
            </a:r>
            <a:br>
              <a:rPr lang="en-US" altLang="en-US" dirty="0"/>
            </a:br>
            <a:r>
              <a:rPr lang="en-US" altLang="en-US" dirty="0"/>
              <a:t>                                      </a:t>
            </a:r>
            <a:r>
              <a:rPr lang="en-US" altLang="en-US" b="1" dirty="0">
                <a:solidFill>
                  <a:srgbClr val="C00000"/>
                </a:solidFill>
              </a:rPr>
              <a:t>ELSE</a:t>
            </a:r>
            <a:r>
              <a:rPr lang="en-US" altLang="en-US" b="1" dirty="0"/>
              <a:t> </a:t>
            </a:r>
            <a:r>
              <a:rPr lang="en-US" altLang="en-US" i="1" dirty="0"/>
              <a:t>salary </a:t>
            </a:r>
            <a:r>
              <a:rPr lang="en-US" altLang="en-US" dirty="0"/>
              <a:t>* 1.03</a:t>
            </a:r>
            <a:br>
              <a:rPr lang="en-US" altLang="en-US" dirty="0"/>
            </a:br>
            <a:r>
              <a:rPr lang="en-US" altLang="en-US" dirty="0"/>
              <a:t>                                     </a:t>
            </a:r>
            <a:r>
              <a:rPr lang="en-US" altLang="en-US" b="1" dirty="0">
                <a:solidFill>
                  <a:srgbClr val="0070C0"/>
                </a:solidFill>
              </a:rPr>
              <a:t>END;</a:t>
            </a:r>
            <a:endParaRPr lang="en-US" altLang="en-US" dirty="0">
              <a:solidFill>
                <a:srgbClr val="0070C0"/>
              </a:solidFill>
            </a:endParaRP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64</a:t>
            </a:fld>
            <a:endParaRPr lang="en-US"/>
          </a:p>
        </p:txBody>
      </p:sp>
      <p:sp>
        <p:nvSpPr>
          <p:cNvPr id="6" name="Rectangle 5"/>
          <p:cNvSpPr/>
          <p:nvPr/>
        </p:nvSpPr>
        <p:spPr>
          <a:xfrm>
            <a:off x="1285042" y="3575434"/>
            <a:ext cx="8717940" cy="3039678"/>
          </a:xfrm>
          <a:prstGeom prst="rect">
            <a:avLst/>
          </a:prstGeom>
        </p:spPr>
        <p:txBody>
          <a:bodyPr wrap="square">
            <a:spAutoFit/>
          </a:bodyPr>
          <a:lstStyle/>
          <a:p>
            <a:pPr>
              <a:lnSpc>
                <a:spcPct val="114000"/>
              </a:lnSpc>
            </a:pPr>
            <a:r>
              <a:rPr lang="en-US" sz="2800" b="1" dirty="0"/>
              <a:t>Assume the table Emp(Empno, ename, </a:t>
            </a:r>
            <a:r>
              <a:rPr lang="en-US" sz="2800" b="1" dirty="0" err="1"/>
              <a:t>deptnosal</a:t>
            </a:r>
            <a:r>
              <a:rPr lang="en-US" sz="2800" b="1" dirty="0"/>
              <a:t>)</a:t>
            </a:r>
          </a:p>
          <a:p>
            <a:pPr>
              <a:lnSpc>
                <a:spcPct val="114000"/>
              </a:lnSpc>
            </a:pPr>
            <a:r>
              <a:rPr lang="en-US" sz="2800" b="1" dirty="0"/>
              <a:t>UPDATE</a:t>
            </a:r>
            <a:r>
              <a:rPr lang="en-US" sz="2800" dirty="0"/>
              <a:t> emp </a:t>
            </a:r>
            <a:r>
              <a:rPr lang="en-US" sz="2800" b="1" dirty="0"/>
              <a:t>SET</a:t>
            </a:r>
            <a:r>
              <a:rPr lang="en-US" sz="2800" dirty="0"/>
              <a:t> </a:t>
            </a:r>
            <a:r>
              <a:rPr lang="en-US" sz="2800" dirty="0" err="1"/>
              <a:t>sal</a:t>
            </a:r>
            <a:r>
              <a:rPr lang="en-US" sz="2800" dirty="0"/>
              <a:t>=</a:t>
            </a:r>
            <a:r>
              <a:rPr lang="en-US" sz="2800" b="1" dirty="0">
                <a:solidFill>
                  <a:srgbClr val="0070C0"/>
                </a:solidFill>
              </a:rPr>
              <a:t>CASE</a:t>
            </a:r>
          </a:p>
          <a:p>
            <a:pPr>
              <a:lnSpc>
                <a:spcPct val="114000"/>
              </a:lnSpc>
            </a:pPr>
            <a:r>
              <a:rPr lang="en-US" sz="2800" dirty="0"/>
              <a:t>	</a:t>
            </a:r>
            <a:r>
              <a:rPr lang="en-US" sz="2800" b="1" dirty="0">
                <a:solidFill>
                  <a:srgbClr val="C00000"/>
                </a:solidFill>
              </a:rPr>
              <a:t>WHEN</a:t>
            </a:r>
            <a:r>
              <a:rPr lang="en-US" sz="2800" dirty="0"/>
              <a:t> </a:t>
            </a:r>
            <a:r>
              <a:rPr lang="en-US" sz="2800" dirty="0" err="1"/>
              <a:t>sal</a:t>
            </a:r>
            <a:r>
              <a:rPr lang="en-US" sz="2800" dirty="0"/>
              <a:t>&lt;=3000 </a:t>
            </a:r>
            <a:r>
              <a:rPr lang="en-US" sz="2800" b="1" dirty="0"/>
              <a:t>THEN</a:t>
            </a:r>
            <a:r>
              <a:rPr lang="en-US" sz="2800" dirty="0"/>
              <a:t> </a:t>
            </a:r>
            <a:r>
              <a:rPr lang="en-US" sz="2800" dirty="0" err="1"/>
              <a:t>sal</a:t>
            </a:r>
            <a:r>
              <a:rPr lang="en-US" sz="2800" dirty="0"/>
              <a:t>*1.1</a:t>
            </a:r>
          </a:p>
          <a:p>
            <a:pPr>
              <a:lnSpc>
                <a:spcPct val="114000"/>
              </a:lnSpc>
            </a:pPr>
            <a:r>
              <a:rPr lang="en-US" sz="2800" dirty="0"/>
              <a:t>	</a:t>
            </a:r>
            <a:r>
              <a:rPr lang="en-US" sz="2800" b="1" dirty="0">
                <a:solidFill>
                  <a:srgbClr val="C00000"/>
                </a:solidFill>
              </a:rPr>
              <a:t>WHEN</a:t>
            </a:r>
            <a:r>
              <a:rPr lang="en-US" sz="2800" dirty="0"/>
              <a:t> </a:t>
            </a:r>
            <a:r>
              <a:rPr lang="en-US" sz="2800" dirty="0" err="1"/>
              <a:t>sal</a:t>
            </a:r>
            <a:r>
              <a:rPr lang="en-US" sz="2800" dirty="0"/>
              <a:t>&lt;=5000 </a:t>
            </a:r>
            <a:r>
              <a:rPr lang="en-US" sz="2800" b="1" dirty="0"/>
              <a:t>THEN</a:t>
            </a:r>
            <a:r>
              <a:rPr lang="en-US" sz="2800" dirty="0"/>
              <a:t> </a:t>
            </a:r>
            <a:r>
              <a:rPr lang="en-US" sz="2800" dirty="0" err="1"/>
              <a:t>sal</a:t>
            </a:r>
            <a:r>
              <a:rPr lang="en-US" sz="2800" dirty="0"/>
              <a:t>*1.05</a:t>
            </a:r>
          </a:p>
          <a:p>
            <a:pPr>
              <a:lnSpc>
                <a:spcPct val="114000"/>
              </a:lnSpc>
            </a:pPr>
            <a:r>
              <a:rPr lang="en-US" sz="2800" dirty="0"/>
              <a:t>	</a:t>
            </a:r>
            <a:r>
              <a:rPr lang="en-US" sz="2800" b="1" dirty="0">
                <a:solidFill>
                  <a:srgbClr val="C00000"/>
                </a:solidFill>
              </a:rPr>
              <a:t>ELSE</a:t>
            </a:r>
            <a:r>
              <a:rPr lang="en-US" sz="2800" dirty="0"/>
              <a:t> </a:t>
            </a:r>
            <a:r>
              <a:rPr lang="en-US" sz="2800" dirty="0" err="1"/>
              <a:t>sal</a:t>
            </a:r>
            <a:r>
              <a:rPr lang="en-US" sz="2800" dirty="0"/>
              <a:t>*1</a:t>
            </a:r>
          </a:p>
          <a:p>
            <a:pPr>
              <a:lnSpc>
                <a:spcPct val="114000"/>
              </a:lnSpc>
            </a:pPr>
            <a:r>
              <a:rPr lang="en-US" sz="2800" dirty="0"/>
              <a:t>	</a:t>
            </a:r>
            <a:r>
              <a:rPr lang="en-US" sz="2800" b="1" dirty="0">
                <a:solidFill>
                  <a:srgbClr val="0070C0"/>
                </a:solidFill>
              </a:rPr>
              <a:t>END</a:t>
            </a:r>
            <a:r>
              <a:rPr lang="en-US" sz="2800" dirty="0">
                <a:solidFill>
                  <a:srgbClr val="0070C0"/>
                </a:solidFill>
              </a:rPr>
              <a:t>; </a:t>
            </a:r>
          </a:p>
        </p:txBody>
      </p:sp>
    </p:spTree>
    <p:extLst>
      <p:ext uri="{BB962C8B-B14F-4D97-AF65-F5344CB8AC3E}">
        <p14:creationId xmlns:p14="http://schemas.microsoft.com/office/powerpoint/2010/main" val="37953496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8648"/>
            <a:ext cx="10515600" cy="608269"/>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DELETE</a:t>
            </a:r>
          </a:p>
        </p:txBody>
      </p:sp>
      <p:sp>
        <p:nvSpPr>
          <p:cNvPr id="3" name="Content Placeholder 2"/>
          <p:cNvSpPr>
            <a:spLocks noGrp="1"/>
          </p:cNvSpPr>
          <p:nvPr>
            <p:ph idx="1"/>
          </p:nvPr>
        </p:nvSpPr>
        <p:spPr>
          <a:xfrm>
            <a:off x="838200" y="1168196"/>
            <a:ext cx="10515600" cy="4351338"/>
          </a:xfrm>
        </p:spPr>
        <p:txBody>
          <a:bodyPr>
            <a:normAutofit lnSpcReduction="10000"/>
          </a:bodyPr>
          <a:lstStyle/>
          <a:p>
            <a:pPr marL="0" indent="0">
              <a:buNone/>
            </a:pPr>
            <a:r>
              <a:rPr lang="en-US" b="1" dirty="0"/>
              <a:t>Syntax:</a:t>
            </a:r>
          </a:p>
          <a:p>
            <a:pPr marL="0" indent="0">
              <a:buNone/>
            </a:pPr>
            <a:r>
              <a:rPr lang="en-US" dirty="0"/>
              <a:t>   	</a:t>
            </a:r>
            <a:r>
              <a:rPr lang="en-US" dirty="0">
                <a:solidFill>
                  <a:srgbClr val="C00000"/>
                </a:solidFill>
              </a:rPr>
              <a:t>DELETE FROM table_name WHERE condition;</a:t>
            </a:r>
          </a:p>
          <a:p>
            <a:pPr marL="0" indent="0">
              <a:buNone/>
            </a:pPr>
            <a:r>
              <a:rPr lang="en-US" dirty="0"/>
              <a:t>Example:</a:t>
            </a:r>
          </a:p>
          <a:p>
            <a:pPr>
              <a:tabLst>
                <a:tab pos="1652588" algn="l"/>
                <a:tab pos="2633663" algn="l"/>
              </a:tabLst>
            </a:pPr>
            <a:r>
              <a:rPr lang="en-US" altLang="en-US" dirty="0"/>
              <a:t>Delete all instructors</a:t>
            </a:r>
          </a:p>
          <a:p>
            <a:pPr>
              <a:buFont typeface="Monotype Sorts" charset="2"/>
              <a:buNone/>
              <a:tabLst>
                <a:tab pos="1652588" algn="l"/>
                <a:tab pos="2633663" algn="l"/>
              </a:tabLst>
            </a:pPr>
            <a:r>
              <a:rPr lang="en-US" altLang="en-US" dirty="0"/>
              <a:t>		</a:t>
            </a:r>
            <a:r>
              <a:rPr lang="en-US" altLang="en-US" b="1" dirty="0"/>
              <a:t>delete from </a:t>
            </a:r>
            <a:r>
              <a:rPr lang="en-US" altLang="en-US" i="1" dirty="0"/>
              <a:t>instructor</a:t>
            </a:r>
            <a:r>
              <a:rPr lang="en-US" altLang="en-US" dirty="0">
                <a:latin typeface="Century Gothic" panose="020B0502020202020204" pitchFamily="34" charset="0"/>
              </a:rPr>
              <a:t> </a:t>
            </a:r>
          </a:p>
          <a:p>
            <a:pPr>
              <a:buFont typeface="Monotype Sorts" charset="2"/>
              <a:buNone/>
              <a:tabLst>
                <a:tab pos="1652588" algn="l"/>
                <a:tab pos="2633663" algn="l"/>
              </a:tabLst>
            </a:pPr>
            <a:endParaRPr lang="en-US" altLang="en-US" dirty="0">
              <a:latin typeface="Century Gothic" panose="020B0502020202020204" pitchFamily="34" charset="0"/>
            </a:endParaRPr>
          </a:p>
          <a:p>
            <a:pPr>
              <a:lnSpc>
                <a:spcPct val="110000"/>
              </a:lnSpc>
              <a:tabLst>
                <a:tab pos="1652588" algn="l"/>
                <a:tab pos="2633663" algn="l"/>
              </a:tabLst>
            </a:pPr>
            <a:r>
              <a:rPr lang="en-US" altLang="en-US" dirty="0"/>
              <a:t>Delete all instructors from the Finance department</a:t>
            </a:r>
            <a:br>
              <a:rPr lang="en-US" altLang="en-US" dirty="0"/>
            </a:br>
            <a:r>
              <a:rPr lang="en-US" altLang="en-US" dirty="0"/>
              <a:t>                     </a:t>
            </a:r>
            <a:r>
              <a:rPr lang="en-US" altLang="en-US" b="1" dirty="0"/>
              <a:t>delete from </a:t>
            </a:r>
            <a:r>
              <a:rPr lang="en-US" altLang="en-US" i="1" dirty="0"/>
              <a:t>instructor</a:t>
            </a:r>
            <a:br>
              <a:rPr lang="en-US" altLang="en-US" i="1" dirty="0"/>
            </a:br>
            <a:r>
              <a:rPr lang="en-US" altLang="en-US" i="1" dirty="0"/>
              <a:t>                     </a:t>
            </a:r>
            <a:r>
              <a:rPr lang="en-US" altLang="en-US" b="1" dirty="0"/>
              <a:t>where </a:t>
            </a:r>
            <a:r>
              <a:rPr lang="en-US" altLang="en-US" i="1" dirty="0"/>
              <a:t>dept_name</a:t>
            </a:r>
            <a:r>
              <a:rPr lang="en-US" altLang="en-US" dirty="0"/>
              <a:t>= ’Finance’;</a:t>
            </a:r>
          </a:p>
          <a:p>
            <a:pPr marL="0" indent="0">
              <a:buNone/>
            </a:pPr>
            <a:endParaRPr lang="en-US" dirty="0"/>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65</a:t>
            </a:fld>
            <a:endParaRPr lang="en-US"/>
          </a:p>
        </p:txBody>
      </p:sp>
    </p:spTree>
    <p:extLst>
      <p:ext uri="{BB962C8B-B14F-4D97-AF65-F5344CB8AC3E}">
        <p14:creationId xmlns:p14="http://schemas.microsoft.com/office/powerpoint/2010/main" val="264374476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7914"/>
            <a:ext cx="10515600" cy="5187439"/>
          </a:xfrm>
        </p:spPr>
        <p:txBody>
          <a:bodyPr>
            <a:normAutofit fontScale="92500" lnSpcReduction="10000"/>
          </a:bodyPr>
          <a:lstStyle/>
          <a:p>
            <a:pPr marL="0" indent="0">
              <a:buNone/>
            </a:pPr>
            <a:r>
              <a:rPr lang="en-US" b="1" dirty="0"/>
              <a:t>Syntax:</a:t>
            </a:r>
          </a:p>
          <a:p>
            <a:pPr marL="0" indent="0">
              <a:lnSpc>
                <a:spcPct val="110000"/>
              </a:lnSpc>
              <a:spcAft>
                <a:spcPts val="600"/>
              </a:spcAft>
              <a:buNone/>
            </a:pPr>
            <a:r>
              <a:rPr lang="en-US" dirty="0"/>
              <a:t>   	</a:t>
            </a:r>
            <a:r>
              <a:rPr lang="en-US" dirty="0">
                <a:solidFill>
                  <a:srgbClr val="C00000"/>
                </a:solidFill>
              </a:rPr>
              <a:t>DELETE FROM table_name WHERE condition;</a:t>
            </a:r>
          </a:p>
          <a:p>
            <a:pPr marL="0" indent="0">
              <a:lnSpc>
                <a:spcPct val="110000"/>
              </a:lnSpc>
              <a:spcAft>
                <a:spcPts val="600"/>
              </a:spcAft>
              <a:buNone/>
            </a:pPr>
            <a:r>
              <a:rPr lang="en-US" dirty="0"/>
              <a:t>       </a:t>
            </a:r>
            <a:r>
              <a:rPr lang="en-US" b="1" dirty="0"/>
              <a:t>Note-</a:t>
            </a:r>
            <a:r>
              <a:rPr lang="en-US" dirty="0"/>
              <a:t> Condition is involving some sub-query</a:t>
            </a:r>
          </a:p>
          <a:p>
            <a:pPr marL="0" indent="0">
              <a:lnSpc>
                <a:spcPct val="110000"/>
              </a:lnSpc>
              <a:spcAft>
                <a:spcPts val="600"/>
              </a:spcAft>
              <a:buNone/>
            </a:pPr>
            <a:r>
              <a:rPr lang="en-US" dirty="0"/>
              <a:t>Example:</a:t>
            </a:r>
          </a:p>
          <a:p>
            <a:pPr>
              <a:lnSpc>
                <a:spcPct val="110000"/>
              </a:lnSpc>
              <a:spcAft>
                <a:spcPts val="600"/>
              </a:spcAft>
              <a:tabLst>
                <a:tab pos="1652588" algn="l"/>
                <a:tab pos="2633663" algn="l"/>
              </a:tabLst>
            </a:pPr>
            <a:r>
              <a:rPr lang="en-US" altLang="en-US" dirty="0"/>
              <a:t>Delete all tuples in the </a:t>
            </a:r>
            <a:r>
              <a:rPr lang="en-US" altLang="en-US" i="1" dirty="0"/>
              <a:t>instructor </a:t>
            </a:r>
            <a:r>
              <a:rPr lang="en-US" altLang="en-US" dirty="0"/>
              <a:t>relation for those instructors associated with a department located in the ‘</a:t>
            </a:r>
            <a:r>
              <a:rPr lang="en-US" altLang="en-US" b="1" dirty="0"/>
              <a:t>Watson</a:t>
            </a:r>
            <a:r>
              <a:rPr lang="en-US" altLang="en-US" dirty="0"/>
              <a:t>’ building.</a:t>
            </a:r>
          </a:p>
          <a:p>
            <a:pPr>
              <a:lnSpc>
                <a:spcPct val="110000"/>
              </a:lnSpc>
              <a:spcAft>
                <a:spcPts val="600"/>
              </a:spcAft>
              <a:buFont typeface="Monotype Sorts" charset="2"/>
              <a:buNone/>
              <a:tabLst>
                <a:tab pos="1652588" algn="l"/>
                <a:tab pos="2633663" algn="l"/>
              </a:tabLst>
            </a:pPr>
            <a:r>
              <a:rPr lang="en-US" altLang="en-US" b="1" dirty="0"/>
              <a:t>		Delete from </a:t>
            </a:r>
            <a:r>
              <a:rPr lang="en-US" altLang="en-US" i="1" dirty="0"/>
              <a:t>instructor</a:t>
            </a:r>
            <a:br>
              <a:rPr lang="en-US" altLang="en-US" i="1" dirty="0"/>
            </a:br>
            <a:r>
              <a:rPr lang="en-US" altLang="en-US" i="1" dirty="0"/>
              <a:t>                     </a:t>
            </a:r>
            <a:r>
              <a:rPr lang="en-US" altLang="en-US" b="1" dirty="0"/>
              <a:t>where </a:t>
            </a:r>
            <a:r>
              <a:rPr lang="en-US" altLang="en-US" i="1" dirty="0"/>
              <a:t>dept_name </a:t>
            </a:r>
            <a:r>
              <a:rPr lang="en-US" altLang="en-US" sz="3000" b="1" dirty="0">
                <a:solidFill>
                  <a:srgbClr val="FF0000"/>
                </a:solidFill>
              </a:rPr>
              <a:t>in</a:t>
            </a:r>
            <a:r>
              <a:rPr lang="en-US" altLang="en-US" b="1" dirty="0"/>
              <a:t> </a:t>
            </a:r>
            <a:r>
              <a:rPr lang="en-US" altLang="en-US" dirty="0"/>
              <a:t>(</a:t>
            </a:r>
            <a:r>
              <a:rPr lang="en-US" altLang="en-US" b="1" dirty="0"/>
              <a:t>select </a:t>
            </a:r>
            <a:r>
              <a:rPr lang="en-US" altLang="en-US" i="1" dirty="0"/>
              <a:t>dept_name</a:t>
            </a:r>
            <a:br>
              <a:rPr lang="en-US" altLang="en-US" i="1" dirty="0"/>
            </a:br>
            <a:r>
              <a:rPr lang="en-US" altLang="en-US" i="1" dirty="0"/>
              <a:t>                                                              </a:t>
            </a:r>
            <a:r>
              <a:rPr lang="en-US" altLang="en-US" b="1" dirty="0"/>
              <a:t>from </a:t>
            </a:r>
            <a:r>
              <a:rPr lang="en-US" altLang="en-US" i="1" dirty="0"/>
              <a:t>department</a:t>
            </a:r>
            <a:br>
              <a:rPr lang="en-US" altLang="en-US" i="1" dirty="0"/>
            </a:br>
            <a:r>
              <a:rPr lang="en-US" altLang="en-US" i="1" dirty="0"/>
              <a:t>                                                              </a:t>
            </a:r>
            <a:r>
              <a:rPr lang="en-US" altLang="en-US" b="1" dirty="0"/>
              <a:t>where </a:t>
            </a:r>
            <a:r>
              <a:rPr lang="en-US" altLang="en-US" i="1" dirty="0"/>
              <a:t>building </a:t>
            </a:r>
            <a:r>
              <a:rPr lang="en-US" altLang="en-US" dirty="0"/>
              <a:t>= ’Watson’);</a:t>
            </a:r>
          </a:p>
          <a:p>
            <a:pPr marL="0" indent="0">
              <a:buNone/>
            </a:pPr>
            <a:endParaRPr lang="en-US" dirty="0"/>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66</a:t>
            </a:fld>
            <a:endParaRPr lang="en-US"/>
          </a:p>
        </p:txBody>
      </p:sp>
      <p:sp>
        <p:nvSpPr>
          <p:cNvPr id="7" name="Title 1"/>
          <p:cNvSpPr>
            <a:spLocks noGrp="1"/>
          </p:cNvSpPr>
          <p:nvPr>
            <p:ph type="title"/>
          </p:nvPr>
        </p:nvSpPr>
        <p:spPr>
          <a:xfrm>
            <a:off x="838200" y="158648"/>
            <a:ext cx="10515600" cy="608269"/>
          </a:xfrm>
          <a:noFill/>
          <a:ln w="9525">
            <a:noFill/>
            <a:miter lim="800000"/>
            <a:headEnd/>
            <a:tailEnd/>
          </a:ln>
        </p:spPr>
        <p:txBody>
          <a:bodyPr vert="horz" wrap="square" lIns="91440" tIns="45720" rIns="91440" bIns="45720" numCol="1" rtlCol="0" anchor="b" anchorCtr="0" compatLnSpc="1">
            <a:prstTxWarp prst="textNoShape">
              <a:avLst/>
            </a:prstTxWarp>
            <a:normAutofit/>
          </a:bodyPr>
          <a:lstStyle/>
          <a:p>
            <a:pPr algn="ctr" eaLnBrk="0" fontAlgn="base" hangingPunct="0">
              <a:lnSpc>
                <a:spcPct val="100000"/>
              </a:lnSpc>
              <a:spcAft>
                <a:spcPct val="0"/>
              </a:spcAft>
            </a:pPr>
            <a:r>
              <a:rPr kumimoji="1" lang="en-US" sz="3200" b="1" kern="0" dirty="0">
                <a:solidFill>
                  <a:srgbClr val="CC3300"/>
                </a:solidFill>
                <a:effectLst>
                  <a:outerShdw blurRad="38100" dist="38100" dir="2700000" algn="tl">
                    <a:srgbClr val="C0C0C0"/>
                  </a:outerShdw>
                </a:effectLst>
                <a:latin typeface="Helvetica"/>
              </a:rPr>
              <a:t>..DELETE</a:t>
            </a:r>
          </a:p>
        </p:txBody>
      </p:sp>
    </p:spTree>
    <p:extLst>
      <p:ext uri="{BB962C8B-B14F-4D97-AF65-F5344CB8AC3E}">
        <p14:creationId xmlns:p14="http://schemas.microsoft.com/office/powerpoint/2010/main" val="81720709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075" y="2265363"/>
            <a:ext cx="10515600" cy="1325563"/>
          </a:xfrm>
        </p:spPr>
        <p:txBody>
          <a:bodyPr/>
          <a:lstStyle/>
          <a:p>
            <a:pPr algn="ctr"/>
            <a:r>
              <a:rPr lang="en-US" b="1" dirty="0">
                <a:solidFill>
                  <a:srgbClr val="C00000"/>
                </a:solidFill>
              </a:rPr>
              <a:t>END</a:t>
            </a:r>
          </a:p>
        </p:txBody>
      </p:sp>
      <p:sp>
        <p:nvSpPr>
          <p:cNvPr id="4" name="Footer Placeholder 3"/>
          <p:cNvSpPr>
            <a:spLocks noGrp="1"/>
          </p:cNvSpPr>
          <p:nvPr>
            <p:ph type="ftr" sz="quarter" idx="11"/>
          </p:nvPr>
        </p:nvSpPr>
        <p:spPr/>
        <p:txBody>
          <a:bodyPr/>
          <a:lstStyle/>
          <a:p>
            <a:r>
              <a:rPr lang="en-US"/>
              <a:t>SQL</a:t>
            </a:r>
          </a:p>
        </p:txBody>
      </p:sp>
      <p:sp>
        <p:nvSpPr>
          <p:cNvPr id="5" name="Slide Number Placeholder 4"/>
          <p:cNvSpPr>
            <a:spLocks noGrp="1"/>
          </p:cNvSpPr>
          <p:nvPr>
            <p:ph type="sldNum" sz="quarter" idx="12"/>
          </p:nvPr>
        </p:nvSpPr>
        <p:spPr/>
        <p:txBody>
          <a:bodyPr/>
          <a:lstStyle/>
          <a:p>
            <a:fld id="{03576695-DB63-4967-AFBB-46E84EF49106}" type="slidenum">
              <a:rPr lang="en-US" smtClean="0"/>
              <a:t>67</a:t>
            </a:fld>
            <a:endParaRPr lang="en-US"/>
          </a:p>
        </p:txBody>
      </p:sp>
    </p:spTree>
    <p:extLst>
      <p:ext uri="{BB962C8B-B14F-4D97-AF65-F5344CB8AC3E}">
        <p14:creationId xmlns:p14="http://schemas.microsoft.com/office/powerpoint/2010/main" val="30968858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B27C02-D060-4964-B0DE-0E0D0A49A363}"/>
              </a:ext>
            </a:extLst>
          </p:cNvPr>
          <p:cNvSpPr>
            <a:spLocks noGrp="1"/>
          </p:cNvSpPr>
          <p:nvPr>
            <p:ph type="ftr" sz="quarter" idx="11"/>
          </p:nvPr>
        </p:nvSpPr>
        <p:spPr/>
        <p:txBody>
          <a:bodyPr/>
          <a:lstStyle/>
          <a:p>
            <a:r>
              <a:rPr lang="en-US"/>
              <a:t>SQL</a:t>
            </a:r>
          </a:p>
        </p:txBody>
      </p:sp>
      <p:sp>
        <p:nvSpPr>
          <p:cNvPr id="5" name="Slide Number Placeholder 4">
            <a:extLst>
              <a:ext uri="{FF2B5EF4-FFF2-40B4-BE49-F238E27FC236}">
                <a16:creationId xmlns:a16="http://schemas.microsoft.com/office/drawing/2014/main" id="{5EE9644E-F9ED-4DBD-8697-5644C7E94683}"/>
              </a:ext>
            </a:extLst>
          </p:cNvPr>
          <p:cNvSpPr>
            <a:spLocks noGrp="1"/>
          </p:cNvSpPr>
          <p:nvPr>
            <p:ph type="sldNum" sz="quarter" idx="12"/>
          </p:nvPr>
        </p:nvSpPr>
        <p:spPr/>
        <p:txBody>
          <a:bodyPr/>
          <a:lstStyle/>
          <a:p>
            <a:fld id="{03576695-DB63-4967-AFBB-46E84EF49106}" type="slidenum">
              <a:rPr lang="en-US" smtClean="0"/>
              <a:t>68</a:t>
            </a:fld>
            <a:endParaRPr lang="en-US"/>
          </a:p>
        </p:txBody>
      </p:sp>
      <p:pic>
        <p:nvPicPr>
          <p:cNvPr id="8" name="Picture 7">
            <a:extLst>
              <a:ext uri="{FF2B5EF4-FFF2-40B4-BE49-F238E27FC236}">
                <a16:creationId xmlns:a16="http://schemas.microsoft.com/office/drawing/2014/main" id="{EFF8A5BF-E1B2-4A37-81DB-6F18BDE7A544}"/>
              </a:ext>
            </a:extLst>
          </p:cNvPr>
          <p:cNvPicPr>
            <a:picLocks noChangeAspect="1"/>
          </p:cNvPicPr>
          <p:nvPr/>
        </p:nvPicPr>
        <p:blipFill>
          <a:blip r:embed="rId2"/>
          <a:stretch>
            <a:fillRect/>
          </a:stretch>
        </p:blipFill>
        <p:spPr>
          <a:xfrm>
            <a:off x="1082125" y="86177"/>
            <a:ext cx="5912950" cy="2401661"/>
          </a:xfrm>
          <a:prstGeom prst="rect">
            <a:avLst/>
          </a:prstGeom>
        </p:spPr>
      </p:pic>
      <p:pic>
        <p:nvPicPr>
          <p:cNvPr id="9" name="Picture 8">
            <a:extLst>
              <a:ext uri="{FF2B5EF4-FFF2-40B4-BE49-F238E27FC236}">
                <a16:creationId xmlns:a16="http://schemas.microsoft.com/office/drawing/2014/main" id="{1F29BA45-C588-41AC-86AD-07959D37CE30}"/>
              </a:ext>
            </a:extLst>
          </p:cNvPr>
          <p:cNvPicPr>
            <a:picLocks noChangeAspect="1"/>
          </p:cNvPicPr>
          <p:nvPr/>
        </p:nvPicPr>
        <p:blipFill>
          <a:blip r:embed="rId3"/>
          <a:stretch>
            <a:fillRect/>
          </a:stretch>
        </p:blipFill>
        <p:spPr>
          <a:xfrm>
            <a:off x="7761480" y="250070"/>
            <a:ext cx="3048000" cy="1773115"/>
          </a:xfrm>
          <a:prstGeom prst="rect">
            <a:avLst/>
          </a:prstGeom>
        </p:spPr>
      </p:pic>
      <p:pic>
        <p:nvPicPr>
          <p:cNvPr id="10" name="Picture 9">
            <a:extLst>
              <a:ext uri="{FF2B5EF4-FFF2-40B4-BE49-F238E27FC236}">
                <a16:creationId xmlns:a16="http://schemas.microsoft.com/office/drawing/2014/main" id="{8D564817-4C76-422D-BA57-79BF28851A30}"/>
              </a:ext>
            </a:extLst>
          </p:cNvPr>
          <p:cNvPicPr>
            <a:picLocks noChangeAspect="1"/>
          </p:cNvPicPr>
          <p:nvPr/>
        </p:nvPicPr>
        <p:blipFill>
          <a:blip r:embed="rId4"/>
          <a:stretch>
            <a:fillRect/>
          </a:stretch>
        </p:blipFill>
        <p:spPr>
          <a:xfrm>
            <a:off x="5312932" y="3039384"/>
            <a:ext cx="8413954" cy="2661557"/>
          </a:xfrm>
          <a:prstGeom prst="rect">
            <a:avLst/>
          </a:prstGeom>
        </p:spPr>
      </p:pic>
      <p:sp>
        <p:nvSpPr>
          <p:cNvPr id="11" name="Rectangle 10">
            <a:extLst>
              <a:ext uri="{FF2B5EF4-FFF2-40B4-BE49-F238E27FC236}">
                <a16:creationId xmlns:a16="http://schemas.microsoft.com/office/drawing/2014/main" id="{EDCECA77-0BDE-414D-BC67-80EF53A95696}"/>
              </a:ext>
            </a:extLst>
          </p:cNvPr>
          <p:cNvSpPr/>
          <p:nvPr/>
        </p:nvSpPr>
        <p:spPr>
          <a:xfrm>
            <a:off x="408213" y="2426634"/>
            <a:ext cx="10809513" cy="1143070"/>
          </a:xfrm>
          <a:prstGeom prst="rect">
            <a:avLst/>
          </a:prstGeom>
        </p:spPr>
        <p:txBody>
          <a:bodyPr wrap="square">
            <a:spAutoFit/>
          </a:bodyPr>
          <a:lstStyle/>
          <a:p>
            <a:pPr>
              <a:lnSpc>
                <a:spcPct val="150000"/>
              </a:lnSpc>
            </a:pPr>
            <a:r>
              <a:rPr lang="en-US" sz="2400" b="1" dirty="0"/>
              <a:t>CREATE VIEW emp_view(ENO,NAME,DATE_OF_BIRTH) AS SELECT empno, ename, dob FROM emp;</a:t>
            </a:r>
            <a:endParaRPr lang="en-IN" sz="2400" b="1" dirty="0"/>
          </a:p>
        </p:txBody>
      </p:sp>
      <p:pic>
        <p:nvPicPr>
          <p:cNvPr id="12" name="Picture 11">
            <a:extLst>
              <a:ext uri="{FF2B5EF4-FFF2-40B4-BE49-F238E27FC236}">
                <a16:creationId xmlns:a16="http://schemas.microsoft.com/office/drawing/2014/main" id="{69DE9835-92FC-405A-BCB5-65F1C8078277}"/>
              </a:ext>
            </a:extLst>
          </p:cNvPr>
          <p:cNvPicPr>
            <a:picLocks noChangeAspect="1"/>
          </p:cNvPicPr>
          <p:nvPr/>
        </p:nvPicPr>
        <p:blipFill>
          <a:blip r:embed="rId5"/>
          <a:stretch>
            <a:fillRect/>
          </a:stretch>
        </p:blipFill>
        <p:spPr>
          <a:xfrm>
            <a:off x="548367" y="6188075"/>
            <a:ext cx="4629150" cy="533400"/>
          </a:xfrm>
          <a:prstGeom prst="rect">
            <a:avLst/>
          </a:prstGeom>
        </p:spPr>
      </p:pic>
      <p:pic>
        <p:nvPicPr>
          <p:cNvPr id="13" name="Picture 12">
            <a:extLst>
              <a:ext uri="{FF2B5EF4-FFF2-40B4-BE49-F238E27FC236}">
                <a16:creationId xmlns:a16="http://schemas.microsoft.com/office/drawing/2014/main" id="{F1748170-0C7B-4C78-B294-E385888CC2AC}"/>
              </a:ext>
            </a:extLst>
          </p:cNvPr>
          <p:cNvPicPr>
            <a:picLocks noChangeAspect="1"/>
          </p:cNvPicPr>
          <p:nvPr/>
        </p:nvPicPr>
        <p:blipFill>
          <a:blip r:embed="rId6"/>
          <a:stretch>
            <a:fillRect/>
          </a:stretch>
        </p:blipFill>
        <p:spPr>
          <a:xfrm>
            <a:off x="548367" y="3693799"/>
            <a:ext cx="3869956" cy="2268992"/>
          </a:xfrm>
          <a:prstGeom prst="rect">
            <a:avLst/>
          </a:prstGeom>
        </p:spPr>
      </p:pic>
    </p:spTree>
    <p:extLst>
      <p:ext uri="{BB962C8B-B14F-4D97-AF65-F5344CB8AC3E}">
        <p14:creationId xmlns:p14="http://schemas.microsoft.com/office/powerpoint/2010/main" val="6425544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BB7C9FC-5CA2-420F-870D-DF6E80DB0D3F}"/>
              </a:ext>
            </a:extLst>
          </p:cNvPr>
          <p:cNvSpPr>
            <a:spLocks noGrp="1"/>
          </p:cNvSpPr>
          <p:nvPr>
            <p:ph type="ftr" sz="quarter" idx="11"/>
          </p:nvPr>
        </p:nvSpPr>
        <p:spPr/>
        <p:txBody>
          <a:bodyPr/>
          <a:lstStyle/>
          <a:p>
            <a:r>
              <a:rPr lang="en-US"/>
              <a:t>SQL</a:t>
            </a:r>
          </a:p>
        </p:txBody>
      </p:sp>
      <p:sp>
        <p:nvSpPr>
          <p:cNvPr id="5" name="Slide Number Placeholder 4">
            <a:extLst>
              <a:ext uri="{FF2B5EF4-FFF2-40B4-BE49-F238E27FC236}">
                <a16:creationId xmlns:a16="http://schemas.microsoft.com/office/drawing/2014/main" id="{3A1AC809-0DED-4288-BE6B-D92FF2ED7E1B}"/>
              </a:ext>
            </a:extLst>
          </p:cNvPr>
          <p:cNvSpPr>
            <a:spLocks noGrp="1"/>
          </p:cNvSpPr>
          <p:nvPr>
            <p:ph type="sldNum" sz="quarter" idx="12"/>
          </p:nvPr>
        </p:nvSpPr>
        <p:spPr/>
        <p:txBody>
          <a:bodyPr/>
          <a:lstStyle/>
          <a:p>
            <a:fld id="{03576695-DB63-4967-AFBB-46E84EF49106}" type="slidenum">
              <a:rPr lang="en-US" smtClean="0"/>
              <a:t>69</a:t>
            </a:fld>
            <a:endParaRPr lang="en-US"/>
          </a:p>
        </p:txBody>
      </p:sp>
      <p:pic>
        <p:nvPicPr>
          <p:cNvPr id="6" name="Picture 5">
            <a:extLst>
              <a:ext uri="{FF2B5EF4-FFF2-40B4-BE49-F238E27FC236}">
                <a16:creationId xmlns:a16="http://schemas.microsoft.com/office/drawing/2014/main" id="{6D93FF97-E0DA-402E-A77C-ABB6EE06F849}"/>
              </a:ext>
            </a:extLst>
          </p:cNvPr>
          <p:cNvPicPr>
            <a:picLocks noChangeAspect="1"/>
          </p:cNvPicPr>
          <p:nvPr/>
        </p:nvPicPr>
        <p:blipFill>
          <a:blip r:embed="rId3"/>
          <a:stretch>
            <a:fillRect/>
          </a:stretch>
        </p:blipFill>
        <p:spPr>
          <a:xfrm>
            <a:off x="2586078" y="1767464"/>
            <a:ext cx="7547271" cy="2738735"/>
          </a:xfrm>
          <a:prstGeom prst="rect">
            <a:avLst/>
          </a:prstGeom>
        </p:spPr>
      </p:pic>
      <p:sp>
        <p:nvSpPr>
          <p:cNvPr id="7" name="Rectangle 6">
            <a:extLst>
              <a:ext uri="{FF2B5EF4-FFF2-40B4-BE49-F238E27FC236}">
                <a16:creationId xmlns:a16="http://schemas.microsoft.com/office/drawing/2014/main" id="{1564720F-6A67-4906-B790-D2FBE9A873DF}"/>
              </a:ext>
            </a:extLst>
          </p:cNvPr>
          <p:cNvSpPr/>
          <p:nvPr/>
        </p:nvSpPr>
        <p:spPr>
          <a:xfrm>
            <a:off x="4846542" y="288391"/>
            <a:ext cx="2300694" cy="523220"/>
          </a:xfrm>
          <a:prstGeom prst="rect">
            <a:avLst/>
          </a:prstGeom>
        </p:spPr>
        <p:txBody>
          <a:bodyPr wrap="none">
            <a:spAutoFit/>
          </a:bodyPr>
          <a:lstStyle/>
          <a:p>
            <a:r>
              <a:rPr lang="en-IN" sz="2800" b="1" dirty="0">
                <a:solidFill>
                  <a:srgbClr val="C00000"/>
                </a:solidFill>
              </a:rPr>
              <a:t>Sample Tables</a:t>
            </a:r>
          </a:p>
        </p:txBody>
      </p:sp>
    </p:spTree>
    <p:extLst>
      <p:ext uri="{BB962C8B-B14F-4D97-AF65-F5344CB8AC3E}">
        <p14:creationId xmlns:p14="http://schemas.microsoft.com/office/powerpoint/2010/main" val="3707321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3FB8A93A3DC6E46A88CC9253D389005" ma:contentTypeVersion="2" ma:contentTypeDescription="Create a new document." ma:contentTypeScope="" ma:versionID="3e04ef9e81cb6bd21ea0b8cb908390bd">
  <xsd:schema xmlns:xsd="http://www.w3.org/2001/XMLSchema" xmlns:xs="http://www.w3.org/2001/XMLSchema" xmlns:p="http://schemas.microsoft.com/office/2006/metadata/properties" xmlns:ns2="64bcbe47-7136-4419-8794-6545ed4d8857" targetNamespace="http://schemas.microsoft.com/office/2006/metadata/properties" ma:root="true" ma:fieldsID="e121840d2882af6eec9046f40b68a623" ns2:_="">
    <xsd:import namespace="64bcbe47-7136-4419-8794-6545ed4d8857"/>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bcbe47-7136-4419-8794-6545ed4d885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9BE45FE-CF3C-408F-8631-A296798BD44F}"/>
</file>

<file path=customXml/itemProps2.xml><?xml version="1.0" encoding="utf-8"?>
<ds:datastoreItem xmlns:ds="http://schemas.openxmlformats.org/officeDocument/2006/customXml" ds:itemID="{D5821C74-87DC-44B9-9BD1-E6800E5881C0}"/>
</file>

<file path=customXml/itemProps3.xml><?xml version="1.0" encoding="utf-8"?>
<ds:datastoreItem xmlns:ds="http://schemas.openxmlformats.org/officeDocument/2006/customXml" ds:itemID="{4855A3AE-AED7-40A7-A5B7-7910A262DDB1}"/>
</file>

<file path=docProps/app.xml><?xml version="1.0" encoding="utf-8"?>
<Properties xmlns="http://schemas.openxmlformats.org/officeDocument/2006/extended-properties" xmlns:vt="http://schemas.openxmlformats.org/officeDocument/2006/docPropsVTypes">
  <Template/>
  <TotalTime>5395</TotalTime>
  <Words>11298</Words>
  <Application>Microsoft Office PowerPoint</Application>
  <PresentationFormat>Widescreen</PresentationFormat>
  <Paragraphs>1217</Paragraphs>
  <Slides>69</Slides>
  <Notes>42</Notes>
  <HiddenSlides>1</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69</vt:i4>
      </vt:variant>
    </vt:vector>
  </HeadingPairs>
  <TitlesOfParts>
    <vt:vector size="83" baseType="lpstr">
      <vt:lpstr>MS PGothic</vt:lpstr>
      <vt:lpstr>Arial</vt:lpstr>
      <vt:lpstr>Arial Unicode MS</vt:lpstr>
      <vt:lpstr>Calibri</vt:lpstr>
      <vt:lpstr>Calibri Light</vt:lpstr>
      <vt:lpstr>Century Gothic</vt:lpstr>
      <vt:lpstr>Helvetica</vt:lpstr>
      <vt:lpstr>Monotype Sorts</vt:lpstr>
      <vt:lpstr>Symbol</vt:lpstr>
      <vt:lpstr>Tahoma</vt:lpstr>
      <vt:lpstr>Times New Roman</vt:lpstr>
      <vt:lpstr>Webdings</vt:lpstr>
      <vt:lpstr>Wingdings</vt:lpstr>
      <vt:lpstr>Office Theme</vt:lpstr>
      <vt:lpstr>SQL -Basics</vt:lpstr>
      <vt:lpstr>SQL(Structured Query Language)</vt:lpstr>
      <vt:lpstr>SQL Language Elements</vt:lpstr>
      <vt:lpstr>PowerPoint Presentation</vt:lpstr>
      <vt:lpstr>PowerPoint Presentation</vt:lpstr>
      <vt:lpstr>PowerPoint Presentation</vt:lpstr>
      <vt:lpstr>Oracle- SQL Data Types…</vt:lpstr>
      <vt:lpstr>SQL Data Types</vt:lpstr>
      <vt:lpstr>Different Types of Commands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Some Exercises</vt:lpstr>
      <vt:lpstr>PowerPoint Presentation</vt:lpstr>
      <vt:lpstr>PowerPoint Presentation</vt:lpstr>
      <vt:lpstr>PowerPoint Presentation</vt:lpstr>
      <vt:lpstr>PowerPoint Presentation</vt:lpstr>
      <vt:lpstr>PowerPoint Presentation</vt:lpstr>
      <vt:lpstr>PowerPoint Presentation</vt:lpstr>
      <vt:lpstr>Example</vt:lpstr>
      <vt:lpstr>Example</vt:lpstr>
      <vt:lpstr>..Example</vt:lpstr>
      <vt:lpstr>Naming the Constraints</vt:lpstr>
      <vt:lpstr>Example</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 Table Constructs</vt:lpstr>
      <vt:lpstr>..Alter Table Constructs</vt:lpstr>
      <vt:lpstr>..Alter Table Constructs</vt:lpstr>
      <vt:lpstr>..Alter Table Constructs</vt:lpstr>
      <vt:lpstr>..Alter Table Constructs</vt:lpstr>
      <vt:lpstr>..Alter Table Constructs</vt:lpstr>
      <vt:lpstr>INSERT</vt:lpstr>
      <vt:lpstr>..INSERT</vt:lpstr>
      <vt:lpstr>..INSERT (date value)</vt:lpstr>
      <vt:lpstr>Insert into… Select .. From…</vt:lpstr>
      <vt:lpstr>..INSERT</vt:lpstr>
      <vt:lpstr>UPDATE</vt:lpstr>
      <vt:lpstr>..UPDATE</vt:lpstr>
      <vt:lpstr>..UPDATE –using CASE</vt:lpstr>
      <vt:lpstr>DELETE</vt:lpstr>
      <vt:lpstr>..DELETE</vt:lpstr>
      <vt:lpstr>END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vinayak</dc:creator>
  <cp:lastModifiedBy>Vinayak M Mantoor [MAHE-MIT]</cp:lastModifiedBy>
  <cp:revision>397</cp:revision>
  <dcterms:created xsi:type="dcterms:W3CDTF">2019-07-31T11:21:03Z</dcterms:created>
  <dcterms:modified xsi:type="dcterms:W3CDTF">2022-10-01T05:18:14Z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0x01010093FB8A93A3DC6E46A88CC9253D389005</vt:lpwstr>
  </property>
</Properties>
</file>